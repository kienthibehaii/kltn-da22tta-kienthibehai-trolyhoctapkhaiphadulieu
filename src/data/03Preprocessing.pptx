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slideMasters/slideMaster1.xml" ContentType="application/vnd.openxmlformats-officedocument.presentationml.slideMaster+xml"/>
  <Override PartName="/ppt/theme/theme1.xml" ContentType="application/vnd.openxmlformats-officedocument.theme+xml"/>
  <Override PartName="/ppt/theme/theme5.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media/image26.emf" ContentType="image/x-emf"/>
  <Override PartName="/ppt/media/image5.emf" ContentType="image/x-emf"/>
  <Override PartName="/ppt/media/image8.emf" ContentType="image/x-emf"/>
  <Override PartName="/ppt/media/image23.emf" ContentType="image/x-emf"/>
  <Override PartName="/ppt/media/image6.emf" ContentType="image/x-emf"/>
  <Override PartName="/ppt/media/image9.emf" ContentType="image/x-emf"/>
  <Override PartName="/ppt/media/image4.emf" ContentType="image/x-emf"/>
  <Override PartName="/ppt/media/image24.emf" ContentType="image/x-emf"/>
  <Override PartName="/ppt/media/image2.emf" ContentType="image/x-emf"/>
  <Override PartName="/ppt/media/image10.emf" ContentType="image/x-emf"/>
  <Override PartName="/ppt/media/image3.emf" ContentType="image/x-emf"/>
  <Override PartName="/ppt/media/image25.emf" ContentType="image/x-emf"/>
  <Override PartName="/ppt/media/image20.wmf" ContentType="image/x-wmf"/>
  <Override PartName="/ppt/media/image21.emf" ContentType="image/x-emf"/>
  <Override PartName="/ppt/media/image22.emf" ContentType="image/x-emf"/>
  <Override PartName="/ppt/presentation.xml" ContentType="application/vnd.openxmlformats-officedocument.presentationml.presentation.main+xml"/>
  <Override PartName="/ppt/embeddings/oleObject1.bin" ContentType="application/vnd.openxmlformats-officedocument.oleObject"/>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5.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40.xml" ContentType="application/vnd.openxmlformats-officedocument.presentationml.slide+xml"/>
  <Override PartName="/ppt/slides/slide8.xml" ContentType="application/vnd.openxmlformats-officedocument.presentationml.slide+xml"/>
  <Override PartName="/ppt/slides/slide46.xml" ContentType="application/vnd.openxmlformats-officedocument.presentationml.slide+xml"/>
  <Override PartName="/ppt/slides/slide27.xml" ContentType="application/vnd.openxmlformats-officedocument.presentationml.slide+xml"/>
  <Override PartName="/ppt/slides/slide43.xml" ContentType="application/vnd.openxmlformats-officedocument.presentationml.slide+xml"/>
  <Override PartName="/ppt/slides/slide48.xml" ContentType="application/vnd.openxmlformats-officedocument.presentationml.slide+xml"/>
  <Override PartName="/ppt/slides/slide62.xml" ContentType="application/vnd.openxmlformats-officedocument.presentationml.slide+xml"/>
  <Override PartName="/ppt/slides/slide31.xml" ContentType="application/vnd.openxmlformats-officedocument.presentationml.slide+xml"/>
  <Override PartName="/ppt/slides/slide1.xml" ContentType="application/vnd.openxmlformats-officedocument.presentationml.slide+xml"/>
  <Override PartName="/ppt/slides/slide63.xml" ContentType="application/vnd.openxmlformats-officedocument.presentationml.slide+xml"/>
  <Override PartName="/ppt/slides/slide61.xml" ContentType="application/vnd.openxmlformats-officedocument.presentationml.slide+xml"/>
  <Override PartName="/ppt/slides/slide2.xml" ContentType="application/vnd.openxmlformats-officedocument.presentationml.slide+xml"/>
  <Override PartName="/ppt/slides/slide41.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60.xml" ContentType="application/vnd.openxmlformats-officedocument.presentationml.slide+xml"/>
  <Override PartName="/ppt/slides/slide58.xml" ContentType="application/vnd.openxmlformats-officedocument.presentationml.slide+xml"/>
  <Override PartName="/ppt/slides/slide15.xml" ContentType="application/vnd.openxmlformats-officedocument.presentationml.slide+xml"/>
  <Override PartName="/ppt/slides/slide57.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42.xml" ContentType="application/vnd.openxmlformats-officedocument.presentationml.slide+xml"/>
  <Override PartName="/ppt/slides/slide14.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1.xml" ContentType="application/vnd.openxmlformats-officedocument.presentationml.slide+xml"/>
  <Override PartName="/ppt/slides/slide16.xml" ContentType="application/vnd.openxmlformats-officedocument.presentationml.slide+xml"/>
  <Override PartName="/ppt/slides/slide47.xml" ContentType="application/vnd.openxmlformats-officedocument.presentationml.slide+xml"/>
  <Override PartName="/ppt/slides/slide37.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26.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59.xml" ContentType="application/vnd.openxmlformats-officedocument.presentationml.slide+xml"/>
  <Override PartName="/ppt/slides/slide52.xml" ContentType="application/vnd.openxmlformats-officedocument.presentationml.slide+xml"/>
  <Override PartName="/ppt/slides/slide30.xml" ContentType="application/vnd.openxmlformats-officedocument.presentationml.slide+xml"/>
  <Override PartName="/ppt/slides/slide39.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9.xml" ContentType="application/vnd.openxmlformats-officedocument.presentationml.slide+xml"/>
  <Override PartName="/ppt/slides/slide34.xml" ContentType="application/vnd.openxmlformats-officedocument.presentationml.slide+xml"/>
  <Override PartName="/ppt/slides/slide6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8.xml" ContentType="application/vnd.openxmlformats-officedocument.presentationml.slide+xml"/>
  <Override PartName="/ppt/slides/slide44.xml" ContentType="application/vnd.openxmlformats-officedocument.presentationml.slide+xml"/>
  <Override PartName="/ppt/slides/slide56.xml" ContentType="application/vnd.openxmlformats-officedocument.presentationml.slide+xml"/>
  <Override PartName="/ppt/slides/slide24.xml" ContentType="application/vnd.openxmlformats-officedocument.presentationml.slide+xml"/>
  <Override PartName="/ppt/slides/slide50.xml" ContentType="application/vnd.openxmlformats-officedocument.presentationml.slide+xml"/>
  <Override PartName="/ppt/notesSlides/notesSlide30.xml" ContentType="application/vnd.openxmlformats-officedocument.presentationml.notesSlide+xml"/>
  <Override PartName="/ppt/notesSlides/notesSlide26.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9.xml" ContentType="application/vnd.openxmlformats-officedocument.presentationml.notesSlide+xml"/>
  <Override PartName="/ppt/notesSlides/notesSlide59.xml" ContentType="application/vnd.openxmlformats-officedocument.presentationml.notesSlide+xml"/>
  <Override PartName="/ppt/notesSlides/notesSlide15.xml" ContentType="application/vnd.openxmlformats-officedocument.presentationml.notesSlide+xml"/>
  <Override PartName="/ppt/notesSlides/notesSlide31.xml" ContentType="application/vnd.openxmlformats-officedocument.presentationml.notesSlide+xml"/>
  <Override PartName="/ppt/notesSlides/notesSlide8.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33.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1.xml" ContentType="application/vnd.openxmlformats-officedocument.presentationml.notesSlide+xml"/>
  <Override PartName="/ppt/notesSlides/notesSlide40.xml" ContentType="application/vnd.openxmlformats-officedocument.presentationml.notesSlide+xml"/>
  <Override PartName="/ppt/notesSlides/notesSlide50.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7.xml" ContentType="application/vnd.openxmlformats-officedocument.presentationml.notesSlide+xml"/>
  <Override PartName="/ppt/notesSlides/notesSlide60.xml" ContentType="application/vnd.openxmlformats-officedocument.presentationml.notesSlide+xml"/>
  <Override PartName="/ppt/notesSlides/notesSlide12.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1.xml" ContentType="application/vnd.openxmlformats-officedocument.presentationml.notesSlide+xml"/>
  <Override PartName="/ppt/notesSlides/notesSlide48.xml" ContentType="application/vnd.openxmlformats-officedocument.presentationml.notesSlide+xml"/>
  <Override PartName="/ppt/notesSlides/notesSlide44.xml" ContentType="application/vnd.openxmlformats-officedocument.presentationml.notesSlide+xml"/>
  <Override PartName="/ppt/notesSlides/notesSlide58.xml" ContentType="application/vnd.openxmlformats-officedocument.presentationml.notesSlide+xml"/>
  <Override PartName="/ppt/notesSlides/notesSlide46.xml" ContentType="application/vnd.openxmlformats-officedocument.presentationml.notesSlide+xml"/>
  <Override PartName="/ppt/notesSlides/notesSlide49.xml" ContentType="application/vnd.openxmlformats-officedocument.presentationml.notesSlide+xml"/>
  <Override PartName="/ppt/notesSlides/notesSlide52.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13.xml" ContentType="application/vnd.openxmlformats-officedocument.presentationml.notesSlide+xml"/>
  <Override PartName="/ppt/notesSlides/notesSlide27.xml" ContentType="application/vnd.openxmlformats-officedocument.presentationml.notesSlide+xml"/>
  <Override PartName="/ppt/notesSlides/notesSlide63.xml" ContentType="application/vnd.openxmlformats-officedocument.presentationml.notesSlide+xml"/>
  <Override PartName="/ppt/notesSlides/notesSlide6.xml" ContentType="application/vnd.openxmlformats-officedocument.presentationml.notesSlide+xml"/>
  <Override PartName="/ppt/notesSlides/notesSlide47.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37.xml" ContentType="application/vnd.openxmlformats-officedocument.presentationml.notesSlid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notesSlides/notesSlide38.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3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Lst>
  <p:sldSz cx="9144000" cy="6858000"/>
  <p:notesSz cx="7008813" cy="923766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
          <p:cNvSpPr/>
          <p:nvPr/>
        </p:nvSpPr>
        <p:spPr>
          <a:xfrm>
            <a:off x="0" y="0"/>
            <a:ext cx="7009200" cy="9237600"/>
          </a:xfrm>
          <a:prstGeom prst="rect">
            <a:avLst/>
          </a:prstGeom>
          <a:solidFill>
            <a:srgbClr val="FFFFFF"/>
          </a:solidFill>
          <a:ln w="0">
            <a:noFill/>
          </a:ln>
        </p:spPr>
        <p:txBody>
          <a:bodyPr lIns="90000" tIns="45000" rIns="90000" bIns="45000" anchor="ctr" anchorCtr="1">
            <a:noAutofit/>
          </a:bodyPr>
          <a:p>
            <a:endParaRPr lang="en-US" sz="2400" b="0" u="none" strike="noStrike">
              <a:solidFill>
                <a:srgbClr val="000000"/>
              </a:solidFill>
              <a:effectLst/>
              <a:uFillTx/>
              <a:latin typeface="Tahoma"/>
            </a:endParaRPr>
          </a:p>
        </p:txBody>
      </p:sp>
      <p:sp>
        <p:nvSpPr>
          <p:cNvPr id="16" name="PlaceHolder 1"/>
          <p:cNvSpPr>
            <a:spLocks noGrp="1"/>
          </p:cNvSpPr>
          <p:nvPr>
            <p:ph type="hdr"/>
          </p:nvPr>
        </p:nvSpPr>
        <p:spPr>
          <a:xfrm>
            <a:off x="0" y="-360"/>
            <a:ext cx="3038400" cy="461880"/>
          </a:xfrm>
          <a:prstGeom prst="rect">
            <a:avLst/>
          </a:prstGeom>
          <a:noFill/>
          <a:ln w="0">
            <a:noFill/>
          </a:ln>
        </p:spPr>
        <p:txBody>
          <a:bodyPr lIns="93240" tIns="46440" rIns="93240" bIns="46440" anchor="t">
            <a:noAutofit/>
          </a:bodyPr>
          <a:p>
            <a:pPr indent="0" algn="l">
              <a:buNone/>
            </a:pPr>
            <a:endParaRPr lang="en-US" sz="2400" b="0" u="none" strike="noStrike">
              <a:solidFill>
                <a:srgbClr val="000000"/>
              </a:solidFill>
              <a:effectLst/>
              <a:uFillTx/>
              <a:latin typeface="Times New Roman"/>
            </a:endParaRPr>
          </a:p>
        </p:txBody>
      </p:sp>
      <p:sp>
        <p:nvSpPr>
          <p:cNvPr id="17" name="PlaceHolder 2"/>
          <p:cNvSpPr>
            <a:spLocks noGrp="1"/>
          </p:cNvSpPr>
          <p:nvPr>
            <p:ph type="dt" idx="5"/>
          </p:nvPr>
        </p:nvSpPr>
        <p:spPr>
          <a:xfrm>
            <a:off x="3971880" y="-360"/>
            <a:ext cx="3038400" cy="461880"/>
          </a:xfrm>
          <a:prstGeom prst="rect">
            <a:avLst/>
          </a:prstGeom>
          <a:noFill/>
          <a:ln w="0">
            <a:noFill/>
          </a:ln>
        </p:spPr>
        <p:txBody>
          <a:bodyPr lIns="93240" tIns="46440" rIns="93240" bIns="46440" anchor="t">
            <a:noAutofit/>
          </a:bodyPr>
          <a:p>
            <a:pPr indent="0" algn="l">
              <a:buNone/>
            </a:pPr>
            <a:endParaRPr lang="en-US" sz="2400" b="0" u="none" strike="noStrike">
              <a:solidFill>
                <a:srgbClr val="000000"/>
              </a:solidFill>
              <a:effectLst/>
              <a:uFillTx/>
              <a:latin typeface="Times New Roman"/>
            </a:endParaRPr>
          </a:p>
        </p:txBody>
      </p:sp>
      <p:sp>
        <p:nvSpPr>
          <p:cNvPr id="18" name="PlaceHolder 3"/>
          <p:cNvSpPr>
            <a:spLocks noGrp="1"/>
          </p:cNvSpPr>
          <p:nvPr>
            <p:ph type="sldImg"/>
          </p:nvPr>
        </p:nvSpPr>
        <p:spPr>
          <a:xfrm>
            <a:off x="1195560" y="692280"/>
            <a:ext cx="4619520" cy="3463920"/>
          </a:xfrm>
          <a:prstGeom prst="rect">
            <a:avLst/>
          </a:prstGeom>
          <a:noFill/>
          <a:ln w="9360">
            <a:solidFill>
              <a:srgbClr val="000000"/>
            </a:solidFill>
            <a:miter/>
          </a:ln>
        </p:spPr>
        <p:txBody>
          <a:bodyPr lIns="90000" tIns="46800" rIns="90000" bIns="4680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Click to move the slide</a:t>
            </a:r>
            <a:endParaRPr lang="en-US" sz="3600" b="1" u="none" strike="noStrike">
              <a:solidFill>
                <a:srgbClr val="333399"/>
              </a:solidFill>
              <a:effectLst/>
              <a:uFillTx/>
              <a:latin typeface="Berlin Sans FB Demi"/>
            </a:endParaRPr>
          </a:p>
        </p:txBody>
      </p:sp>
      <p:sp>
        <p:nvSpPr>
          <p:cNvPr id="19" name="PlaceHolder 4"/>
          <p:cNvSpPr>
            <a:spLocks noGrp="1"/>
          </p:cNvSpPr>
          <p:nvPr>
            <p:ph type="body"/>
          </p:nvPr>
        </p:nvSpPr>
        <p:spPr>
          <a:xfrm>
            <a:off x="934560" y="4387320"/>
            <a:ext cx="5140440" cy="4156200"/>
          </a:xfrm>
          <a:prstGeom prst="rect">
            <a:avLst/>
          </a:prstGeom>
          <a:noFill/>
          <a:ln w="0">
            <a:noFill/>
          </a:ln>
        </p:spPr>
        <p:txBody>
          <a:bodyPr lIns="93240" tIns="46440" rIns="93240" bIns="4644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Click to edit the notes format</a:t>
            </a:r>
            <a:endParaRPr lang="en-US" sz="1200" b="0" u="none" strike="noStrike">
              <a:solidFill>
                <a:srgbClr val="000000"/>
              </a:solidFill>
              <a:effectLst/>
              <a:uFillTx/>
              <a:latin typeface="Times New Roman"/>
            </a:endParaRPr>
          </a:p>
        </p:txBody>
      </p:sp>
      <p:sp>
        <p:nvSpPr>
          <p:cNvPr id="20" name="PlaceHolder 5"/>
          <p:cNvSpPr>
            <a:spLocks noGrp="1"/>
          </p:cNvSpPr>
          <p:nvPr>
            <p:ph type="ftr" idx="6"/>
          </p:nvPr>
        </p:nvSpPr>
        <p:spPr>
          <a:xfrm>
            <a:off x="0" y="8773920"/>
            <a:ext cx="3038400" cy="461880"/>
          </a:xfrm>
          <a:prstGeom prst="rect">
            <a:avLst/>
          </a:prstGeom>
          <a:noFill/>
          <a:ln w="0">
            <a:noFill/>
          </a:ln>
        </p:spPr>
        <p:txBody>
          <a:bodyPr lIns="93240" tIns="46440" rIns="93240" bIns="46440" anchor="b">
            <a:noAutofit/>
          </a:bodyPr>
          <a:p>
            <a:pPr indent="0" algn="l">
              <a:buNone/>
            </a:pPr>
            <a:endParaRPr lang="en-US" sz="2400" b="0" u="none" strike="noStrike">
              <a:solidFill>
                <a:srgbClr val="000000"/>
              </a:solidFill>
              <a:effectLst/>
              <a:uFillTx/>
              <a:latin typeface="Times New Roman"/>
            </a:endParaRPr>
          </a:p>
        </p:txBody>
      </p:sp>
      <p:sp>
        <p:nvSpPr>
          <p:cNvPr id="21" name="PlaceHolder 6"/>
          <p:cNvSpPr>
            <a:spLocks noGrp="1"/>
          </p:cNvSpPr>
          <p:nvPr>
            <p:ph type="sldNum" idx="7"/>
          </p:nvPr>
        </p:nvSpPr>
        <p:spPr>
          <a:xfrm>
            <a:off x="3971880" y="8773920"/>
            <a:ext cx="3038400" cy="461880"/>
          </a:xfrm>
          <a:prstGeom prst="rect">
            <a:avLst/>
          </a:prstGeom>
          <a:noFill/>
          <a:ln w="0">
            <a:noFill/>
          </a:ln>
        </p:spPr>
        <p:txBody>
          <a:bodyPr lIns="93240" tIns="46440" rIns="93240" bIns="46440" anchor="b">
            <a:noAutofit/>
          </a:bodyPr>
          <a:lstStyle>
            <a:lvl1pPr indent="0" algn="r">
              <a:lnSpc>
                <a:spcPct val="100000"/>
              </a:lnSpc>
              <a:buNone/>
              <a:tabLst>
                <a:tab pos="0" algn="l"/>
                <a:tab pos="932040" algn="l"/>
                <a:tab pos="1863720" algn="l"/>
                <a:tab pos="2795760" algn="l"/>
                <a:tab pos="3727440" algn="l"/>
                <a:tab pos="4659480" algn="l"/>
                <a:tab pos="5591160" algn="l"/>
                <a:tab pos="6523200" algn="l"/>
                <a:tab pos="7454880" algn="l"/>
                <a:tab pos="8386920" algn="l"/>
                <a:tab pos="9318600" algn="l"/>
                <a:tab pos="10250640" algn="l"/>
              </a:tabLst>
              <a:defRPr lang="en-US" sz="1200" b="0" u="none" strike="noStrike">
                <a:solidFill>
                  <a:srgbClr val="000000"/>
                </a:solidFill>
                <a:effectLst/>
                <a:uFillTx/>
                <a:latin typeface="Times New Roman"/>
              </a:defRPr>
            </a:lvl1pPr>
          </a:lstStyle>
          <a:p>
            <a:pPr indent="0" algn="r">
              <a:lnSpc>
                <a:spcPct val="100000"/>
              </a:lnSpc>
              <a:buNone/>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5B18D18F-AAA7-47E3-87FF-D97E5307D09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93D3F9E7-B92C-428D-94BE-4CFC90E649FF}"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440" name="PlaceHolder 1"/>
          <p:cNvSpPr>
            <a:spLocks noGrp="1"/>
          </p:cNvSpPr>
          <p:nvPr>
            <p:ph type="sldImg"/>
          </p:nvPr>
        </p:nvSpPr>
        <p:spPr>
          <a:xfrm>
            <a:off x="1195560" y="692280"/>
            <a:ext cx="4619520" cy="3463920"/>
          </a:xfrm>
          <a:prstGeom prst="rect">
            <a:avLst/>
          </a:prstGeom>
          <a:ln w="0">
            <a:noFill/>
          </a:ln>
        </p:spPr>
      </p:sp>
      <p:sp>
        <p:nvSpPr>
          <p:cNvPr id="441"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19F7AE8A-261F-48AD-ADD3-2DCD3BAFC48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443" name="PlaceHolder 1"/>
          <p:cNvSpPr>
            <a:spLocks noGrp="1"/>
          </p:cNvSpPr>
          <p:nvPr>
            <p:ph type="sldImg"/>
          </p:nvPr>
        </p:nvSpPr>
        <p:spPr>
          <a:xfrm>
            <a:off x="1195560" y="692280"/>
            <a:ext cx="4619520" cy="3463920"/>
          </a:xfrm>
          <a:prstGeom prst="rect">
            <a:avLst/>
          </a:prstGeom>
          <a:ln w="0">
            <a:noFill/>
          </a:ln>
        </p:spPr>
      </p:sp>
      <p:sp>
        <p:nvSpPr>
          <p:cNvPr id="444"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CCCCFF"/>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322689A9-DC73-448F-8F01-F0180F33536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446" name="PlaceHolder 1"/>
          <p:cNvSpPr>
            <a:spLocks noGrp="1"/>
          </p:cNvSpPr>
          <p:nvPr>
            <p:ph type="sldImg"/>
          </p:nvPr>
        </p:nvSpPr>
        <p:spPr>
          <a:xfrm>
            <a:off x="1197000" y="692280"/>
            <a:ext cx="4618080" cy="3463920"/>
          </a:xfrm>
          <a:prstGeom prst="rect">
            <a:avLst/>
          </a:prstGeom>
          <a:ln w="0">
            <a:noFill/>
          </a:ln>
        </p:spPr>
      </p:sp>
      <p:sp>
        <p:nvSpPr>
          <p:cNvPr id="447"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7CE122A5-F5DA-4DED-86FC-3648698825F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449" name="PlaceHolder 1"/>
          <p:cNvSpPr>
            <a:spLocks noGrp="1"/>
          </p:cNvSpPr>
          <p:nvPr>
            <p:ph type="sldImg"/>
          </p:nvPr>
        </p:nvSpPr>
        <p:spPr>
          <a:xfrm>
            <a:off x="1197000" y="692280"/>
            <a:ext cx="4618080" cy="3463920"/>
          </a:xfrm>
          <a:prstGeom prst="rect">
            <a:avLst/>
          </a:prstGeom>
          <a:ln w="0">
            <a:noFill/>
          </a:ln>
        </p:spPr>
      </p:sp>
      <p:sp>
        <p:nvSpPr>
          <p:cNvPr id="450"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F286ACE6-8820-4DB7-BC25-5550AF217FC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452" name="PlaceHolder 1"/>
          <p:cNvSpPr>
            <a:spLocks noGrp="1"/>
          </p:cNvSpPr>
          <p:nvPr>
            <p:ph type="sldImg"/>
          </p:nvPr>
        </p:nvSpPr>
        <p:spPr>
          <a:xfrm>
            <a:off x="1195560" y="692280"/>
            <a:ext cx="4619520" cy="3463920"/>
          </a:xfrm>
          <a:prstGeom prst="rect">
            <a:avLst/>
          </a:prstGeom>
          <a:ln w="0">
            <a:noFill/>
          </a:ln>
        </p:spPr>
      </p:sp>
      <p:sp>
        <p:nvSpPr>
          <p:cNvPr id="453"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CCCCFF"/>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6BAC97C7-8134-4555-9B50-1F7C0B4EFB7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455" name="PlaceHolder 1"/>
          <p:cNvSpPr>
            <a:spLocks noGrp="1"/>
          </p:cNvSpPr>
          <p:nvPr>
            <p:ph type="sldImg"/>
          </p:nvPr>
        </p:nvSpPr>
        <p:spPr>
          <a:xfrm>
            <a:off x="1197000" y="692280"/>
            <a:ext cx="4618080" cy="3463920"/>
          </a:xfrm>
          <a:prstGeom prst="rect">
            <a:avLst/>
          </a:prstGeom>
          <a:ln w="0">
            <a:noFill/>
          </a:ln>
        </p:spPr>
      </p:sp>
      <p:sp>
        <p:nvSpPr>
          <p:cNvPr id="456"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256CF89A-8BA3-4777-B0AA-632C7B70C99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458" name="PlaceHolder 1"/>
          <p:cNvSpPr>
            <a:spLocks noGrp="1"/>
          </p:cNvSpPr>
          <p:nvPr>
            <p:ph type="sldImg"/>
          </p:nvPr>
        </p:nvSpPr>
        <p:spPr>
          <a:xfrm>
            <a:off x="1197000" y="692280"/>
            <a:ext cx="4618080" cy="3463920"/>
          </a:xfrm>
          <a:prstGeom prst="rect">
            <a:avLst/>
          </a:prstGeom>
          <a:ln w="0">
            <a:noFill/>
          </a:ln>
        </p:spPr>
      </p:sp>
      <p:sp>
        <p:nvSpPr>
          <p:cNvPr id="459"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793C4A8A-EF6E-4F90-B736-75A67484F7F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461" name="PlaceHolder 1"/>
          <p:cNvSpPr>
            <a:spLocks noGrp="1"/>
          </p:cNvSpPr>
          <p:nvPr>
            <p:ph type="sldImg"/>
          </p:nvPr>
        </p:nvSpPr>
        <p:spPr>
          <a:xfrm>
            <a:off x="1197000" y="692280"/>
            <a:ext cx="4618080" cy="3463920"/>
          </a:xfrm>
          <a:prstGeom prst="rect">
            <a:avLst/>
          </a:prstGeom>
          <a:ln w="0">
            <a:noFill/>
          </a:ln>
        </p:spPr>
      </p:sp>
      <p:sp>
        <p:nvSpPr>
          <p:cNvPr id="462"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EA1AEB4E-39A2-4F51-9EE1-1D70E01B6065}"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464" name="PlaceHolder 1"/>
          <p:cNvSpPr>
            <a:spLocks noGrp="1"/>
          </p:cNvSpPr>
          <p:nvPr>
            <p:ph type="sldImg"/>
          </p:nvPr>
        </p:nvSpPr>
        <p:spPr>
          <a:xfrm>
            <a:off x="1197000" y="692280"/>
            <a:ext cx="4618080" cy="3463920"/>
          </a:xfrm>
          <a:prstGeom prst="rect">
            <a:avLst/>
          </a:prstGeom>
          <a:ln w="0">
            <a:noFill/>
          </a:ln>
        </p:spPr>
      </p:sp>
      <p:sp>
        <p:nvSpPr>
          <p:cNvPr id="465"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02B0639E-1352-4F4D-83BE-46DCE635E94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467" name="PlaceHolder 1"/>
          <p:cNvSpPr>
            <a:spLocks noGrp="1"/>
          </p:cNvSpPr>
          <p:nvPr>
            <p:ph type="sldImg"/>
          </p:nvPr>
        </p:nvSpPr>
        <p:spPr>
          <a:xfrm>
            <a:off x="1197000" y="692280"/>
            <a:ext cx="4618080" cy="3463920"/>
          </a:xfrm>
          <a:prstGeom prst="rect">
            <a:avLst/>
          </a:prstGeom>
          <a:ln w="0">
            <a:noFill/>
          </a:ln>
        </p:spPr>
      </p:sp>
      <p:sp>
        <p:nvSpPr>
          <p:cNvPr id="468" name="PlaceHolder 2"/>
          <p:cNvSpPr>
            <a:spLocks noGrp="1"/>
          </p:cNvSpPr>
          <p:nvPr>
            <p:ph type="body"/>
          </p:nvPr>
        </p:nvSpPr>
        <p:spPr>
          <a:xfrm>
            <a:off x="934560" y="4387320"/>
            <a:ext cx="5140440" cy="4156200"/>
          </a:xfrm>
          <a:prstGeom prst="rect">
            <a:avLst/>
          </a:prstGeom>
          <a:noFill/>
          <a:ln w="0">
            <a:noFill/>
          </a:ln>
        </p:spPr>
        <p:txBody>
          <a:bodyPr lIns="93240" tIns="46440" rIns="93240" bIns="4644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Enrich using data integration research!!</a:t>
            </a:r>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4E66B0DD-574D-4364-9C61-8603E9EB57E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470" name="PlaceHolder 1"/>
          <p:cNvSpPr>
            <a:spLocks noGrp="1"/>
          </p:cNvSpPr>
          <p:nvPr>
            <p:ph type="sldImg"/>
          </p:nvPr>
        </p:nvSpPr>
        <p:spPr>
          <a:xfrm>
            <a:off x="1197000" y="692280"/>
            <a:ext cx="4618080" cy="3463920"/>
          </a:xfrm>
          <a:prstGeom prst="rect">
            <a:avLst/>
          </a:prstGeom>
          <a:ln w="0">
            <a:noFill/>
          </a:ln>
        </p:spPr>
      </p:sp>
      <p:sp>
        <p:nvSpPr>
          <p:cNvPr id="471"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57F9BA74-DD44-473B-92C9-5D33010442A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473" name="PlaceHolder 1"/>
          <p:cNvSpPr>
            <a:spLocks noGrp="1"/>
          </p:cNvSpPr>
          <p:nvPr>
            <p:ph type="sldImg"/>
          </p:nvPr>
        </p:nvSpPr>
        <p:spPr>
          <a:xfrm>
            <a:off x="1195560" y="692280"/>
            <a:ext cx="4619520" cy="3463920"/>
          </a:xfrm>
          <a:prstGeom prst="rect">
            <a:avLst/>
          </a:prstGeom>
          <a:ln w="0">
            <a:noFill/>
          </a:ln>
        </p:spPr>
      </p:sp>
      <p:sp>
        <p:nvSpPr>
          <p:cNvPr id="474"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CCCCFF"/>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E122EF5F-EF6D-4BE5-B8BE-76B5656CA00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476" name="PlaceHolder 1"/>
          <p:cNvSpPr>
            <a:spLocks noGrp="1"/>
          </p:cNvSpPr>
          <p:nvPr>
            <p:ph type="sldImg"/>
          </p:nvPr>
        </p:nvSpPr>
        <p:spPr>
          <a:xfrm>
            <a:off x="1197000" y="692280"/>
            <a:ext cx="4618080" cy="3463920"/>
          </a:xfrm>
          <a:prstGeom prst="rect">
            <a:avLst/>
          </a:prstGeom>
          <a:ln w="0">
            <a:noFill/>
          </a:ln>
        </p:spPr>
      </p:sp>
      <p:sp>
        <p:nvSpPr>
          <p:cNvPr id="477" name="PlaceHolder 2"/>
          <p:cNvSpPr>
            <a:spLocks noGrp="1"/>
          </p:cNvSpPr>
          <p:nvPr>
            <p:ph type="body"/>
          </p:nvPr>
        </p:nvSpPr>
        <p:spPr>
          <a:xfrm>
            <a:off x="934560" y="4387320"/>
            <a:ext cx="5140440" cy="4156200"/>
          </a:xfrm>
          <a:prstGeom prst="rect">
            <a:avLst/>
          </a:prstGeom>
          <a:noFill/>
          <a:ln w="0">
            <a:noFill/>
          </a:ln>
        </p:spPr>
        <p:txBody>
          <a:bodyPr lIns="93240" tIns="46440" rIns="93240" bIns="4644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Should ask students to do some survey on data integration.  -JH</a:t>
            </a:r>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CAF336E9-41EE-4B81-A1AC-636A0AC12EE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479" name="PlaceHolder 1"/>
          <p:cNvSpPr>
            <a:spLocks noGrp="1"/>
          </p:cNvSpPr>
          <p:nvPr>
            <p:ph type="sldImg"/>
          </p:nvPr>
        </p:nvSpPr>
        <p:spPr>
          <a:xfrm>
            <a:off x="1197000" y="692280"/>
            <a:ext cx="4618080" cy="3463920"/>
          </a:xfrm>
          <a:prstGeom prst="rect">
            <a:avLst/>
          </a:prstGeom>
          <a:ln w="0">
            <a:noFill/>
          </a:ln>
        </p:spPr>
      </p:sp>
      <p:sp>
        <p:nvSpPr>
          <p:cNvPr id="480"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PlaceHolder 1"/>
          <p:cNvSpPr>
            <a:spLocks noGrp="1"/>
          </p:cNvSpPr>
          <p:nvPr>
            <p:ph type="sldImg"/>
          </p:nvPr>
        </p:nvSpPr>
        <p:spPr>
          <a:xfrm>
            <a:off x="1195560" y="692280"/>
            <a:ext cx="4619520" cy="3463920"/>
          </a:xfrm>
          <a:prstGeom prst="rect">
            <a:avLst/>
          </a:prstGeom>
          <a:ln w="0">
            <a:noFill/>
          </a:ln>
        </p:spPr>
      </p:sp>
      <p:sp>
        <p:nvSpPr>
          <p:cNvPr id="482"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
        <p:nvSpPr>
          <p:cNvPr id="483" name="Slide Number Placeholder 3"/>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DCCB8066-7DCB-4BF4-AD63-AA47E08652C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D3AE686A-BEDC-4314-9072-B821C99AC93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485" name="PlaceHolder 1"/>
          <p:cNvSpPr>
            <a:spLocks noGrp="1"/>
          </p:cNvSpPr>
          <p:nvPr>
            <p:ph type="sldImg"/>
          </p:nvPr>
        </p:nvSpPr>
        <p:spPr>
          <a:xfrm>
            <a:off x="1195560" y="692280"/>
            <a:ext cx="4619520" cy="3463920"/>
          </a:xfrm>
          <a:prstGeom prst="rect">
            <a:avLst/>
          </a:prstGeom>
          <a:ln w="0">
            <a:noFill/>
          </a:ln>
        </p:spPr>
      </p:sp>
      <p:sp>
        <p:nvSpPr>
          <p:cNvPr id="486"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CCCCFF"/>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25DDE1F5-E107-48F8-B589-9E71FC5D388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488" name="PlaceHolder 1"/>
          <p:cNvSpPr>
            <a:spLocks noGrp="1"/>
          </p:cNvSpPr>
          <p:nvPr>
            <p:ph type="sldImg"/>
          </p:nvPr>
        </p:nvSpPr>
        <p:spPr>
          <a:xfrm>
            <a:off x="1195560" y="692280"/>
            <a:ext cx="4619520" cy="3463920"/>
          </a:xfrm>
          <a:prstGeom prst="rect">
            <a:avLst/>
          </a:prstGeom>
          <a:ln w="0">
            <a:noFill/>
          </a:ln>
        </p:spPr>
      </p:sp>
      <p:sp>
        <p:nvSpPr>
          <p:cNvPr id="489" name="PlaceHolder 2"/>
          <p:cNvSpPr>
            <a:spLocks noGrp="1"/>
          </p:cNvSpPr>
          <p:nvPr>
            <p:ph type="body"/>
          </p:nvPr>
        </p:nvSpPr>
        <p:spPr>
          <a:xfrm>
            <a:off x="934560" y="4387320"/>
            <a:ext cx="5140440" cy="4156200"/>
          </a:xfrm>
          <a:prstGeom prst="rect">
            <a:avLst/>
          </a:prstGeom>
          <a:noFill/>
          <a:ln w="0">
            <a:noFill/>
          </a:ln>
        </p:spPr>
        <p:txBody>
          <a:bodyPr lIns="93240" tIns="46440" rIns="93240" bIns="4644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MK 09/09/05: Wiki has dimensionality reduction as feature extraction (PCA) and feature subset selection. It states both wavelet transforms and PCA as forms of data compression. It does not have any pages for "numerosity reduction". We claim there are many different ways to organize data reduction strategies, which is true, so this presentation below should be OK. Let’s discuss.</a:t>
            </a:r>
            <a:endParaRPr lang="en-US" sz="1200" b="0" u="none" strike="noStrike">
              <a:solidFill>
                <a:srgbClr val="000000"/>
              </a:solidFill>
              <a:effectLst/>
              <a:uFillTx/>
              <a:latin typeface="Times New Roman"/>
            </a:endParaRPr>
          </a:p>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EC4A800B-FEF8-453C-AEC3-68A371B7A34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491" name="PlaceHolder 1"/>
          <p:cNvSpPr>
            <a:spLocks noGrp="1"/>
          </p:cNvSpPr>
          <p:nvPr>
            <p:ph type="sldImg"/>
          </p:nvPr>
        </p:nvSpPr>
        <p:spPr>
          <a:xfrm>
            <a:off x="1195560" y="692280"/>
            <a:ext cx="4619520" cy="3463920"/>
          </a:xfrm>
          <a:prstGeom prst="rect">
            <a:avLst/>
          </a:prstGeom>
          <a:ln w="0">
            <a:noFill/>
          </a:ln>
        </p:spPr>
      </p:sp>
      <p:sp>
        <p:nvSpPr>
          <p:cNvPr id="492" name="PlaceHolder 2"/>
          <p:cNvSpPr>
            <a:spLocks noGrp="1"/>
          </p:cNvSpPr>
          <p:nvPr>
            <p:ph type="body"/>
          </p:nvPr>
        </p:nvSpPr>
        <p:spPr>
          <a:xfrm>
            <a:off x="934560" y="4387320"/>
            <a:ext cx="5140440" cy="4156200"/>
          </a:xfrm>
          <a:prstGeom prst="rect">
            <a:avLst/>
          </a:prstGeom>
          <a:noFill/>
          <a:ln w="0">
            <a:noFill/>
          </a:ln>
        </p:spPr>
        <p:txBody>
          <a:bodyPr lIns="93240" tIns="46440" rIns="93240" bIns="4644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1" u="none" strike="noStrike">
                <a:solidFill>
                  <a:srgbClr val="000000"/>
                </a:solidFill>
                <a:effectLst/>
                <a:uFillTx/>
                <a:latin typeface="Times New Roman"/>
              </a:rPr>
              <a:t>JH: put SVD at clustering high-D reduction.</a:t>
            </a:r>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9D629353-510D-46C7-96EF-57402324816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494" name="PlaceHolder 1"/>
          <p:cNvSpPr>
            <a:spLocks noGrp="1"/>
          </p:cNvSpPr>
          <p:nvPr>
            <p:ph type="sldImg"/>
          </p:nvPr>
        </p:nvSpPr>
        <p:spPr>
          <a:xfrm>
            <a:off x="1198440" y="693720"/>
            <a:ext cx="4616640" cy="3462480"/>
          </a:xfrm>
          <a:prstGeom prst="rect">
            <a:avLst/>
          </a:prstGeom>
          <a:ln w="0">
            <a:noFill/>
          </a:ln>
        </p:spPr>
      </p:sp>
      <p:sp>
        <p:nvSpPr>
          <p:cNvPr id="495" name="PlaceHolder 2"/>
          <p:cNvSpPr>
            <a:spLocks noGrp="1"/>
          </p:cNvSpPr>
          <p:nvPr>
            <p:ph type="body"/>
          </p:nvPr>
        </p:nvSpPr>
        <p:spPr>
          <a:xfrm>
            <a:off x="934560" y="438588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10F89D25-BB60-4B20-BA23-376537AABD4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497" name="PlaceHolder 1"/>
          <p:cNvSpPr>
            <a:spLocks noGrp="1"/>
          </p:cNvSpPr>
          <p:nvPr>
            <p:ph type="sldImg"/>
          </p:nvPr>
        </p:nvSpPr>
        <p:spPr>
          <a:xfrm>
            <a:off x="1197000" y="693720"/>
            <a:ext cx="4616280" cy="3462480"/>
          </a:xfrm>
          <a:prstGeom prst="rect">
            <a:avLst/>
          </a:prstGeom>
          <a:ln w="0">
            <a:noFill/>
          </a:ln>
        </p:spPr>
      </p:sp>
      <p:sp>
        <p:nvSpPr>
          <p:cNvPr id="498" name="PlaceHolder 2"/>
          <p:cNvSpPr>
            <a:spLocks noGrp="1"/>
          </p:cNvSpPr>
          <p:nvPr>
            <p:ph type="body"/>
          </p:nvPr>
        </p:nvSpPr>
        <p:spPr>
          <a:xfrm>
            <a:off x="701280" y="4387320"/>
            <a:ext cx="5607000" cy="4154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4BF0CB0D-ECA9-4DD6-AAD4-2A32F4AEEE4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00" name="PlaceHolder 1"/>
          <p:cNvSpPr>
            <a:spLocks noGrp="1"/>
          </p:cNvSpPr>
          <p:nvPr>
            <p:ph type="sldImg"/>
          </p:nvPr>
        </p:nvSpPr>
        <p:spPr>
          <a:xfrm>
            <a:off x="1195560" y="692280"/>
            <a:ext cx="4619520" cy="3463920"/>
          </a:xfrm>
          <a:prstGeom prst="rect">
            <a:avLst/>
          </a:prstGeom>
          <a:ln w="0">
            <a:noFill/>
          </a:ln>
        </p:spPr>
      </p:sp>
      <p:sp>
        <p:nvSpPr>
          <p:cNvPr id="501"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C9A5FE14-C5F9-4027-A01C-EE7477B1595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03" name="PlaceHolder 1"/>
          <p:cNvSpPr>
            <a:spLocks noGrp="1"/>
          </p:cNvSpPr>
          <p:nvPr>
            <p:ph type="sldImg"/>
          </p:nvPr>
        </p:nvSpPr>
        <p:spPr>
          <a:xfrm>
            <a:off x="1197000" y="693720"/>
            <a:ext cx="4616280" cy="3462480"/>
          </a:xfrm>
          <a:prstGeom prst="rect">
            <a:avLst/>
          </a:prstGeom>
          <a:ln w="0">
            <a:noFill/>
          </a:ln>
        </p:spPr>
      </p:sp>
      <p:sp>
        <p:nvSpPr>
          <p:cNvPr id="504" name="PlaceHolder 2"/>
          <p:cNvSpPr>
            <a:spLocks noGrp="1"/>
          </p:cNvSpPr>
          <p:nvPr>
            <p:ph type="body"/>
          </p:nvPr>
        </p:nvSpPr>
        <p:spPr>
          <a:xfrm>
            <a:off x="701280" y="4387320"/>
            <a:ext cx="5607000" cy="41547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4DCC532B-2465-4340-9BD9-F3405D36EC4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06" name="PlaceHolder 1"/>
          <p:cNvSpPr>
            <a:spLocks noGrp="1"/>
          </p:cNvSpPr>
          <p:nvPr>
            <p:ph type="sldImg"/>
          </p:nvPr>
        </p:nvSpPr>
        <p:spPr>
          <a:xfrm>
            <a:off x="1195560" y="692280"/>
            <a:ext cx="4617720" cy="3463920"/>
          </a:xfrm>
          <a:prstGeom prst="rect">
            <a:avLst/>
          </a:prstGeom>
          <a:ln w="0">
            <a:noFill/>
          </a:ln>
        </p:spPr>
      </p:sp>
      <p:sp>
        <p:nvSpPr>
          <p:cNvPr id="507"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94877DEB-F82E-4078-965F-E30D525439F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09" name="PlaceHolder 1"/>
          <p:cNvSpPr>
            <a:spLocks noGrp="1"/>
          </p:cNvSpPr>
          <p:nvPr>
            <p:ph type="sldImg"/>
          </p:nvPr>
        </p:nvSpPr>
        <p:spPr>
          <a:xfrm>
            <a:off x="1195560" y="692280"/>
            <a:ext cx="4619520" cy="3463920"/>
          </a:xfrm>
          <a:prstGeom prst="rect">
            <a:avLst/>
          </a:prstGeom>
          <a:ln w="0">
            <a:noFill/>
          </a:ln>
        </p:spPr>
      </p:sp>
      <p:sp>
        <p:nvSpPr>
          <p:cNvPr id="510"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CF4CD217-2676-4DF4-8342-9EFD3EB0333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12" name="PlaceHolder 1"/>
          <p:cNvSpPr>
            <a:spLocks noGrp="1"/>
          </p:cNvSpPr>
          <p:nvPr>
            <p:ph type="sldImg"/>
          </p:nvPr>
        </p:nvSpPr>
        <p:spPr>
          <a:xfrm>
            <a:off x="1195560" y="692280"/>
            <a:ext cx="4619520" cy="3463920"/>
          </a:xfrm>
          <a:prstGeom prst="rect">
            <a:avLst/>
          </a:prstGeom>
          <a:ln w="0">
            <a:noFill/>
          </a:ln>
        </p:spPr>
      </p:sp>
      <p:sp>
        <p:nvSpPr>
          <p:cNvPr id="513"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AEEC5E7C-E9A7-4C64-B3A0-6B369E57A3F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15" name="PlaceHolder 1"/>
          <p:cNvSpPr>
            <a:spLocks noGrp="1"/>
          </p:cNvSpPr>
          <p:nvPr>
            <p:ph type="sldImg"/>
          </p:nvPr>
        </p:nvSpPr>
        <p:spPr>
          <a:xfrm>
            <a:off x="1198440" y="693720"/>
            <a:ext cx="4616640" cy="3462480"/>
          </a:xfrm>
          <a:prstGeom prst="rect">
            <a:avLst/>
          </a:prstGeom>
          <a:ln w="0">
            <a:noFill/>
          </a:ln>
        </p:spPr>
      </p:sp>
      <p:sp>
        <p:nvSpPr>
          <p:cNvPr id="516" name="PlaceHolder 2"/>
          <p:cNvSpPr>
            <a:spLocks noGrp="1"/>
          </p:cNvSpPr>
          <p:nvPr>
            <p:ph type="body"/>
          </p:nvPr>
        </p:nvSpPr>
        <p:spPr>
          <a:xfrm>
            <a:off x="934560" y="438588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3CBA39C7-7BF1-48C5-9CDD-11D0E25CA1C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18" name="PlaceHolder 1"/>
          <p:cNvSpPr>
            <a:spLocks noGrp="1"/>
          </p:cNvSpPr>
          <p:nvPr>
            <p:ph type="sldImg"/>
          </p:nvPr>
        </p:nvSpPr>
        <p:spPr>
          <a:xfrm>
            <a:off x="1195560" y="692280"/>
            <a:ext cx="4619520" cy="3463920"/>
          </a:xfrm>
          <a:prstGeom prst="rect">
            <a:avLst/>
          </a:prstGeom>
          <a:ln w="0">
            <a:noFill/>
          </a:ln>
        </p:spPr>
      </p:sp>
      <p:sp>
        <p:nvSpPr>
          <p:cNvPr id="519"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B5F4C9E7-C16F-4B2E-AF6D-FE5061E2794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21" name="PlaceHolder 1"/>
          <p:cNvSpPr>
            <a:spLocks noGrp="1"/>
          </p:cNvSpPr>
          <p:nvPr>
            <p:ph type="sldImg"/>
          </p:nvPr>
        </p:nvSpPr>
        <p:spPr>
          <a:xfrm>
            <a:off x="1208160" y="700200"/>
            <a:ext cx="4599000" cy="3449520"/>
          </a:xfrm>
          <a:prstGeom prst="rect">
            <a:avLst/>
          </a:prstGeom>
          <a:ln w="0">
            <a:noFill/>
          </a:ln>
        </p:spPr>
      </p:sp>
      <p:sp>
        <p:nvSpPr>
          <p:cNvPr id="522" name="PlaceHolder 2"/>
          <p:cNvSpPr>
            <a:spLocks noGrp="1"/>
          </p:cNvSpPr>
          <p:nvPr>
            <p:ph type="body"/>
          </p:nvPr>
        </p:nvSpPr>
        <p:spPr>
          <a:xfrm>
            <a:off x="933120" y="4387680"/>
            <a:ext cx="5141880" cy="415296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5614F139-EEA4-45B6-A02C-6602A2B4C13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24" name="PlaceHolder 1"/>
          <p:cNvSpPr>
            <a:spLocks noGrp="1"/>
          </p:cNvSpPr>
          <p:nvPr>
            <p:ph type="sldImg"/>
          </p:nvPr>
        </p:nvSpPr>
        <p:spPr>
          <a:xfrm>
            <a:off x="1195560" y="692280"/>
            <a:ext cx="4619520" cy="3463920"/>
          </a:xfrm>
          <a:prstGeom prst="rect">
            <a:avLst/>
          </a:prstGeom>
          <a:ln w="0">
            <a:noFill/>
          </a:ln>
        </p:spPr>
      </p:sp>
      <p:sp>
        <p:nvSpPr>
          <p:cNvPr id="525"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A6211B4E-85EB-45F9-BF59-0BF2072D601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27" name="PlaceHolder 1"/>
          <p:cNvSpPr>
            <a:spLocks noGrp="1"/>
          </p:cNvSpPr>
          <p:nvPr>
            <p:ph type="sldImg"/>
          </p:nvPr>
        </p:nvSpPr>
        <p:spPr>
          <a:xfrm>
            <a:off x="1195560" y="692280"/>
            <a:ext cx="4619520" cy="3463920"/>
          </a:xfrm>
          <a:prstGeom prst="rect">
            <a:avLst/>
          </a:prstGeom>
          <a:ln w="0">
            <a:noFill/>
          </a:ln>
        </p:spPr>
      </p:sp>
      <p:sp>
        <p:nvSpPr>
          <p:cNvPr id="528"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9"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96D17652-B05F-4CC8-8F86-0ECD6906871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30" name="PlaceHolder 1"/>
          <p:cNvSpPr>
            <a:spLocks noGrp="1"/>
          </p:cNvSpPr>
          <p:nvPr>
            <p:ph type="sldImg"/>
          </p:nvPr>
        </p:nvSpPr>
        <p:spPr>
          <a:xfrm>
            <a:off x="1197000" y="692280"/>
            <a:ext cx="4618080" cy="3463920"/>
          </a:xfrm>
          <a:prstGeom prst="rect">
            <a:avLst/>
          </a:prstGeom>
          <a:ln w="0">
            <a:noFill/>
          </a:ln>
        </p:spPr>
      </p:sp>
      <p:sp>
        <p:nvSpPr>
          <p:cNvPr id="531"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2"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A83BB7C6-FC17-49B1-8B3B-40D639E67CC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F5A381DD-0049-4B5C-94FE-74D61C4949F9}"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34" name="PlaceHolder 1"/>
          <p:cNvSpPr>
            <a:spLocks noGrp="1"/>
          </p:cNvSpPr>
          <p:nvPr>
            <p:ph type="sldImg"/>
          </p:nvPr>
        </p:nvSpPr>
        <p:spPr>
          <a:xfrm>
            <a:off x="1195560" y="692280"/>
            <a:ext cx="4619520" cy="3463920"/>
          </a:xfrm>
          <a:prstGeom prst="rect">
            <a:avLst/>
          </a:prstGeom>
          <a:ln w="0">
            <a:noFill/>
          </a:ln>
        </p:spPr>
      </p:sp>
      <p:sp>
        <p:nvSpPr>
          <p:cNvPr id="535" name="PlaceHolder 2"/>
          <p:cNvSpPr>
            <a:spLocks noGrp="1"/>
          </p:cNvSpPr>
          <p:nvPr>
            <p:ph type="body"/>
          </p:nvPr>
        </p:nvSpPr>
        <p:spPr>
          <a:xfrm>
            <a:off x="934560" y="4387320"/>
            <a:ext cx="5140440" cy="4156200"/>
          </a:xfrm>
          <a:prstGeom prst="rect">
            <a:avLst/>
          </a:prstGeom>
          <a:noFill/>
          <a:ln w="0">
            <a:noFill/>
          </a:ln>
        </p:spPr>
        <p:txBody>
          <a:bodyPr lIns="93240" tIns="46440" rIns="93240" bIns="4644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Removed 09/09/10: V-optimal: with the least </a:t>
            </a:r>
            <a:r>
              <a:rPr lang="en-US" sz="1200" b="0" i="1" u="none" strike="noStrike">
                <a:solidFill>
                  <a:srgbClr val="000000"/>
                </a:solidFill>
                <a:effectLst/>
                <a:uFillTx/>
                <a:latin typeface="Times New Roman"/>
              </a:rPr>
              <a:t>histogram variance</a:t>
            </a:r>
            <a:r>
              <a:rPr lang="en-US" sz="1200" b="0" u="none" strike="noStrike">
                <a:solidFill>
                  <a:srgbClr val="000000"/>
                </a:solidFill>
                <a:effectLst/>
                <a:uFillTx/>
                <a:latin typeface="Times New Roman"/>
              </a:rPr>
              <a:t> (weighted sum of the original values that each bucket represents)</a:t>
            </a:r>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73DED313-0CAC-4CB3-94CF-4731E70F583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37" name="PlaceHolder 1"/>
          <p:cNvSpPr>
            <a:spLocks noGrp="1"/>
          </p:cNvSpPr>
          <p:nvPr>
            <p:ph type="sldImg"/>
          </p:nvPr>
        </p:nvSpPr>
        <p:spPr>
          <a:xfrm>
            <a:off x="1195560" y="692280"/>
            <a:ext cx="4619520" cy="3463920"/>
          </a:xfrm>
          <a:prstGeom prst="rect">
            <a:avLst/>
          </a:prstGeom>
          <a:ln w="0">
            <a:noFill/>
          </a:ln>
        </p:spPr>
      </p:sp>
      <p:sp>
        <p:nvSpPr>
          <p:cNvPr id="538"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1CC009AA-B587-4A93-9800-29346DEABA3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40" name="PlaceHolder 1"/>
          <p:cNvSpPr>
            <a:spLocks noGrp="1"/>
          </p:cNvSpPr>
          <p:nvPr>
            <p:ph type="sldImg"/>
          </p:nvPr>
        </p:nvSpPr>
        <p:spPr>
          <a:xfrm>
            <a:off x="1195560" y="692280"/>
            <a:ext cx="4619520" cy="3463920"/>
          </a:xfrm>
          <a:prstGeom prst="rect">
            <a:avLst/>
          </a:prstGeom>
          <a:ln w="0">
            <a:noFill/>
          </a:ln>
        </p:spPr>
      </p:sp>
      <p:sp>
        <p:nvSpPr>
          <p:cNvPr id="541"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C52A9CA5-D08C-4FB4-B386-6637C0A0EAD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43" name="PlaceHolder 1"/>
          <p:cNvSpPr>
            <a:spLocks noGrp="1"/>
          </p:cNvSpPr>
          <p:nvPr>
            <p:ph type="sldImg"/>
          </p:nvPr>
        </p:nvSpPr>
        <p:spPr>
          <a:xfrm>
            <a:off x="1195560" y="692280"/>
            <a:ext cx="4619520" cy="3463920"/>
          </a:xfrm>
          <a:prstGeom prst="rect">
            <a:avLst/>
          </a:prstGeom>
          <a:ln w="0">
            <a:noFill/>
          </a:ln>
        </p:spPr>
      </p:sp>
      <p:sp>
        <p:nvSpPr>
          <p:cNvPr id="544"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8A84D804-3297-4E02-8A08-49C0E061967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46" name="PlaceHolder 1"/>
          <p:cNvSpPr>
            <a:spLocks noGrp="1"/>
          </p:cNvSpPr>
          <p:nvPr>
            <p:ph type="sldImg"/>
          </p:nvPr>
        </p:nvSpPr>
        <p:spPr>
          <a:xfrm>
            <a:off x="1195560" y="692280"/>
            <a:ext cx="4619520" cy="3463920"/>
          </a:xfrm>
          <a:prstGeom prst="rect">
            <a:avLst/>
          </a:prstGeom>
          <a:ln w="0">
            <a:noFill/>
          </a:ln>
        </p:spPr>
      </p:sp>
      <p:sp>
        <p:nvSpPr>
          <p:cNvPr id="547"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E082E36F-1F39-4C18-A37E-A7A2092DB18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49" name="PlaceHolder 1"/>
          <p:cNvSpPr>
            <a:spLocks noGrp="1"/>
          </p:cNvSpPr>
          <p:nvPr>
            <p:ph type="sldImg"/>
          </p:nvPr>
        </p:nvSpPr>
        <p:spPr>
          <a:xfrm>
            <a:off x="1195560" y="692280"/>
            <a:ext cx="4619520" cy="3463920"/>
          </a:xfrm>
          <a:prstGeom prst="rect">
            <a:avLst/>
          </a:prstGeom>
          <a:ln w="0">
            <a:noFill/>
          </a:ln>
        </p:spPr>
      </p:sp>
      <p:sp>
        <p:nvSpPr>
          <p:cNvPr id="550"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4E44D5C1-6FC2-43C3-8FC4-78B15B53181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52" name="PlaceHolder 1"/>
          <p:cNvSpPr>
            <a:spLocks noGrp="1"/>
          </p:cNvSpPr>
          <p:nvPr>
            <p:ph type="sldImg"/>
          </p:nvPr>
        </p:nvSpPr>
        <p:spPr>
          <a:xfrm>
            <a:off x="1195560" y="692280"/>
            <a:ext cx="4619520" cy="3463920"/>
          </a:xfrm>
          <a:prstGeom prst="rect">
            <a:avLst/>
          </a:prstGeom>
          <a:ln w="0">
            <a:noFill/>
          </a:ln>
        </p:spPr>
      </p:sp>
      <p:sp>
        <p:nvSpPr>
          <p:cNvPr id="553"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B312B014-360F-44B5-8C39-F41109C4D7E3}"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55" name="PlaceHolder 1"/>
          <p:cNvSpPr>
            <a:spLocks noGrp="1"/>
          </p:cNvSpPr>
          <p:nvPr>
            <p:ph type="sldImg"/>
          </p:nvPr>
        </p:nvSpPr>
        <p:spPr>
          <a:xfrm>
            <a:off x="1195560" y="692280"/>
            <a:ext cx="4619520" cy="3463920"/>
          </a:xfrm>
          <a:prstGeom prst="rect">
            <a:avLst/>
          </a:prstGeom>
          <a:ln w="0">
            <a:noFill/>
          </a:ln>
        </p:spPr>
      </p:sp>
      <p:sp>
        <p:nvSpPr>
          <p:cNvPr id="556" name="PlaceHolder 2"/>
          <p:cNvSpPr>
            <a:spLocks noGrp="1"/>
          </p:cNvSpPr>
          <p:nvPr>
            <p:ph type="body"/>
          </p:nvPr>
        </p:nvSpPr>
        <p:spPr>
          <a:xfrm>
            <a:off x="934560" y="4387320"/>
            <a:ext cx="5140440" cy="4156200"/>
          </a:xfrm>
          <a:prstGeom prst="rect">
            <a:avLst/>
          </a:prstGeom>
          <a:noFill/>
          <a:ln w="0">
            <a:noFill/>
          </a:ln>
        </p:spPr>
        <p:txBody>
          <a:bodyPr lIns="93240" tIns="46440" rIns="93240" bIns="4644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PCA and Wavelet are forms of data compression also.</a:t>
            </a:r>
            <a:endParaRPr lang="en-US" sz="1200" b="0" u="none" strike="noStrike">
              <a:solidFill>
                <a:srgbClr val="000000"/>
              </a:solidFill>
              <a:effectLst/>
              <a:uFillTx/>
              <a:latin typeface="Times New Roman"/>
            </a:endParaRPr>
          </a:p>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EDEE983B-09F2-4FDD-AE0E-BC34EA307B0A}"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58" name="PlaceHolder 1"/>
          <p:cNvSpPr>
            <a:spLocks noGrp="1"/>
          </p:cNvSpPr>
          <p:nvPr>
            <p:ph type="sldImg"/>
          </p:nvPr>
        </p:nvSpPr>
        <p:spPr>
          <a:xfrm>
            <a:off x="1195560" y="692280"/>
            <a:ext cx="4619520" cy="3463920"/>
          </a:xfrm>
          <a:prstGeom prst="rect">
            <a:avLst/>
          </a:prstGeom>
          <a:ln w="0">
            <a:noFill/>
          </a:ln>
        </p:spPr>
      </p:sp>
      <p:sp>
        <p:nvSpPr>
          <p:cNvPr id="559"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0"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DCA49C21-542B-42CC-9132-A464CD9D718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61" name="PlaceHolder 1"/>
          <p:cNvSpPr>
            <a:spLocks noGrp="1"/>
          </p:cNvSpPr>
          <p:nvPr>
            <p:ph type="sldImg"/>
          </p:nvPr>
        </p:nvSpPr>
        <p:spPr>
          <a:xfrm>
            <a:off x="1195560" y="692280"/>
            <a:ext cx="4619520" cy="3463920"/>
          </a:xfrm>
          <a:prstGeom prst="rect">
            <a:avLst/>
          </a:prstGeom>
          <a:ln w="0">
            <a:noFill/>
          </a:ln>
        </p:spPr>
      </p:sp>
      <p:sp>
        <p:nvSpPr>
          <p:cNvPr id="562"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CCCCFF"/>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3"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371D631D-8103-4CCE-AF20-EA3E7C8C35C6}"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64" name="PlaceHolder 1"/>
          <p:cNvSpPr>
            <a:spLocks noGrp="1"/>
          </p:cNvSpPr>
          <p:nvPr>
            <p:ph type="sldImg"/>
          </p:nvPr>
        </p:nvSpPr>
        <p:spPr>
          <a:xfrm>
            <a:off x="1197000" y="692280"/>
            <a:ext cx="4618080" cy="3463920"/>
          </a:xfrm>
          <a:prstGeom prst="rect">
            <a:avLst/>
          </a:prstGeom>
          <a:ln w="0">
            <a:noFill/>
          </a:ln>
        </p:spPr>
      </p:sp>
      <p:sp>
        <p:nvSpPr>
          <p:cNvPr id="565"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6"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6DF5A99D-8177-4850-B6E5-CD7BA085320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67" name="PlaceHolder 1"/>
          <p:cNvSpPr>
            <a:spLocks noGrp="1"/>
          </p:cNvSpPr>
          <p:nvPr>
            <p:ph type="sldImg"/>
          </p:nvPr>
        </p:nvSpPr>
        <p:spPr>
          <a:xfrm>
            <a:off x="1197000" y="692280"/>
            <a:ext cx="4618080" cy="3463920"/>
          </a:xfrm>
          <a:prstGeom prst="rect">
            <a:avLst/>
          </a:prstGeom>
          <a:ln w="0">
            <a:noFill/>
          </a:ln>
        </p:spPr>
      </p:sp>
      <p:sp>
        <p:nvSpPr>
          <p:cNvPr id="568"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9"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42B0DC4C-9091-4544-A4FE-413040DC913E}"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70" name="PlaceHolder 1"/>
          <p:cNvSpPr>
            <a:spLocks noGrp="1"/>
          </p:cNvSpPr>
          <p:nvPr>
            <p:ph type="sldImg"/>
          </p:nvPr>
        </p:nvSpPr>
        <p:spPr>
          <a:xfrm>
            <a:off x="1197000" y="692280"/>
            <a:ext cx="4618080" cy="3463920"/>
          </a:xfrm>
          <a:prstGeom prst="rect">
            <a:avLst/>
          </a:prstGeom>
          <a:ln w="0">
            <a:noFill/>
          </a:ln>
        </p:spPr>
      </p:sp>
      <p:sp>
        <p:nvSpPr>
          <p:cNvPr id="571" name="PlaceHolder 2"/>
          <p:cNvSpPr>
            <a:spLocks noGrp="1"/>
          </p:cNvSpPr>
          <p:nvPr>
            <p:ph type="body"/>
          </p:nvPr>
        </p:nvSpPr>
        <p:spPr>
          <a:xfrm>
            <a:off x="934560" y="4387320"/>
            <a:ext cx="5140440" cy="4156200"/>
          </a:xfrm>
          <a:prstGeom prst="rect">
            <a:avLst/>
          </a:prstGeom>
          <a:noFill/>
          <a:ln w="0">
            <a:noFill/>
          </a:ln>
        </p:spPr>
        <p:txBody>
          <a:bodyPr lIns="93240" tIns="46440" rIns="93240" bIns="4644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08.09.12 MK: Slide moved here from Ch. 3.  Added examples.</a:t>
            </a:r>
            <a:endParaRPr lang="en-US" sz="12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2"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3016205A-9839-4F75-B45B-80B1B17EA84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73" name="PlaceHolder 1"/>
          <p:cNvSpPr>
            <a:spLocks noGrp="1"/>
          </p:cNvSpPr>
          <p:nvPr>
            <p:ph type="sldImg"/>
          </p:nvPr>
        </p:nvSpPr>
        <p:spPr>
          <a:xfrm>
            <a:off x="1197000" y="692280"/>
            <a:ext cx="4618080" cy="3463920"/>
          </a:xfrm>
          <a:prstGeom prst="rect">
            <a:avLst/>
          </a:prstGeom>
          <a:ln w="0">
            <a:noFill/>
          </a:ln>
        </p:spPr>
      </p:sp>
      <p:sp>
        <p:nvSpPr>
          <p:cNvPr id="574"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5"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0EEF28B0-8DBD-4C58-8CF3-B71BE0575A7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76" name="PlaceHolder 1"/>
          <p:cNvSpPr>
            <a:spLocks noGrp="1"/>
          </p:cNvSpPr>
          <p:nvPr>
            <p:ph type="sldImg"/>
          </p:nvPr>
        </p:nvSpPr>
        <p:spPr>
          <a:xfrm>
            <a:off x="1197000" y="692280"/>
            <a:ext cx="4618080" cy="3463920"/>
          </a:xfrm>
          <a:prstGeom prst="rect">
            <a:avLst/>
          </a:prstGeom>
          <a:ln w="0">
            <a:noFill/>
          </a:ln>
        </p:spPr>
      </p:sp>
      <p:sp>
        <p:nvSpPr>
          <p:cNvPr id="577"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505D08DA-FE54-4639-9E8F-9C24F9C703A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79" name="PlaceHolder 1"/>
          <p:cNvSpPr>
            <a:spLocks noGrp="1"/>
          </p:cNvSpPr>
          <p:nvPr>
            <p:ph type="sldImg"/>
          </p:nvPr>
        </p:nvSpPr>
        <p:spPr>
          <a:xfrm>
            <a:off x="1197000" y="692280"/>
            <a:ext cx="4618080" cy="3463920"/>
          </a:xfrm>
          <a:prstGeom prst="rect">
            <a:avLst/>
          </a:prstGeom>
          <a:ln w="0">
            <a:noFill/>
          </a:ln>
        </p:spPr>
      </p:sp>
      <p:sp>
        <p:nvSpPr>
          <p:cNvPr id="580"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1"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5134A408-DE86-4F33-A5A8-E8DA260760AB}"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82" name="PlaceHolder 1"/>
          <p:cNvSpPr>
            <a:spLocks noGrp="1"/>
          </p:cNvSpPr>
          <p:nvPr>
            <p:ph type="sldImg"/>
          </p:nvPr>
        </p:nvSpPr>
        <p:spPr>
          <a:xfrm>
            <a:off x="1198440" y="693720"/>
            <a:ext cx="4616640" cy="3462480"/>
          </a:xfrm>
          <a:prstGeom prst="rect">
            <a:avLst/>
          </a:prstGeom>
          <a:ln w="0">
            <a:noFill/>
          </a:ln>
        </p:spPr>
      </p:sp>
      <p:sp>
        <p:nvSpPr>
          <p:cNvPr id="583" name="PlaceHolder 2"/>
          <p:cNvSpPr>
            <a:spLocks noGrp="1"/>
          </p:cNvSpPr>
          <p:nvPr>
            <p:ph type="body"/>
          </p:nvPr>
        </p:nvSpPr>
        <p:spPr>
          <a:xfrm>
            <a:off x="934560" y="438588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A709ABD2-8F92-418A-A3BC-97184A1AB9E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85" name="PlaceHolder 1"/>
          <p:cNvSpPr>
            <a:spLocks noGrp="1"/>
          </p:cNvSpPr>
          <p:nvPr>
            <p:ph type="sldImg"/>
          </p:nvPr>
        </p:nvSpPr>
        <p:spPr>
          <a:xfrm>
            <a:off x="1198440" y="693720"/>
            <a:ext cx="4616640" cy="3462480"/>
          </a:xfrm>
          <a:prstGeom prst="rect">
            <a:avLst/>
          </a:prstGeom>
          <a:ln w="0">
            <a:noFill/>
          </a:ln>
        </p:spPr>
      </p:sp>
      <p:sp>
        <p:nvSpPr>
          <p:cNvPr id="586" name="PlaceHolder 2"/>
          <p:cNvSpPr>
            <a:spLocks noGrp="1"/>
          </p:cNvSpPr>
          <p:nvPr>
            <p:ph type="body"/>
          </p:nvPr>
        </p:nvSpPr>
        <p:spPr>
          <a:xfrm>
            <a:off x="934560" y="438588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0E11242A-1375-4FD8-93D4-1FAC16EC79F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88" name="PlaceHolder 1"/>
          <p:cNvSpPr>
            <a:spLocks noGrp="1"/>
          </p:cNvSpPr>
          <p:nvPr>
            <p:ph type="sldImg"/>
          </p:nvPr>
        </p:nvSpPr>
        <p:spPr>
          <a:xfrm>
            <a:off x="1197000" y="692280"/>
            <a:ext cx="4618080" cy="3463920"/>
          </a:xfrm>
          <a:prstGeom prst="rect">
            <a:avLst/>
          </a:prstGeom>
          <a:ln w="0">
            <a:noFill/>
          </a:ln>
        </p:spPr>
      </p:sp>
      <p:sp>
        <p:nvSpPr>
          <p:cNvPr id="589"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0"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C6E60CD7-F5F4-402E-BE6C-F5EC0F98122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91" name="PlaceHolder 1"/>
          <p:cNvSpPr>
            <a:spLocks noGrp="1"/>
          </p:cNvSpPr>
          <p:nvPr>
            <p:ph type="sldImg"/>
          </p:nvPr>
        </p:nvSpPr>
        <p:spPr>
          <a:xfrm>
            <a:off x="1197000" y="692280"/>
            <a:ext cx="4618080" cy="3463920"/>
          </a:xfrm>
          <a:prstGeom prst="rect">
            <a:avLst/>
          </a:prstGeom>
          <a:ln w="0">
            <a:noFill/>
          </a:ln>
        </p:spPr>
      </p:sp>
      <p:sp>
        <p:nvSpPr>
          <p:cNvPr id="592" name="PlaceHolder 2"/>
          <p:cNvSpPr>
            <a:spLocks noGrp="1"/>
          </p:cNvSpPr>
          <p:nvPr>
            <p:ph type="body"/>
          </p:nvPr>
        </p:nvSpPr>
        <p:spPr>
          <a:xfrm>
            <a:off x="934560" y="4387320"/>
            <a:ext cx="5140440" cy="4156200"/>
          </a:xfrm>
          <a:prstGeom prst="rect">
            <a:avLst/>
          </a:prstGeom>
          <a:noFill/>
          <a:ln w="0">
            <a:noFill/>
          </a:ln>
        </p:spPr>
        <p:txBody>
          <a:bodyPr lIns="93240" tIns="46440" rIns="93240" bIns="4644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Should we briefly introduce ontology?  Ontology has been used extensively in bio-medical data warehouses.  -- JP</a:t>
            </a:r>
            <a:endParaRPr lang="en-US" sz="1200" b="0" u="none" strike="noStrike">
              <a:solidFill>
                <a:srgbClr val="000000"/>
              </a:solidFill>
              <a:effectLst/>
              <a:uFillTx/>
              <a:latin typeface="Times New Roman"/>
            </a:endParaRPr>
          </a:p>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We should introduce this part using 1-2 slides -JH</a:t>
            </a:r>
            <a:endParaRPr lang="en-US" sz="1200" b="0" u="none" strike="noStrike">
              <a:solidFill>
                <a:srgbClr val="000000"/>
              </a:solidFill>
              <a:effectLst/>
              <a:uFillTx/>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3"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5337323A-97EC-4975-91BF-276CB7273DB7}"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94" name="PlaceHolder 1"/>
          <p:cNvSpPr>
            <a:spLocks noGrp="1"/>
          </p:cNvSpPr>
          <p:nvPr>
            <p:ph type="sldImg"/>
          </p:nvPr>
        </p:nvSpPr>
        <p:spPr>
          <a:xfrm>
            <a:off x="1197000" y="692280"/>
            <a:ext cx="4618080" cy="3463920"/>
          </a:xfrm>
          <a:prstGeom prst="rect">
            <a:avLst/>
          </a:prstGeom>
          <a:ln w="0">
            <a:noFill/>
          </a:ln>
        </p:spPr>
      </p:sp>
      <p:sp>
        <p:nvSpPr>
          <p:cNvPr id="595"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6"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064D4D3D-D579-43AA-9E61-31A1CE9E4942}"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597" name="PlaceHolder 1"/>
          <p:cNvSpPr>
            <a:spLocks noGrp="1"/>
          </p:cNvSpPr>
          <p:nvPr>
            <p:ph type="sldImg"/>
          </p:nvPr>
        </p:nvSpPr>
        <p:spPr>
          <a:xfrm>
            <a:off x="1195560" y="692280"/>
            <a:ext cx="4619520" cy="3463920"/>
          </a:xfrm>
          <a:prstGeom prst="rect">
            <a:avLst/>
          </a:prstGeom>
          <a:ln w="0">
            <a:noFill/>
          </a:ln>
        </p:spPr>
      </p:sp>
      <p:sp>
        <p:nvSpPr>
          <p:cNvPr id="598"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CCCCFF"/>
              </a:solidFill>
              <a:effectLst/>
              <a:uFillTx/>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9"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669345B6-6C52-4DF0-8019-2E4402885D0D}"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600" name="PlaceHolder 1"/>
          <p:cNvSpPr>
            <a:spLocks noGrp="1"/>
          </p:cNvSpPr>
          <p:nvPr>
            <p:ph type="sldImg"/>
          </p:nvPr>
        </p:nvSpPr>
        <p:spPr>
          <a:xfrm>
            <a:off x="1195560" y="692280"/>
            <a:ext cx="4619520" cy="3463920"/>
          </a:xfrm>
          <a:prstGeom prst="rect">
            <a:avLst/>
          </a:prstGeom>
          <a:ln w="0">
            <a:noFill/>
          </a:ln>
        </p:spPr>
      </p:sp>
      <p:sp>
        <p:nvSpPr>
          <p:cNvPr id="601" name="PlaceHolder 2"/>
          <p:cNvSpPr>
            <a:spLocks noGrp="1"/>
          </p:cNvSpPr>
          <p:nvPr>
            <p:ph type="body"/>
          </p:nvPr>
        </p:nvSpPr>
        <p:spPr>
          <a:xfrm>
            <a:off x="934560" y="4387320"/>
            <a:ext cx="5140440" cy="4156200"/>
          </a:xfrm>
          <a:prstGeom prst="rect">
            <a:avLst/>
          </a:prstGeom>
          <a:noFill/>
          <a:ln w="0">
            <a:noFill/>
          </a:ln>
        </p:spPr>
        <p:txBody>
          <a:bodyPr lIns="0" tIns="0" rIns="0" bIns="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200" b="0" u="none" strike="noStrike">
              <a:solidFill>
                <a:srgbClr val="000000"/>
              </a:solidFill>
              <a:effectLst/>
              <a:uFillTx/>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2" name="Rectangle 7"/>
          <p:cNvSpPr/>
          <p:nvPr/>
        </p:nvSpPr>
        <p:spPr>
          <a:xfrm>
            <a:off x="3971880" y="8774280"/>
            <a:ext cx="3038400" cy="461880"/>
          </a:xfrm>
          <a:prstGeom prst="rect">
            <a:avLst/>
          </a:prstGeom>
          <a:noFill/>
          <a:ln w="0">
            <a:noFill/>
          </a:ln>
        </p:spPr>
        <p:style>
          <a:lnRef idx="0"/>
          <a:fillRef idx="0"/>
          <a:effectRef idx="0"/>
          <a:fontRef idx="minor"/>
        </p:style>
        <p:txBody>
          <a:bodyPr lIns="93240" tIns="46440" rIns="93240" bIns="46440" anchor="b">
            <a:noAutofit/>
          </a:bodyPr>
          <a:p>
            <a:pPr algn="r">
              <a:lnSpc>
                <a:spcPct val="100000"/>
              </a:lnSpc>
              <a:tabLst>
                <a:tab pos="0" algn="l"/>
                <a:tab pos="932040" algn="l"/>
                <a:tab pos="1863720" algn="l"/>
                <a:tab pos="2795760" algn="l"/>
                <a:tab pos="3727440" algn="l"/>
                <a:tab pos="4659480" algn="l"/>
                <a:tab pos="5591160" algn="l"/>
                <a:tab pos="6523200" algn="l"/>
                <a:tab pos="7454880" algn="l"/>
                <a:tab pos="8386920" algn="l"/>
                <a:tab pos="9318600" algn="l"/>
                <a:tab pos="10250640" algn="l"/>
              </a:tabLst>
            </a:pPr>
            <a:fld id="{7ECA220D-60CB-40B0-8BEC-3B7EFEB84EF1}"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ahoma"/>
            </a:endParaRPr>
          </a:p>
        </p:txBody>
      </p:sp>
      <p:sp>
        <p:nvSpPr>
          <p:cNvPr id="603" name="PlaceHolder 1"/>
          <p:cNvSpPr>
            <a:spLocks noGrp="1"/>
          </p:cNvSpPr>
          <p:nvPr>
            <p:ph type="sldImg"/>
          </p:nvPr>
        </p:nvSpPr>
        <p:spPr>
          <a:xfrm>
            <a:off x="1195560" y="692280"/>
            <a:ext cx="4619520" cy="3463920"/>
          </a:xfrm>
          <a:prstGeom prst="rect">
            <a:avLst/>
          </a:prstGeom>
          <a:ln w="0">
            <a:noFill/>
          </a:ln>
        </p:spPr>
      </p:sp>
      <p:sp>
        <p:nvSpPr>
          <p:cNvPr id="604" name="PlaceHolder 2"/>
          <p:cNvSpPr>
            <a:spLocks noGrp="1"/>
          </p:cNvSpPr>
          <p:nvPr>
            <p:ph type="body"/>
          </p:nvPr>
        </p:nvSpPr>
        <p:spPr>
          <a:xfrm>
            <a:off x="934560" y="4387320"/>
            <a:ext cx="5140440" cy="4156200"/>
          </a:xfrm>
          <a:prstGeom prst="rect">
            <a:avLst/>
          </a:prstGeom>
          <a:noFill/>
          <a:ln w="0">
            <a:noFill/>
          </a:ln>
        </p:spPr>
        <p:txBody>
          <a:bodyPr lIns="93240" tIns="46440" rIns="93240" bIns="46440" anchor="t">
            <a:noAutofit/>
          </a:bodyPr>
          <a:p>
            <a:pPr indent="0" algn="l">
              <a:spcBef>
                <a:spcPts val="45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MK 08.11.02: This needs to be updated to reflect changes.</a:t>
            </a:r>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2" name="Rectangle 2056"/>
          <p:cNvSpPr/>
          <p:nvPr/>
        </p:nvSpPr>
        <p:spPr>
          <a:xfrm>
            <a:off x="304920" y="1143000"/>
            <a:ext cx="8226360" cy="46080"/>
          </a:xfrm>
          <a:prstGeom prst="rect">
            <a:avLst/>
          </a:prstGeom>
          <a:gradFill rotWithShape="0">
            <a:gsLst>
              <a:gs pos="0">
                <a:srgbClr val="008080">
                  <a:alpha val="95294"/>
                </a:srgbClr>
              </a:gs>
              <a:gs pos="100000">
                <a:srgbClr val="FFFFFF"/>
              </a:gs>
            </a:gsLst>
            <a:lin ang="0"/>
          </a:gradFill>
          <a:ln w="0">
            <a:noFill/>
          </a:ln>
        </p:spPr>
        <p:style>
          <a:lnRef idx="0"/>
          <a:fillRef idx="0"/>
          <a:effectRef idx="0"/>
          <a:fontRef idx="minor"/>
        </p:style>
        <p:txBody>
          <a:bodyPr wrap="none" lIns="90000" tIns="-720" rIns="90000" bIns="-72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 name="PlaceHolder 1"/>
          <p:cNvSpPr>
            <a:spLocks noGrp="1"/>
          </p:cNvSpPr>
          <p:nvPr>
            <p:ph type="title"/>
          </p:nvPr>
        </p:nvSpPr>
        <p:spPr>
          <a:xfrm>
            <a:off x="152280" y="304560"/>
            <a:ext cx="8763120" cy="609480"/>
          </a:xfrm>
          <a:prstGeom prst="rect">
            <a:avLst/>
          </a:prstGeom>
          <a:noFill/>
          <a:ln w="0">
            <a:noFill/>
          </a:ln>
        </p:spPr>
        <p:txBody>
          <a:bodyPr lIns="90000" tIns="46800" rIns="90000" bIns="46800" anchor="b">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3600" b="1" u="none" strike="noStrike">
                <a:solidFill>
                  <a:srgbClr val="333399"/>
                </a:solidFill>
                <a:effectLst/>
                <a:uFillTx/>
                <a:latin typeface="Berlin Sans FB Demi"/>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Click to edit the title text format</a:t>
            </a:r>
            <a:endParaRPr lang="en-US" sz="3600" b="1" u="none" strike="noStrike">
              <a:solidFill>
                <a:srgbClr val="333399"/>
              </a:solidFill>
              <a:effectLst/>
              <a:uFillTx/>
              <a:latin typeface="Berlin Sans FB Demi"/>
            </a:endParaRPr>
          </a:p>
        </p:txBody>
      </p:sp>
      <p:sp>
        <p:nvSpPr>
          <p:cNvPr id="4" name="PlaceHolder 2"/>
          <p:cNvSpPr>
            <a:spLocks noGrp="1"/>
          </p:cNvSpPr>
          <p:nvPr>
            <p:ph type="body"/>
          </p:nvPr>
        </p:nvSpPr>
        <p:spPr>
          <a:xfrm>
            <a:off x="304560" y="1295280"/>
            <a:ext cx="8381880" cy="5181840"/>
          </a:xfrm>
          <a:prstGeom prst="rect">
            <a:avLst/>
          </a:prstGeom>
          <a:noFill/>
          <a:ln w="0">
            <a:noFill/>
          </a:ln>
        </p:spPr>
        <p:txBody>
          <a:bodyPr lIns="90000" tIns="46800" rIns="90000" bIns="46800" anchor="t">
            <a:normAutofit/>
          </a:bodyPr>
          <a:lstStyle>
            <a:lvl1pPr algn="l">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1pPr>
            <a:lvl2pPr lvl="1" algn="l">
              <a:spcBef>
                <a:spcPts val="7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2pPr>
            <a:lvl3pPr lvl="2" algn="l">
              <a:spcBef>
                <a:spcPts val="700"/>
              </a:spcBef>
              <a:buClr>
                <a:srgbClr val="3333CC"/>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3pPr>
            <a:lvl4pPr lvl="3" algn="l">
              <a:spcBef>
                <a:spcPts val="700"/>
              </a:spcBef>
              <a:buClr>
                <a:srgbClr val="FFCF01"/>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4pPr>
            <a:lvl5pPr lvl="4" algn="l">
              <a:spcBef>
                <a:spcPts val="700"/>
              </a:spcBef>
              <a:buClr>
                <a:srgbClr val="00E4A8"/>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5pPr>
            <a:lvl6pPr lvl="5" algn="l">
              <a:spcBef>
                <a:spcPts val="700"/>
              </a:spcBef>
              <a:buClr>
                <a:srgbClr val="00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6pPr>
            <a:lvl7pPr lvl="6" algn="l">
              <a:spcBef>
                <a:spcPts val="700"/>
              </a:spcBef>
              <a:buClr>
                <a:srgbClr val="00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7pPr>
          </a:lstStyle>
          <a:p>
            <a:pPr marL="343080" indent="-343080" algn="l">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Click to edit the outline text format</a:t>
            </a:r>
            <a:endParaRPr lang="en-US" sz="2800" b="0" u="none" strike="noStrike">
              <a:solidFill>
                <a:srgbClr val="000000"/>
              </a:solidFill>
              <a:effectLst/>
              <a:uFillTx/>
              <a:latin typeface="Tahoma"/>
            </a:endParaRPr>
          </a:p>
          <a:p>
            <a:pPr marL="743040" lvl="1" indent="-285840" algn="l">
              <a:spcBef>
                <a:spcPts val="7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Second Outline Level</a:t>
            </a:r>
            <a:endParaRPr lang="en-US" sz="2800" b="0" u="none" strike="noStrike">
              <a:solidFill>
                <a:srgbClr val="000000"/>
              </a:solidFill>
              <a:effectLst/>
              <a:uFillTx/>
              <a:latin typeface="Tahoma"/>
            </a:endParaRPr>
          </a:p>
          <a:p>
            <a:pPr marL="1143000" lvl="2" indent="-228600" algn="l">
              <a:spcBef>
                <a:spcPts val="700"/>
              </a:spcBef>
              <a:buClr>
                <a:srgbClr val="3333CC"/>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Third Outline Level</a:t>
            </a:r>
            <a:endParaRPr lang="en-US" sz="2800" b="0" u="none" strike="noStrike">
              <a:solidFill>
                <a:srgbClr val="000000"/>
              </a:solidFill>
              <a:effectLst/>
              <a:uFillTx/>
              <a:latin typeface="Tahoma"/>
            </a:endParaRPr>
          </a:p>
          <a:p>
            <a:pPr marL="1600200" lvl="3" indent="-228600" algn="l">
              <a:spcBef>
                <a:spcPts val="700"/>
              </a:spcBef>
              <a:buClr>
                <a:srgbClr val="FFCF01"/>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Fourth Outline Level</a:t>
            </a:r>
            <a:endParaRPr lang="en-US" sz="2800" b="0" u="none" strike="noStrike">
              <a:solidFill>
                <a:srgbClr val="000000"/>
              </a:solidFill>
              <a:effectLst/>
              <a:uFillTx/>
              <a:latin typeface="Tahoma"/>
            </a:endParaRPr>
          </a:p>
          <a:p>
            <a:pPr marL="2057400" lvl="4" indent="-228600" algn="l">
              <a:spcBef>
                <a:spcPts val="700"/>
              </a:spcBef>
              <a:buClr>
                <a:srgbClr val="00E4A8"/>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Fifth Outline Level</a:t>
            </a:r>
            <a:endParaRPr lang="en-US" sz="2800" b="0" u="none" strike="noStrike">
              <a:solidFill>
                <a:srgbClr val="000000"/>
              </a:solidFill>
              <a:effectLst/>
              <a:uFillTx/>
              <a:latin typeface="Tahoma"/>
            </a:endParaRPr>
          </a:p>
          <a:p>
            <a:pPr marL="2057400" lvl="5" indent="-228600" algn="l">
              <a:spcBef>
                <a:spcPts val="700"/>
              </a:spcBef>
              <a:buClr>
                <a:srgbClr val="00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Sixth Outline Level</a:t>
            </a:r>
            <a:endParaRPr lang="en-US" sz="2800" b="0" u="none" strike="noStrike">
              <a:solidFill>
                <a:srgbClr val="000000"/>
              </a:solidFill>
              <a:effectLst/>
              <a:uFillTx/>
              <a:latin typeface="Tahoma"/>
            </a:endParaRPr>
          </a:p>
          <a:p>
            <a:pPr marL="2057400" lvl="6" indent="-228600" algn="l">
              <a:spcBef>
                <a:spcPts val="700"/>
              </a:spcBef>
              <a:buClr>
                <a:srgbClr val="00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Seventh Outline Level</a:t>
            </a:r>
            <a:endParaRPr lang="en-US" sz="2800" b="0" u="none" strike="noStrike">
              <a:solidFill>
                <a:srgbClr val="000000"/>
              </a:solidFill>
              <a:effectLst/>
              <a:uFillTx/>
              <a:latin typeface="Tahoma"/>
            </a:endParaRPr>
          </a:p>
        </p:txBody>
      </p:sp>
      <p:sp>
        <p:nvSpPr>
          <p:cNvPr id="5" name="PlaceHolder 3"/>
          <p:cNvSpPr>
            <a:spLocks noGrp="1"/>
          </p:cNvSpPr>
          <p:nvPr>
            <p:ph type="dt" idx="1"/>
          </p:nvPr>
        </p:nvSpPr>
        <p:spPr>
          <a:xfrm>
            <a:off x="152280" y="6477120"/>
            <a:ext cx="1905120" cy="380880"/>
          </a:xfrm>
          <a:prstGeom prst="rect">
            <a:avLst/>
          </a:prstGeom>
          <a:noFill/>
          <a:ln w="0">
            <a:noFill/>
          </a:ln>
        </p:spPr>
        <p:txBody>
          <a:bodyPr lIns="90000" tIns="46800" rIns="90000" bIns="46800" anchor="b">
            <a:noAutofit/>
          </a:bodyPr>
          <a:lstStyle>
            <a:lvl1pPr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u="none" strike="noStrike">
                <a:solidFill>
                  <a:srgbClr val="000000"/>
                </a:solidFill>
                <a:effectLst/>
                <a:uFillTx/>
                <a:latin typeface="Times New Roman"/>
              </a:defRPr>
            </a:lvl1pPr>
          </a:lstStyle>
          <a:p>
            <a:pPr marL="216000" indent="0" algn="l">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ED2EACE-5981-4FA1-AC90-919F28B79D15}" type="datetime">
              <a:rPr lang="en-US" sz="1200" b="0" u="none" strike="noStrike">
                <a:solidFill>
                  <a:srgbClr val="000000"/>
                </a:solidFill>
                <a:effectLst/>
                <a:uFillTx/>
                <a:latin typeface="Times New Roman"/>
              </a:rPr>
              <a:t>04/27/26</a:t>
            </a:fld>
            <a:endParaRPr lang="en-US" sz="1200" b="0" u="none" strike="noStrike">
              <a:solidFill>
                <a:srgbClr val="000000"/>
              </a:solidFill>
              <a:effectLst/>
              <a:uFillTx/>
              <a:latin typeface="Times New Roman"/>
            </a:endParaRPr>
          </a:p>
        </p:txBody>
      </p:sp>
      <p:sp>
        <p:nvSpPr>
          <p:cNvPr id="6" name="PlaceHolder 4"/>
          <p:cNvSpPr>
            <a:spLocks noGrp="1"/>
          </p:cNvSpPr>
          <p:nvPr>
            <p:ph type="ftr" idx="2"/>
          </p:nvPr>
        </p:nvSpPr>
        <p:spPr>
          <a:xfrm>
            <a:off x="3124080" y="6477120"/>
            <a:ext cx="2895840" cy="380880"/>
          </a:xfrm>
          <a:prstGeom prst="rect">
            <a:avLst/>
          </a:prstGeom>
          <a:noFill/>
          <a:ln w="0">
            <a:noFill/>
          </a:ln>
        </p:spPr>
        <p:txBody>
          <a:bodyPr lIns="90000" tIns="46800" rIns="90000" bIns="46800" anchor="b">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u="none" strike="noStrike">
                <a:solidFill>
                  <a:srgbClr val="000000"/>
                </a:solidFill>
                <a:effectLst/>
                <a:uFillTx/>
                <a:latin typeface="Times New Roman"/>
              </a:defRPr>
            </a:lvl1pPr>
          </a:lstStyle>
          <a:p>
            <a:pPr marL="216000"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200" b="0" u="none" strike="noStrike">
                <a:solidFill>
                  <a:srgbClr val="000000"/>
                </a:solidFill>
                <a:effectLst/>
                <a:uFillTx/>
                <a:latin typeface="Times New Roman"/>
              </a:rPr>
              <a:t>Data Mining: Concepts and Techniques</a:t>
            </a:r>
            <a:endParaRPr lang="en-US" sz="1200" b="0" u="none" strike="noStrike">
              <a:solidFill>
                <a:srgbClr val="000000"/>
              </a:solidFill>
              <a:effectLst/>
              <a:uFillTx/>
              <a:latin typeface="Times New Roman"/>
            </a:endParaRPr>
          </a:p>
        </p:txBody>
      </p:sp>
      <p:sp>
        <p:nvSpPr>
          <p:cNvPr id="7" name="PlaceHolder 5"/>
          <p:cNvSpPr>
            <a:spLocks noGrp="1"/>
          </p:cNvSpPr>
          <p:nvPr>
            <p:ph type="sldNum" idx="3"/>
          </p:nvPr>
        </p:nvSpPr>
        <p:spPr>
          <a:xfrm>
            <a:off x="7238880" y="6477120"/>
            <a:ext cx="1905120" cy="380880"/>
          </a:xfrm>
          <a:prstGeom prst="rect">
            <a:avLst/>
          </a:prstGeom>
          <a:noFill/>
          <a:ln w="0">
            <a:noFill/>
          </a:ln>
        </p:spPr>
        <p:txBody>
          <a:bodyPr lIns="90000" tIns="46800" rIns="90000" bIns="46800" anchor="b">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u="none" strike="noStrike">
                <a:solidFill>
                  <a:srgbClr val="000000"/>
                </a:solidFill>
                <a:effectLst/>
                <a:uFillTx/>
                <a:latin typeface="Times New Roman"/>
              </a:defRPr>
            </a:lvl1pPr>
          </a:lstStyle>
          <a:p>
            <a:pPr marL="216000"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F5F9EE6-A9AC-495F-A57B-E8161E2C75E4}"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2">
    <p:bg>
      <p:bgPr>
        <a:solidFill>
          <a:srgbClr val="FFFFFF"/>
        </a:solidFill>
      </p:bgPr>
    </p:bg>
    <p:spTree>
      <p:nvGrpSpPr>
        <p:cNvPr id="1" name=""/>
        <p:cNvGrpSpPr/>
        <p:nvPr/>
      </p:nvGrpSpPr>
      <p:grpSpPr>
        <a:xfrm>
          <a:off x="0" y="0"/>
          <a:ext cx="0" cy="0"/>
          <a:chOff x="0" y="0"/>
          <a:chExt cx="0" cy="0"/>
        </a:xfrm>
      </p:grpSpPr>
      <p:sp>
        <p:nvSpPr>
          <p:cNvPr id="8" name="Rectangle 2056"/>
          <p:cNvSpPr/>
          <p:nvPr/>
        </p:nvSpPr>
        <p:spPr>
          <a:xfrm>
            <a:off x="304920" y="1143000"/>
            <a:ext cx="8226360" cy="46080"/>
          </a:xfrm>
          <a:prstGeom prst="rect">
            <a:avLst/>
          </a:prstGeom>
          <a:gradFill rotWithShape="0">
            <a:gsLst>
              <a:gs pos="0">
                <a:srgbClr val="008080">
                  <a:alpha val="95294"/>
                </a:srgbClr>
              </a:gs>
              <a:gs pos="100000">
                <a:srgbClr val="FFFFFF"/>
              </a:gs>
            </a:gsLst>
            <a:lin ang="0"/>
          </a:gradFill>
          <a:ln w="0">
            <a:noFill/>
          </a:ln>
        </p:spPr>
        <p:style>
          <a:lnRef idx="0"/>
          <a:fillRef idx="0"/>
          <a:effectRef idx="0"/>
          <a:fontRef idx="minor"/>
        </p:style>
        <p:txBody>
          <a:bodyPr wrap="none" lIns="90000" tIns="-720" rIns="90000" bIns="-72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9" name="PlaceHolder 1"/>
          <p:cNvSpPr>
            <a:spLocks noGrp="1"/>
          </p:cNvSpPr>
          <p:nvPr>
            <p:ph type="title"/>
          </p:nvPr>
        </p:nvSpPr>
        <p:spPr>
          <a:xfrm>
            <a:off x="152280" y="304560"/>
            <a:ext cx="8763120" cy="609480"/>
          </a:xfrm>
          <a:prstGeom prst="rect">
            <a:avLst/>
          </a:prstGeom>
          <a:noFill/>
          <a:ln w="0">
            <a:noFill/>
          </a:ln>
        </p:spPr>
        <p:txBody>
          <a:bodyPr lIns="90000" tIns="46800" rIns="90000" bIns="46800" anchor="b">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3600" b="1" u="none" strike="noStrike">
                <a:solidFill>
                  <a:srgbClr val="333399"/>
                </a:solidFill>
                <a:effectLst/>
                <a:uFillTx/>
                <a:latin typeface="Berlin Sans FB Demi"/>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Click to edit the title text format</a:t>
            </a:r>
            <a:endParaRPr lang="en-US" sz="3600" b="1" u="none" strike="noStrike">
              <a:solidFill>
                <a:srgbClr val="333399"/>
              </a:solidFill>
              <a:effectLst/>
              <a:uFillTx/>
              <a:latin typeface="Berlin Sans FB Demi"/>
            </a:endParaRPr>
          </a:p>
        </p:txBody>
      </p:sp>
      <p:sp>
        <p:nvSpPr>
          <p:cNvPr id="10" name="PlaceHolder 2"/>
          <p:cNvSpPr>
            <a:spLocks noGrp="1"/>
          </p:cNvSpPr>
          <p:nvPr>
            <p:ph type="body"/>
          </p:nvPr>
        </p:nvSpPr>
        <p:spPr>
          <a:xfrm>
            <a:off x="304560" y="1295280"/>
            <a:ext cx="8381880" cy="5181840"/>
          </a:xfrm>
          <a:prstGeom prst="rect">
            <a:avLst/>
          </a:prstGeom>
          <a:noFill/>
          <a:ln w="0">
            <a:noFill/>
          </a:ln>
        </p:spPr>
        <p:txBody>
          <a:bodyPr lIns="90000" tIns="46800" rIns="90000" bIns="46800" anchor="t">
            <a:normAutofit/>
          </a:bodyPr>
          <a:lstStyle>
            <a:lvl1pPr algn="l">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1pPr>
            <a:lvl2pPr lvl="1" algn="l">
              <a:spcBef>
                <a:spcPts val="7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2pPr>
            <a:lvl3pPr lvl="2" algn="l">
              <a:spcBef>
                <a:spcPts val="700"/>
              </a:spcBef>
              <a:buClr>
                <a:srgbClr val="3333CC"/>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3pPr>
            <a:lvl4pPr lvl="3" algn="l">
              <a:spcBef>
                <a:spcPts val="700"/>
              </a:spcBef>
              <a:buClr>
                <a:srgbClr val="FFCF01"/>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4pPr>
            <a:lvl5pPr lvl="4" algn="l">
              <a:spcBef>
                <a:spcPts val="700"/>
              </a:spcBef>
              <a:buClr>
                <a:srgbClr val="00E4A8"/>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5pPr>
            <a:lvl6pPr lvl="5" algn="l">
              <a:spcBef>
                <a:spcPts val="700"/>
              </a:spcBef>
              <a:buClr>
                <a:srgbClr val="00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6pPr>
            <a:lvl7pPr lvl="6" algn="l">
              <a:spcBef>
                <a:spcPts val="700"/>
              </a:spcBef>
              <a:buClr>
                <a:srgbClr val="00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7pPr>
          </a:lstStyle>
          <a:p>
            <a:pPr marL="343080" indent="-343080" algn="l">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Click to edit the outline text format</a:t>
            </a:r>
            <a:endParaRPr lang="en-US" sz="2800" b="0" u="none" strike="noStrike">
              <a:solidFill>
                <a:srgbClr val="000000"/>
              </a:solidFill>
              <a:effectLst/>
              <a:uFillTx/>
              <a:latin typeface="Tahoma"/>
            </a:endParaRPr>
          </a:p>
          <a:p>
            <a:pPr marL="743040" lvl="1" indent="-285840" algn="l">
              <a:spcBef>
                <a:spcPts val="7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Second Outline Level</a:t>
            </a:r>
            <a:endParaRPr lang="en-US" sz="2800" b="0" u="none" strike="noStrike">
              <a:solidFill>
                <a:srgbClr val="000000"/>
              </a:solidFill>
              <a:effectLst/>
              <a:uFillTx/>
              <a:latin typeface="Tahoma"/>
            </a:endParaRPr>
          </a:p>
          <a:p>
            <a:pPr marL="1143000" lvl="2" indent="-228600" algn="l">
              <a:spcBef>
                <a:spcPts val="700"/>
              </a:spcBef>
              <a:buClr>
                <a:srgbClr val="3333CC"/>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Third Outline Level</a:t>
            </a:r>
            <a:endParaRPr lang="en-US" sz="2800" b="0" u="none" strike="noStrike">
              <a:solidFill>
                <a:srgbClr val="000000"/>
              </a:solidFill>
              <a:effectLst/>
              <a:uFillTx/>
              <a:latin typeface="Tahoma"/>
            </a:endParaRPr>
          </a:p>
          <a:p>
            <a:pPr marL="1600200" lvl="3" indent="-228600" algn="l">
              <a:spcBef>
                <a:spcPts val="700"/>
              </a:spcBef>
              <a:buClr>
                <a:srgbClr val="FFCF01"/>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Fourth Outline Level</a:t>
            </a:r>
            <a:endParaRPr lang="en-US" sz="2800" b="0" u="none" strike="noStrike">
              <a:solidFill>
                <a:srgbClr val="000000"/>
              </a:solidFill>
              <a:effectLst/>
              <a:uFillTx/>
              <a:latin typeface="Tahoma"/>
            </a:endParaRPr>
          </a:p>
          <a:p>
            <a:pPr marL="2057400" lvl="4" indent="-228600" algn="l">
              <a:spcBef>
                <a:spcPts val="700"/>
              </a:spcBef>
              <a:buClr>
                <a:srgbClr val="00E4A8"/>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Fifth Outline Level</a:t>
            </a:r>
            <a:endParaRPr lang="en-US" sz="2800" b="0" u="none" strike="noStrike">
              <a:solidFill>
                <a:srgbClr val="000000"/>
              </a:solidFill>
              <a:effectLst/>
              <a:uFillTx/>
              <a:latin typeface="Tahoma"/>
            </a:endParaRPr>
          </a:p>
          <a:p>
            <a:pPr marL="2057400" lvl="5" indent="-228600" algn="l">
              <a:spcBef>
                <a:spcPts val="700"/>
              </a:spcBef>
              <a:buClr>
                <a:srgbClr val="00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Sixth Outline Level</a:t>
            </a:r>
            <a:endParaRPr lang="en-US" sz="2800" b="0" u="none" strike="noStrike">
              <a:solidFill>
                <a:srgbClr val="000000"/>
              </a:solidFill>
              <a:effectLst/>
              <a:uFillTx/>
              <a:latin typeface="Tahoma"/>
            </a:endParaRPr>
          </a:p>
          <a:p>
            <a:pPr marL="2057400" lvl="6" indent="-228600" algn="l">
              <a:spcBef>
                <a:spcPts val="700"/>
              </a:spcBef>
              <a:buClr>
                <a:srgbClr val="00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Seventh Outline Level</a:t>
            </a:r>
            <a:endParaRPr lang="en-US" sz="2800" b="0" u="none" strike="noStrike">
              <a:solidFill>
                <a:srgbClr val="000000"/>
              </a:solidFill>
              <a:effectLst/>
              <a:uFillTx/>
              <a:latin typeface="Tahoma"/>
            </a:endParaRPr>
          </a:p>
        </p:txBody>
      </p:sp>
      <p:sp>
        <p:nvSpPr>
          <p:cNvPr id="11" name="PlaceHolder 3"/>
          <p:cNvSpPr>
            <a:spLocks noGrp="1"/>
          </p:cNvSpPr>
          <p:nvPr>
            <p:ph type="sldNum" idx="4"/>
          </p:nvPr>
        </p:nvSpPr>
        <p:spPr>
          <a:xfrm>
            <a:off x="7238880" y="6477120"/>
            <a:ext cx="1905120" cy="380880"/>
          </a:xfrm>
          <a:prstGeom prst="rect">
            <a:avLst/>
          </a:prstGeom>
          <a:noFill/>
          <a:ln w="0">
            <a:noFill/>
          </a:ln>
        </p:spPr>
        <p:txBody>
          <a:bodyPr lIns="90000" tIns="46800" rIns="90000" bIns="46800" anchor="b">
            <a:noAutofit/>
          </a:bodyPr>
          <a:lstStyle>
            <a:lvl1pPr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1200" b="0" u="none" strike="noStrike">
                <a:solidFill>
                  <a:srgbClr val="000000"/>
                </a:solidFill>
                <a:effectLst/>
                <a:uFillTx/>
                <a:latin typeface="Times New Roman"/>
              </a:defRPr>
            </a:lvl1pPr>
          </a:lstStyle>
          <a:p>
            <a:pPr marL="216000" indent="0" algn="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58E68F5-84EA-48D1-9A1E-668EE91D23F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3">
    <p:bg>
      <p:bgPr>
        <a:solidFill>
          <a:srgbClr val="FFFFFF"/>
        </a:solidFill>
      </p:bgPr>
    </p:bg>
    <p:spTree>
      <p:nvGrpSpPr>
        <p:cNvPr id="1" name=""/>
        <p:cNvGrpSpPr/>
        <p:nvPr/>
      </p:nvGrpSpPr>
      <p:grpSpPr>
        <a:xfrm>
          <a:off x="0" y="0"/>
          <a:ext cx="0" cy="0"/>
          <a:chOff x="0" y="0"/>
          <a:chExt cx="0" cy="0"/>
        </a:xfrm>
      </p:grpSpPr>
      <p:sp>
        <p:nvSpPr>
          <p:cNvPr id="12" name="Rectangle 2056"/>
          <p:cNvSpPr/>
          <p:nvPr/>
        </p:nvSpPr>
        <p:spPr>
          <a:xfrm>
            <a:off x="304920" y="1143000"/>
            <a:ext cx="8226360" cy="46080"/>
          </a:xfrm>
          <a:prstGeom prst="rect">
            <a:avLst/>
          </a:prstGeom>
          <a:gradFill rotWithShape="0">
            <a:gsLst>
              <a:gs pos="0">
                <a:srgbClr val="008080">
                  <a:alpha val="95294"/>
                </a:srgbClr>
              </a:gs>
              <a:gs pos="100000">
                <a:srgbClr val="FFFFFF"/>
              </a:gs>
            </a:gsLst>
            <a:lin ang="0"/>
          </a:gradFill>
          <a:ln w="0">
            <a:noFill/>
          </a:ln>
        </p:spPr>
        <p:style>
          <a:lnRef idx="0"/>
          <a:fillRef idx="0"/>
          <a:effectRef idx="0"/>
          <a:fontRef idx="minor"/>
        </p:style>
        <p:txBody>
          <a:bodyPr wrap="none" lIns="90000" tIns="-720" rIns="90000" bIns="-72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3" name="PlaceHolder 1"/>
          <p:cNvSpPr>
            <a:spLocks noGrp="1"/>
          </p:cNvSpPr>
          <p:nvPr>
            <p:ph type="title"/>
          </p:nvPr>
        </p:nvSpPr>
        <p:spPr>
          <a:xfrm>
            <a:off x="152280" y="304560"/>
            <a:ext cx="8763120" cy="609480"/>
          </a:xfrm>
          <a:prstGeom prst="rect">
            <a:avLst/>
          </a:prstGeom>
          <a:noFill/>
          <a:ln w="0">
            <a:noFill/>
          </a:ln>
        </p:spPr>
        <p:txBody>
          <a:bodyPr lIns="90000" tIns="46800" rIns="90000" bIns="46800" anchor="b">
            <a:noAutofit/>
          </a:bodyPr>
          <a:lstStyle>
            <a:lvl1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lang="en-US" sz="3600" b="1" u="none" strike="noStrike">
                <a:solidFill>
                  <a:srgbClr val="333399"/>
                </a:solidFill>
                <a:effectLst/>
                <a:uFillTx/>
                <a:latin typeface="Berlin Sans FB Demi"/>
              </a:defRPr>
            </a:lvl1pPr>
          </a:lstStyle>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Click to edit the title text format</a:t>
            </a:r>
            <a:endParaRPr lang="en-US" sz="3600" b="1" u="none" strike="noStrike">
              <a:solidFill>
                <a:srgbClr val="333399"/>
              </a:solidFill>
              <a:effectLst/>
              <a:uFillTx/>
              <a:latin typeface="Berlin Sans FB Demi"/>
            </a:endParaRPr>
          </a:p>
        </p:txBody>
      </p:sp>
      <p:sp>
        <p:nvSpPr>
          <p:cNvPr id="14" name="PlaceHolder 2"/>
          <p:cNvSpPr>
            <a:spLocks noGrp="1"/>
          </p:cNvSpPr>
          <p:nvPr>
            <p:ph type="body"/>
          </p:nvPr>
        </p:nvSpPr>
        <p:spPr>
          <a:xfrm>
            <a:off x="304560" y="1295280"/>
            <a:ext cx="8381880" cy="5181840"/>
          </a:xfrm>
          <a:prstGeom prst="rect">
            <a:avLst/>
          </a:prstGeom>
          <a:noFill/>
          <a:ln w="0">
            <a:noFill/>
          </a:ln>
        </p:spPr>
        <p:txBody>
          <a:bodyPr lIns="90000" tIns="46800" rIns="90000" bIns="46800" anchor="t">
            <a:normAutofit/>
          </a:bodyPr>
          <a:lstStyle>
            <a:lvl1pPr algn="l">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1pPr>
            <a:lvl2pPr lvl="1" algn="l">
              <a:spcBef>
                <a:spcPts val="7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2pPr>
            <a:lvl3pPr lvl="2" algn="l">
              <a:spcBef>
                <a:spcPts val="700"/>
              </a:spcBef>
              <a:buClr>
                <a:srgbClr val="3333CC"/>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3pPr>
            <a:lvl4pPr lvl="3" algn="l">
              <a:spcBef>
                <a:spcPts val="700"/>
              </a:spcBef>
              <a:buClr>
                <a:srgbClr val="FFCF01"/>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4pPr>
            <a:lvl5pPr lvl="4" algn="l">
              <a:spcBef>
                <a:spcPts val="700"/>
              </a:spcBef>
              <a:buClr>
                <a:srgbClr val="00E4A8"/>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5pPr>
            <a:lvl6pPr lvl="5" algn="l">
              <a:spcBef>
                <a:spcPts val="700"/>
              </a:spcBef>
              <a:buClr>
                <a:srgbClr val="00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6pPr>
            <a:lvl7pPr lvl="6" algn="l">
              <a:spcBef>
                <a:spcPts val="700"/>
              </a:spcBef>
              <a:buClr>
                <a:srgbClr val="00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defRPr lang="en-US" sz="2800" b="0" u="none" strike="noStrike">
                <a:solidFill>
                  <a:srgbClr val="000000"/>
                </a:solidFill>
                <a:effectLst/>
                <a:uFillTx/>
                <a:latin typeface="Tahoma"/>
              </a:defRPr>
            </a:lvl7pPr>
          </a:lstStyle>
          <a:p>
            <a:pPr marL="343080" indent="-343080" algn="l">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Click to edit the outline text format</a:t>
            </a:r>
            <a:endParaRPr lang="en-US" sz="2800" b="0" u="none" strike="noStrike">
              <a:solidFill>
                <a:srgbClr val="000000"/>
              </a:solidFill>
              <a:effectLst/>
              <a:uFillTx/>
              <a:latin typeface="Tahoma"/>
            </a:endParaRPr>
          </a:p>
          <a:p>
            <a:pPr marL="743040" lvl="1" indent="-285840" algn="l">
              <a:spcBef>
                <a:spcPts val="700"/>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Second Outline Level</a:t>
            </a:r>
            <a:endParaRPr lang="en-US" sz="2800" b="0" u="none" strike="noStrike">
              <a:solidFill>
                <a:srgbClr val="000000"/>
              </a:solidFill>
              <a:effectLst/>
              <a:uFillTx/>
              <a:latin typeface="Tahoma"/>
            </a:endParaRPr>
          </a:p>
          <a:p>
            <a:pPr marL="1143000" lvl="2" indent="-228600" algn="l">
              <a:spcBef>
                <a:spcPts val="700"/>
              </a:spcBef>
              <a:buClr>
                <a:srgbClr val="3333CC"/>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Third Outline Level</a:t>
            </a:r>
            <a:endParaRPr lang="en-US" sz="2800" b="0" u="none" strike="noStrike">
              <a:solidFill>
                <a:srgbClr val="000000"/>
              </a:solidFill>
              <a:effectLst/>
              <a:uFillTx/>
              <a:latin typeface="Tahoma"/>
            </a:endParaRPr>
          </a:p>
          <a:p>
            <a:pPr marL="1600200" lvl="3" indent="-228600" algn="l">
              <a:spcBef>
                <a:spcPts val="700"/>
              </a:spcBef>
              <a:buClr>
                <a:srgbClr val="FFCF01"/>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Fourth Outline Level</a:t>
            </a:r>
            <a:endParaRPr lang="en-US" sz="2800" b="0" u="none" strike="noStrike">
              <a:solidFill>
                <a:srgbClr val="000000"/>
              </a:solidFill>
              <a:effectLst/>
              <a:uFillTx/>
              <a:latin typeface="Tahoma"/>
            </a:endParaRPr>
          </a:p>
          <a:p>
            <a:pPr marL="2057400" lvl="4" indent="-228600" algn="l">
              <a:spcBef>
                <a:spcPts val="700"/>
              </a:spcBef>
              <a:buClr>
                <a:srgbClr val="00E4A8"/>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Fifth Outline Level</a:t>
            </a:r>
            <a:endParaRPr lang="en-US" sz="2800" b="0" u="none" strike="noStrike">
              <a:solidFill>
                <a:srgbClr val="000000"/>
              </a:solidFill>
              <a:effectLst/>
              <a:uFillTx/>
              <a:latin typeface="Tahoma"/>
            </a:endParaRPr>
          </a:p>
          <a:p>
            <a:pPr marL="2057400" lvl="5" indent="-228600" algn="l">
              <a:spcBef>
                <a:spcPts val="700"/>
              </a:spcBef>
              <a:buClr>
                <a:srgbClr val="00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Sixth Outline Level</a:t>
            </a:r>
            <a:endParaRPr lang="en-US" sz="2800" b="0" u="none" strike="noStrike">
              <a:solidFill>
                <a:srgbClr val="000000"/>
              </a:solidFill>
              <a:effectLst/>
              <a:uFillTx/>
              <a:latin typeface="Tahoma"/>
            </a:endParaRPr>
          </a:p>
          <a:p>
            <a:pPr marL="2057400" lvl="6" indent="-228600" algn="l">
              <a:spcBef>
                <a:spcPts val="700"/>
              </a:spcBef>
              <a:buClr>
                <a:srgbClr val="000000"/>
              </a:buClr>
              <a:buSzPct val="5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Seventh Outline Level</a:t>
            </a:r>
            <a:endParaRPr lang="en-US" sz="2800" b="0" u="none" strike="noStrike">
              <a:solidFill>
                <a:srgbClr val="000000"/>
              </a:solidFill>
              <a:effectLst/>
              <a:uFillTx/>
              <a:latin typeface="Tahoma"/>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2.emf"/><Relationship Id="rId2"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3.emf"/><Relationship Id="rId2"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4.emf"/><Relationship Id="rId2" Type="http://schemas.openxmlformats.org/officeDocument/2006/relationships/image" Target="../media/image5.emf"/><Relationship Id="rId3" Type="http://schemas.openxmlformats.org/officeDocument/2006/relationships/image" Target="../media/image6.emf"/><Relationship Id="rId4"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7.png"/><Relationship Id="rId3"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image" Target="../media/image8.emf"/><Relationship Id="rId2" Type="http://schemas.openxmlformats.org/officeDocument/2006/relationships/image" Target="../media/image9.emf"/><Relationship Id="rId3" Type="http://schemas.openxmlformats.org/officeDocument/2006/relationships/image" Target="../media/image10.emf"/><Relationship Id="rId4"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5.emf"/><Relationship Id="rId4" Type="http://schemas.openxmlformats.org/officeDocument/2006/relationships/image" Target="../media/image6.emf"/><Relationship Id="rId5"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1.xml"/><Relationship Id="rId4"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slideLayout" Target="../slideLayouts/slideLayout3.xml"/><Relationship Id="rId5"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3.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3.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20.wmf"/><Relationship Id="rId3" Type="http://schemas.openxmlformats.org/officeDocument/2006/relationships/slideLayout" Target="../slideLayouts/slideLayout2.xml"/><Relationship Id="rId4"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21.emf"/><Relationship Id="rId2" Type="http://schemas.openxmlformats.org/officeDocument/2006/relationships/image" Target="../media/image22.emf"/><Relationship Id="rId3" Type="http://schemas.openxmlformats.org/officeDocument/2006/relationships/image" Target="../media/image23.emf"/><Relationship Id="rId4" Type="http://schemas.openxmlformats.org/officeDocument/2006/relationships/image" Target="../media/image24.emf"/><Relationship Id="rId5" Type="http://schemas.openxmlformats.org/officeDocument/2006/relationships/image" Target="../media/image25.emf"/><Relationship Id="rId6" Type="http://schemas.openxmlformats.org/officeDocument/2006/relationships/image" Target="../media/image26.emf"/><Relationship Id="rId7" Type="http://schemas.openxmlformats.org/officeDocument/2006/relationships/slideLayout" Target="../slideLayouts/slideLayout1.xml"/><Relationship Id="rId8"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slideLayout" Target="../slideLayouts/slideLayout2.xml"/><Relationship Id="rId6"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hyperlink" Target="http://www-courses.cs.uiuc.edu/~cs491han/papers/dasu02.pdf" TargetMode="External"/><Relationship Id="rId2" Type="http://schemas.openxmlformats.org/officeDocument/2006/relationships/slideLayout" Target="../slideLayouts/slideLayout2.xml"/><Relationship Id="rId3"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B51AD53-7AF3-43F0-9D20-E47A1BA26268}"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23" name="PlaceHolder 1"/>
          <p:cNvSpPr>
            <a:spLocks noGrp="1"/>
          </p:cNvSpPr>
          <p:nvPr>
            <p:ph type="title"/>
          </p:nvPr>
        </p:nvSpPr>
        <p:spPr>
          <a:xfrm>
            <a:off x="533520" y="304560"/>
            <a:ext cx="8076960" cy="373356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6000" b="1" u="none" strike="noStrike">
                <a:solidFill>
                  <a:srgbClr val="333399"/>
                </a:solidFill>
                <a:effectLst/>
                <a:uFillTx/>
                <a:latin typeface="Berlin Sans FB Demi"/>
              </a:rPr>
              <a:t>Data Mining: </a:t>
            </a:r>
            <a:br>
              <a:rPr sz="6000"/>
            </a:br>
            <a:r>
              <a:rPr lang="en-US" sz="6000" b="1" u="none" strike="noStrike">
                <a:solidFill>
                  <a:srgbClr val="333399"/>
                </a:solidFill>
                <a:effectLst/>
                <a:uFillTx/>
                <a:latin typeface="Berlin Sans FB Demi"/>
              </a:rPr>
              <a:t> </a:t>
            </a:r>
            <a:r>
              <a:rPr lang="en-US" sz="4800" b="1" u="none" strike="noStrike">
                <a:solidFill>
                  <a:srgbClr val="333399"/>
                </a:solidFill>
                <a:effectLst/>
                <a:uFillTx/>
                <a:latin typeface="Berlin Sans FB Demi"/>
              </a:rPr>
              <a:t>Concepts and Techniques</a:t>
            </a:r>
            <a:br>
              <a:rPr sz="4800"/>
            </a:br>
            <a:r>
              <a:rPr lang="en-US" sz="4800" b="1" u="none" strike="noStrike">
                <a:solidFill>
                  <a:srgbClr val="333399"/>
                </a:solidFill>
                <a:effectLst/>
                <a:uFillTx/>
                <a:latin typeface="Berlin Sans FB Demi"/>
              </a:rPr>
              <a:t> </a:t>
            </a:r>
            <a:r>
              <a:rPr lang="en-US" sz="2800" b="1" u="none" strike="noStrike">
                <a:solidFill>
                  <a:srgbClr val="333399"/>
                </a:solidFill>
                <a:effectLst/>
                <a:uFillTx/>
                <a:latin typeface="Berlin Sans FB Demi"/>
              </a:rPr>
              <a:t>(3</a:t>
            </a:r>
            <a:r>
              <a:rPr lang="en-US" sz="2800" b="1" u="none" strike="noStrike" baseline="30000">
                <a:solidFill>
                  <a:srgbClr val="333399"/>
                </a:solidFill>
                <a:effectLst/>
                <a:uFillTx/>
                <a:latin typeface="Berlin Sans FB Demi"/>
              </a:rPr>
              <a:t>rd</a:t>
            </a:r>
            <a:r>
              <a:rPr lang="en-US" sz="2800" b="1" u="none" strike="noStrike">
                <a:solidFill>
                  <a:srgbClr val="333399"/>
                </a:solidFill>
                <a:effectLst/>
                <a:uFillTx/>
                <a:latin typeface="Berlin Sans FB Demi"/>
              </a:rPr>
              <a:t> ed.)</a:t>
            </a:r>
            <a:br>
              <a:rPr sz="4800"/>
            </a:br>
            <a:br>
              <a:rPr sz="4800"/>
            </a:br>
            <a:r>
              <a:rPr lang="en-US" sz="3200" b="1" u="none" strike="noStrike">
                <a:solidFill>
                  <a:srgbClr val="333399"/>
                </a:solidFill>
                <a:effectLst/>
                <a:uFillTx/>
                <a:latin typeface="Berlin Sans FB Demi"/>
              </a:rPr>
              <a:t>— Chapter 3</a:t>
            </a:r>
            <a:r>
              <a:rPr lang="en-US" sz="2800" b="1" u="none" strike="noStrike">
                <a:solidFill>
                  <a:srgbClr val="333399"/>
                </a:solidFill>
                <a:effectLst/>
                <a:uFillTx/>
                <a:latin typeface="Berlin Sans FB Demi"/>
              </a:rPr>
              <a:t> —</a:t>
            </a:r>
            <a:endParaRPr lang="en-US" sz="2800" b="1" u="none" strike="noStrike">
              <a:solidFill>
                <a:srgbClr val="333399"/>
              </a:solidFill>
              <a:effectLst/>
              <a:uFillTx/>
              <a:latin typeface="Berlin Sans FB Demi"/>
            </a:endParaRPr>
          </a:p>
        </p:txBody>
      </p:sp>
      <p:sp>
        <p:nvSpPr>
          <p:cNvPr id="24" name="PlaceHolder 2"/>
          <p:cNvSpPr>
            <a:spLocks noGrp="1"/>
          </p:cNvSpPr>
          <p:nvPr>
            <p:ph/>
          </p:nvPr>
        </p:nvSpPr>
        <p:spPr>
          <a:xfrm>
            <a:off x="304560" y="4267080"/>
            <a:ext cx="8305560" cy="2286000"/>
          </a:xfrm>
          <a:prstGeom prst="rect">
            <a:avLst/>
          </a:prstGeom>
          <a:noFill/>
          <a:ln w="0">
            <a:noFill/>
          </a:ln>
        </p:spPr>
        <p:txBody>
          <a:bodyPr lIns="91440" tIns="45720" rIns="91440" bIns="45720" anchor="t">
            <a:normAutofit/>
          </a:bodyPr>
          <a:p>
            <a:pPr marL="343080" indent="-343080" algn="ctr">
              <a:lnSpc>
                <a:spcPct val="110000"/>
              </a:lnSpc>
              <a:spcBef>
                <a:spcPts val="70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Jiawei Han, Micheline Kamber, and Jian Pei</a:t>
            </a:r>
            <a:endParaRPr lang="en-US" sz="2800" b="0" u="none" strike="noStrike">
              <a:solidFill>
                <a:srgbClr val="000000"/>
              </a:solidFill>
              <a:effectLst/>
              <a:uFillTx/>
              <a:latin typeface="Tahoma"/>
            </a:endParaRPr>
          </a:p>
          <a:p>
            <a:pPr marL="343080" indent="-343080" algn="ctr">
              <a:lnSpc>
                <a:spcPct val="110000"/>
              </a:lnSpc>
              <a:spcBef>
                <a:spcPts val="70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University of Illinois at Urbana-Champaign &amp;</a:t>
            </a:r>
            <a:endParaRPr lang="en-US" sz="2800" b="0" u="none" strike="noStrike">
              <a:solidFill>
                <a:srgbClr val="000000"/>
              </a:solidFill>
              <a:effectLst/>
              <a:uFillTx/>
              <a:latin typeface="Tahoma"/>
            </a:endParaRPr>
          </a:p>
          <a:p>
            <a:pPr marL="343080" indent="-343080" algn="ctr">
              <a:lnSpc>
                <a:spcPct val="110000"/>
              </a:lnSpc>
              <a:spcBef>
                <a:spcPts val="70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Simon Fraser University</a:t>
            </a:r>
            <a:endParaRPr lang="en-US" sz="2800" b="0" u="none" strike="noStrike">
              <a:solidFill>
                <a:srgbClr val="000000"/>
              </a:solidFill>
              <a:effectLst/>
              <a:uFillTx/>
              <a:latin typeface="Tahoma"/>
            </a:endParaRPr>
          </a:p>
          <a:p>
            <a:pPr marL="343080" indent="-343080" algn="ctr">
              <a:lnSpc>
                <a:spcPct val="110000"/>
              </a:lnSpc>
              <a:spcBef>
                <a:spcPts val="601"/>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©2011 Han, Kamber &amp; Pei.  All rights reserved.</a:t>
            </a:r>
            <a:endParaRPr lang="en-US" sz="2400" b="0" u="none" strike="noStrike">
              <a:solidFill>
                <a:srgbClr val="000000"/>
              </a:solidFill>
              <a:effectLst/>
              <a:uFillTx/>
              <a:latin typeface="Tahoma"/>
            </a:endParaRPr>
          </a:p>
        </p:txBody>
      </p:sp>
    </p:spTree>
  </p:cSld>
  <p:transition>
    <p:zoom dir="out"/>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 name="Rectangle 2059"/>
          <p:cNvSpPr/>
          <p:nvPr/>
        </p:nvSpPr>
        <p:spPr>
          <a:xfrm>
            <a:off x="76320" y="6477120"/>
            <a:ext cx="1904760" cy="380880"/>
          </a:xfrm>
          <a:prstGeom prst="rect">
            <a:avLst/>
          </a:prstGeom>
          <a:noFill/>
          <a:ln w="0">
            <a:noFill/>
          </a:ln>
        </p:spPr>
        <p:style>
          <a:lnRef idx="0"/>
          <a:fillRef idx="0"/>
          <a:effectRef idx="0"/>
          <a:fontRef idx="minor"/>
        </p:style>
        <p:txBody>
          <a:bodyPr lIns="90000" tIns="46800" rIns="90000" bIns="46800" anchor="b">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29E079B-F9D9-4676-B1C4-86FBAA2B8103}" type="datetime">
              <a:rPr lang="en-US" sz="1200" b="0" u="none" strike="noStrike">
                <a:solidFill>
                  <a:srgbClr val="000000"/>
                </a:solidFill>
                <a:effectLst/>
                <a:uFillTx/>
                <a:latin typeface="Tahoma"/>
              </a:rPr>
              <a:t>04/27/26</a:t>
            </a:fld>
            <a:endParaRPr lang="en-US" sz="1200" b="0" u="none" strike="noStrike">
              <a:solidFill>
                <a:srgbClr val="000000"/>
              </a:solidFill>
              <a:effectLst/>
              <a:uFillTx/>
              <a:latin typeface="Tahoma"/>
            </a:endParaRPr>
          </a:p>
        </p:txBody>
      </p:sp>
      <p:sp>
        <p:nvSpPr>
          <p:cNvPr id="26"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2068192-A1A0-4473-8D62-5B823AB00CC3}"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pic>
        <p:nvPicPr>
          <p:cNvPr id="27" name="Picture 4" descr="valdez 178"/>
          <p:cNvPicPr/>
          <p:nvPr/>
        </p:nvPicPr>
        <p:blipFill>
          <a:blip r:embed="rId1"/>
          <a:stretch/>
        </p:blipFill>
        <p:spPr>
          <a:xfrm>
            <a:off x="0" y="0"/>
            <a:ext cx="10591920" cy="7061040"/>
          </a:xfrm>
          <a:prstGeom prst="rect">
            <a:avLst/>
          </a:prstGeom>
          <a:noFill/>
          <a:ln w="0">
            <a:noFill/>
          </a:ln>
        </p:spPr>
      </p:pic>
    </p:spTree>
  </p:cSld>
  <p:transition>
    <p:zoom dir="out"/>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6D68341-E3F4-42E2-8A1C-04A964E6907C}"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29" name="Slide Number Placeholder 6"/>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88C34E0-AEA6-4F2F-80CF-90F00F38744A}"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30" name="PlaceHolder 1"/>
          <p:cNvSpPr>
            <a:spLocks noGrp="1"/>
          </p:cNvSpPr>
          <p:nvPr>
            <p:ph type="title"/>
          </p:nvPr>
        </p:nvSpPr>
        <p:spPr>
          <a:xfrm>
            <a:off x="152280" y="304560"/>
            <a:ext cx="8763120" cy="609480"/>
          </a:xfrm>
          <a:prstGeom prst="rect">
            <a:avLst/>
          </a:prstGeom>
          <a:noFill/>
          <a:ln w="0">
            <a:noFill/>
          </a:ln>
        </p:spPr>
        <p:txBody>
          <a:bodyPr lIns="92160" tIns="46080" rIns="92160" bIns="4608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Berlin Sans FB Demi"/>
              </a:rPr>
              <a:t>Chapter 3: Data Preprocessing</a:t>
            </a:r>
            <a:endParaRPr lang="en-US" sz="3200" b="1" u="none" strike="noStrike">
              <a:solidFill>
                <a:srgbClr val="333399"/>
              </a:solidFill>
              <a:effectLst/>
              <a:uFillTx/>
              <a:latin typeface="Berlin Sans FB Demi"/>
            </a:endParaRPr>
          </a:p>
        </p:txBody>
      </p:sp>
      <p:sp>
        <p:nvSpPr>
          <p:cNvPr id="31" name="PlaceHolder 2"/>
          <p:cNvSpPr>
            <a:spLocks noGrp="1"/>
          </p:cNvSpPr>
          <p:nvPr>
            <p:ph/>
          </p:nvPr>
        </p:nvSpPr>
        <p:spPr>
          <a:xfrm>
            <a:off x="380880" y="1371600"/>
            <a:ext cx="8229600" cy="5105520"/>
          </a:xfrm>
          <a:prstGeom prst="rect">
            <a:avLst/>
          </a:prstGeom>
          <a:noFill/>
          <a:ln w="0">
            <a:noFill/>
          </a:ln>
        </p:spPr>
        <p:txBody>
          <a:bodyPr lIns="92160" tIns="46080" rIns="92160" bIns="46080" anchor="t">
            <a:normAutofit/>
          </a:bodyPr>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Preprocessing: An Overview</a:t>
            </a:r>
            <a:endParaRPr lang="en-US" sz="2400" b="0" u="none" strike="noStrike">
              <a:solidFill>
                <a:srgbClr val="000000"/>
              </a:solidFill>
              <a:effectLst/>
              <a:uFillTx/>
              <a:latin typeface="Tahoma"/>
            </a:endParaRPr>
          </a:p>
          <a:p>
            <a:pPr marL="743040" lvl="1" indent="-285840" algn="l">
              <a:lnSpc>
                <a:spcPct val="15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Quality</a:t>
            </a:r>
            <a:endParaRPr lang="en-US" sz="2400" b="0" u="none" strike="noStrike">
              <a:solidFill>
                <a:srgbClr val="000000"/>
              </a:solidFill>
              <a:effectLst/>
              <a:uFillTx/>
              <a:latin typeface="Tahoma"/>
            </a:endParaRPr>
          </a:p>
          <a:p>
            <a:pPr marL="743040" lvl="1" indent="-285840" algn="l">
              <a:lnSpc>
                <a:spcPct val="15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Major Tasks in Data Preprocessing</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Cleaning</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Integration</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Reduction</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Transformation and Data Discretization</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Summary</a:t>
            </a:r>
            <a:endParaRPr lang="en-US" sz="2400" b="0" u="none" strike="noStrike">
              <a:solidFill>
                <a:srgbClr val="000000"/>
              </a:solidFill>
              <a:effectLst/>
              <a:uFillTx/>
              <a:latin typeface="Tahoma"/>
            </a:endParaRPr>
          </a:p>
        </p:txBody>
      </p:sp>
      <p:sp>
        <p:nvSpPr>
          <p:cNvPr id="32" name="AutoShape 4"/>
          <p:cNvSpPr/>
          <p:nvPr/>
        </p:nvSpPr>
        <p:spPr>
          <a:xfrm rot="9430200">
            <a:off x="5559120" y="1377720"/>
            <a:ext cx="522360" cy="485640"/>
          </a:xfrm>
          <a:custGeom>
            <a:avLst/>
            <a:gdLst>
              <a:gd name="textAreaLeft" fmla="*/ 65160 w 522360"/>
              <a:gd name="textAreaRight" fmla="*/ 457200 w 522360"/>
              <a:gd name="textAreaTop" fmla="*/ 121320 h 485640"/>
              <a:gd name="textAreaBottom" fmla="*/ 364320 h 485640"/>
            </a:gdLst>
            <a:ahLst/>
            <a:cxn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lnTo>
                  <a:pt x="2700" y="10800"/>
                </a:lnTo>
                <a:lnTo>
                  <a:pt x="0" y="5400"/>
                </a:lnTo>
                <a:close/>
              </a:path>
            </a:pathLst>
          </a:custGeom>
          <a:solidFill>
            <a:srgbClr val="339966"/>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Tree>
  </p:cSld>
  <p:transition>
    <p:zoom dir="out"/>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A55D31C-78C5-4793-BFAD-FA67CB15298D}"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34" name="PlaceHolder 1"/>
          <p:cNvSpPr>
            <a:spLocks noGrp="1"/>
          </p:cNvSpPr>
          <p:nvPr>
            <p:ph type="title"/>
          </p:nvPr>
        </p:nvSpPr>
        <p:spPr>
          <a:xfrm>
            <a:off x="0" y="304560"/>
            <a:ext cx="9144000" cy="68580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Berlin Sans FB Demi"/>
              </a:rPr>
              <a:t>Data Quality: Why Preprocess the Data?</a:t>
            </a:r>
            <a:endParaRPr lang="en-US" sz="3200" b="1" u="none" strike="noStrike">
              <a:solidFill>
                <a:srgbClr val="333399"/>
              </a:solidFill>
              <a:effectLst/>
              <a:uFillTx/>
              <a:latin typeface="Berlin Sans FB Demi"/>
            </a:endParaRPr>
          </a:p>
        </p:txBody>
      </p:sp>
      <p:sp>
        <p:nvSpPr>
          <p:cNvPr id="35" name="PlaceHolder 2"/>
          <p:cNvSpPr>
            <a:spLocks noGrp="1"/>
          </p:cNvSpPr>
          <p:nvPr>
            <p:ph/>
          </p:nvPr>
        </p:nvSpPr>
        <p:spPr>
          <a:xfrm>
            <a:off x="304560" y="1294920"/>
            <a:ext cx="8381880" cy="4946760"/>
          </a:xfrm>
          <a:prstGeom prst="rect">
            <a:avLst/>
          </a:prstGeom>
          <a:noFill/>
          <a:ln w="0">
            <a:noFill/>
          </a:ln>
        </p:spPr>
        <p:txBody>
          <a:bodyPr lIns="91440" tIns="45720" rIns="91440" bIns="45720" anchor="t">
            <a:normAutofit/>
          </a:bodyPr>
          <a:p>
            <a:pPr marL="343080" indent="-343080" algn="l">
              <a:lnSpc>
                <a:spcPct val="14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Measures for data quality: A multidimensional view</a:t>
            </a:r>
            <a:endParaRPr lang="en-US" sz="2400" b="0" u="none" strike="noStrike">
              <a:solidFill>
                <a:srgbClr val="000000"/>
              </a:solidFill>
              <a:effectLst/>
              <a:uFillTx/>
              <a:latin typeface="Tahoma"/>
            </a:endParaRPr>
          </a:p>
          <a:p>
            <a:pPr marL="743040" lvl="1" indent="-285840" algn="l">
              <a:lnSpc>
                <a:spcPct val="14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Accuracy: correct or wrong, accurate or not</a:t>
            </a:r>
            <a:endParaRPr lang="en-US" sz="2400" b="0" u="none" strike="noStrike">
              <a:solidFill>
                <a:srgbClr val="000000"/>
              </a:solidFill>
              <a:effectLst/>
              <a:uFillTx/>
              <a:latin typeface="Tahoma"/>
            </a:endParaRPr>
          </a:p>
          <a:p>
            <a:pPr marL="743040" lvl="1" indent="-285840" algn="l">
              <a:lnSpc>
                <a:spcPct val="14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Completeness: not recorded, unavailable, …</a:t>
            </a:r>
            <a:endParaRPr lang="en-US" sz="2400" b="0" u="none" strike="noStrike">
              <a:solidFill>
                <a:srgbClr val="000000"/>
              </a:solidFill>
              <a:effectLst/>
              <a:uFillTx/>
              <a:latin typeface="Tahoma"/>
            </a:endParaRPr>
          </a:p>
          <a:p>
            <a:pPr marL="743040" lvl="1" indent="-285840" algn="l">
              <a:lnSpc>
                <a:spcPct val="14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Consistency: some modified but some not, dangling, …</a:t>
            </a:r>
            <a:endParaRPr lang="en-US" sz="2400" b="0" u="none" strike="noStrike">
              <a:solidFill>
                <a:srgbClr val="000000"/>
              </a:solidFill>
              <a:effectLst/>
              <a:uFillTx/>
              <a:latin typeface="Tahoma"/>
            </a:endParaRPr>
          </a:p>
          <a:p>
            <a:pPr marL="743040" lvl="1" indent="-285840" algn="l">
              <a:lnSpc>
                <a:spcPct val="14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Timeliness: timely update? </a:t>
            </a:r>
            <a:endParaRPr lang="en-US" sz="2400" b="0" u="none" strike="noStrike">
              <a:solidFill>
                <a:srgbClr val="000000"/>
              </a:solidFill>
              <a:effectLst/>
              <a:uFillTx/>
              <a:latin typeface="Tahoma"/>
            </a:endParaRPr>
          </a:p>
          <a:p>
            <a:pPr marL="743040" lvl="1" indent="-285840" algn="l">
              <a:lnSpc>
                <a:spcPct val="14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Believability: how trustable the data are correct?</a:t>
            </a:r>
            <a:endParaRPr lang="en-US" sz="2400" b="0" u="none" strike="noStrike">
              <a:solidFill>
                <a:srgbClr val="000000"/>
              </a:solidFill>
              <a:effectLst/>
              <a:uFillTx/>
              <a:latin typeface="Tahoma"/>
            </a:endParaRPr>
          </a:p>
          <a:p>
            <a:pPr marL="743040" lvl="1" indent="-285840" algn="l">
              <a:lnSpc>
                <a:spcPct val="14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Interpretability: how easily the data can be understood?</a:t>
            </a:r>
            <a:endParaRPr lang="en-US" sz="2400" b="0" u="none" strike="noStrike">
              <a:solidFill>
                <a:srgbClr val="000000"/>
              </a:solidFill>
              <a:effectLst/>
              <a:uFillTx/>
              <a:latin typeface="Tahoma"/>
            </a:endParaRPr>
          </a:p>
        </p:txBody>
      </p:sp>
    </p:spTree>
  </p:cSld>
  <p:transition>
    <p:zoom dir="out"/>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2958EEC-65E5-45AF-96F1-DD0F482A7DCB}"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37" name="PlaceHolder 1"/>
          <p:cNvSpPr>
            <a:spLocks noGrp="1"/>
          </p:cNvSpPr>
          <p:nvPr>
            <p:ph type="title"/>
          </p:nvPr>
        </p:nvSpPr>
        <p:spPr>
          <a:xfrm>
            <a:off x="0" y="304560"/>
            <a:ext cx="9144000" cy="68580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Berlin Sans FB Demi"/>
              </a:rPr>
              <a:t>Major Tasks in Data Preprocessing</a:t>
            </a:r>
            <a:endParaRPr lang="en-US" sz="3200" b="1" u="none" strike="noStrike">
              <a:solidFill>
                <a:srgbClr val="333399"/>
              </a:solidFill>
              <a:effectLst/>
              <a:uFillTx/>
              <a:latin typeface="Berlin Sans FB Demi"/>
            </a:endParaRPr>
          </a:p>
        </p:txBody>
      </p:sp>
      <p:sp>
        <p:nvSpPr>
          <p:cNvPr id="38" name="PlaceHolder 2"/>
          <p:cNvSpPr>
            <a:spLocks noGrp="1"/>
          </p:cNvSpPr>
          <p:nvPr>
            <p:ph/>
          </p:nvPr>
        </p:nvSpPr>
        <p:spPr>
          <a:xfrm>
            <a:off x="380880" y="1295280"/>
            <a:ext cx="8305920" cy="5105520"/>
          </a:xfrm>
          <a:prstGeom prst="rect">
            <a:avLst/>
          </a:prstGeom>
          <a:noFill/>
          <a:ln w="0">
            <a:noFill/>
          </a:ln>
        </p:spPr>
        <p:txBody>
          <a:bodyPr lIns="91440" tIns="45720" rIns="91440" bIns="45720" anchor="t">
            <a:normAutofit lnSpcReduction="9999"/>
          </a:bodyPr>
          <a:p>
            <a:pPr marL="343080" indent="-343080" algn="l">
              <a:lnSpc>
                <a:spcPct val="12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ahoma"/>
              </a:rPr>
              <a:t>Data cleaning</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Fill in missing values, smooth noisy data, identify or remove outliers, and resolve inconsistencies</a:t>
            </a:r>
            <a:endParaRPr lang="en-US" sz="2000" b="0" u="none" strike="noStrike">
              <a:solidFill>
                <a:srgbClr val="000000"/>
              </a:solidFill>
              <a:effectLst/>
              <a:uFillTx/>
              <a:latin typeface="Tahoma"/>
            </a:endParaRPr>
          </a:p>
          <a:p>
            <a:pPr marL="343080" indent="-343080" algn="l">
              <a:lnSpc>
                <a:spcPct val="12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ahoma"/>
              </a:rPr>
              <a:t>Data integration</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Integration of multiple databases, data cubes, or files</a:t>
            </a:r>
            <a:endParaRPr lang="en-US" sz="2000" b="0" u="none" strike="noStrike">
              <a:solidFill>
                <a:srgbClr val="000000"/>
              </a:solidFill>
              <a:effectLst/>
              <a:uFillTx/>
              <a:latin typeface="Tahoma"/>
            </a:endParaRPr>
          </a:p>
          <a:p>
            <a:pPr marL="343080" indent="-343080" algn="l">
              <a:lnSpc>
                <a:spcPct val="12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ahoma"/>
              </a:rPr>
              <a:t>Data reduction</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Dimensionality reduction</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Numerosity reduction</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Data compression</a:t>
            </a:r>
            <a:endParaRPr lang="en-US" sz="2000" b="0" u="none" strike="noStrike">
              <a:solidFill>
                <a:srgbClr val="000000"/>
              </a:solidFill>
              <a:effectLst/>
              <a:uFillTx/>
              <a:latin typeface="Tahoma"/>
            </a:endParaRPr>
          </a:p>
          <a:p>
            <a:pPr marL="343080" indent="-343080" algn="l">
              <a:lnSpc>
                <a:spcPct val="12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ahoma"/>
              </a:rPr>
              <a:t>Data transformation and data discretization</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Normalization </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Concept hierarchy generation</a:t>
            </a:r>
            <a:endParaRPr lang="en-US" sz="2000" b="0" u="none" strike="noStrike">
              <a:solidFill>
                <a:srgbClr val="000000"/>
              </a:solidFill>
              <a:effectLst/>
              <a:uFillTx/>
              <a:latin typeface="Tahoma"/>
            </a:endParaRPr>
          </a:p>
        </p:txBody>
      </p:sp>
    </p:spTree>
  </p:cSld>
  <p:transition>
    <p:zoom dir="out"/>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D78DB72-7FD1-463A-80C0-ABF7214FA974}"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40" name="Slide Number Placeholder 6"/>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7DA220E-9C1A-4C52-9236-6B6BE761E989}"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41" name="PlaceHolder 1"/>
          <p:cNvSpPr>
            <a:spLocks noGrp="1"/>
          </p:cNvSpPr>
          <p:nvPr>
            <p:ph type="title"/>
          </p:nvPr>
        </p:nvSpPr>
        <p:spPr>
          <a:xfrm>
            <a:off x="152280" y="304560"/>
            <a:ext cx="8763120" cy="609480"/>
          </a:xfrm>
          <a:prstGeom prst="rect">
            <a:avLst/>
          </a:prstGeom>
          <a:noFill/>
          <a:ln w="0">
            <a:noFill/>
          </a:ln>
        </p:spPr>
        <p:txBody>
          <a:bodyPr lIns="92160" tIns="46080" rIns="92160" bIns="4608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Berlin Sans FB Demi"/>
              </a:rPr>
              <a:t>Chapter 3: Data Preprocessing</a:t>
            </a:r>
            <a:endParaRPr lang="en-US" sz="3200" b="1" u="none" strike="noStrike">
              <a:solidFill>
                <a:srgbClr val="333399"/>
              </a:solidFill>
              <a:effectLst/>
              <a:uFillTx/>
              <a:latin typeface="Berlin Sans FB Demi"/>
            </a:endParaRPr>
          </a:p>
        </p:txBody>
      </p:sp>
      <p:sp>
        <p:nvSpPr>
          <p:cNvPr id="42" name="PlaceHolder 2"/>
          <p:cNvSpPr>
            <a:spLocks noGrp="1"/>
          </p:cNvSpPr>
          <p:nvPr>
            <p:ph/>
          </p:nvPr>
        </p:nvSpPr>
        <p:spPr>
          <a:xfrm>
            <a:off x="380880" y="1371600"/>
            <a:ext cx="8229600" cy="5105520"/>
          </a:xfrm>
          <a:prstGeom prst="rect">
            <a:avLst/>
          </a:prstGeom>
          <a:noFill/>
          <a:ln w="0">
            <a:noFill/>
          </a:ln>
        </p:spPr>
        <p:txBody>
          <a:bodyPr lIns="92160" tIns="46080" rIns="92160" bIns="46080" anchor="t">
            <a:normAutofit/>
          </a:bodyPr>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Preprocessing: An Overview</a:t>
            </a:r>
            <a:endParaRPr lang="en-US" sz="2400" b="0" u="none" strike="noStrike">
              <a:solidFill>
                <a:srgbClr val="000000"/>
              </a:solidFill>
              <a:effectLst/>
              <a:uFillTx/>
              <a:latin typeface="Tahoma"/>
            </a:endParaRPr>
          </a:p>
          <a:p>
            <a:pPr marL="743040" lvl="1" indent="-285840" algn="l">
              <a:lnSpc>
                <a:spcPct val="15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Quality</a:t>
            </a:r>
            <a:endParaRPr lang="en-US" sz="2400" b="0" u="none" strike="noStrike">
              <a:solidFill>
                <a:srgbClr val="000000"/>
              </a:solidFill>
              <a:effectLst/>
              <a:uFillTx/>
              <a:latin typeface="Tahoma"/>
            </a:endParaRPr>
          </a:p>
          <a:p>
            <a:pPr marL="743040" lvl="1" indent="-285840" algn="l">
              <a:lnSpc>
                <a:spcPct val="15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Major Tasks in Data Preprocessing</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Cleaning</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Integration</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Reduction</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Transformation and Data Discretization</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Summary</a:t>
            </a:r>
            <a:endParaRPr lang="en-US" sz="2400" b="0" u="none" strike="noStrike">
              <a:solidFill>
                <a:srgbClr val="000000"/>
              </a:solidFill>
              <a:effectLst/>
              <a:uFillTx/>
              <a:latin typeface="Tahoma"/>
            </a:endParaRPr>
          </a:p>
        </p:txBody>
      </p:sp>
      <p:sp>
        <p:nvSpPr>
          <p:cNvPr id="43" name="AutoShape 4"/>
          <p:cNvSpPr/>
          <p:nvPr/>
        </p:nvSpPr>
        <p:spPr>
          <a:xfrm rot="9430200">
            <a:off x="2968200" y="3206520"/>
            <a:ext cx="522360" cy="485640"/>
          </a:xfrm>
          <a:custGeom>
            <a:avLst/>
            <a:gdLst>
              <a:gd name="textAreaLeft" fmla="*/ 65160 w 522360"/>
              <a:gd name="textAreaRight" fmla="*/ 457200 w 522360"/>
              <a:gd name="textAreaTop" fmla="*/ 121320 h 485640"/>
              <a:gd name="textAreaBottom" fmla="*/ 364320 h 485640"/>
            </a:gdLst>
            <a:ahLst/>
            <a:cxn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lnTo>
                  <a:pt x="2700" y="10800"/>
                </a:lnTo>
                <a:lnTo>
                  <a:pt x="0" y="5400"/>
                </a:lnTo>
                <a:close/>
              </a:path>
            </a:pathLst>
          </a:custGeom>
          <a:solidFill>
            <a:srgbClr val="339966"/>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Tree>
  </p:cSld>
  <p:transition>
    <p:zoom dir="out"/>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CFF5F58-0A63-4222-9E5B-7D4CA4F5BC19}"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45" name="PlaceHolder 1"/>
          <p:cNvSpPr>
            <a:spLocks noGrp="1"/>
          </p:cNvSpPr>
          <p:nvPr>
            <p:ph type="title"/>
          </p:nvPr>
        </p:nvSpPr>
        <p:spPr>
          <a:xfrm>
            <a:off x="152280" y="304560"/>
            <a:ext cx="876312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170981"/>
                </a:solidFill>
                <a:effectLst/>
                <a:uFillTx/>
                <a:latin typeface="Berlin Sans FB Demi"/>
              </a:rPr>
              <a:t>Data Cleaning</a:t>
            </a:r>
            <a:endParaRPr lang="en-US" sz="3600" b="1" u="none" strike="noStrike">
              <a:solidFill>
                <a:srgbClr val="333399"/>
              </a:solidFill>
              <a:effectLst/>
              <a:uFillTx/>
              <a:latin typeface="Berlin Sans FB Demi"/>
            </a:endParaRPr>
          </a:p>
        </p:txBody>
      </p:sp>
      <p:sp>
        <p:nvSpPr>
          <p:cNvPr id="46" name="PlaceHolder 2"/>
          <p:cNvSpPr>
            <a:spLocks noGrp="1"/>
          </p:cNvSpPr>
          <p:nvPr>
            <p:ph/>
          </p:nvPr>
        </p:nvSpPr>
        <p:spPr>
          <a:xfrm>
            <a:off x="304560" y="1295280"/>
            <a:ext cx="8381880" cy="5181840"/>
          </a:xfrm>
          <a:prstGeom prst="rect">
            <a:avLst/>
          </a:prstGeom>
          <a:noFill/>
          <a:ln w="0">
            <a:noFill/>
          </a:ln>
        </p:spPr>
        <p:txBody>
          <a:bodyPr lIns="91440" tIns="45720" rIns="91440" bIns="45720" anchor="t">
            <a:normAutofit lnSpcReduction="9999"/>
          </a:bodyPr>
          <a:p>
            <a:pPr marL="343080" indent="-343080" algn="l">
              <a:lnSpc>
                <a:spcPct val="11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Data in the Real World Is Dirty: Lots of potentially incorrect data, e.g., instrument faulty, human or computer error, transmission error</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sng" strike="noStrike">
                <a:solidFill>
                  <a:srgbClr val="000000"/>
                </a:solidFill>
                <a:effectLst/>
                <a:uFillTx/>
                <a:latin typeface="Tahoma"/>
              </a:rPr>
              <a:t>incomplete</a:t>
            </a:r>
            <a:r>
              <a:rPr lang="en-US" sz="2000" b="0" u="none" strike="noStrike">
                <a:solidFill>
                  <a:srgbClr val="000000"/>
                </a:solidFill>
                <a:effectLst/>
                <a:uFillTx/>
                <a:latin typeface="Tahoma"/>
              </a:rPr>
              <a:t>: lacking attribute values, lacking certain attributes of interest, or containing only aggregate data</a:t>
            </a:r>
            <a:endParaRPr lang="en-US" sz="2000" b="0" u="none" strike="noStrike">
              <a:solidFill>
                <a:srgbClr val="000000"/>
              </a:solidFill>
              <a:effectLst/>
              <a:uFillTx/>
              <a:latin typeface="Tahoma"/>
            </a:endParaRPr>
          </a:p>
          <a:p>
            <a:pPr marL="1143000" lvl="2" indent="-228600" algn="l">
              <a:lnSpc>
                <a:spcPct val="110000"/>
              </a:lnSpc>
              <a:spcBef>
                <a:spcPts val="499"/>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e.g., </a:t>
            </a:r>
            <a:r>
              <a:rPr lang="en-US" sz="2000" b="0" i="1" u="none" strike="noStrike">
                <a:solidFill>
                  <a:srgbClr val="000000"/>
                </a:solidFill>
                <a:effectLst/>
                <a:uFillTx/>
                <a:latin typeface="Tahoma"/>
              </a:rPr>
              <a:t>Occupation</a:t>
            </a:r>
            <a:r>
              <a:rPr lang="en-US" sz="2000" b="0" u="none" strike="noStrike">
                <a:solidFill>
                  <a:srgbClr val="000000"/>
                </a:solidFill>
                <a:effectLst/>
                <a:uFillTx/>
                <a:latin typeface="Tahoma"/>
              </a:rPr>
              <a:t>=“ ” (missing data)</a:t>
            </a:r>
            <a:endParaRPr lang="en-US" sz="2000" b="0" u="none" strike="noStrike">
              <a:solidFill>
                <a:srgbClr val="000000"/>
              </a:solidFill>
              <a:effectLst/>
              <a:uFillTx/>
              <a:latin typeface="Tahoma"/>
            </a:endParaRPr>
          </a:p>
          <a:p>
            <a:pPr marL="743040" lvl="1" indent="-285840" algn="l">
              <a:lnSpc>
                <a:spcPct val="11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sng" strike="noStrike">
                <a:solidFill>
                  <a:srgbClr val="000000"/>
                </a:solidFill>
                <a:effectLst/>
                <a:uFillTx/>
                <a:latin typeface="Tahoma"/>
              </a:rPr>
              <a:t>noisy</a:t>
            </a:r>
            <a:r>
              <a:rPr lang="en-US" sz="2000" b="0" u="none" strike="noStrike">
                <a:solidFill>
                  <a:srgbClr val="000000"/>
                </a:solidFill>
                <a:effectLst/>
                <a:uFillTx/>
                <a:latin typeface="Tahoma"/>
              </a:rPr>
              <a:t>: containing noise, errors, or outliers</a:t>
            </a:r>
            <a:endParaRPr lang="en-US" sz="2000" b="0" u="none" strike="noStrike">
              <a:solidFill>
                <a:srgbClr val="000000"/>
              </a:solidFill>
              <a:effectLst/>
              <a:uFillTx/>
              <a:latin typeface="Tahoma"/>
            </a:endParaRPr>
          </a:p>
          <a:p>
            <a:pPr marL="1143000" lvl="2" indent="-228600" algn="l">
              <a:lnSpc>
                <a:spcPct val="110000"/>
              </a:lnSpc>
              <a:spcBef>
                <a:spcPts val="499"/>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e.g., </a:t>
            </a:r>
            <a:r>
              <a:rPr lang="en-US" sz="2000" b="0" i="1" u="none" strike="noStrike">
                <a:solidFill>
                  <a:srgbClr val="000000"/>
                </a:solidFill>
                <a:effectLst/>
                <a:uFillTx/>
                <a:latin typeface="Tahoma"/>
              </a:rPr>
              <a:t>Salary</a:t>
            </a:r>
            <a:r>
              <a:rPr lang="en-US" sz="2000" b="0" u="none" strike="noStrike">
                <a:solidFill>
                  <a:srgbClr val="000000"/>
                </a:solidFill>
                <a:effectLst/>
                <a:uFillTx/>
                <a:latin typeface="Tahoma"/>
              </a:rPr>
              <a:t>=“</a:t>
            </a:r>
            <a:r>
              <a:rPr lang="en-US" sz="2000" b="0" u="none" strike="noStrike">
                <a:solidFill>
                  <a:srgbClr val="000000"/>
                </a:solidFill>
                <a:effectLst/>
                <a:uFillTx/>
                <a:latin typeface="Tahoma"/>
                <a:ea typeface="Tahoma"/>
              </a:rPr>
              <a:t>−</a:t>
            </a:r>
            <a:r>
              <a:rPr lang="en-US" sz="2000" b="0" u="none" strike="noStrike">
                <a:solidFill>
                  <a:srgbClr val="000000"/>
                </a:solidFill>
                <a:effectLst/>
                <a:uFillTx/>
                <a:latin typeface="Tahoma"/>
              </a:rPr>
              <a:t>10” (an error)</a:t>
            </a:r>
            <a:endParaRPr lang="en-US" sz="2000" b="0" u="none" strike="noStrike">
              <a:solidFill>
                <a:srgbClr val="000000"/>
              </a:solidFill>
              <a:effectLst/>
              <a:uFillTx/>
              <a:latin typeface="Tahoma"/>
            </a:endParaRPr>
          </a:p>
          <a:p>
            <a:pPr marL="743040" lvl="1" indent="-285840" algn="l">
              <a:lnSpc>
                <a:spcPct val="11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sng" strike="noStrike">
                <a:solidFill>
                  <a:srgbClr val="000000"/>
                </a:solidFill>
                <a:effectLst/>
                <a:uFillTx/>
                <a:latin typeface="Tahoma"/>
              </a:rPr>
              <a:t>inconsistent</a:t>
            </a:r>
            <a:r>
              <a:rPr lang="en-US" sz="2000" b="0" u="none" strike="noStrike">
                <a:solidFill>
                  <a:srgbClr val="000000"/>
                </a:solidFill>
                <a:effectLst/>
                <a:uFillTx/>
                <a:latin typeface="Tahoma"/>
              </a:rPr>
              <a:t>: containing discrepancies in codes or names, e.g.,</a:t>
            </a:r>
            <a:endParaRPr lang="en-US" sz="2000" b="0" u="none" strike="noStrike">
              <a:solidFill>
                <a:srgbClr val="000000"/>
              </a:solidFill>
              <a:effectLst/>
              <a:uFillTx/>
              <a:latin typeface="Tahoma"/>
            </a:endParaRPr>
          </a:p>
          <a:p>
            <a:pPr marL="1143000" lvl="2" indent="-228600" algn="l">
              <a:lnSpc>
                <a:spcPct val="110000"/>
              </a:lnSpc>
              <a:spcBef>
                <a:spcPts val="499"/>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i="1" u="none" strike="noStrike">
                <a:solidFill>
                  <a:srgbClr val="000000"/>
                </a:solidFill>
                <a:effectLst/>
                <a:uFillTx/>
                <a:latin typeface="Tahoma"/>
              </a:rPr>
              <a:t>Age</a:t>
            </a:r>
            <a:r>
              <a:rPr lang="en-US" sz="2000" b="0" u="none" strike="noStrike">
                <a:solidFill>
                  <a:srgbClr val="000000"/>
                </a:solidFill>
                <a:effectLst/>
                <a:uFillTx/>
                <a:latin typeface="Tahoma"/>
              </a:rPr>
              <a:t>=“42”, </a:t>
            </a:r>
            <a:r>
              <a:rPr lang="en-US" sz="2000" b="0" i="1" u="none" strike="noStrike">
                <a:solidFill>
                  <a:srgbClr val="000000"/>
                </a:solidFill>
                <a:effectLst/>
                <a:uFillTx/>
                <a:latin typeface="Tahoma"/>
              </a:rPr>
              <a:t>Birthday</a:t>
            </a:r>
            <a:r>
              <a:rPr lang="en-US" sz="2000" b="0" u="none" strike="noStrike">
                <a:solidFill>
                  <a:srgbClr val="000000"/>
                </a:solidFill>
                <a:effectLst/>
                <a:uFillTx/>
                <a:latin typeface="Tahoma"/>
              </a:rPr>
              <a:t>=“03/07/2010”</a:t>
            </a:r>
            <a:endParaRPr lang="en-US" sz="2000" b="0" u="none" strike="noStrike">
              <a:solidFill>
                <a:srgbClr val="000000"/>
              </a:solidFill>
              <a:effectLst/>
              <a:uFillTx/>
              <a:latin typeface="Tahoma"/>
            </a:endParaRPr>
          </a:p>
          <a:p>
            <a:pPr marL="1143000" lvl="2" indent="-228600" algn="l">
              <a:lnSpc>
                <a:spcPct val="110000"/>
              </a:lnSpc>
              <a:spcBef>
                <a:spcPts val="499"/>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Was rating “1, 2, 3”, now rating “A, B, C”</a:t>
            </a:r>
            <a:endParaRPr lang="en-US" sz="2000" b="0" u="none" strike="noStrike">
              <a:solidFill>
                <a:srgbClr val="000000"/>
              </a:solidFill>
              <a:effectLst/>
              <a:uFillTx/>
              <a:latin typeface="Tahoma"/>
            </a:endParaRPr>
          </a:p>
          <a:p>
            <a:pPr marL="1143000" lvl="2" indent="-228600" algn="l">
              <a:lnSpc>
                <a:spcPct val="110000"/>
              </a:lnSpc>
              <a:spcBef>
                <a:spcPts val="499"/>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discrepancy between duplicate records</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sng" strike="noStrike">
                <a:solidFill>
                  <a:srgbClr val="000000"/>
                </a:solidFill>
                <a:effectLst/>
                <a:uFillTx/>
                <a:latin typeface="Tahoma"/>
              </a:rPr>
              <a:t>Intentional</a:t>
            </a:r>
            <a:r>
              <a:rPr lang="en-US" sz="2000" b="1" u="sng" strike="noStrike">
                <a:solidFill>
                  <a:srgbClr val="000000"/>
                </a:solidFill>
                <a:effectLst/>
                <a:uFillTx/>
                <a:latin typeface="Tahoma"/>
              </a:rPr>
              <a:t> </a:t>
            </a:r>
            <a:r>
              <a:rPr lang="en-US" sz="2000" b="0" u="none" strike="noStrike">
                <a:solidFill>
                  <a:srgbClr val="000000"/>
                </a:solidFill>
                <a:effectLst/>
                <a:uFillTx/>
                <a:latin typeface="Tahoma"/>
              </a:rPr>
              <a:t>(e.g., </a:t>
            </a:r>
            <a:r>
              <a:rPr lang="en-US" sz="2000" b="0" i="1" u="none" strike="noStrike">
                <a:solidFill>
                  <a:srgbClr val="000000"/>
                </a:solidFill>
                <a:effectLst/>
                <a:uFillTx/>
                <a:latin typeface="Tahoma"/>
              </a:rPr>
              <a:t>disguised missing</a:t>
            </a:r>
            <a:r>
              <a:rPr lang="en-US" sz="2000" b="0" u="none" strike="noStrike">
                <a:solidFill>
                  <a:srgbClr val="000000"/>
                </a:solidFill>
                <a:effectLst/>
                <a:uFillTx/>
                <a:latin typeface="Tahoma"/>
              </a:rPr>
              <a:t> data)</a:t>
            </a:r>
            <a:endParaRPr lang="en-US" sz="2000" b="0" u="none" strike="noStrike">
              <a:solidFill>
                <a:srgbClr val="000000"/>
              </a:solidFill>
              <a:effectLst/>
              <a:uFillTx/>
              <a:latin typeface="Tahoma"/>
            </a:endParaRPr>
          </a:p>
          <a:p>
            <a:pPr marL="1143000" lvl="2" indent="-228600" algn="l">
              <a:lnSpc>
                <a:spcPct val="120000"/>
              </a:lnSpc>
              <a:spcBef>
                <a:spcPts val="499"/>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Jan. 1 as everyone’s birthday?</a:t>
            </a:r>
            <a:endParaRPr lang="en-US" sz="2000" b="0" u="none" strike="noStrike">
              <a:solidFill>
                <a:srgbClr val="000000"/>
              </a:solidFill>
              <a:effectLst/>
              <a:uFillTx/>
              <a:latin typeface="Tahoma"/>
            </a:endParaRPr>
          </a:p>
        </p:txBody>
      </p:sp>
    </p:spTree>
  </p:cSld>
  <p:transition>
    <p:zoom dir="out"/>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7067B71-335B-401A-B8AF-32663BDFE624}"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48" name="PlaceHolder 1"/>
          <p:cNvSpPr>
            <a:spLocks noGrp="1"/>
          </p:cNvSpPr>
          <p:nvPr>
            <p:ph type="title"/>
          </p:nvPr>
        </p:nvSpPr>
        <p:spPr>
          <a:xfrm>
            <a:off x="870120" y="304560"/>
            <a:ext cx="716904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170981"/>
                </a:solidFill>
                <a:effectLst/>
                <a:uFillTx/>
                <a:latin typeface="Berlin Sans FB Demi"/>
              </a:rPr>
              <a:t>Incomplete (Missing) Data</a:t>
            </a:r>
            <a:endParaRPr lang="en-US" sz="3600" b="1" u="none" strike="noStrike">
              <a:solidFill>
                <a:srgbClr val="333399"/>
              </a:solidFill>
              <a:effectLst/>
              <a:uFillTx/>
              <a:latin typeface="Berlin Sans FB Demi"/>
            </a:endParaRPr>
          </a:p>
        </p:txBody>
      </p:sp>
      <p:sp>
        <p:nvSpPr>
          <p:cNvPr id="49" name="PlaceHolder 2"/>
          <p:cNvSpPr>
            <a:spLocks noGrp="1"/>
          </p:cNvSpPr>
          <p:nvPr>
            <p:ph/>
          </p:nvPr>
        </p:nvSpPr>
        <p:spPr>
          <a:xfrm>
            <a:off x="380880" y="1371600"/>
            <a:ext cx="8305920" cy="5105520"/>
          </a:xfrm>
          <a:prstGeom prst="rect">
            <a:avLst/>
          </a:prstGeom>
          <a:noFill/>
          <a:ln w="0">
            <a:noFill/>
          </a:ln>
        </p:spPr>
        <p:txBody>
          <a:bodyPr lIns="91440" tIns="45720" rIns="91440" bIns="45720" anchor="t">
            <a:normAutofit lnSpcReduction="9999"/>
          </a:bodyPr>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is not always available</a:t>
            </a:r>
            <a:endParaRPr lang="en-US" sz="2400" b="0" u="none" strike="noStrike">
              <a:solidFill>
                <a:srgbClr val="000000"/>
              </a:solidFill>
              <a:effectLst/>
              <a:uFillTx/>
              <a:latin typeface="Tahoma"/>
            </a:endParaRPr>
          </a:p>
          <a:p>
            <a:pPr marL="743040" lvl="1" indent="-285840" algn="l">
              <a:lnSpc>
                <a:spcPct val="11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E.g., many tuples have no recorded value for several attributes, such as customer income in sales data</a:t>
            </a: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Missing data may be due to </a:t>
            </a:r>
            <a:endParaRPr lang="en-US" sz="2400" b="0" u="none" strike="noStrike">
              <a:solidFill>
                <a:srgbClr val="000000"/>
              </a:solidFill>
              <a:effectLst/>
              <a:uFillTx/>
              <a:latin typeface="Tahoma"/>
            </a:endParaRPr>
          </a:p>
          <a:p>
            <a:pPr marL="743040" lvl="1" indent="-285840" algn="l">
              <a:lnSpc>
                <a:spcPct val="11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equipment malfunction</a:t>
            </a:r>
            <a:endParaRPr lang="en-US" sz="2400" b="0" u="none" strike="noStrike">
              <a:solidFill>
                <a:srgbClr val="000000"/>
              </a:solidFill>
              <a:effectLst/>
              <a:uFillTx/>
              <a:latin typeface="Tahoma"/>
            </a:endParaRPr>
          </a:p>
          <a:p>
            <a:pPr marL="743040" lvl="1" indent="-285840" algn="l">
              <a:lnSpc>
                <a:spcPct val="11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inconsistent with other recorded data and thus deleted</a:t>
            </a:r>
            <a:endParaRPr lang="en-US" sz="2400" b="0" u="none" strike="noStrike">
              <a:solidFill>
                <a:srgbClr val="000000"/>
              </a:solidFill>
              <a:effectLst/>
              <a:uFillTx/>
              <a:latin typeface="Tahoma"/>
            </a:endParaRPr>
          </a:p>
          <a:p>
            <a:pPr marL="743040" lvl="1" indent="-285840" algn="l">
              <a:lnSpc>
                <a:spcPct val="11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not entered due to misunderstanding</a:t>
            </a:r>
            <a:endParaRPr lang="en-US" sz="2400" b="0" u="none" strike="noStrike">
              <a:solidFill>
                <a:srgbClr val="000000"/>
              </a:solidFill>
              <a:effectLst/>
              <a:uFillTx/>
              <a:latin typeface="Tahoma"/>
            </a:endParaRPr>
          </a:p>
          <a:p>
            <a:pPr marL="743040" lvl="1" indent="-285840" algn="l">
              <a:lnSpc>
                <a:spcPct val="11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certain data may not be considered important at the time of entry</a:t>
            </a:r>
            <a:endParaRPr lang="en-US" sz="2400" b="0" u="none" strike="noStrike">
              <a:solidFill>
                <a:srgbClr val="000000"/>
              </a:solidFill>
              <a:effectLst/>
              <a:uFillTx/>
              <a:latin typeface="Tahoma"/>
            </a:endParaRPr>
          </a:p>
          <a:p>
            <a:pPr marL="743040" lvl="1" indent="-285840" algn="l">
              <a:lnSpc>
                <a:spcPct val="11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not register history or changes of the data</a:t>
            </a: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Missing data may need to be inferred</a:t>
            </a:r>
            <a:endParaRPr lang="en-US" sz="2400" b="0" u="none" strike="noStrike">
              <a:solidFill>
                <a:srgbClr val="000000"/>
              </a:solidFill>
              <a:effectLst/>
              <a:uFillTx/>
              <a:latin typeface="Tahoma"/>
            </a:endParaRPr>
          </a:p>
        </p:txBody>
      </p:sp>
    </p:spTree>
  </p:cSld>
  <p:transition>
    <p:zoom dir="out"/>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AF55342-F477-4D28-854F-84683B35888B}"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51" name="PlaceHolder 1"/>
          <p:cNvSpPr>
            <a:spLocks noGrp="1"/>
          </p:cNvSpPr>
          <p:nvPr>
            <p:ph type="title"/>
          </p:nvPr>
        </p:nvSpPr>
        <p:spPr>
          <a:xfrm>
            <a:off x="761760" y="228240"/>
            <a:ext cx="7543800" cy="76212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How to Handle Missing Data?</a:t>
            </a:r>
            <a:endParaRPr lang="en-US" sz="3600" b="1" u="none" strike="noStrike">
              <a:solidFill>
                <a:srgbClr val="333399"/>
              </a:solidFill>
              <a:effectLst/>
              <a:uFillTx/>
              <a:latin typeface="Berlin Sans FB Demi"/>
            </a:endParaRPr>
          </a:p>
        </p:txBody>
      </p:sp>
      <p:sp>
        <p:nvSpPr>
          <p:cNvPr id="52" name="PlaceHolder 2"/>
          <p:cNvSpPr>
            <a:spLocks noGrp="1"/>
          </p:cNvSpPr>
          <p:nvPr>
            <p:ph/>
          </p:nvPr>
        </p:nvSpPr>
        <p:spPr>
          <a:xfrm>
            <a:off x="304920" y="1294920"/>
            <a:ext cx="8534160" cy="5257800"/>
          </a:xfrm>
          <a:prstGeom prst="rect">
            <a:avLst/>
          </a:prstGeom>
          <a:noFill/>
          <a:ln w="0">
            <a:noFill/>
          </a:ln>
        </p:spPr>
        <p:txBody>
          <a:bodyPr lIns="91440" tIns="45720" rIns="91440" bIns="45720" anchor="t">
            <a:normAutofit lnSpcReduction="9999"/>
          </a:bodyPr>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Ignore the tuple: usually done when class label is missing (when doing classification)—not effective when the % of missing values per attribute varies considerably</a:t>
            </a:r>
            <a:endParaRPr lang="en-US" sz="2400" b="0" u="none" strike="noStrike">
              <a:solidFill>
                <a:srgbClr val="000000"/>
              </a:solidFill>
              <a:effectLst/>
              <a:uFillTx/>
              <a:latin typeface="Tahoma"/>
            </a:endParaRPr>
          </a:p>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Fill in the missing value manually: tedious + infeasible?</a:t>
            </a:r>
            <a:endParaRPr lang="en-US" sz="2400" b="0" u="none" strike="noStrike">
              <a:solidFill>
                <a:srgbClr val="000000"/>
              </a:solidFill>
              <a:effectLst/>
              <a:uFillTx/>
              <a:latin typeface="Tahoma"/>
            </a:endParaRPr>
          </a:p>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Fill in it automatically with</a:t>
            </a:r>
            <a:endParaRPr lang="en-US" sz="2400" b="0" u="none" strike="noStrike">
              <a:solidFill>
                <a:srgbClr val="000000"/>
              </a:solidFill>
              <a:effectLst/>
              <a:uFillTx/>
              <a:latin typeface="Tahoma"/>
            </a:endParaRPr>
          </a:p>
          <a:p>
            <a:pPr marL="743040" lvl="1" indent="-285840" algn="l">
              <a:lnSpc>
                <a:spcPct val="12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a global constant : e.g., “unknown”, a new class?! </a:t>
            </a:r>
            <a:endParaRPr lang="en-US" sz="2400" b="0" u="none" strike="noStrike">
              <a:solidFill>
                <a:srgbClr val="000000"/>
              </a:solidFill>
              <a:effectLst/>
              <a:uFillTx/>
              <a:latin typeface="Tahoma"/>
            </a:endParaRPr>
          </a:p>
          <a:p>
            <a:pPr marL="743040" lvl="1" indent="-285840" algn="l">
              <a:lnSpc>
                <a:spcPct val="12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the attribute mean</a:t>
            </a:r>
            <a:endParaRPr lang="en-US" sz="2400" b="0" u="none" strike="noStrike">
              <a:solidFill>
                <a:srgbClr val="000000"/>
              </a:solidFill>
              <a:effectLst/>
              <a:uFillTx/>
              <a:latin typeface="Tahoma"/>
            </a:endParaRPr>
          </a:p>
          <a:p>
            <a:pPr marL="743040" lvl="1" indent="-285840" algn="l">
              <a:lnSpc>
                <a:spcPct val="12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the attribute mean for all samples belonging to the same class: smarter</a:t>
            </a:r>
            <a:endParaRPr lang="en-US" sz="2400" b="0" u="none" strike="noStrike">
              <a:solidFill>
                <a:srgbClr val="000000"/>
              </a:solidFill>
              <a:effectLst/>
              <a:uFillTx/>
              <a:latin typeface="Tahoma"/>
            </a:endParaRPr>
          </a:p>
          <a:p>
            <a:pPr marL="743040" lvl="1" indent="-285840" algn="l">
              <a:lnSpc>
                <a:spcPct val="12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FF0000"/>
                </a:solidFill>
                <a:effectLst/>
                <a:uFillTx/>
                <a:latin typeface="Tahoma"/>
              </a:rPr>
              <a:t>the most probable value: inference-based such as Bayesian formula or decision tree</a:t>
            </a:r>
            <a:endParaRPr lang="en-US" sz="2400" b="0" u="none" strike="noStrike">
              <a:solidFill>
                <a:srgbClr val="000000"/>
              </a:solidFill>
              <a:effectLst/>
              <a:uFillTx/>
              <a:latin typeface="Tahoma"/>
            </a:endParaRPr>
          </a:p>
        </p:txBody>
      </p:sp>
    </p:spTree>
  </p:cSld>
  <p:transition>
    <p:zoom dir="out"/>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B77A715-7A01-4404-BE3A-6BF8FAEAED91}"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54" name="PlaceHolder 1"/>
          <p:cNvSpPr>
            <a:spLocks noGrp="1"/>
          </p:cNvSpPr>
          <p:nvPr>
            <p:ph type="title"/>
          </p:nvPr>
        </p:nvSpPr>
        <p:spPr>
          <a:xfrm>
            <a:off x="1676160" y="228240"/>
            <a:ext cx="5638680" cy="76212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170981"/>
                </a:solidFill>
                <a:effectLst/>
                <a:uFillTx/>
                <a:latin typeface="Berlin Sans FB Demi"/>
              </a:rPr>
              <a:t>Noisy Data</a:t>
            </a:r>
            <a:endParaRPr lang="en-US" sz="3600" b="1" u="none" strike="noStrike">
              <a:solidFill>
                <a:srgbClr val="333399"/>
              </a:solidFill>
              <a:effectLst/>
              <a:uFillTx/>
              <a:latin typeface="Berlin Sans FB Demi"/>
            </a:endParaRPr>
          </a:p>
        </p:txBody>
      </p:sp>
      <p:sp>
        <p:nvSpPr>
          <p:cNvPr id="55" name="PlaceHolder 2"/>
          <p:cNvSpPr>
            <a:spLocks noGrp="1"/>
          </p:cNvSpPr>
          <p:nvPr>
            <p:ph/>
          </p:nvPr>
        </p:nvSpPr>
        <p:spPr>
          <a:xfrm>
            <a:off x="304560" y="1371600"/>
            <a:ext cx="8381880" cy="4952880"/>
          </a:xfrm>
          <a:prstGeom prst="rect">
            <a:avLst/>
          </a:prstGeom>
          <a:noFill/>
          <a:ln w="0">
            <a:noFill/>
          </a:ln>
        </p:spPr>
        <p:txBody>
          <a:bodyPr lIns="91440" tIns="45720" rIns="91440" bIns="45720" anchor="t">
            <a:normAutofit/>
          </a:bodyPr>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3333CC"/>
                </a:solidFill>
                <a:effectLst/>
                <a:uFillTx/>
                <a:latin typeface="Tahoma"/>
              </a:rPr>
              <a:t>Noise</a:t>
            </a:r>
            <a:r>
              <a:rPr lang="en-US" sz="2400" b="0" u="none" strike="noStrike">
                <a:solidFill>
                  <a:srgbClr val="000000"/>
                </a:solidFill>
                <a:effectLst/>
                <a:uFillTx/>
                <a:latin typeface="Tahoma"/>
              </a:rPr>
              <a:t>: random error or variance in a measured variable</a:t>
            </a:r>
            <a:endParaRPr lang="en-US" sz="2400" b="0" u="none" strike="noStrike">
              <a:solidFill>
                <a:srgbClr val="000000"/>
              </a:solidFill>
              <a:effectLst/>
              <a:uFillTx/>
              <a:latin typeface="Tahoma"/>
            </a:endParaRPr>
          </a:p>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3333CC"/>
                </a:solidFill>
                <a:effectLst/>
                <a:uFillTx/>
                <a:latin typeface="Tahoma"/>
              </a:rPr>
              <a:t>Incorrect attribute values</a:t>
            </a:r>
            <a:r>
              <a:rPr lang="en-US" sz="2400" b="0" u="none" strike="noStrike">
                <a:solidFill>
                  <a:srgbClr val="000000"/>
                </a:solidFill>
                <a:effectLst/>
                <a:uFillTx/>
                <a:latin typeface="Tahoma"/>
              </a:rPr>
              <a:t> may be due to</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faulty data collection instruments</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entry problems</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transmission problems</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technology limitation</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inconsistency in naming convention </a:t>
            </a:r>
            <a:endParaRPr lang="en-US" sz="2400" b="0" u="none" strike="noStrike">
              <a:solidFill>
                <a:srgbClr val="000000"/>
              </a:solidFill>
              <a:effectLst/>
              <a:uFillTx/>
              <a:latin typeface="Tahoma"/>
            </a:endParaRPr>
          </a:p>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3333CC"/>
                </a:solidFill>
                <a:effectLst/>
                <a:uFillTx/>
                <a:latin typeface="Tahoma"/>
              </a:rPr>
              <a:t>Other data problems</a:t>
            </a:r>
            <a:r>
              <a:rPr lang="en-US" sz="2400" b="0" u="none" strike="noStrike">
                <a:solidFill>
                  <a:srgbClr val="000000"/>
                </a:solidFill>
                <a:effectLst/>
                <a:uFillTx/>
                <a:latin typeface="Tahoma"/>
              </a:rPr>
              <a:t> which require data cleaning</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duplicate records</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incomplete data</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inconsistent data</a:t>
            </a:r>
            <a:endParaRPr lang="en-US" sz="2400" b="0" u="none" strike="noStrike">
              <a:solidFill>
                <a:srgbClr val="000000"/>
              </a:solidFill>
              <a:effectLst/>
              <a:uFillTx/>
              <a:latin typeface="Tahoma"/>
            </a:endParaRPr>
          </a:p>
        </p:txBody>
      </p:sp>
    </p:spTree>
  </p:cSld>
  <p:transition>
    <p:zoom dir="out"/>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DE120A2-ADB1-4F37-AF20-B80D71007537}"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57" name="PlaceHolder 1"/>
          <p:cNvSpPr>
            <a:spLocks noGrp="1"/>
          </p:cNvSpPr>
          <p:nvPr>
            <p:ph type="title"/>
          </p:nvPr>
        </p:nvSpPr>
        <p:spPr>
          <a:xfrm>
            <a:off x="323640" y="304560"/>
            <a:ext cx="859140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How to Handle Noisy Data?</a:t>
            </a:r>
            <a:endParaRPr lang="en-US" sz="3600" b="1" u="none" strike="noStrike">
              <a:solidFill>
                <a:srgbClr val="333399"/>
              </a:solidFill>
              <a:effectLst/>
              <a:uFillTx/>
              <a:latin typeface="Berlin Sans FB Demi"/>
            </a:endParaRPr>
          </a:p>
        </p:txBody>
      </p:sp>
      <p:sp>
        <p:nvSpPr>
          <p:cNvPr id="58" name="PlaceHolder 2"/>
          <p:cNvSpPr>
            <a:spLocks noGrp="1"/>
          </p:cNvSpPr>
          <p:nvPr>
            <p:ph/>
          </p:nvPr>
        </p:nvSpPr>
        <p:spPr>
          <a:xfrm>
            <a:off x="304560" y="1371600"/>
            <a:ext cx="8381880" cy="5029200"/>
          </a:xfrm>
          <a:prstGeom prst="rect">
            <a:avLst/>
          </a:prstGeom>
          <a:noFill/>
          <a:ln w="0">
            <a:noFill/>
          </a:ln>
        </p:spPr>
        <p:txBody>
          <a:bodyPr lIns="91440" tIns="45720" rIns="91440" bIns="45720" anchor="t">
            <a:normAutofit/>
          </a:bodyPr>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3333CC"/>
                </a:solidFill>
                <a:effectLst/>
                <a:uFillTx/>
                <a:latin typeface="Tahoma"/>
              </a:rPr>
              <a:t>Binning</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first sort data and partition into (equal-frequency) bins</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then one can </a:t>
            </a:r>
            <a:r>
              <a:rPr lang="en-US" sz="2400" b="0" u="none" strike="noStrike">
                <a:solidFill>
                  <a:srgbClr val="FF0000"/>
                </a:solidFill>
                <a:effectLst/>
                <a:uFillTx/>
                <a:latin typeface="Tahoma"/>
              </a:rPr>
              <a:t>smooth by bin means,  smooth by bin median, smooth by bin boundaries</a:t>
            </a:r>
            <a:r>
              <a:rPr lang="en-US" sz="2400" b="0" u="none" strike="noStrike">
                <a:solidFill>
                  <a:srgbClr val="000000"/>
                </a:solidFill>
                <a:effectLst/>
                <a:uFillTx/>
                <a:latin typeface="Tahoma"/>
              </a:rPr>
              <a:t>, etc.</a:t>
            </a:r>
            <a:endParaRPr lang="en-US" sz="2400" b="0" u="none" strike="noStrike">
              <a:solidFill>
                <a:srgbClr val="000000"/>
              </a:solidFill>
              <a:effectLst/>
              <a:uFillTx/>
              <a:latin typeface="Tahoma"/>
            </a:endParaRPr>
          </a:p>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3333CC"/>
                </a:solidFill>
                <a:effectLst/>
                <a:uFillTx/>
                <a:latin typeface="Tahoma"/>
              </a:rPr>
              <a:t>Regression</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smooth by fitting the data into regression functions</a:t>
            </a:r>
            <a:endParaRPr lang="en-US" sz="2400" b="0" u="none" strike="noStrike">
              <a:solidFill>
                <a:srgbClr val="000000"/>
              </a:solidFill>
              <a:effectLst/>
              <a:uFillTx/>
              <a:latin typeface="Tahoma"/>
            </a:endParaRPr>
          </a:p>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3333CC"/>
                </a:solidFill>
                <a:effectLst/>
                <a:uFillTx/>
                <a:latin typeface="Tahoma"/>
              </a:rPr>
              <a:t>Clustering</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detect and remove outliers</a:t>
            </a:r>
            <a:endParaRPr lang="en-US" sz="2400" b="0" u="none" strike="noStrike">
              <a:solidFill>
                <a:srgbClr val="000000"/>
              </a:solidFill>
              <a:effectLst/>
              <a:uFillTx/>
              <a:latin typeface="Tahoma"/>
            </a:endParaRPr>
          </a:p>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3333CC"/>
                </a:solidFill>
                <a:effectLst/>
                <a:uFillTx/>
                <a:latin typeface="Tahoma"/>
              </a:rPr>
              <a:t>Combined computer and human inspection</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detect suspicious values and check by human (e.g., deal with possible outliers)</a:t>
            </a:r>
            <a:endParaRPr lang="en-US" sz="2400" b="0" u="none" strike="noStrike">
              <a:solidFill>
                <a:srgbClr val="000000"/>
              </a:solidFill>
              <a:effectLst/>
              <a:uFillTx/>
              <a:latin typeface="Tahoma"/>
            </a:endParaRPr>
          </a:p>
        </p:txBody>
      </p:sp>
    </p:spTree>
  </p:cSld>
  <p:transition>
    <p:zoom dir="out"/>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6F8E49E-3A00-45CE-950C-BC7769E07631}"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60" name="PlaceHolder 1"/>
          <p:cNvSpPr>
            <a:spLocks noGrp="1"/>
          </p:cNvSpPr>
          <p:nvPr>
            <p:ph type="title"/>
          </p:nvPr>
        </p:nvSpPr>
        <p:spPr>
          <a:xfrm>
            <a:off x="323640" y="304560"/>
            <a:ext cx="859140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170981"/>
                </a:solidFill>
                <a:effectLst/>
                <a:uFillTx/>
                <a:latin typeface="Berlin Sans FB Demi"/>
              </a:rPr>
              <a:t>Data Cleaning as a Process</a:t>
            </a:r>
            <a:endParaRPr lang="en-US" sz="3600" b="1" u="none" strike="noStrike">
              <a:solidFill>
                <a:srgbClr val="333399"/>
              </a:solidFill>
              <a:effectLst/>
              <a:uFillTx/>
              <a:latin typeface="Berlin Sans FB Demi"/>
            </a:endParaRPr>
          </a:p>
        </p:txBody>
      </p:sp>
      <p:sp>
        <p:nvSpPr>
          <p:cNvPr id="61" name="PlaceHolder 2"/>
          <p:cNvSpPr>
            <a:spLocks noGrp="1"/>
          </p:cNvSpPr>
          <p:nvPr>
            <p:ph/>
          </p:nvPr>
        </p:nvSpPr>
        <p:spPr>
          <a:xfrm>
            <a:off x="304920" y="1295280"/>
            <a:ext cx="8534160" cy="5181840"/>
          </a:xfrm>
          <a:prstGeom prst="rect">
            <a:avLst/>
          </a:prstGeom>
          <a:noFill/>
          <a:ln w="0">
            <a:noFill/>
          </a:ln>
        </p:spPr>
        <p:txBody>
          <a:bodyPr lIns="91440" tIns="45720" rIns="91440" bIns="45720" anchor="t">
            <a:normAutofit lnSpcReduction="9999"/>
          </a:bodyPr>
          <a:p>
            <a:pPr marL="343080" indent="-343080" algn="l">
              <a:lnSpc>
                <a:spcPct val="9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3333CC"/>
                </a:solidFill>
                <a:effectLst/>
                <a:uFillTx/>
                <a:latin typeface="Tahoma"/>
              </a:rPr>
              <a:t>Data discrepancy detection</a:t>
            </a:r>
            <a:endParaRPr lang="en-US" sz="2000" b="0" u="none" strike="noStrike">
              <a:solidFill>
                <a:srgbClr val="000000"/>
              </a:solidFill>
              <a:effectLst/>
              <a:uFillTx/>
              <a:latin typeface="Tahoma"/>
            </a:endParaRPr>
          </a:p>
          <a:p>
            <a:pPr marL="743040" lvl="1" indent="-285840" algn="l">
              <a:lnSpc>
                <a:spcPct val="9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Use metadata (e.g., domain, range, dependency, distribution)</a:t>
            </a:r>
            <a:endParaRPr lang="en-US" sz="2000" b="0" u="none" strike="noStrike">
              <a:solidFill>
                <a:srgbClr val="000000"/>
              </a:solidFill>
              <a:effectLst/>
              <a:uFillTx/>
              <a:latin typeface="Tahoma"/>
            </a:endParaRPr>
          </a:p>
          <a:p>
            <a:pPr marL="743040" lvl="1" indent="-285840" algn="l">
              <a:lnSpc>
                <a:spcPct val="9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Check field overloading </a:t>
            </a:r>
            <a:endParaRPr lang="en-US" sz="2000" b="0" u="none" strike="noStrike">
              <a:solidFill>
                <a:srgbClr val="000000"/>
              </a:solidFill>
              <a:effectLst/>
              <a:uFillTx/>
              <a:latin typeface="Tahoma"/>
            </a:endParaRPr>
          </a:p>
          <a:p>
            <a:pPr marL="743040" lvl="1" indent="-285840" algn="l">
              <a:lnSpc>
                <a:spcPct val="9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Check uniqueness rule, consecutive rule and null rule</a:t>
            </a:r>
            <a:endParaRPr lang="en-US" sz="2000" b="0" u="none" strike="noStrike">
              <a:solidFill>
                <a:srgbClr val="000000"/>
              </a:solidFill>
              <a:effectLst/>
              <a:uFillTx/>
              <a:latin typeface="Tahoma"/>
            </a:endParaRPr>
          </a:p>
          <a:p>
            <a:pPr marL="743040" lvl="1" indent="-285840" algn="l">
              <a:lnSpc>
                <a:spcPct val="9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Use commercial tools</a:t>
            </a:r>
            <a:endParaRPr lang="en-US" sz="2000" b="0" u="none" strike="noStrike">
              <a:solidFill>
                <a:srgbClr val="000000"/>
              </a:solidFill>
              <a:effectLst/>
              <a:uFillTx/>
              <a:latin typeface="Tahoma"/>
            </a:endParaRPr>
          </a:p>
          <a:p>
            <a:pPr marL="1143000" lvl="2" indent="-228600" algn="l">
              <a:lnSpc>
                <a:spcPct val="90000"/>
              </a:lnSpc>
              <a:spcBef>
                <a:spcPts val="499"/>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Data scrubbing: use simple domain knowledge (e.g., postal code, spell-check) to detect errors and make corrections</a:t>
            </a:r>
            <a:endParaRPr lang="en-US" sz="2000" b="0" u="none" strike="noStrike">
              <a:solidFill>
                <a:srgbClr val="000000"/>
              </a:solidFill>
              <a:effectLst/>
              <a:uFillTx/>
              <a:latin typeface="Tahoma"/>
            </a:endParaRPr>
          </a:p>
          <a:p>
            <a:pPr marL="1143000" lvl="2" indent="-228600" algn="l">
              <a:lnSpc>
                <a:spcPct val="90000"/>
              </a:lnSpc>
              <a:spcBef>
                <a:spcPts val="499"/>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Data auditing: by analyzing data to discover rules and relationship to detect violators (e.g., correlation and clustering to find outliers)</a:t>
            </a:r>
            <a:endParaRPr lang="en-US" sz="2000" b="0" u="none" strike="noStrike">
              <a:solidFill>
                <a:srgbClr val="000000"/>
              </a:solidFill>
              <a:effectLst/>
              <a:uFillTx/>
              <a:latin typeface="Tahoma"/>
            </a:endParaRPr>
          </a:p>
          <a:p>
            <a:pPr marL="343080" indent="-343080" algn="l">
              <a:lnSpc>
                <a:spcPct val="9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3333CC"/>
                </a:solidFill>
                <a:effectLst/>
                <a:uFillTx/>
                <a:latin typeface="Tahoma"/>
              </a:rPr>
              <a:t>Data migration and integration</a:t>
            </a:r>
            <a:endParaRPr lang="en-US" sz="2000" b="0" u="none" strike="noStrike">
              <a:solidFill>
                <a:srgbClr val="000000"/>
              </a:solidFill>
              <a:effectLst/>
              <a:uFillTx/>
              <a:latin typeface="Tahoma"/>
            </a:endParaRPr>
          </a:p>
          <a:p>
            <a:pPr marL="743040" lvl="1" indent="-285840" algn="l">
              <a:lnSpc>
                <a:spcPct val="9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Data migration tools: allow transformations to be specified</a:t>
            </a:r>
            <a:endParaRPr lang="en-US" sz="2000" b="0" u="none" strike="noStrike">
              <a:solidFill>
                <a:srgbClr val="000000"/>
              </a:solidFill>
              <a:effectLst/>
              <a:uFillTx/>
              <a:latin typeface="Tahoma"/>
            </a:endParaRPr>
          </a:p>
          <a:p>
            <a:pPr marL="743040" lvl="1" indent="-285840" algn="l">
              <a:lnSpc>
                <a:spcPct val="9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ETL (Extraction/Transformation/Loading) tools: allow users to specify transformations through a graphical user interface</a:t>
            </a:r>
            <a:endParaRPr lang="en-US" sz="2000" b="0" u="none" strike="noStrike">
              <a:solidFill>
                <a:srgbClr val="000000"/>
              </a:solidFill>
              <a:effectLst/>
              <a:uFillTx/>
              <a:latin typeface="Tahoma"/>
            </a:endParaRPr>
          </a:p>
          <a:p>
            <a:pPr marL="343080" indent="-343080" algn="l">
              <a:lnSpc>
                <a:spcPct val="9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Integration of the two processes</a:t>
            </a:r>
            <a:endParaRPr lang="en-US" sz="2000" b="0" u="none" strike="noStrike">
              <a:solidFill>
                <a:srgbClr val="000000"/>
              </a:solidFill>
              <a:effectLst/>
              <a:uFillTx/>
              <a:latin typeface="Tahoma"/>
            </a:endParaRPr>
          </a:p>
          <a:p>
            <a:pPr marL="743040" lvl="1" indent="-285840" algn="l">
              <a:lnSpc>
                <a:spcPct val="9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Iterative and interactive (e.g., Potter’s Wheels)</a:t>
            </a:r>
            <a:endParaRPr lang="en-US" sz="2000" b="0" u="none" strike="noStrike">
              <a:solidFill>
                <a:srgbClr val="000000"/>
              </a:solidFill>
              <a:effectLst/>
              <a:uFillTx/>
              <a:latin typeface="Tahoma"/>
            </a:endParaRPr>
          </a:p>
        </p:txBody>
      </p:sp>
    </p:spTree>
  </p:cSld>
  <p:transition>
    <p:zoom dir="out"/>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55B8B1E-5EAF-4A0A-B9E1-DB70883E8ECE}"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63" name="Slide Number Placeholder 6"/>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A01CBF2-89AD-4AB4-B19B-AD793EBF412C}"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64" name="PlaceHolder 1"/>
          <p:cNvSpPr>
            <a:spLocks noGrp="1"/>
          </p:cNvSpPr>
          <p:nvPr>
            <p:ph type="title"/>
          </p:nvPr>
        </p:nvSpPr>
        <p:spPr>
          <a:xfrm>
            <a:off x="152280" y="304560"/>
            <a:ext cx="8763120" cy="609480"/>
          </a:xfrm>
          <a:prstGeom prst="rect">
            <a:avLst/>
          </a:prstGeom>
          <a:noFill/>
          <a:ln w="0">
            <a:noFill/>
          </a:ln>
        </p:spPr>
        <p:txBody>
          <a:bodyPr lIns="92160" tIns="46080" rIns="92160" bIns="4608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Berlin Sans FB Demi"/>
              </a:rPr>
              <a:t>Chapter 3: Data Preprocessing</a:t>
            </a:r>
            <a:endParaRPr lang="en-US" sz="3200" b="1" u="none" strike="noStrike">
              <a:solidFill>
                <a:srgbClr val="333399"/>
              </a:solidFill>
              <a:effectLst/>
              <a:uFillTx/>
              <a:latin typeface="Berlin Sans FB Demi"/>
            </a:endParaRPr>
          </a:p>
        </p:txBody>
      </p:sp>
      <p:sp>
        <p:nvSpPr>
          <p:cNvPr id="65" name="PlaceHolder 2"/>
          <p:cNvSpPr>
            <a:spLocks noGrp="1"/>
          </p:cNvSpPr>
          <p:nvPr>
            <p:ph/>
          </p:nvPr>
        </p:nvSpPr>
        <p:spPr>
          <a:xfrm>
            <a:off x="380880" y="1371600"/>
            <a:ext cx="8229600" cy="5105520"/>
          </a:xfrm>
          <a:prstGeom prst="rect">
            <a:avLst/>
          </a:prstGeom>
          <a:noFill/>
          <a:ln w="0">
            <a:noFill/>
          </a:ln>
        </p:spPr>
        <p:txBody>
          <a:bodyPr lIns="92160" tIns="46080" rIns="92160" bIns="46080" anchor="t">
            <a:normAutofit/>
          </a:bodyPr>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Preprocessing: An Overview</a:t>
            </a:r>
            <a:endParaRPr lang="en-US" sz="2400" b="0" u="none" strike="noStrike">
              <a:solidFill>
                <a:srgbClr val="000000"/>
              </a:solidFill>
              <a:effectLst/>
              <a:uFillTx/>
              <a:latin typeface="Tahoma"/>
            </a:endParaRPr>
          </a:p>
          <a:p>
            <a:pPr marL="743040" lvl="1" indent="-285840" algn="l">
              <a:lnSpc>
                <a:spcPct val="15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Quality</a:t>
            </a:r>
            <a:endParaRPr lang="en-US" sz="2400" b="0" u="none" strike="noStrike">
              <a:solidFill>
                <a:srgbClr val="000000"/>
              </a:solidFill>
              <a:effectLst/>
              <a:uFillTx/>
              <a:latin typeface="Tahoma"/>
            </a:endParaRPr>
          </a:p>
          <a:p>
            <a:pPr marL="743040" lvl="1" indent="-285840" algn="l">
              <a:lnSpc>
                <a:spcPct val="15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Major Tasks in Data Preprocessing</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Cleaning</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Integration</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Reduction</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Transformation and Data Discretization</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Summary</a:t>
            </a:r>
            <a:endParaRPr lang="en-US" sz="2400" b="0" u="none" strike="noStrike">
              <a:solidFill>
                <a:srgbClr val="000000"/>
              </a:solidFill>
              <a:effectLst/>
              <a:uFillTx/>
              <a:latin typeface="Tahoma"/>
            </a:endParaRPr>
          </a:p>
        </p:txBody>
      </p:sp>
      <p:sp>
        <p:nvSpPr>
          <p:cNvPr id="66" name="AutoShape 4"/>
          <p:cNvSpPr/>
          <p:nvPr/>
        </p:nvSpPr>
        <p:spPr>
          <a:xfrm rot="9430200">
            <a:off x="3196800" y="3816000"/>
            <a:ext cx="522360" cy="485640"/>
          </a:xfrm>
          <a:custGeom>
            <a:avLst/>
            <a:gdLst>
              <a:gd name="textAreaLeft" fmla="*/ 65160 w 522360"/>
              <a:gd name="textAreaRight" fmla="*/ 457200 w 522360"/>
              <a:gd name="textAreaTop" fmla="*/ 121320 h 485640"/>
              <a:gd name="textAreaBottom" fmla="*/ 364320 h 485640"/>
            </a:gdLst>
            <a:ahLst/>
            <a:cxn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lnTo>
                  <a:pt x="2700" y="10800"/>
                </a:lnTo>
                <a:lnTo>
                  <a:pt x="0" y="5400"/>
                </a:lnTo>
                <a:close/>
              </a:path>
            </a:pathLst>
          </a:custGeom>
          <a:solidFill>
            <a:srgbClr val="339966"/>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Tree>
  </p:cSld>
  <p:transition>
    <p:zoom dir="out"/>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05E74D7-5738-41F4-B29E-9EF073DAB0DB}"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68" name="Slide Number Placeholder 5"/>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8CB244A-F2A2-4F8E-B139-3BC8494DB882}"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69" name="PlaceHolder 1"/>
          <p:cNvSpPr>
            <a:spLocks noGrp="1"/>
          </p:cNvSpPr>
          <p:nvPr>
            <p:ph type="title"/>
          </p:nvPr>
        </p:nvSpPr>
        <p:spPr>
          <a:xfrm>
            <a:off x="1095120" y="304560"/>
            <a:ext cx="668340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170981"/>
                </a:solidFill>
                <a:effectLst/>
                <a:uFillTx/>
                <a:latin typeface="Berlin Sans FB Demi"/>
              </a:rPr>
              <a:t>Data Integration</a:t>
            </a:r>
            <a:endParaRPr lang="en-US" sz="3600" b="1" u="none" strike="noStrike">
              <a:solidFill>
                <a:srgbClr val="333399"/>
              </a:solidFill>
              <a:effectLst/>
              <a:uFillTx/>
              <a:latin typeface="Berlin Sans FB Demi"/>
            </a:endParaRPr>
          </a:p>
        </p:txBody>
      </p:sp>
      <p:sp>
        <p:nvSpPr>
          <p:cNvPr id="70" name="PlaceHolder 2"/>
          <p:cNvSpPr>
            <a:spLocks noGrp="1"/>
          </p:cNvSpPr>
          <p:nvPr>
            <p:ph/>
          </p:nvPr>
        </p:nvSpPr>
        <p:spPr>
          <a:xfrm>
            <a:off x="304920" y="1295280"/>
            <a:ext cx="8534160" cy="5181840"/>
          </a:xfrm>
          <a:prstGeom prst="rect">
            <a:avLst/>
          </a:prstGeom>
          <a:noFill/>
          <a:ln w="0">
            <a:noFill/>
          </a:ln>
        </p:spPr>
        <p:txBody>
          <a:bodyPr lIns="91440" tIns="45720" rIns="91440" bIns="45720" anchor="t">
            <a:normAutofit lnSpcReduction="9999"/>
          </a:bodyPr>
          <a:p>
            <a:pPr marL="343080" indent="-343080" algn="l">
              <a:lnSpc>
                <a:spcPct val="13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ahoma"/>
              </a:rPr>
              <a:t>Data integration</a:t>
            </a:r>
            <a:r>
              <a:rPr lang="en-US" sz="2000" b="0" u="none" strike="noStrike">
                <a:solidFill>
                  <a:srgbClr val="000000"/>
                </a:solidFill>
                <a:effectLst/>
                <a:uFillTx/>
                <a:latin typeface="Tahoma"/>
              </a:rPr>
              <a:t>: </a:t>
            </a:r>
            <a:endParaRPr lang="en-US" sz="2000" b="0" u="none" strike="noStrike">
              <a:solidFill>
                <a:srgbClr val="000000"/>
              </a:solidFill>
              <a:effectLst/>
              <a:uFillTx/>
              <a:latin typeface="Tahoma"/>
            </a:endParaRPr>
          </a:p>
          <a:p>
            <a:pPr marL="743040" lvl="1" indent="-285840" algn="l">
              <a:lnSpc>
                <a:spcPct val="13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Combines data from multiple sources into a coherent store</a:t>
            </a:r>
            <a:endParaRPr lang="en-US" sz="2000" b="0" u="none" strike="noStrike">
              <a:solidFill>
                <a:srgbClr val="000000"/>
              </a:solidFill>
              <a:effectLst/>
              <a:uFillTx/>
              <a:latin typeface="Tahoma"/>
            </a:endParaRPr>
          </a:p>
          <a:p>
            <a:pPr marL="343080" indent="-343080" algn="l">
              <a:lnSpc>
                <a:spcPct val="13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Schema integration: e.g., A.cust-id </a:t>
            </a:r>
            <a:r>
              <a:rPr lang="en-US" sz="2000" b="0" u="none" strike="noStrike">
                <a:solidFill>
                  <a:srgbClr val="000000"/>
                </a:solidFill>
                <a:effectLst/>
                <a:uFillTx/>
                <a:latin typeface="Symbol"/>
                <a:ea typeface="Symbol"/>
              </a:rPr>
              <a:t></a:t>
            </a:r>
            <a:r>
              <a:rPr lang="en-US" sz="2000" b="0" u="none" strike="noStrike">
                <a:solidFill>
                  <a:srgbClr val="000000"/>
                </a:solidFill>
                <a:effectLst/>
                <a:uFillTx/>
                <a:latin typeface="Tahoma"/>
              </a:rPr>
              <a:t> B.cust-#</a:t>
            </a:r>
            <a:endParaRPr lang="en-US" sz="2000" b="0" u="none" strike="noStrike">
              <a:solidFill>
                <a:srgbClr val="000000"/>
              </a:solidFill>
              <a:effectLst/>
              <a:uFillTx/>
              <a:latin typeface="Tahoma"/>
            </a:endParaRPr>
          </a:p>
          <a:p>
            <a:pPr marL="743040" lvl="1" indent="-285840" algn="l">
              <a:lnSpc>
                <a:spcPct val="13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Integrate metadata from different sources</a:t>
            </a:r>
            <a:endParaRPr lang="en-US" sz="2000" b="0" u="none" strike="noStrike">
              <a:solidFill>
                <a:srgbClr val="000000"/>
              </a:solidFill>
              <a:effectLst/>
              <a:uFillTx/>
              <a:latin typeface="Tahoma"/>
            </a:endParaRPr>
          </a:p>
          <a:p>
            <a:pPr marL="343080" indent="-343080" algn="l">
              <a:lnSpc>
                <a:spcPct val="13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Tahoma"/>
              </a:rPr>
              <a:t>Entity identification problem</a:t>
            </a:r>
            <a:r>
              <a:rPr lang="en-US" sz="2000" b="0" u="none" strike="noStrike">
                <a:solidFill>
                  <a:srgbClr val="000000"/>
                </a:solidFill>
                <a:effectLst/>
                <a:uFillTx/>
                <a:latin typeface="Tahoma"/>
              </a:rPr>
              <a:t>: </a:t>
            </a:r>
            <a:endParaRPr lang="en-US" sz="2000" b="0" u="none" strike="noStrike">
              <a:solidFill>
                <a:srgbClr val="000000"/>
              </a:solidFill>
              <a:effectLst/>
              <a:uFillTx/>
              <a:latin typeface="Tahoma"/>
            </a:endParaRPr>
          </a:p>
          <a:p>
            <a:pPr marL="743040" lvl="1" indent="-285840" algn="l">
              <a:lnSpc>
                <a:spcPct val="13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Identify real world entities from multiple data sources, e.g., Bill Clinton = William Clinton</a:t>
            </a:r>
            <a:endParaRPr lang="en-US" sz="2000" b="0" u="none" strike="noStrike">
              <a:solidFill>
                <a:srgbClr val="000000"/>
              </a:solidFill>
              <a:effectLst/>
              <a:uFillTx/>
              <a:latin typeface="Tahoma"/>
            </a:endParaRPr>
          </a:p>
          <a:p>
            <a:pPr marL="343080" indent="-343080" algn="l">
              <a:lnSpc>
                <a:spcPct val="13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Detecting and resolving data value conflicts</a:t>
            </a:r>
            <a:endParaRPr lang="en-US" sz="2000" b="0" u="none" strike="noStrike">
              <a:solidFill>
                <a:srgbClr val="000000"/>
              </a:solidFill>
              <a:effectLst/>
              <a:uFillTx/>
              <a:latin typeface="Tahoma"/>
            </a:endParaRPr>
          </a:p>
          <a:p>
            <a:pPr marL="743040" lvl="1" indent="-285840" algn="l">
              <a:lnSpc>
                <a:spcPct val="13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For the same real world entity, attribute values from different sources are different</a:t>
            </a:r>
            <a:endParaRPr lang="en-US" sz="2000" b="0" u="none" strike="noStrike">
              <a:solidFill>
                <a:srgbClr val="000000"/>
              </a:solidFill>
              <a:effectLst/>
              <a:uFillTx/>
              <a:latin typeface="Tahoma"/>
            </a:endParaRPr>
          </a:p>
          <a:p>
            <a:pPr marL="743040" lvl="1" indent="-285840" algn="l">
              <a:lnSpc>
                <a:spcPct val="13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Possible reasons: different representations, different scales, e.g., metric vs. British units</a:t>
            </a:r>
            <a:endParaRPr lang="en-US" sz="2000" b="0" u="none" strike="noStrike">
              <a:solidFill>
                <a:srgbClr val="000000"/>
              </a:solidFill>
              <a:effectLst/>
              <a:uFillTx/>
              <a:latin typeface="Tahoma"/>
            </a:endParaRPr>
          </a:p>
        </p:txBody>
      </p:sp>
    </p:spTree>
  </p:cSld>
  <p:transition>
    <p:zoom dir="out"/>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8596F50-6038-4135-AF64-0BD6DD3A2993}"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72" name="Slide Number Placeholder 5"/>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43D76C1-F8FC-4A89-A822-076E4E163B38}"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73" name="PlaceHolder 1"/>
          <p:cNvSpPr>
            <a:spLocks noGrp="1"/>
          </p:cNvSpPr>
          <p:nvPr>
            <p:ph type="title"/>
          </p:nvPr>
        </p:nvSpPr>
        <p:spPr>
          <a:xfrm>
            <a:off x="0" y="228240"/>
            <a:ext cx="9067680" cy="68580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Berlin Sans FB Demi"/>
              </a:rPr>
              <a:t>Handling Redundancy in Data Integration</a:t>
            </a:r>
            <a:endParaRPr lang="en-US" sz="3200" b="1" u="none" strike="noStrike">
              <a:solidFill>
                <a:srgbClr val="333399"/>
              </a:solidFill>
              <a:effectLst/>
              <a:uFillTx/>
              <a:latin typeface="Berlin Sans FB Demi"/>
            </a:endParaRPr>
          </a:p>
        </p:txBody>
      </p:sp>
      <p:sp>
        <p:nvSpPr>
          <p:cNvPr id="74" name="PlaceHolder 2"/>
          <p:cNvSpPr>
            <a:spLocks noGrp="1"/>
          </p:cNvSpPr>
          <p:nvPr>
            <p:ph/>
          </p:nvPr>
        </p:nvSpPr>
        <p:spPr>
          <a:xfrm>
            <a:off x="380880" y="1295280"/>
            <a:ext cx="8305920" cy="5181840"/>
          </a:xfrm>
          <a:prstGeom prst="rect">
            <a:avLst/>
          </a:prstGeom>
          <a:noFill/>
          <a:ln w="0">
            <a:noFill/>
          </a:ln>
        </p:spPr>
        <p:txBody>
          <a:bodyPr lIns="91440" tIns="45720" rIns="91440" bIns="45720" anchor="t">
            <a:normAutofit lnSpcReduction="9999"/>
          </a:bodyPr>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Redundant data occur often when integration of multiple databases</a:t>
            </a:r>
            <a:endParaRPr lang="en-US" sz="2400" b="0" u="none" strike="noStrike">
              <a:solidFill>
                <a:srgbClr val="000000"/>
              </a:solidFill>
              <a:effectLst/>
              <a:uFillTx/>
              <a:latin typeface="Tahoma"/>
            </a:endParaRPr>
          </a:p>
          <a:p>
            <a:pPr marL="743040" lvl="1" indent="-285840" algn="l">
              <a:lnSpc>
                <a:spcPct val="12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i="1" u="none" strike="noStrike">
                <a:solidFill>
                  <a:srgbClr val="000000"/>
                </a:solidFill>
                <a:effectLst/>
                <a:uFillTx/>
                <a:latin typeface="Tahoma"/>
              </a:rPr>
              <a:t>Object identification</a:t>
            </a:r>
            <a:r>
              <a:rPr lang="en-US" sz="2400" b="0" u="none" strike="noStrike">
                <a:solidFill>
                  <a:srgbClr val="000000"/>
                </a:solidFill>
                <a:effectLst/>
                <a:uFillTx/>
                <a:latin typeface="Tahoma"/>
              </a:rPr>
              <a:t>:  The same attribute or object may have different names in different databases</a:t>
            </a:r>
            <a:endParaRPr lang="en-US" sz="2400" b="0" u="none" strike="noStrike">
              <a:solidFill>
                <a:srgbClr val="000000"/>
              </a:solidFill>
              <a:effectLst/>
              <a:uFillTx/>
              <a:latin typeface="Tahoma"/>
            </a:endParaRPr>
          </a:p>
          <a:p>
            <a:pPr marL="743040" lvl="1" indent="-285840" algn="l">
              <a:lnSpc>
                <a:spcPct val="12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i="1" u="none" strike="noStrike">
                <a:solidFill>
                  <a:srgbClr val="000000"/>
                </a:solidFill>
                <a:effectLst/>
                <a:uFillTx/>
                <a:latin typeface="Tahoma"/>
              </a:rPr>
              <a:t>Derivable data:</a:t>
            </a:r>
            <a:r>
              <a:rPr lang="en-US" sz="2400" b="0" u="none" strike="noStrike">
                <a:solidFill>
                  <a:srgbClr val="000000"/>
                </a:solidFill>
                <a:effectLst/>
                <a:uFillTx/>
                <a:latin typeface="Tahoma"/>
              </a:rPr>
              <a:t> One attribute may be a “derived” attribute in another table, e.g., annual revenue</a:t>
            </a:r>
            <a:endParaRPr lang="en-US" sz="2400" b="0" u="none" strike="noStrike">
              <a:solidFill>
                <a:srgbClr val="000000"/>
              </a:solidFill>
              <a:effectLst/>
              <a:uFillTx/>
              <a:latin typeface="Tahoma"/>
            </a:endParaRPr>
          </a:p>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3333CC"/>
                </a:solidFill>
                <a:effectLst/>
                <a:uFillTx/>
                <a:latin typeface="Tahoma"/>
              </a:rPr>
              <a:t>Redundant attributes may be able to be detected by </a:t>
            </a:r>
            <a:r>
              <a:rPr lang="en-US" sz="2400" b="0" i="1" u="none" strike="noStrike">
                <a:solidFill>
                  <a:srgbClr val="3333CC"/>
                </a:solidFill>
                <a:effectLst/>
                <a:uFillTx/>
                <a:latin typeface="Tahoma"/>
              </a:rPr>
              <a:t>correlation analysis </a:t>
            </a:r>
            <a:r>
              <a:rPr lang="en-US" sz="2400" b="0" u="none" strike="noStrike">
                <a:solidFill>
                  <a:srgbClr val="3333CC"/>
                </a:solidFill>
                <a:effectLst/>
                <a:uFillTx/>
                <a:latin typeface="Tahoma"/>
              </a:rPr>
              <a:t>and</a:t>
            </a:r>
            <a:r>
              <a:rPr lang="en-US" sz="2400" b="0" i="1" u="none" strike="noStrike">
                <a:solidFill>
                  <a:srgbClr val="3333CC"/>
                </a:solidFill>
                <a:effectLst/>
                <a:uFillTx/>
                <a:latin typeface="Tahoma"/>
              </a:rPr>
              <a:t> covariance analysis</a:t>
            </a:r>
            <a:endParaRPr lang="en-US" sz="2400" b="0" u="none" strike="noStrike">
              <a:solidFill>
                <a:srgbClr val="000000"/>
              </a:solidFill>
              <a:effectLst/>
              <a:uFillTx/>
              <a:latin typeface="Tahoma"/>
            </a:endParaRPr>
          </a:p>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Careful integration of the data from multiple sources may help reduce/avoid redundancies and inconsistencies and improve mining speed and quality</a:t>
            </a:r>
            <a:endParaRPr lang="en-US" sz="2400" b="0" u="none" strike="noStrike">
              <a:solidFill>
                <a:srgbClr val="000000"/>
              </a:solidFill>
              <a:effectLst/>
              <a:uFillTx/>
              <a:latin typeface="Tahoma"/>
            </a:endParaRPr>
          </a:p>
        </p:txBody>
      </p:sp>
    </p:spTree>
  </p:cSld>
  <p:transition>
    <p:zoom dir="out"/>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F1482BC-3E01-4B6F-8126-4170738BAB1F}"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76" name="PlaceHolder 1"/>
          <p:cNvSpPr>
            <a:spLocks noGrp="1"/>
          </p:cNvSpPr>
          <p:nvPr>
            <p:ph type="title"/>
          </p:nvPr>
        </p:nvSpPr>
        <p:spPr>
          <a:xfrm>
            <a:off x="0" y="380880"/>
            <a:ext cx="9144000" cy="60984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Berlin Sans FB Demi"/>
              </a:rPr>
              <a:t>Correlation Analysis (Nominal Data)</a:t>
            </a:r>
            <a:endParaRPr lang="en-US" sz="3200" b="1" u="none" strike="noStrike">
              <a:solidFill>
                <a:srgbClr val="333399"/>
              </a:solidFill>
              <a:effectLst/>
              <a:uFillTx/>
              <a:latin typeface="Berlin Sans FB Demi"/>
            </a:endParaRPr>
          </a:p>
        </p:txBody>
      </p:sp>
      <p:sp>
        <p:nvSpPr>
          <p:cNvPr id="77" name="PlaceHolder 2"/>
          <p:cNvSpPr>
            <a:spLocks noGrp="1"/>
          </p:cNvSpPr>
          <p:nvPr>
            <p:ph/>
          </p:nvPr>
        </p:nvSpPr>
        <p:spPr>
          <a:xfrm>
            <a:off x="304560" y="1295280"/>
            <a:ext cx="8381880" cy="5181840"/>
          </a:xfrm>
          <a:prstGeom prst="rect">
            <a:avLst/>
          </a:prstGeom>
          <a:noFill/>
          <a:ln w="0">
            <a:noFill/>
          </a:ln>
        </p:spPr>
        <p:txBody>
          <a:bodyPr lIns="91440" tIns="45720" rIns="91440" bIns="45720" anchor="t">
            <a:normAutofit/>
          </a:bodyPr>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l-GR" sz="2400" b="1" u="none" strike="noStrike">
                <a:solidFill>
                  <a:srgbClr val="3333CC"/>
                </a:solidFill>
                <a:effectLst/>
                <a:uFillTx/>
                <a:latin typeface="Tahoma"/>
              </a:rPr>
              <a:t>Χ</a:t>
            </a:r>
            <a:r>
              <a:rPr lang="en-US" sz="2400" b="1" u="none" strike="noStrike" baseline="30000">
                <a:solidFill>
                  <a:srgbClr val="3333CC"/>
                </a:solidFill>
                <a:effectLst/>
                <a:uFillTx/>
                <a:latin typeface="Tahoma"/>
              </a:rPr>
              <a:t>2</a:t>
            </a:r>
            <a:r>
              <a:rPr lang="en-US" sz="2400" b="1" u="none" strike="noStrike">
                <a:solidFill>
                  <a:srgbClr val="3333CC"/>
                </a:solidFill>
                <a:effectLst/>
                <a:uFillTx/>
                <a:latin typeface="Tahoma"/>
              </a:rPr>
              <a:t> (chi-square) test</a:t>
            </a:r>
            <a:endParaRPr lang="en-US" sz="2400" b="0" u="none" strike="noStrike">
              <a:solidFill>
                <a:srgbClr val="000000"/>
              </a:solidFill>
              <a:effectLst/>
              <a:uFillTx/>
              <a:latin typeface="Tahoma"/>
            </a:endParaRPr>
          </a:p>
          <a:p>
            <a:pPr marL="343080" indent="0" algn="l">
              <a:lnSpc>
                <a:spcPct val="110000"/>
              </a:lnSpc>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a:p>
            <a:pPr marL="343080" indent="0" algn="l">
              <a:lnSpc>
                <a:spcPct val="110000"/>
              </a:lnSpc>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The larger the </a:t>
            </a:r>
            <a:r>
              <a:rPr lang="el-GR" sz="2400" b="0" u="none" strike="noStrike">
                <a:solidFill>
                  <a:srgbClr val="000000"/>
                </a:solidFill>
                <a:effectLst/>
                <a:uFillTx/>
                <a:latin typeface="Tahoma"/>
              </a:rPr>
              <a:t>Χ</a:t>
            </a:r>
            <a:r>
              <a:rPr lang="en-US" sz="2400" b="0" u="none" strike="noStrike" baseline="30000">
                <a:solidFill>
                  <a:srgbClr val="000000"/>
                </a:solidFill>
                <a:effectLst/>
                <a:uFillTx/>
                <a:latin typeface="Tahoma"/>
              </a:rPr>
              <a:t>2</a:t>
            </a:r>
            <a:r>
              <a:rPr lang="en-US" sz="2400" b="0" u="none" strike="noStrike">
                <a:solidFill>
                  <a:srgbClr val="000000"/>
                </a:solidFill>
                <a:effectLst/>
                <a:uFillTx/>
                <a:latin typeface="Tahoma"/>
              </a:rPr>
              <a:t> value, the more likely the variables are related</a:t>
            </a: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The cells that contribute the most to the </a:t>
            </a:r>
            <a:r>
              <a:rPr lang="el-GR" sz="2400" b="0" u="none" strike="noStrike">
                <a:solidFill>
                  <a:srgbClr val="000000"/>
                </a:solidFill>
                <a:effectLst/>
                <a:uFillTx/>
                <a:latin typeface="Tahoma"/>
              </a:rPr>
              <a:t>Χ</a:t>
            </a:r>
            <a:r>
              <a:rPr lang="en-US" sz="2400" b="0" u="none" strike="noStrike" baseline="30000">
                <a:solidFill>
                  <a:srgbClr val="000000"/>
                </a:solidFill>
                <a:effectLst/>
                <a:uFillTx/>
                <a:latin typeface="Tahoma"/>
              </a:rPr>
              <a:t>2</a:t>
            </a:r>
            <a:r>
              <a:rPr lang="en-US" sz="2400" b="0" u="none" strike="noStrike">
                <a:solidFill>
                  <a:srgbClr val="000000"/>
                </a:solidFill>
                <a:effectLst/>
                <a:uFillTx/>
                <a:latin typeface="Tahoma"/>
              </a:rPr>
              <a:t> value are those whose actual count is very different from the expected count</a:t>
            </a: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Correlation does not imply causality</a:t>
            </a:r>
            <a:endParaRPr lang="en-US" sz="2400" b="0" u="none" strike="noStrike">
              <a:solidFill>
                <a:srgbClr val="000000"/>
              </a:solidFill>
              <a:effectLst/>
              <a:uFillTx/>
              <a:latin typeface="Tahoma"/>
            </a:endParaRPr>
          </a:p>
          <a:p>
            <a:pPr marL="743040" lvl="1" indent="-285840" algn="l">
              <a:lnSpc>
                <a:spcPct val="11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 of hospitals and # of car-theft in a city are correlated</a:t>
            </a:r>
            <a:endParaRPr lang="en-US" sz="2000" b="0" u="none" strike="noStrike">
              <a:solidFill>
                <a:srgbClr val="000000"/>
              </a:solidFill>
              <a:effectLst/>
              <a:uFillTx/>
              <a:latin typeface="Tahoma"/>
            </a:endParaRPr>
          </a:p>
          <a:p>
            <a:pPr marL="743040" lvl="1" indent="-285840" algn="l">
              <a:lnSpc>
                <a:spcPct val="11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Both are causally linked to the third variable: population</a:t>
            </a:r>
            <a:endParaRPr lang="en-US" sz="2000" b="0" u="none" strike="noStrike">
              <a:solidFill>
                <a:srgbClr val="000000"/>
              </a:solidFill>
              <a:effectLst/>
              <a:uFillTx/>
              <a:latin typeface="Tahoma"/>
            </a:endParaRPr>
          </a:p>
        </p:txBody>
      </p:sp>
      <mc:AlternateContent>
        <mc:Choice xmlns:a14="http://schemas.microsoft.com/office/drawing/2010/main" Requires="a14">
          <p:sp>
            <p:nvSpPr>
              <p:cNvPr id="78" name="Object 4"/>
              <p:cNvSpPr txBox="1"/>
              <p:nvPr/>
            </p:nvSpPr>
            <p:spPr>
              <a:xfrm>
                <a:off x="2187720" y="1844640"/>
                <a:ext cx="4539960" cy="1011240"/>
              </a:xfrm>
              <a:prstGeom prst="rect">
                <a:avLst/>
              </a:prstGeom>
            </p:spPr>
            <p:txBody>
              <a:bodyPr/>
              <a:p>
                <a14:m>
                  <m:oMath xmlns:m="http://schemas.openxmlformats.org/officeDocument/2006/math">
                    <m:sSup>
                      <m:e>
                        <m:r>
                          <m:t xml:space="preserve">χ</m:t>
                        </m:r>
                      </m:e>
                      <m:sup>
                        <m:r>
                          <m:t xml:space="preserve">2</m:t>
                        </m:r>
                      </m:sup>
                    </m:sSup>
                    <m:r>
                      <m:t xml:space="preserve">=</m:t>
                    </m:r>
                    <m:nary>
                      <m:naryPr>
                        <m:chr m:val="∑"/>
                        <m:subHide m:val="1"/>
                        <m:supHide m:val="1"/>
                      </m:naryPr>
                      <m:sub/>
                      <m:sup/>
                      <m:e>
                        <m:f>
                          <m:num>
                            <m:r>
                              <m:t xml:space="preserve">(</m:t>
                            </m:r>
                            <m:r>
                              <m:rPr>
                                <m:lit/>
                                <m:nor/>
                              </m:rPr>
                              <m:t xml:space="preserve">Observed</m:t>
                            </m:r>
                            <m:r>
                              <m:t xml:space="preserve">−</m:t>
                            </m:r>
                            <m:r>
                              <m:rPr>
                                <m:lit/>
                                <m:nor/>
                              </m:rPr>
                              <m:t xml:space="preserve">Expected</m:t>
                            </m:r>
                            <m:sSup>
                              <m:e>
                                <m:r>
                                  <m:t xml:space="preserve">)</m:t>
                                </m:r>
                              </m:e>
                              <m:sup>
                                <m:r>
                                  <m:t xml:space="preserve">2</m:t>
                                </m:r>
                              </m:sup>
                            </m:sSup>
                          </m:num>
                          <m:den>
                            <m:r>
                              <m:rPr>
                                <m:lit/>
                                <m:nor/>
                              </m:rPr>
                              <m:t xml:space="preserve">Expected</m:t>
                            </m:r>
                          </m:den>
                        </m:f>
                      </m:e>
                    </m:nary>
                  </m:oMath>
                </a14:m>
              </a:p>
            </p:txBody>
          </p:sp>
        </mc:Choice>
        <mc:Fallback>
          <p:sp>
            <p:nvSpPr>
              <p:cNvPr id="78" name="Object 4"/>
              <p:cNvSpPr txBox="1"/>
              <p:nvPr/>
            </p:nvSpPr>
            <p:spPr>
              <a:xfrm>
                <a:off x="2187720" y="1844640"/>
                <a:ext cx="4539960" cy="1011240"/>
              </a:xfrm>
              <a:prstGeom prst="rect">
                <a:avLst/>
              </a:prstGeom>
              <a:blipFill>
                <a:blip r:embed="rId1"/>
                <a:stretch>
                  <a:fillRect/>
                </a:stretch>
              </a:blipFill>
            </p:spPr>
          </p:sp>
        </mc:Fallback>
      </mc:AlternateContent>
    </p:spTree>
  </p:cSld>
  <p:transition>
    <p:zoom dir="out"/>
  </p:transition>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D8C92A9-54B9-472A-9BB8-20B76112FD60}"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80" name="PlaceHolder 1"/>
          <p:cNvSpPr>
            <a:spLocks noGrp="1"/>
          </p:cNvSpPr>
          <p:nvPr>
            <p:ph type="title"/>
          </p:nvPr>
        </p:nvSpPr>
        <p:spPr>
          <a:xfrm>
            <a:off x="685440" y="304560"/>
            <a:ext cx="779292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Berlin Sans FB Demi"/>
              </a:rPr>
              <a:t>Chi-Square Calculation: An Example</a:t>
            </a:r>
            <a:endParaRPr lang="en-US" sz="3200" b="1" u="none" strike="noStrike">
              <a:solidFill>
                <a:srgbClr val="333399"/>
              </a:solidFill>
              <a:effectLst/>
              <a:uFillTx/>
              <a:latin typeface="Berlin Sans FB Demi"/>
            </a:endParaRPr>
          </a:p>
        </p:txBody>
      </p:sp>
      <p:sp>
        <p:nvSpPr>
          <p:cNvPr id="81" name="PlaceHolder 2"/>
          <p:cNvSpPr>
            <a:spLocks noGrp="1"/>
          </p:cNvSpPr>
          <p:nvPr>
            <p:ph/>
          </p:nvPr>
        </p:nvSpPr>
        <p:spPr>
          <a:xfrm>
            <a:off x="304920" y="1447920"/>
            <a:ext cx="8534160" cy="5029200"/>
          </a:xfrm>
          <a:prstGeom prst="rect">
            <a:avLst/>
          </a:prstGeom>
          <a:noFill/>
          <a:ln w="0">
            <a:noFill/>
          </a:ln>
        </p:spPr>
        <p:txBody>
          <a:bodyPr lIns="91440" tIns="45720" rIns="91440" bIns="45720" anchor="t">
            <a:normAutofit/>
          </a:bodyPr>
          <a:p>
            <a:pPr marL="343080" indent="0" algn="l">
              <a:lnSpc>
                <a:spcPct val="110000"/>
              </a:lnSpc>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a:p>
            <a:pPr marL="343080" indent="0" algn="l">
              <a:lnSpc>
                <a:spcPct val="110000"/>
              </a:lnSpc>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a:p>
            <a:pPr marL="343080" indent="0" algn="l">
              <a:lnSpc>
                <a:spcPct val="110000"/>
              </a:lnSpc>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a:p>
            <a:pPr marL="343080" indent="0" algn="l">
              <a:lnSpc>
                <a:spcPct val="110000"/>
              </a:lnSpc>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l-GR" sz="2400" b="0" u="none" strike="noStrike">
                <a:solidFill>
                  <a:srgbClr val="000000"/>
                </a:solidFill>
                <a:effectLst/>
                <a:uFillTx/>
                <a:latin typeface="Tahoma"/>
              </a:rPr>
              <a:t>Χ</a:t>
            </a:r>
            <a:r>
              <a:rPr lang="en-US" sz="2400" b="0" u="none" strike="noStrike" baseline="30000">
                <a:solidFill>
                  <a:srgbClr val="000000"/>
                </a:solidFill>
                <a:effectLst/>
                <a:uFillTx/>
                <a:latin typeface="Tahoma"/>
              </a:rPr>
              <a:t>2</a:t>
            </a:r>
            <a:r>
              <a:rPr lang="en-US" sz="2400" b="0" u="none" strike="noStrike">
                <a:solidFill>
                  <a:srgbClr val="000000"/>
                </a:solidFill>
                <a:effectLst/>
                <a:uFillTx/>
                <a:latin typeface="Tahoma"/>
              </a:rPr>
              <a:t> (chi-square) calculation (numbers in parenthesis are expected counts calculated based on the data distribution in the two categories)</a:t>
            </a:r>
            <a:endParaRPr lang="en-US" sz="2400" b="0" u="none" strike="noStrike">
              <a:solidFill>
                <a:srgbClr val="000000"/>
              </a:solidFill>
              <a:effectLst/>
              <a:uFillTx/>
              <a:latin typeface="Tahoma"/>
            </a:endParaRPr>
          </a:p>
          <a:p>
            <a:pPr marL="343080" indent="0" algn="l">
              <a:lnSpc>
                <a:spcPct val="110000"/>
              </a:lnSpc>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a:p>
            <a:pPr marL="343080" indent="0" algn="l">
              <a:lnSpc>
                <a:spcPct val="110000"/>
              </a:lnSpc>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It shows that like_science_fiction and play_chess are correlated in the group</a:t>
            </a:r>
            <a:endParaRPr lang="en-US" sz="2400" b="0" u="none" strike="noStrike">
              <a:solidFill>
                <a:srgbClr val="000000"/>
              </a:solidFill>
              <a:effectLst/>
              <a:uFillTx/>
              <a:latin typeface="Tahoma"/>
            </a:endParaRPr>
          </a:p>
        </p:txBody>
      </p:sp>
      <mc:AlternateContent>
        <mc:Choice xmlns:a14="http://schemas.microsoft.com/office/drawing/2010/main" Requires="a14">
          <p:sp>
            <p:nvSpPr>
              <p:cNvPr id="82" name="Object 4"/>
              <p:cNvSpPr txBox="1"/>
              <p:nvPr/>
            </p:nvSpPr>
            <p:spPr>
              <a:xfrm>
                <a:off x="762120" y="4749840"/>
                <a:ext cx="7772400" cy="744480"/>
              </a:xfrm>
              <a:prstGeom prst="rect">
                <a:avLst/>
              </a:prstGeom>
            </p:spPr>
            <p:txBody>
              <a:bodyPr/>
              <a:p>
                <a14:m>
                  <m:oMath xmlns:m="http://schemas.openxmlformats.org/officeDocument/2006/math">
                    <m:sSup>
                      <m:e>
                        <m:r>
                          <m:t xml:space="preserve">χ</m:t>
                        </m:r>
                      </m:e>
                      <m:sup>
                        <m:r>
                          <m:t xml:space="preserve">2</m:t>
                        </m:r>
                      </m:sup>
                    </m:sSup>
                    <m:r>
                      <m:t xml:space="preserve">=</m:t>
                    </m:r>
                    <m:f>
                      <m:num>
                        <m:r>
                          <m:t xml:space="preserve">(</m:t>
                        </m:r>
                        <m:r>
                          <m:rPr>
                            <m:lit/>
                            <m:nor/>
                          </m:rPr>
                          <m:t xml:space="preserve">250</m:t>
                        </m:r>
                        <m:r>
                          <m:t xml:space="preserve">−</m:t>
                        </m:r>
                        <m:r>
                          <m:rPr>
                            <m:lit/>
                            <m:nor/>
                          </m:rPr>
                          <m:t xml:space="preserve">90</m:t>
                        </m:r>
                        <m:sSup>
                          <m:e>
                            <m:r>
                              <m:t xml:space="preserve">)</m:t>
                            </m:r>
                          </m:e>
                          <m:sup>
                            <m:r>
                              <m:t xml:space="preserve">2</m:t>
                            </m:r>
                          </m:sup>
                        </m:sSup>
                      </m:num>
                      <m:den>
                        <m:r>
                          <m:rPr>
                            <m:lit/>
                            <m:nor/>
                          </m:rPr>
                          <m:t xml:space="preserve">90</m:t>
                        </m:r>
                      </m:den>
                    </m:f>
                    <m:r>
                      <m:t xml:space="preserve">+</m:t>
                    </m:r>
                    <m:f>
                      <m:num>
                        <m:r>
                          <m:t xml:space="preserve">(</m:t>
                        </m:r>
                        <m:r>
                          <m:rPr>
                            <m:lit/>
                            <m:nor/>
                          </m:rPr>
                          <m:t xml:space="preserve">50</m:t>
                        </m:r>
                        <m:r>
                          <m:t xml:space="preserve">−</m:t>
                        </m:r>
                        <m:r>
                          <m:rPr>
                            <m:lit/>
                            <m:nor/>
                          </m:rPr>
                          <m:t xml:space="preserve">210</m:t>
                        </m:r>
                        <m:sSup>
                          <m:e>
                            <m:r>
                              <m:t xml:space="preserve">)</m:t>
                            </m:r>
                          </m:e>
                          <m:sup>
                            <m:r>
                              <m:t xml:space="preserve">2</m:t>
                            </m:r>
                          </m:sup>
                        </m:sSup>
                      </m:num>
                      <m:den>
                        <m:r>
                          <m:rPr>
                            <m:lit/>
                            <m:nor/>
                          </m:rPr>
                          <m:t xml:space="preserve">210</m:t>
                        </m:r>
                      </m:den>
                    </m:f>
                    <m:r>
                      <m:t xml:space="preserve">+</m:t>
                    </m:r>
                    <m:f>
                      <m:num>
                        <m:r>
                          <m:t xml:space="preserve">(</m:t>
                        </m:r>
                        <m:r>
                          <m:rPr>
                            <m:lit/>
                            <m:nor/>
                          </m:rPr>
                          <m:t xml:space="preserve">200</m:t>
                        </m:r>
                        <m:r>
                          <m:t xml:space="preserve">−</m:t>
                        </m:r>
                        <m:r>
                          <m:rPr>
                            <m:lit/>
                            <m:nor/>
                          </m:rPr>
                          <m:t xml:space="preserve">360</m:t>
                        </m:r>
                        <m:sSup>
                          <m:e>
                            <m:r>
                              <m:t xml:space="preserve">)</m:t>
                            </m:r>
                          </m:e>
                          <m:sup>
                            <m:r>
                              <m:t xml:space="preserve">2</m:t>
                            </m:r>
                          </m:sup>
                        </m:sSup>
                      </m:num>
                      <m:den>
                        <m:r>
                          <m:rPr>
                            <m:lit/>
                            <m:nor/>
                          </m:rPr>
                          <m:t xml:space="preserve">360</m:t>
                        </m:r>
                      </m:den>
                    </m:f>
                    <m:r>
                      <m:t xml:space="preserve">+</m:t>
                    </m:r>
                    <m:f>
                      <m:num>
                        <m:r>
                          <m:t xml:space="preserve">(</m:t>
                        </m:r>
                        <m:r>
                          <m:rPr>
                            <m:lit/>
                            <m:nor/>
                          </m:rPr>
                          <m:t xml:space="preserve">1000</m:t>
                        </m:r>
                        <m:r>
                          <m:t xml:space="preserve">−</m:t>
                        </m:r>
                        <m:r>
                          <m:rPr>
                            <m:lit/>
                            <m:nor/>
                          </m:rPr>
                          <m:t xml:space="preserve">840</m:t>
                        </m:r>
                        <m:sSup>
                          <m:e>
                            <m:r>
                              <m:t xml:space="preserve">)</m:t>
                            </m:r>
                          </m:e>
                          <m:sup>
                            <m:r>
                              <m:t xml:space="preserve">2</m:t>
                            </m:r>
                          </m:sup>
                        </m:sSup>
                      </m:num>
                      <m:den>
                        <m:r>
                          <m:rPr>
                            <m:lit/>
                            <m:nor/>
                          </m:rPr>
                          <m:t xml:space="preserve">840</m:t>
                        </m:r>
                      </m:den>
                    </m:f>
                    <m:r>
                      <m:t xml:space="preserve">=</m:t>
                    </m:r>
                    <m:r>
                      <m:rPr>
                        <m:lit/>
                        <m:nor/>
                      </m:rPr>
                      <m:t xml:space="preserve">507</m:t>
                    </m:r>
                    <m:r>
                      <m:rPr>
                        <m:lit/>
                        <m:nor/>
                      </m:rPr>
                      <m:t xml:space="preserve">.</m:t>
                    </m:r>
                    <m:r>
                      <m:rPr>
                        <m:lit/>
                        <m:nor/>
                      </m:rPr>
                      <m:t xml:space="preserve">93</m:t>
                    </m:r>
                  </m:oMath>
                </a14:m>
              </a:p>
            </p:txBody>
          </p:sp>
        </mc:Choice>
        <mc:Fallback>
          <p:sp>
            <p:nvSpPr>
              <p:cNvPr id="82" name="Object 4"/>
              <p:cNvSpPr txBox="1"/>
              <p:nvPr/>
            </p:nvSpPr>
            <p:spPr>
              <a:xfrm>
                <a:off x="762120" y="4749840"/>
                <a:ext cx="7772400" cy="744480"/>
              </a:xfrm>
              <a:prstGeom prst="rect">
                <a:avLst/>
              </a:prstGeom>
              <a:blipFill>
                <a:blip r:embed="rId1"/>
                <a:stretch>
                  <a:fillRect/>
                </a:stretch>
              </a:blipFill>
            </p:spPr>
          </p:sp>
        </mc:Fallback>
      </mc:AlternateContent>
      <p:graphicFrame>
        <p:nvGraphicFramePr>
          <p:cNvPr id="83" name=""/>
          <p:cNvGraphicFramePr/>
          <p:nvPr/>
        </p:nvGraphicFramePr>
        <p:xfrm>
          <a:off x="1371600" y="1447920"/>
          <a:ext cx="6095880" cy="1595160"/>
        </p:xfrm>
        <a:graphic>
          <a:graphicData uri="http://schemas.openxmlformats.org/drawingml/2006/table">
            <a:tbl>
              <a:tblPr/>
              <a:tblGrid>
                <a:gridCol w="2219400"/>
                <a:gridCol w="1136520"/>
                <a:gridCol w="1571760"/>
                <a:gridCol w="1168200"/>
              </a:tblGrid>
              <a:tr h="581400">
                <a:tc>
                  <a:txBody>
                    <a:bodyPr lIns="90000" tIns="46800" rIns="90000" bIns="46800" anchor="t">
                      <a:noAutofit/>
                    </a:bodyPr>
                    <a:p>
                      <a: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a:txBody>
                  <a:tcPr anchor="t" marL="90000" marR="90000" marT="46800" marB="46800">
                    <a:lnL w="13680">
                      <a:solidFill>
                        <a:srgbClr val="000000"/>
                      </a:solidFill>
                      <a:prstDash val="solid"/>
                    </a:lnL>
                    <a:lnR w="5760">
                      <a:solidFill>
                        <a:srgbClr val="000000"/>
                      </a:solidFill>
                      <a:prstDash val="solid"/>
                    </a:lnR>
                    <a:lnT w="13680">
                      <a:solidFill>
                        <a:srgbClr val="000000"/>
                      </a:solidFill>
                      <a:prstDash val="solid"/>
                    </a:lnT>
                    <a:lnB w="5760">
                      <a:solidFill>
                        <a:srgbClr val="000000"/>
                      </a:solidFill>
                      <a:prstDash val="solid"/>
                    </a:lnB>
                    <a:noFill/>
                  </a:tcPr>
                </a:tc>
                <a:tc>
                  <a:txBody>
                    <a:bodyPr lIns="90000" tIns="46800" rIns="90000" bIns="46800" anchor="t">
                      <a:noAutofit/>
                    </a:bodyPr>
                    <a:p>
                      <a: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ahoma"/>
                        </a:rPr>
                        <a:t>Play chess</a:t>
                      </a:r>
                      <a:endParaRPr lang="en-US" sz="1600" b="0" u="none" strike="noStrike">
                        <a:solidFill>
                          <a:srgbClr val="000000"/>
                        </a:solidFill>
                        <a:effectLst/>
                        <a:uFillTx/>
                        <a:latin typeface="Tahoma"/>
                      </a:endParaRPr>
                    </a:p>
                  </a:txBody>
                  <a:tcPr anchor="t" marL="90000" marR="90000" marT="46800" marB="46800">
                    <a:lnL w="5760">
                      <a:solidFill>
                        <a:srgbClr val="000000"/>
                      </a:solidFill>
                      <a:prstDash val="solid"/>
                    </a:lnL>
                    <a:lnR w="5760">
                      <a:solidFill>
                        <a:srgbClr val="000000"/>
                      </a:solidFill>
                      <a:prstDash val="solid"/>
                    </a:lnR>
                    <a:lnT w="13680">
                      <a:solidFill>
                        <a:srgbClr val="000000"/>
                      </a:solidFill>
                      <a:prstDash val="solid"/>
                    </a:lnT>
                    <a:lnB w="5760">
                      <a:solidFill>
                        <a:srgbClr val="000000"/>
                      </a:solidFill>
                      <a:prstDash val="solid"/>
                    </a:lnB>
                    <a:noFill/>
                  </a:tcPr>
                </a:tc>
                <a:tc>
                  <a:txBody>
                    <a:bodyPr lIns="90000" tIns="46800" rIns="90000" bIns="46800" anchor="t">
                      <a:noAutofit/>
                    </a:bodyPr>
                    <a:p>
                      <a: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ahoma"/>
                        </a:rPr>
                        <a:t>Not play chess</a:t>
                      </a:r>
                      <a:endParaRPr lang="en-US" sz="1600" b="0" u="none" strike="noStrike">
                        <a:solidFill>
                          <a:srgbClr val="000000"/>
                        </a:solidFill>
                        <a:effectLst/>
                        <a:uFillTx/>
                        <a:latin typeface="Tahoma"/>
                      </a:endParaRPr>
                    </a:p>
                  </a:txBody>
                  <a:tcPr anchor="t" marL="90000" marR="90000" marT="46800" marB="46800">
                    <a:lnL w="5760">
                      <a:solidFill>
                        <a:srgbClr val="000000"/>
                      </a:solidFill>
                      <a:prstDash val="solid"/>
                    </a:lnL>
                    <a:lnR w="5760">
                      <a:solidFill>
                        <a:srgbClr val="000000"/>
                      </a:solidFill>
                      <a:prstDash val="solid"/>
                    </a:lnR>
                    <a:lnT w="13680">
                      <a:solidFill>
                        <a:srgbClr val="000000"/>
                      </a:solidFill>
                      <a:prstDash val="solid"/>
                    </a:lnT>
                    <a:lnB w="5760">
                      <a:solidFill>
                        <a:srgbClr val="000000"/>
                      </a:solidFill>
                      <a:prstDash val="solid"/>
                    </a:lnB>
                    <a:noFill/>
                  </a:tcPr>
                </a:tc>
                <a:tc>
                  <a:txBody>
                    <a:bodyPr lIns="90000" tIns="46800" rIns="90000" bIns="46800" anchor="t">
                      <a:noAutofit/>
                    </a:bodyPr>
                    <a:p>
                      <a: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ahoma"/>
                        </a:rPr>
                        <a:t>Sum (row)</a:t>
                      </a:r>
                      <a:endParaRPr lang="en-US" sz="1600" b="0" u="none" strike="noStrike">
                        <a:solidFill>
                          <a:srgbClr val="000000"/>
                        </a:solidFill>
                        <a:effectLst/>
                        <a:uFillTx/>
                        <a:latin typeface="Tahoma"/>
                      </a:endParaRPr>
                    </a:p>
                  </a:txBody>
                  <a:tcPr anchor="t" marL="90000" marR="90000" marT="46800" marB="46800">
                    <a:lnL w="5760">
                      <a:solidFill>
                        <a:srgbClr val="000000"/>
                      </a:solidFill>
                      <a:prstDash val="solid"/>
                    </a:lnL>
                    <a:lnR w="13680">
                      <a:solidFill>
                        <a:srgbClr val="000000"/>
                      </a:solidFill>
                      <a:prstDash val="solid"/>
                    </a:lnR>
                    <a:lnT w="13680">
                      <a:solidFill>
                        <a:srgbClr val="000000"/>
                      </a:solidFill>
                      <a:prstDash val="solid"/>
                    </a:lnT>
                    <a:lnB w="5760">
                      <a:solidFill>
                        <a:srgbClr val="000000"/>
                      </a:solidFill>
                      <a:prstDash val="solid"/>
                    </a:lnB>
                    <a:noFill/>
                  </a:tcPr>
                </a:tc>
              </a:tr>
              <a:tr h="338040">
                <a:tc>
                  <a:txBody>
                    <a:bodyPr lIns="90000" tIns="46800" rIns="90000" bIns="46800" anchor="t">
                      <a:noAutofit/>
                    </a:bodyPr>
                    <a:p>
                      <a: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ahoma"/>
                        </a:rPr>
                        <a:t>Like science fiction</a:t>
                      </a:r>
                      <a:endParaRPr lang="en-US" sz="1600" b="0" u="none" strike="noStrike">
                        <a:solidFill>
                          <a:srgbClr val="000000"/>
                        </a:solidFill>
                        <a:effectLst/>
                        <a:uFillTx/>
                        <a:latin typeface="Tahoma"/>
                      </a:endParaRPr>
                    </a:p>
                  </a:txBody>
                  <a:tcPr anchor="t" marL="90000" marR="90000" marT="46800" marB="468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ahoma"/>
                        </a:rPr>
                        <a:t>250(90)</a:t>
                      </a:r>
                      <a:endParaRPr lang="en-US" sz="1600" b="0" u="none" strike="noStrike">
                        <a:solidFill>
                          <a:srgbClr val="000000"/>
                        </a:solidFill>
                        <a:effectLst/>
                        <a:uFillTx/>
                        <a:latin typeface="Tahoma"/>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ahoma"/>
                        </a:rPr>
                        <a:t>200(360)</a:t>
                      </a:r>
                      <a:endParaRPr lang="en-US" sz="1600" b="0" u="none" strike="noStrike">
                        <a:solidFill>
                          <a:srgbClr val="000000"/>
                        </a:solidFill>
                        <a:effectLst/>
                        <a:uFillTx/>
                        <a:latin typeface="Tahoma"/>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ahoma"/>
                        </a:rPr>
                        <a:t>450</a:t>
                      </a:r>
                      <a:endParaRPr lang="en-US" sz="1600" b="0" u="none" strike="noStrike">
                        <a:solidFill>
                          <a:srgbClr val="000000"/>
                        </a:solidFill>
                        <a:effectLst/>
                        <a:uFillTx/>
                        <a:latin typeface="Tahoma"/>
                      </a:endParaRPr>
                    </a:p>
                  </a:txBody>
                  <a:tcPr anchor="t" marL="90000" marR="90000" marT="46800" marB="468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338040">
                <a:tc>
                  <a:txBody>
                    <a:bodyPr lIns="90000" tIns="46800" rIns="90000" bIns="46800" anchor="t">
                      <a:noAutofit/>
                    </a:bodyPr>
                    <a:p>
                      <a: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ahoma"/>
                        </a:rPr>
                        <a:t>Not like science fiction</a:t>
                      </a:r>
                      <a:endParaRPr lang="en-US" sz="1600" b="0" u="none" strike="noStrike">
                        <a:solidFill>
                          <a:srgbClr val="000000"/>
                        </a:solidFill>
                        <a:effectLst/>
                        <a:uFillTx/>
                        <a:latin typeface="Tahoma"/>
                      </a:endParaRPr>
                    </a:p>
                  </a:txBody>
                  <a:tcPr anchor="t" marL="90000" marR="90000" marT="46800" marB="46800">
                    <a:lnL w="1368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ahoma"/>
                        </a:rPr>
                        <a:t>50(210)</a:t>
                      </a:r>
                      <a:endParaRPr lang="en-US" sz="1600" b="0" u="none" strike="noStrike">
                        <a:solidFill>
                          <a:srgbClr val="000000"/>
                        </a:solidFill>
                        <a:effectLst/>
                        <a:uFillTx/>
                        <a:latin typeface="Tahoma"/>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ahoma"/>
                        </a:rPr>
                        <a:t>1000(840)</a:t>
                      </a:r>
                      <a:endParaRPr lang="en-US" sz="1600" b="0" u="none" strike="noStrike">
                        <a:solidFill>
                          <a:srgbClr val="000000"/>
                        </a:solidFill>
                        <a:effectLst/>
                        <a:uFillTx/>
                        <a:latin typeface="Tahoma"/>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5760">
                      <a:solidFill>
                        <a:srgbClr val="000000"/>
                      </a:solidFill>
                      <a:prstDash val="solid"/>
                    </a:lnB>
                    <a:noFill/>
                  </a:tcPr>
                </a:tc>
                <a:tc>
                  <a:txBody>
                    <a:bodyPr lIns="90000" tIns="46800" rIns="90000" bIns="46800" anchor="t">
                      <a:noAutofit/>
                    </a:bodyPr>
                    <a:p>
                      <a: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ahoma"/>
                        </a:rPr>
                        <a:t>1050</a:t>
                      </a:r>
                      <a:endParaRPr lang="en-US" sz="1600" b="0" u="none" strike="noStrike">
                        <a:solidFill>
                          <a:srgbClr val="000000"/>
                        </a:solidFill>
                        <a:effectLst/>
                        <a:uFillTx/>
                        <a:latin typeface="Tahoma"/>
                      </a:endParaRPr>
                    </a:p>
                  </a:txBody>
                  <a:tcPr anchor="t" marL="90000" marR="90000" marT="46800" marB="46800">
                    <a:lnL w="5760">
                      <a:solidFill>
                        <a:srgbClr val="000000"/>
                      </a:solidFill>
                      <a:prstDash val="solid"/>
                    </a:lnL>
                    <a:lnR w="13680">
                      <a:solidFill>
                        <a:srgbClr val="000000"/>
                      </a:solidFill>
                      <a:prstDash val="solid"/>
                    </a:lnR>
                    <a:lnT w="5760">
                      <a:solidFill>
                        <a:srgbClr val="000000"/>
                      </a:solidFill>
                      <a:prstDash val="solid"/>
                    </a:lnT>
                    <a:lnB w="5760">
                      <a:solidFill>
                        <a:srgbClr val="000000"/>
                      </a:solidFill>
                      <a:prstDash val="solid"/>
                    </a:lnB>
                    <a:noFill/>
                  </a:tcPr>
                </a:tc>
              </a:tr>
              <a:tr h="337680">
                <a:tc>
                  <a:txBody>
                    <a:bodyPr lIns="90000" tIns="46800" rIns="90000" bIns="46800" anchor="t">
                      <a:noAutofit/>
                    </a:bodyPr>
                    <a:p>
                      <a: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ahoma"/>
                        </a:rPr>
                        <a:t>Sum(col.)</a:t>
                      </a:r>
                      <a:endParaRPr lang="en-US" sz="1600" b="0" u="none" strike="noStrike">
                        <a:solidFill>
                          <a:srgbClr val="000000"/>
                        </a:solidFill>
                        <a:effectLst/>
                        <a:uFillTx/>
                        <a:latin typeface="Tahoma"/>
                      </a:endParaRPr>
                    </a:p>
                  </a:txBody>
                  <a:tcPr anchor="t" marL="90000" marR="90000" marT="46800" marB="46800">
                    <a:lnL w="13680">
                      <a:solidFill>
                        <a:srgbClr val="000000"/>
                      </a:solidFill>
                      <a:prstDash val="solid"/>
                    </a:lnL>
                    <a:lnR w="5760">
                      <a:solidFill>
                        <a:srgbClr val="000000"/>
                      </a:solidFill>
                      <a:prstDash val="solid"/>
                    </a:lnR>
                    <a:lnT w="5760">
                      <a:solidFill>
                        <a:srgbClr val="000000"/>
                      </a:solidFill>
                      <a:prstDash val="solid"/>
                    </a:lnT>
                    <a:lnB w="13680">
                      <a:solidFill>
                        <a:srgbClr val="000000"/>
                      </a:solidFill>
                      <a:prstDash val="solid"/>
                    </a:lnB>
                    <a:noFill/>
                  </a:tcPr>
                </a:tc>
                <a:tc>
                  <a:txBody>
                    <a:bodyPr lIns="90000" tIns="46800" rIns="90000" bIns="46800" anchor="t">
                      <a:noAutofit/>
                    </a:bodyPr>
                    <a:p>
                      <a: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ahoma"/>
                        </a:rPr>
                        <a:t>300</a:t>
                      </a:r>
                      <a:endParaRPr lang="en-US" sz="1600" b="0" u="none" strike="noStrike">
                        <a:solidFill>
                          <a:srgbClr val="000000"/>
                        </a:solidFill>
                        <a:effectLst/>
                        <a:uFillTx/>
                        <a:latin typeface="Tahoma"/>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13680">
                      <a:solidFill>
                        <a:srgbClr val="000000"/>
                      </a:solidFill>
                      <a:prstDash val="solid"/>
                    </a:lnB>
                    <a:noFill/>
                  </a:tcPr>
                </a:tc>
                <a:tc>
                  <a:txBody>
                    <a:bodyPr lIns="90000" tIns="46800" rIns="90000" bIns="46800" anchor="t">
                      <a:noAutofit/>
                    </a:bodyPr>
                    <a:p>
                      <a: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ahoma"/>
                        </a:rPr>
                        <a:t>1200</a:t>
                      </a:r>
                      <a:endParaRPr lang="en-US" sz="1600" b="0" u="none" strike="noStrike">
                        <a:solidFill>
                          <a:srgbClr val="000000"/>
                        </a:solidFill>
                        <a:effectLst/>
                        <a:uFillTx/>
                        <a:latin typeface="Tahoma"/>
                      </a:endParaRPr>
                    </a:p>
                  </a:txBody>
                  <a:tcPr anchor="t" marL="90000" marR="90000" marT="46800" marB="46800">
                    <a:lnL w="5760">
                      <a:solidFill>
                        <a:srgbClr val="000000"/>
                      </a:solidFill>
                      <a:prstDash val="solid"/>
                    </a:lnL>
                    <a:lnR w="5760">
                      <a:solidFill>
                        <a:srgbClr val="000000"/>
                      </a:solidFill>
                      <a:prstDash val="solid"/>
                    </a:lnR>
                    <a:lnT w="5760">
                      <a:solidFill>
                        <a:srgbClr val="000000"/>
                      </a:solidFill>
                      <a:prstDash val="solid"/>
                    </a:lnT>
                    <a:lnB w="13680">
                      <a:solidFill>
                        <a:srgbClr val="000000"/>
                      </a:solidFill>
                      <a:prstDash val="solid"/>
                    </a:lnB>
                    <a:noFill/>
                  </a:tcPr>
                </a:tc>
                <a:tc>
                  <a:txBody>
                    <a:bodyPr lIns="90000" tIns="46800" rIns="90000" bIns="46800" anchor="t">
                      <a:noAutofit/>
                    </a:bodyPr>
                    <a:p>
                      <a:pPr>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ahoma"/>
                        </a:rPr>
                        <a:t>1500</a:t>
                      </a:r>
                      <a:endParaRPr lang="en-US" sz="1600" b="0" u="none" strike="noStrike">
                        <a:solidFill>
                          <a:srgbClr val="000000"/>
                        </a:solidFill>
                        <a:effectLst/>
                        <a:uFillTx/>
                        <a:latin typeface="Tahoma"/>
                      </a:endParaRPr>
                    </a:p>
                  </a:txBody>
                  <a:tcPr anchor="t" marL="90000" marR="90000" marT="46800" marB="46800">
                    <a:lnL w="5760">
                      <a:solidFill>
                        <a:srgbClr val="000000"/>
                      </a:solidFill>
                      <a:prstDash val="solid"/>
                    </a:lnL>
                    <a:lnR w="13680">
                      <a:solidFill>
                        <a:srgbClr val="000000"/>
                      </a:solidFill>
                      <a:prstDash val="solid"/>
                    </a:lnR>
                    <a:lnT w="5760">
                      <a:solidFill>
                        <a:srgbClr val="000000"/>
                      </a:solidFill>
                      <a:prstDash val="solid"/>
                    </a:lnT>
                    <a:lnB w="13680">
                      <a:solidFill>
                        <a:srgbClr val="000000"/>
                      </a:solidFill>
                      <a:prstDash val="solid"/>
                    </a:lnB>
                    <a:noFill/>
                  </a:tcPr>
                </a:tc>
              </a:tr>
            </a:tbl>
          </a:graphicData>
        </a:graphic>
      </p:graphicFrame>
    </p:spTree>
  </p:cSld>
  <p:transition>
    <p:zoom dir="out"/>
  </p:transition>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FCB182A-03DA-41E0-8F76-0FEE8E01F051}"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85" name="PlaceHolder 1"/>
          <p:cNvSpPr>
            <a:spLocks noGrp="1"/>
          </p:cNvSpPr>
          <p:nvPr>
            <p:ph type="title"/>
          </p:nvPr>
        </p:nvSpPr>
        <p:spPr>
          <a:xfrm>
            <a:off x="0" y="304560"/>
            <a:ext cx="914400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Berlin Sans FB Demi"/>
              </a:rPr>
              <a:t>Correlation Analysis (Numeric Data)</a:t>
            </a:r>
            <a:endParaRPr lang="en-US" sz="3200" b="1" u="none" strike="noStrike">
              <a:solidFill>
                <a:srgbClr val="333399"/>
              </a:solidFill>
              <a:effectLst/>
              <a:uFillTx/>
              <a:latin typeface="Berlin Sans FB Demi"/>
            </a:endParaRPr>
          </a:p>
        </p:txBody>
      </p:sp>
      <p:sp>
        <p:nvSpPr>
          <p:cNvPr id="86" name="PlaceHolder 2"/>
          <p:cNvSpPr>
            <a:spLocks noGrp="1"/>
          </p:cNvSpPr>
          <p:nvPr>
            <p:ph/>
          </p:nvPr>
        </p:nvSpPr>
        <p:spPr>
          <a:xfrm>
            <a:off x="304920" y="1447920"/>
            <a:ext cx="8534160" cy="5029200"/>
          </a:xfrm>
          <a:prstGeom prst="rect">
            <a:avLst/>
          </a:prstGeom>
          <a:noFill/>
          <a:ln w="0">
            <a:noFill/>
          </a:ln>
        </p:spPr>
        <p:txBody>
          <a:bodyPr lIns="91440" tIns="45720" rIns="91440" bIns="45720" anchor="t">
            <a:normAutofit/>
          </a:bodyPr>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Correlation coefficient (also called </a:t>
            </a:r>
            <a:r>
              <a:rPr lang="en-US" sz="2400" b="0" u="none" strike="noStrike">
                <a:solidFill>
                  <a:srgbClr val="3333CC"/>
                </a:solidFill>
                <a:effectLst/>
                <a:uFillTx/>
                <a:latin typeface="Tahoma"/>
              </a:rPr>
              <a:t>Pearson’s product moment coefficient</a:t>
            </a:r>
            <a:r>
              <a:rPr lang="en-US" sz="2400" b="0" u="none" strike="noStrike">
                <a:solidFill>
                  <a:srgbClr val="000000"/>
                </a:solidFill>
                <a:effectLst/>
                <a:uFillTx/>
                <a:latin typeface="Tahoma"/>
              </a:rPr>
              <a:t>)</a:t>
            </a:r>
            <a:endParaRPr lang="en-US" sz="2400" b="0" u="none" strike="noStrike">
              <a:solidFill>
                <a:srgbClr val="000000"/>
              </a:solidFill>
              <a:effectLst/>
              <a:uFillTx/>
              <a:latin typeface="Tahoma"/>
            </a:endParaRPr>
          </a:p>
          <a:p>
            <a:pPr marL="343080" indent="0" algn="l">
              <a:lnSpc>
                <a:spcPct val="110000"/>
              </a:lnSpc>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a:p>
            <a:pPr marL="343080" indent="0" algn="l">
              <a:lnSpc>
                <a:spcPct val="110000"/>
              </a:lnSpc>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a:p>
            <a:pPr marL="343080" indent="0" algn="l">
              <a:lnSpc>
                <a:spcPct val="110000"/>
              </a:lnSpc>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a:p>
            <a:pPr marL="743040" lvl="1" indent="-285840" algn="l">
              <a:lnSpc>
                <a:spcPct val="110000"/>
              </a:lnSpc>
              <a:spcBef>
                <a:spcPts val="4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where n is the number of tuples,       and      are the respective means of A and B, </a:t>
            </a:r>
            <a:r>
              <a:rPr lang="el-GR" sz="2000" b="0" u="none" strike="noStrike">
                <a:solidFill>
                  <a:srgbClr val="000000"/>
                </a:solidFill>
                <a:effectLst/>
                <a:uFillTx/>
                <a:latin typeface="Tahoma"/>
              </a:rPr>
              <a:t>σ</a:t>
            </a:r>
            <a:r>
              <a:rPr lang="en-US" sz="2000" b="0" u="none" strike="noStrike" baseline="-25000">
                <a:solidFill>
                  <a:srgbClr val="000000"/>
                </a:solidFill>
                <a:effectLst/>
                <a:uFillTx/>
                <a:latin typeface="Tahoma"/>
              </a:rPr>
              <a:t>A </a:t>
            </a:r>
            <a:r>
              <a:rPr lang="en-US" sz="2000" b="0" u="none" strike="noStrike">
                <a:solidFill>
                  <a:srgbClr val="000000"/>
                </a:solidFill>
                <a:effectLst/>
                <a:uFillTx/>
                <a:latin typeface="Tahoma"/>
              </a:rPr>
              <a:t>and </a:t>
            </a:r>
            <a:r>
              <a:rPr lang="el-GR" sz="2000" b="0" u="none" strike="noStrike">
                <a:solidFill>
                  <a:srgbClr val="000000"/>
                </a:solidFill>
                <a:effectLst/>
                <a:uFillTx/>
                <a:latin typeface="Tahoma"/>
              </a:rPr>
              <a:t>σ</a:t>
            </a:r>
            <a:r>
              <a:rPr lang="en-US" sz="2000" b="0" u="none" strike="noStrike" baseline="-25000">
                <a:solidFill>
                  <a:srgbClr val="000000"/>
                </a:solidFill>
                <a:effectLst/>
                <a:uFillTx/>
                <a:latin typeface="Tahoma"/>
              </a:rPr>
              <a:t>B </a:t>
            </a:r>
            <a:r>
              <a:rPr lang="en-US" sz="2000" b="0" u="none" strike="noStrike">
                <a:solidFill>
                  <a:srgbClr val="000000"/>
                </a:solidFill>
                <a:effectLst/>
                <a:uFillTx/>
                <a:latin typeface="Tahoma"/>
              </a:rPr>
              <a:t>are the respective standard deviation of A and B, and </a:t>
            </a:r>
            <a:r>
              <a:rPr lang="el-GR" sz="2000" b="0" u="none" strike="noStrike">
                <a:solidFill>
                  <a:srgbClr val="000000"/>
                </a:solidFill>
                <a:effectLst/>
                <a:uFillTx/>
                <a:latin typeface="Tahoma"/>
              </a:rPr>
              <a:t>Σ</a:t>
            </a:r>
            <a:r>
              <a:rPr lang="en-US" sz="2000" b="0" u="none" strike="noStrike">
                <a:solidFill>
                  <a:srgbClr val="000000"/>
                </a:solidFill>
                <a:effectLst/>
                <a:uFillTx/>
                <a:latin typeface="Tahoma"/>
              </a:rPr>
              <a:t>(a</a:t>
            </a:r>
            <a:r>
              <a:rPr lang="en-US" sz="2000" b="0" u="none" strike="noStrike" baseline="-25000">
                <a:solidFill>
                  <a:srgbClr val="000000"/>
                </a:solidFill>
                <a:effectLst/>
                <a:uFillTx/>
                <a:latin typeface="Tahoma"/>
              </a:rPr>
              <a:t>i</a:t>
            </a:r>
            <a:r>
              <a:rPr lang="en-US" sz="2000" b="0" u="none" strike="noStrike">
                <a:solidFill>
                  <a:srgbClr val="000000"/>
                </a:solidFill>
                <a:effectLst/>
                <a:uFillTx/>
                <a:latin typeface="Tahoma"/>
              </a:rPr>
              <a:t>b</a:t>
            </a:r>
            <a:r>
              <a:rPr lang="en-US" sz="2000" b="0" u="none" strike="noStrike" baseline="-25000">
                <a:solidFill>
                  <a:srgbClr val="000000"/>
                </a:solidFill>
                <a:effectLst/>
                <a:uFillTx/>
                <a:latin typeface="Tahoma"/>
              </a:rPr>
              <a:t>i</a:t>
            </a:r>
            <a:r>
              <a:rPr lang="en-US" sz="2000" b="0" u="none" strike="noStrike">
                <a:solidFill>
                  <a:srgbClr val="000000"/>
                </a:solidFill>
                <a:effectLst/>
                <a:uFillTx/>
                <a:latin typeface="Tahoma"/>
              </a:rPr>
              <a:t>) is the sum of the AB cross-product.</a:t>
            </a:r>
            <a:endParaRPr lang="en-US" sz="20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If r</a:t>
            </a:r>
            <a:r>
              <a:rPr lang="en-US" sz="2400" b="0" u="none" strike="noStrike" baseline="-25000">
                <a:solidFill>
                  <a:srgbClr val="000000"/>
                </a:solidFill>
                <a:effectLst/>
                <a:uFillTx/>
                <a:latin typeface="Tahoma"/>
              </a:rPr>
              <a:t>A,B</a:t>
            </a:r>
            <a:r>
              <a:rPr lang="en-US" sz="2400" b="0" u="none" strike="noStrike">
                <a:solidFill>
                  <a:srgbClr val="000000"/>
                </a:solidFill>
                <a:effectLst/>
                <a:uFillTx/>
                <a:latin typeface="Tahoma"/>
              </a:rPr>
              <a:t> &gt; 0, A and B are positively correlated (A’s values increase as B’s).  The higher, the stronger correlation.</a:t>
            </a: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r</a:t>
            </a:r>
            <a:r>
              <a:rPr lang="en-US" sz="2400" b="0" u="none" strike="noStrike" baseline="-25000">
                <a:solidFill>
                  <a:srgbClr val="000000"/>
                </a:solidFill>
                <a:effectLst/>
                <a:uFillTx/>
                <a:latin typeface="Tahoma"/>
              </a:rPr>
              <a:t>A,B</a:t>
            </a:r>
            <a:r>
              <a:rPr lang="en-US" sz="2400" b="0" u="none" strike="noStrike">
                <a:solidFill>
                  <a:srgbClr val="000000"/>
                </a:solidFill>
                <a:effectLst/>
                <a:uFillTx/>
                <a:latin typeface="Tahoma"/>
              </a:rPr>
              <a:t> = 0: independent;  r</a:t>
            </a:r>
            <a:r>
              <a:rPr lang="en-US" sz="2400" b="0" u="none" strike="noStrike" baseline="-25000">
                <a:solidFill>
                  <a:srgbClr val="000000"/>
                </a:solidFill>
                <a:effectLst/>
                <a:uFillTx/>
                <a:latin typeface="Tahoma"/>
              </a:rPr>
              <a:t>AB</a:t>
            </a:r>
            <a:r>
              <a:rPr lang="en-US" sz="2400" b="0" u="none" strike="noStrike">
                <a:solidFill>
                  <a:srgbClr val="000000"/>
                </a:solidFill>
                <a:effectLst/>
                <a:uFillTx/>
                <a:latin typeface="Tahoma"/>
              </a:rPr>
              <a:t> &lt; 0: negatively correlated</a:t>
            </a:r>
            <a:endParaRPr lang="en-US" sz="2400" b="0" u="none" strike="noStrike">
              <a:solidFill>
                <a:srgbClr val="000000"/>
              </a:solidFill>
              <a:effectLst/>
              <a:uFillTx/>
              <a:latin typeface="Tahoma"/>
            </a:endParaRPr>
          </a:p>
        </p:txBody>
      </p:sp>
      <mc:AlternateContent>
        <mc:Choice xmlns:a14="http://schemas.microsoft.com/office/drawing/2010/main" Requires="a14">
          <p:sp>
            <p:nvSpPr>
              <p:cNvPr id="87" name="Object 4"/>
              <p:cNvSpPr txBox="1"/>
              <p:nvPr/>
            </p:nvSpPr>
            <p:spPr>
              <a:xfrm>
                <a:off x="1905120" y="2473200"/>
                <a:ext cx="5081400" cy="900360"/>
              </a:xfrm>
              <a:prstGeom prst="rect">
                <a:avLst/>
              </a:prstGeom>
            </p:spPr>
            <p:txBody>
              <a:bodyPr/>
              <a:p>
                <a14:m>
                  <m:oMath xmlns:m="http://schemas.openxmlformats.org/officeDocument/2006/math">
                    <m:sSub>
                      <m:e>
                        <m:r>
                          <m:t xml:space="preserve">r</m:t>
                        </m:r>
                      </m:e>
                      <m:sub>
                        <m:r>
                          <m:t xml:space="preserve">A</m:t>
                        </m:r>
                        <m:r>
                          <m:t xml:space="preserve">,</m:t>
                        </m:r>
                        <m:r>
                          <m:t xml:space="preserve">B</m:t>
                        </m:r>
                      </m:sub>
                    </m:sSub>
                    <m:r>
                      <m:t xml:space="preserve">=</m:t>
                    </m:r>
                    <m:f>
                      <m:num>
                        <m:nary>
                          <m:naryPr>
                            <m:chr m:val="∑"/>
                            <m:subHide m:val="1"/>
                            <m:supHide m:val="1"/>
                          </m:naryPr>
                          <m:sub/>
                          <m:sup/>
                          <m:e>
                            <m:r>
                              <m:t xml:space="preserve">(</m:t>
                            </m:r>
                            <m:sSub>
                              <m:e>
                                <m:r>
                                  <m:t xml:space="preserve">a</m:t>
                                </m:r>
                              </m:e>
                              <m:sub>
                                <m:r>
                                  <m:t xml:space="preserve">i</m:t>
                                </m:r>
                              </m:sub>
                            </m:sSub>
                            <m:r>
                              <m:t xml:space="preserve">−</m:t>
                            </m:r>
                            <m:bar>
                              <m:barPr>
                                <m:pos m:val="top"/>
                              </m:barPr>
                              <m:e>
                                <m:r>
                                  <m:t xml:space="preserve">A</m:t>
                                </m:r>
                              </m:e>
                            </m:bar>
                            <m:r>
                              <m:t xml:space="preserve">)</m:t>
                            </m:r>
                            <m:r>
                              <m:t xml:space="preserve">(</m:t>
                            </m:r>
                            <m:sSub>
                              <m:e>
                                <m:r>
                                  <m:t xml:space="preserve">b</m:t>
                                </m:r>
                              </m:e>
                              <m:sub>
                                <m:r>
                                  <m:t xml:space="preserve">i</m:t>
                                </m:r>
                              </m:sub>
                            </m:sSub>
                            <m:r>
                              <m:t xml:space="preserve">−</m:t>
                            </m:r>
                            <m:bar>
                              <m:barPr>
                                <m:pos m:val="top"/>
                              </m:barPr>
                              <m:e>
                                <m:r>
                                  <m:t xml:space="preserve">B</m:t>
                                </m:r>
                              </m:e>
                            </m:bar>
                            <m:r>
                              <m:t xml:space="preserve">)</m:t>
                            </m:r>
                          </m:e>
                        </m:nary>
                      </m:num>
                      <m:den>
                        <m:r>
                          <m:t xml:space="preserve">(</m:t>
                        </m:r>
                        <m:r>
                          <m:t xml:space="preserve">n</m:t>
                        </m:r>
                        <m:r>
                          <m:t xml:space="preserve">−</m:t>
                        </m:r>
                        <m:r>
                          <m:t xml:space="preserve">1</m:t>
                        </m:r>
                        <m:r>
                          <m:t xml:space="preserve">)</m:t>
                        </m:r>
                        <m:sSub>
                          <m:e>
                            <m:r>
                              <m:t xml:space="preserve">σ</m:t>
                            </m:r>
                          </m:e>
                          <m:sub>
                            <m:r>
                              <m:t xml:space="preserve">A</m:t>
                            </m:r>
                          </m:sub>
                        </m:sSub>
                        <m:sSub>
                          <m:e>
                            <m:r>
                              <m:t xml:space="preserve">σ</m:t>
                            </m:r>
                          </m:e>
                          <m:sub>
                            <m:r>
                              <m:t xml:space="preserve">B</m:t>
                            </m:r>
                          </m:sub>
                        </m:sSub>
                      </m:den>
                    </m:f>
                    <m:r>
                      <m:t xml:space="preserve">=</m:t>
                    </m:r>
                    <m:f>
                      <m:num>
                        <m:nary>
                          <m:naryPr>
                            <m:chr m:val="∑"/>
                            <m:subHide m:val="1"/>
                            <m:supHide m:val="1"/>
                          </m:naryPr>
                          <m:sub/>
                          <m:sup/>
                          <m:e>
                            <m:r>
                              <m:t xml:space="preserve">(</m:t>
                            </m:r>
                            <m:sSub>
                              <m:e>
                                <m:r>
                                  <m:t xml:space="preserve">a</m:t>
                                </m:r>
                              </m:e>
                              <m:sub>
                                <m:r>
                                  <m:t xml:space="preserve">i</m:t>
                                </m:r>
                              </m:sub>
                            </m:sSub>
                            <m:sSub>
                              <m:e>
                                <m:r>
                                  <m:t xml:space="preserve">b</m:t>
                                </m:r>
                              </m:e>
                              <m:sub>
                                <m:r>
                                  <m:t xml:space="preserve">i</m:t>
                                </m:r>
                              </m:sub>
                            </m:sSub>
                            <m:r>
                              <m:t xml:space="preserve">)</m:t>
                            </m:r>
                            <m:r>
                              <m:t xml:space="preserve">−</m:t>
                            </m:r>
                            <m:r>
                              <m:t xml:space="preserve">n</m:t>
                            </m:r>
                            <m:bar>
                              <m:barPr>
                                <m:pos m:val="top"/>
                              </m:barPr>
                              <m:e>
                                <m:r>
                                  <m:t xml:space="preserve">A</m:t>
                                </m:r>
                              </m:e>
                            </m:bar>
                            <m:bar>
                              <m:barPr>
                                <m:pos m:val="top"/>
                              </m:barPr>
                              <m:e>
                                <m:r>
                                  <m:t xml:space="preserve">B</m:t>
                                </m:r>
                              </m:e>
                            </m:bar>
                          </m:e>
                        </m:nary>
                      </m:num>
                      <m:den>
                        <m:r>
                          <m:t xml:space="preserve">(</m:t>
                        </m:r>
                        <m:r>
                          <m:t xml:space="preserve">n</m:t>
                        </m:r>
                        <m:r>
                          <m:t xml:space="preserve">−</m:t>
                        </m:r>
                        <m:r>
                          <m:t xml:space="preserve">1</m:t>
                        </m:r>
                        <m:r>
                          <m:t xml:space="preserve">)</m:t>
                        </m:r>
                        <m:sSub>
                          <m:e>
                            <m:r>
                              <m:t xml:space="preserve">σ</m:t>
                            </m:r>
                          </m:e>
                          <m:sub>
                            <m:r>
                              <m:t xml:space="preserve">A</m:t>
                            </m:r>
                          </m:sub>
                        </m:sSub>
                        <m:sSub>
                          <m:e>
                            <m:r>
                              <m:t xml:space="preserve">σ</m:t>
                            </m:r>
                          </m:e>
                          <m:sub>
                            <m:r>
                              <m:t xml:space="preserve">B</m:t>
                            </m:r>
                          </m:sub>
                        </m:sSub>
                      </m:den>
                    </m:f>
                  </m:oMath>
                </a14:m>
              </a:p>
            </p:txBody>
          </p:sp>
        </mc:Choice>
        <mc:Fallback>
          <p:sp>
            <p:nvSpPr>
              <p:cNvPr id="87" name="Object 4"/>
              <p:cNvSpPr txBox="1"/>
              <p:nvPr/>
            </p:nvSpPr>
            <p:spPr>
              <a:xfrm>
                <a:off x="1905120" y="2473200"/>
                <a:ext cx="5081400" cy="900360"/>
              </a:xfrm>
              <a:prstGeom prst="rect">
                <a:avLst/>
              </a:prstGeom>
              <a:blipFill>
                <a:blip r:embed="rId1"/>
                <a:stretch>
                  <a:fillRect/>
                </a:stretch>
              </a:blipFill>
            </p:spPr>
          </p:sp>
        </mc:Fallback>
      </mc:AlternateContent>
      <mc:AlternateContent>
        <mc:Choice xmlns:a14="http://schemas.microsoft.com/office/drawing/2010/main" Requires="a14">
          <p:sp>
            <p:nvSpPr>
              <p:cNvPr id="88" name="Object 5"/>
              <p:cNvSpPr txBox="1"/>
              <p:nvPr/>
            </p:nvSpPr>
            <p:spPr>
              <a:xfrm>
                <a:off x="4665600" y="3817800"/>
                <a:ext cx="255600" cy="341280"/>
              </a:xfrm>
              <a:prstGeom prst="rect">
                <a:avLst/>
              </a:prstGeom>
            </p:spPr>
            <p:txBody>
              <a:bodyPr/>
              <a:p>
                <a14:m>
                  <m:oMath xmlns:m="http://schemas.openxmlformats.org/officeDocument/2006/math">
                    <m:bar>
                      <m:barPr>
                        <m:pos m:val="top"/>
                      </m:barPr>
                      <m:e>
                        <m:r>
                          <m:t xml:space="preserve">A</m:t>
                        </m:r>
                      </m:e>
                    </m:bar>
                  </m:oMath>
                </a14:m>
              </a:p>
            </p:txBody>
          </p:sp>
        </mc:Choice>
        <mc:Fallback>
          <p:sp>
            <p:nvSpPr>
              <p:cNvPr id="88" name="Object 5"/>
              <p:cNvSpPr txBox="1"/>
              <p:nvPr/>
            </p:nvSpPr>
            <p:spPr>
              <a:xfrm>
                <a:off x="4665600" y="3817800"/>
                <a:ext cx="255600" cy="341280"/>
              </a:xfrm>
              <a:prstGeom prst="rect">
                <a:avLst/>
              </a:prstGeom>
              <a:blipFill>
                <a:blip r:embed="rId2"/>
                <a:stretch>
                  <a:fillRect/>
                </a:stretch>
              </a:blipFill>
            </p:spPr>
          </p:sp>
        </mc:Fallback>
      </mc:AlternateContent>
      <mc:AlternateContent>
        <mc:Choice xmlns:a14="http://schemas.microsoft.com/office/drawing/2010/main" Requires="a14">
          <p:sp>
            <p:nvSpPr>
              <p:cNvPr id="89" name="Object 6"/>
              <p:cNvSpPr txBox="1"/>
              <p:nvPr/>
            </p:nvSpPr>
            <p:spPr>
              <a:xfrm>
                <a:off x="5562720" y="3760920"/>
                <a:ext cx="295200" cy="392040"/>
              </a:xfrm>
              <a:prstGeom prst="rect">
                <a:avLst/>
              </a:prstGeom>
            </p:spPr>
            <p:txBody>
              <a:bodyPr/>
              <a:p>
                <a14:m>
                  <m:oMath xmlns:m="http://schemas.openxmlformats.org/officeDocument/2006/math">
                    <m:bar>
                      <m:barPr>
                        <m:pos m:val="top"/>
                      </m:barPr>
                      <m:e>
                        <m:r>
                          <m:t xml:space="preserve">B</m:t>
                        </m:r>
                      </m:e>
                    </m:bar>
                  </m:oMath>
                </a14:m>
              </a:p>
            </p:txBody>
          </p:sp>
        </mc:Choice>
        <mc:Fallback>
          <p:sp>
            <p:nvSpPr>
              <p:cNvPr id="89" name="Object 6"/>
              <p:cNvSpPr txBox="1"/>
              <p:nvPr/>
            </p:nvSpPr>
            <p:spPr>
              <a:xfrm>
                <a:off x="5562720" y="3760920"/>
                <a:ext cx="295200" cy="392040"/>
              </a:xfrm>
              <a:prstGeom prst="rect">
                <a:avLst/>
              </a:prstGeom>
              <a:blipFill>
                <a:blip r:embed="rId3"/>
                <a:stretch>
                  <a:fillRect/>
                </a:stretch>
              </a:blipFill>
            </p:spPr>
          </p:sp>
        </mc:Fallback>
      </mc:AlternateContent>
    </p:spTree>
  </p:cSld>
  <p:transition>
    <p:zoom dir="out"/>
  </p:transition>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5DA21FA-418F-4D30-8D80-D9D0126EDF5A}"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91" name="PlaceHolder 1"/>
          <p:cNvSpPr>
            <a:spLocks noGrp="1"/>
          </p:cNvSpPr>
          <p:nvPr>
            <p:ph type="title"/>
          </p:nvPr>
        </p:nvSpPr>
        <p:spPr>
          <a:xfrm>
            <a:off x="380520" y="151920"/>
            <a:ext cx="8280360" cy="55260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Berlin Sans FB Demi"/>
              </a:rPr>
              <a:t>Visually Evaluating Correlation</a:t>
            </a:r>
            <a:endParaRPr lang="en-US" sz="3200" b="1" u="none" strike="noStrike">
              <a:solidFill>
                <a:srgbClr val="333399"/>
              </a:solidFill>
              <a:effectLst/>
              <a:uFillTx/>
              <a:latin typeface="Berlin Sans FB Demi"/>
            </a:endParaRPr>
          </a:p>
        </p:txBody>
      </p:sp>
      <p:graphicFrame>
        <p:nvGraphicFramePr>
          <p:cNvPr id="92" name="Object 3"/>
          <p:cNvGraphicFramePr/>
          <p:nvPr/>
        </p:nvGraphicFramePr>
        <p:xfrm>
          <a:off x="228600" y="990720"/>
          <a:ext cx="6095880" cy="5381640"/>
        </p:xfrm>
        <a:graphic>
          <a:graphicData uri="http://schemas.openxmlformats.org/presentationml/2006/ole">
            <p:oleObj r:id="rId1" spid="">
              <p:embed/>
              <p:pic>
                <p:nvPicPr>
                  <p:cNvPr id="93" name="Object 3"/>
                  <p:cNvPicPr/>
                  <p:nvPr/>
                </p:nvPicPr>
                <p:blipFill>
                  <a:blip r:embed="rId2"/>
                  <a:stretch/>
                </p:blipFill>
                <p:spPr>
                  <a:xfrm>
                    <a:off x="228600" y="990720"/>
                    <a:ext cx="6095880" cy="5381640"/>
                  </a:xfrm>
                  <a:prstGeom prst="rect">
                    <a:avLst/>
                  </a:prstGeom>
                  <a:noFill/>
                  <a:ln w="0">
                    <a:noFill/>
                  </a:ln>
                </p:spPr>
              </p:pic>
            </p:oleObj>
          </a:graphicData>
        </a:graphic>
      </p:graphicFrame>
      <p:sp>
        <p:nvSpPr>
          <p:cNvPr id="94" name="Text Box 4"/>
          <p:cNvSpPr/>
          <p:nvPr/>
        </p:nvSpPr>
        <p:spPr>
          <a:xfrm>
            <a:off x="6858000" y="2971800"/>
            <a:ext cx="1828800" cy="119124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1125"/>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u="none" strike="noStrike">
                <a:solidFill>
                  <a:srgbClr val="000000"/>
                </a:solidFill>
                <a:effectLst/>
                <a:uFillTx/>
                <a:latin typeface="Arial"/>
              </a:rPr>
              <a:t>Scatter plots showing the similarity from –1 to 1.</a:t>
            </a:r>
            <a:endParaRPr lang="en-US" sz="1800" b="0" u="none" strike="noStrike">
              <a:solidFill>
                <a:srgbClr val="000000"/>
              </a:solidFill>
              <a:effectLst/>
              <a:uFillTx/>
              <a:latin typeface="Tahoma"/>
            </a:endParaRPr>
          </a:p>
        </p:txBody>
      </p:sp>
    </p:spTree>
  </p:cSld>
  <p:transition>
    <p:zoom dir="out"/>
  </p:transition>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F974AFE8-EBE6-42A8-A354-C75EA1438187}"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96" name="PlaceHolder 1"/>
          <p:cNvSpPr>
            <a:spLocks noGrp="1"/>
          </p:cNvSpPr>
          <p:nvPr>
            <p:ph type="title"/>
          </p:nvPr>
        </p:nvSpPr>
        <p:spPr>
          <a:xfrm>
            <a:off x="0" y="304920"/>
            <a:ext cx="9144000" cy="8380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Correlation (viewed as linear relationship)</a:t>
            </a:r>
            <a:endParaRPr lang="en-US" sz="3600" b="1" u="none" strike="noStrike">
              <a:solidFill>
                <a:srgbClr val="333399"/>
              </a:solidFill>
              <a:effectLst/>
              <a:uFillTx/>
              <a:latin typeface="Berlin Sans FB Demi"/>
            </a:endParaRPr>
          </a:p>
        </p:txBody>
      </p:sp>
      <p:sp>
        <p:nvSpPr>
          <p:cNvPr id="97" name="PlaceHolder 2"/>
          <p:cNvSpPr>
            <a:spLocks noGrp="1"/>
          </p:cNvSpPr>
          <p:nvPr>
            <p:ph/>
          </p:nvPr>
        </p:nvSpPr>
        <p:spPr>
          <a:xfrm>
            <a:off x="304560" y="1295280"/>
            <a:ext cx="8381880" cy="5181840"/>
          </a:xfrm>
          <a:prstGeom prst="rect">
            <a:avLst/>
          </a:prstGeom>
          <a:noFill/>
          <a:ln w="0">
            <a:noFill/>
          </a:ln>
        </p:spPr>
        <p:txBody>
          <a:bodyPr lIns="91440" tIns="45720" rIns="91440" bIns="45720" anchor="t">
            <a:normAutofit/>
          </a:bodyPr>
          <a:p>
            <a:pPr marL="343080" indent="-343080" algn="l">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Correlation measures the linear relationship between objects</a:t>
            </a:r>
            <a:endParaRPr lang="en-US" sz="2800" b="0" u="none" strike="noStrike">
              <a:solidFill>
                <a:srgbClr val="000000"/>
              </a:solidFill>
              <a:effectLst/>
              <a:uFillTx/>
              <a:latin typeface="Tahoma"/>
            </a:endParaRPr>
          </a:p>
          <a:p>
            <a:pPr marL="343080" indent="-343080" algn="l">
              <a:spcBef>
                <a:spcPts val="700"/>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800" b="0" u="none" strike="noStrike">
                <a:solidFill>
                  <a:srgbClr val="000000"/>
                </a:solidFill>
                <a:effectLst/>
                <a:uFillTx/>
                <a:latin typeface="Tahoma"/>
              </a:rPr>
              <a:t>To compute correlation, we standardize data objects, A and B, and then take their dot product</a:t>
            </a:r>
            <a:endParaRPr lang="en-US" sz="2800" b="0" u="none" strike="noStrike">
              <a:solidFill>
                <a:srgbClr val="000000"/>
              </a:solidFill>
              <a:effectLst/>
              <a:uFillTx/>
              <a:latin typeface="Tahoma"/>
            </a:endParaRPr>
          </a:p>
        </p:txBody>
      </p:sp>
      <mc:AlternateContent>
        <mc:Choice xmlns:a14="http://schemas.microsoft.com/office/drawing/2010/main" Requires="a14">
          <p:sp>
            <p:nvSpPr>
              <p:cNvPr id="98" name="Object 4"/>
              <p:cNvSpPr txBox="1"/>
              <p:nvPr/>
            </p:nvSpPr>
            <p:spPr>
              <a:xfrm>
                <a:off x="1670040" y="3443400"/>
                <a:ext cx="5321160" cy="685800"/>
              </a:xfrm>
              <a:prstGeom prst="rect">
                <a:avLst/>
              </a:prstGeom>
            </p:spPr>
            <p:txBody>
              <a:bodyPr/>
              <a:p>
                <a14:m>
                  <m:oMath xmlns:m="http://schemas.openxmlformats.org/officeDocument/2006/math">
                    <m:r>
                      <m:t xml:space="preserve">a</m:t>
                    </m:r>
                    <m:sSub>
                      <m:e>
                        <m:r>
                          <m:t xml:space="preserve">'</m:t>
                        </m:r>
                      </m:e>
                      <m:sub>
                        <m:r>
                          <m:t xml:space="preserve">k</m:t>
                        </m:r>
                      </m:sub>
                    </m:sSub>
                    <m:r>
                      <m:t xml:space="preserve">=</m:t>
                    </m:r>
                    <m:r>
                      <m:t xml:space="preserve">(</m:t>
                    </m:r>
                    <m:sSub>
                      <m:e>
                        <m:r>
                          <m:t xml:space="preserve">a</m:t>
                        </m:r>
                      </m:e>
                      <m:sub>
                        <m:r>
                          <m:t xml:space="preserve">k</m:t>
                        </m:r>
                      </m:sub>
                    </m:sSub>
                    <m:r>
                      <m:t xml:space="preserve">−</m:t>
                    </m:r>
                    <m:r>
                      <m:rPr>
                        <m:lit/>
                        <m:nor/>
                      </m:rPr>
                      <m:t xml:space="preserve">mean</m:t>
                    </m:r>
                    <m:r>
                      <m:t xml:space="preserve">(</m:t>
                    </m:r>
                    <m:r>
                      <m:t xml:space="preserve">A</m:t>
                    </m:r>
                    <m:r>
                      <m:t xml:space="preserve">)</m:t>
                    </m:r>
                    <m:f>
                      <m:fPr>
                        <m:type m:val="lin"/>
                      </m:fPr>
                      <m:num>
                        <m:r>
                          <m:t xml:space="preserve">)</m:t>
                        </m:r>
                      </m:num>
                      <m:den>
                        <m:r>
                          <m:rPr>
                            <m:lit/>
                            <m:nor/>
                          </m:rPr>
                          <m:t xml:space="preserve">std</m:t>
                        </m:r>
                      </m:den>
                    </m:f>
                    <m:r>
                      <m:t xml:space="preserve">(</m:t>
                    </m:r>
                    <m:r>
                      <m:t xml:space="preserve">A</m:t>
                    </m:r>
                    <m:r>
                      <m:t xml:space="preserve">)</m:t>
                    </m:r>
                  </m:oMath>
                </a14:m>
              </a:p>
            </p:txBody>
          </p:sp>
        </mc:Choice>
        <mc:Fallback>
          <p:sp>
            <p:nvSpPr>
              <p:cNvPr id="98" name="Object 4"/>
              <p:cNvSpPr txBox="1"/>
              <p:nvPr/>
            </p:nvSpPr>
            <p:spPr>
              <a:xfrm>
                <a:off x="1670040" y="3443400"/>
                <a:ext cx="5321160" cy="685800"/>
              </a:xfrm>
              <a:prstGeom prst="rect">
                <a:avLst/>
              </a:prstGeom>
              <a:blipFill>
                <a:blip r:embed="rId1"/>
                <a:stretch>
                  <a:fillRect/>
                </a:stretch>
              </a:blipFill>
            </p:spPr>
          </p:sp>
        </mc:Fallback>
      </mc:AlternateContent>
      <mc:AlternateContent>
        <mc:Choice xmlns:a14="http://schemas.microsoft.com/office/drawing/2010/main" Requires="a14">
          <p:sp>
            <p:nvSpPr>
              <p:cNvPr id="99" name="Object 5"/>
              <p:cNvSpPr txBox="1"/>
              <p:nvPr/>
            </p:nvSpPr>
            <p:spPr>
              <a:xfrm>
                <a:off x="1650960" y="4357800"/>
                <a:ext cx="5256360" cy="687240"/>
              </a:xfrm>
              <a:prstGeom prst="rect">
                <a:avLst/>
              </a:prstGeom>
            </p:spPr>
            <p:txBody>
              <a:bodyPr/>
              <a:p>
                <a14:m>
                  <m:oMath xmlns:m="http://schemas.openxmlformats.org/officeDocument/2006/math">
                    <m:r>
                      <m:t xml:space="preserve">b</m:t>
                    </m:r>
                    <m:sSub>
                      <m:e>
                        <m:r>
                          <m:t xml:space="preserve">'</m:t>
                        </m:r>
                      </m:e>
                      <m:sub>
                        <m:r>
                          <m:t xml:space="preserve">k</m:t>
                        </m:r>
                      </m:sub>
                    </m:sSub>
                    <m:r>
                      <m:t xml:space="preserve">=</m:t>
                    </m:r>
                    <m:r>
                      <m:t xml:space="preserve">(</m:t>
                    </m:r>
                    <m:sSub>
                      <m:e>
                        <m:r>
                          <m:t xml:space="preserve">b</m:t>
                        </m:r>
                      </m:e>
                      <m:sub>
                        <m:r>
                          <m:t xml:space="preserve">k</m:t>
                        </m:r>
                      </m:sub>
                    </m:sSub>
                    <m:r>
                      <m:t xml:space="preserve">−</m:t>
                    </m:r>
                    <m:r>
                      <m:rPr>
                        <m:lit/>
                        <m:nor/>
                      </m:rPr>
                      <m:t xml:space="preserve">mean</m:t>
                    </m:r>
                    <m:r>
                      <m:t xml:space="preserve">(</m:t>
                    </m:r>
                    <m:r>
                      <m:t xml:space="preserve">B</m:t>
                    </m:r>
                    <m:r>
                      <m:t xml:space="preserve">)</m:t>
                    </m:r>
                    <m:f>
                      <m:fPr>
                        <m:type m:val="lin"/>
                      </m:fPr>
                      <m:num>
                        <m:r>
                          <m:t xml:space="preserve">)</m:t>
                        </m:r>
                      </m:num>
                      <m:den>
                        <m:r>
                          <m:rPr>
                            <m:lit/>
                            <m:nor/>
                          </m:rPr>
                          <m:t xml:space="preserve">std</m:t>
                        </m:r>
                      </m:den>
                    </m:f>
                    <m:r>
                      <m:t xml:space="preserve">(</m:t>
                    </m:r>
                    <m:r>
                      <m:t xml:space="preserve">B</m:t>
                    </m:r>
                    <m:r>
                      <m:t xml:space="preserve">)</m:t>
                    </m:r>
                  </m:oMath>
                </a14:m>
              </a:p>
            </p:txBody>
          </p:sp>
        </mc:Choice>
        <mc:Fallback>
          <p:sp>
            <p:nvSpPr>
              <p:cNvPr id="99" name="Object 5"/>
              <p:cNvSpPr txBox="1"/>
              <p:nvPr/>
            </p:nvSpPr>
            <p:spPr>
              <a:xfrm>
                <a:off x="1650960" y="4357800"/>
                <a:ext cx="5256360" cy="687240"/>
              </a:xfrm>
              <a:prstGeom prst="rect">
                <a:avLst/>
              </a:prstGeom>
              <a:blipFill>
                <a:blip r:embed="rId2"/>
                <a:stretch>
                  <a:fillRect/>
                </a:stretch>
              </a:blipFill>
            </p:spPr>
          </p:sp>
        </mc:Fallback>
      </mc:AlternateContent>
      <mc:AlternateContent>
        <mc:Choice xmlns:a14="http://schemas.microsoft.com/office/drawing/2010/main" Requires="a14">
          <p:sp>
            <p:nvSpPr>
              <p:cNvPr id="100" name="Object 6"/>
              <p:cNvSpPr txBox="1"/>
              <p:nvPr/>
            </p:nvSpPr>
            <p:spPr>
              <a:xfrm>
                <a:off x="1647720" y="5348160"/>
                <a:ext cx="4605480" cy="595440"/>
              </a:xfrm>
              <a:prstGeom prst="rect">
                <a:avLst/>
              </a:prstGeom>
            </p:spPr>
            <p:txBody>
              <a:bodyPr/>
              <a:p>
                <a14:m>
                  <m:oMath xmlns:m="http://schemas.openxmlformats.org/officeDocument/2006/math">
                    <m:r>
                      <m:rPr>
                        <m:lit/>
                        <m:nor/>
                      </m:rPr>
                      <m:t xml:space="preserve">correlation</m:t>
                    </m:r>
                    <m:r>
                      <m:t xml:space="preserve">(</m:t>
                    </m:r>
                    <m:r>
                      <m:t xml:space="preserve">A</m:t>
                    </m:r>
                    <m:r>
                      <m:t xml:space="preserve">,</m:t>
                    </m:r>
                    <m:r>
                      <m:t xml:space="preserve">B</m:t>
                    </m:r>
                    <m:r>
                      <m:t xml:space="preserve">)</m:t>
                    </m:r>
                    <m:r>
                      <m:t xml:space="preserve">=</m:t>
                    </m:r>
                    <m:r>
                      <m:t xml:space="preserve">A</m:t>
                    </m:r>
                    <m:r>
                      <m:t xml:space="preserve">'</m:t>
                    </m:r>
                    <m:r>
                      <m:t xml:space="preserve">⋅</m:t>
                    </m:r>
                    <m:r>
                      <m:t xml:space="preserve">B</m:t>
                    </m:r>
                    <m:r>
                      <m:t xml:space="preserve">'</m:t>
                    </m:r>
                  </m:oMath>
                </a14:m>
              </a:p>
            </p:txBody>
          </p:sp>
        </mc:Choice>
        <mc:Fallback>
          <p:sp>
            <p:nvSpPr>
              <p:cNvPr id="100" name="Object 6"/>
              <p:cNvSpPr txBox="1"/>
              <p:nvPr/>
            </p:nvSpPr>
            <p:spPr>
              <a:xfrm>
                <a:off x="1647720" y="5348160"/>
                <a:ext cx="4605480" cy="595440"/>
              </a:xfrm>
              <a:prstGeom prst="rect">
                <a:avLst/>
              </a:prstGeom>
              <a:blipFill>
                <a:blip r:embed="rId3"/>
                <a:stretch>
                  <a:fillRect/>
                </a:stretch>
              </a:blipFill>
            </p:spPr>
          </p:sp>
        </mc:Fallback>
      </mc:AlternateContent>
    </p:spTree>
  </p:cSld>
  <p:transition>
    <p:zoom dir="out"/>
  </p:transition>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1" name="Picture 14"/>
          <p:cNvPicPr/>
          <p:nvPr/>
        </p:nvPicPr>
        <p:blipFill>
          <a:blip r:embed="rId1"/>
          <a:stretch/>
        </p:blipFill>
        <p:spPr>
          <a:xfrm>
            <a:off x="3886200" y="2274840"/>
            <a:ext cx="2448000" cy="703440"/>
          </a:xfrm>
          <a:prstGeom prst="rect">
            <a:avLst/>
          </a:prstGeom>
          <a:noFill/>
          <a:ln w="0">
            <a:noFill/>
          </a:ln>
        </p:spPr>
      </p:pic>
      <p:pic>
        <p:nvPicPr>
          <p:cNvPr id="102" name="Picture 13"/>
          <p:cNvPicPr/>
          <p:nvPr/>
        </p:nvPicPr>
        <p:blipFill>
          <a:blip r:embed="rId2"/>
          <a:stretch/>
        </p:blipFill>
        <p:spPr>
          <a:xfrm>
            <a:off x="533520" y="1523880"/>
            <a:ext cx="8504280" cy="762120"/>
          </a:xfrm>
          <a:prstGeom prst="rect">
            <a:avLst/>
          </a:prstGeom>
          <a:noFill/>
          <a:ln w="0">
            <a:noFill/>
          </a:ln>
        </p:spPr>
      </p:pic>
      <p:sp>
        <p:nvSpPr>
          <p:cNvPr id="103"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B75840F-DE96-4D4E-9679-98504D360791}"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104" name="PlaceHolder 1"/>
          <p:cNvSpPr>
            <a:spLocks noGrp="1"/>
          </p:cNvSpPr>
          <p:nvPr>
            <p:ph type="title"/>
          </p:nvPr>
        </p:nvSpPr>
        <p:spPr>
          <a:xfrm>
            <a:off x="0" y="304560"/>
            <a:ext cx="914400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Berlin Sans FB Demi"/>
              </a:rPr>
              <a:t>Covariance (Numeric Data)</a:t>
            </a:r>
            <a:endParaRPr lang="en-US" sz="3200" b="1" u="none" strike="noStrike">
              <a:solidFill>
                <a:srgbClr val="333399"/>
              </a:solidFill>
              <a:effectLst/>
              <a:uFillTx/>
              <a:latin typeface="Berlin Sans FB Demi"/>
            </a:endParaRPr>
          </a:p>
        </p:txBody>
      </p:sp>
      <p:sp>
        <p:nvSpPr>
          <p:cNvPr id="105" name="PlaceHolder 2"/>
          <p:cNvSpPr>
            <a:spLocks noGrp="1"/>
          </p:cNvSpPr>
          <p:nvPr>
            <p:ph/>
          </p:nvPr>
        </p:nvSpPr>
        <p:spPr>
          <a:xfrm>
            <a:off x="304560" y="1219320"/>
            <a:ext cx="8839080" cy="5333760"/>
          </a:xfrm>
          <a:prstGeom prst="rect">
            <a:avLst/>
          </a:prstGeom>
          <a:noFill/>
          <a:ln w="0">
            <a:noFill/>
          </a:ln>
        </p:spPr>
        <p:txBody>
          <a:bodyPr lIns="91440" tIns="45720" rIns="91440" bIns="45720" anchor="t">
            <a:normAutofit fontScale="92500" lnSpcReduction="9999"/>
          </a:bodyPr>
          <a:p>
            <a:pPr marL="343080" indent="-343080" algn="l">
              <a:lnSpc>
                <a:spcPct val="11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Covariance is similar to correlation</a:t>
            </a:r>
            <a:endParaRPr lang="en-US" sz="2000" b="0" u="none" strike="noStrike">
              <a:solidFill>
                <a:srgbClr val="000000"/>
              </a:solidFill>
              <a:effectLst/>
              <a:uFillTx/>
              <a:latin typeface="Tahoma"/>
            </a:endParaRPr>
          </a:p>
          <a:p>
            <a:pPr marL="343080" indent="0" algn="l">
              <a:lnSpc>
                <a:spcPct val="110000"/>
              </a:lnSpc>
              <a:spcBef>
                <a:spcPts val="45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Tahoma"/>
            </a:endParaRPr>
          </a:p>
          <a:p>
            <a:pPr marL="343080" indent="0" algn="l">
              <a:lnSpc>
                <a:spcPct val="110000"/>
              </a:lnSpc>
              <a:spcBef>
                <a:spcPts val="45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Tahoma"/>
            </a:endParaRPr>
          </a:p>
          <a:p>
            <a:pPr marL="343080" indent="0" algn="l">
              <a:lnSpc>
                <a:spcPct val="110000"/>
              </a:lnSpc>
              <a:spcBef>
                <a:spcPts val="45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Tahoma"/>
            </a:endParaRPr>
          </a:p>
          <a:p>
            <a:pPr marL="343080" indent="0" algn="l">
              <a:lnSpc>
                <a:spcPct val="110000"/>
              </a:lnSpc>
              <a:spcBef>
                <a:spcPts val="45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800" b="0" u="none" strike="noStrike">
              <a:solidFill>
                <a:srgbClr val="000000"/>
              </a:solidFill>
              <a:effectLst/>
              <a:uFillTx/>
              <a:latin typeface="Tahoma"/>
            </a:endParaRPr>
          </a:p>
          <a:p>
            <a:pPr marL="743040" lvl="1" indent="-285840" algn="l">
              <a:lnSpc>
                <a:spcPct val="110000"/>
              </a:lnSpc>
              <a:spcBef>
                <a:spcPts val="4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where n is the number of tuples,      and      are the respective mean or </a:t>
            </a:r>
            <a:r>
              <a:rPr lang="en-US" sz="2000" b="1" u="none" strike="noStrike">
                <a:solidFill>
                  <a:srgbClr val="000000"/>
                </a:solidFill>
                <a:effectLst/>
                <a:uFillTx/>
                <a:latin typeface="Tahoma"/>
              </a:rPr>
              <a:t>expected values</a:t>
            </a:r>
            <a:r>
              <a:rPr lang="en-US" sz="2000" b="0" u="none" strike="noStrike">
                <a:solidFill>
                  <a:srgbClr val="000000"/>
                </a:solidFill>
                <a:effectLst/>
                <a:uFillTx/>
                <a:latin typeface="Tahoma"/>
              </a:rPr>
              <a:t> of A and B, </a:t>
            </a:r>
            <a:r>
              <a:rPr lang="el-GR" sz="2000" b="0" u="none" strike="noStrike">
                <a:solidFill>
                  <a:srgbClr val="000000"/>
                </a:solidFill>
                <a:effectLst/>
                <a:uFillTx/>
                <a:latin typeface="Tahoma"/>
              </a:rPr>
              <a:t>σ</a:t>
            </a:r>
            <a:r>
              <a:rPr lang="en-US" sz="2000" b="0" u="none" strike="noStrike" baseline="-25000">
                <a:solidFill>
                  <a:srgbClr val="000000"/>
                </a:solidFill>
                <a:effectLst/>
                <a:uFillTx/>
                <a:latin typeface="Tahoma"/>
              </a:rPr>
              <a:t>A </a:t>
            </a:r>
            <a:r>
              <a:rPr lang="en-US" sz="2000" b="0" u="none" strike="noStrike">
                <a:solidFill>
                  <a:srgbClr val="000000"/>
                </a:solidFill>
                <a:effectLst/>
                <a:uFillTx/>
                <a:latin typeface="Tahoma"/>
              </a:rPr>
              <a:t>and </a:t>
            </a:r>
            <a:r>
              <a:rPr lang="el-GR" sz="2000" b="0" u="none" strike="noStrike">
                <a:solidFill>
                  <a:srgbClr val="000000"/>
                </a:solidFill>
                <a:effectLst/>
                <a:uFillTx/>
                <a:latin typeface="Tahoma"/>
              </a:rPr>
              <a:t>σ</a:t>
            </a:r>
            <a:r>
              <a:rPr lang="en-US" sz="2000" b="0" u="none" strike="noStrike" baseline="-25000">
                <a:solidFill>
                  <a:srgbClr val="000000"/>
                </a:solidFill>
                <a:effectLst/>
                <a:uFillTx/>
                <a:latin typeface="Tahoma"/>
              </a:rPr>
              <a:t>B </a:t>
            </a:r>
            <a:r>
              <a:rPr lang="en-US" sz="2000" b="0" u="none" strike="noStrike">
                <a:solidFill>
                  <a:srgbClr val="000000"/>
                </a:solidFill>
                <a:effectLst/>
                <a:uFillTx/>
                <a:latin typeface="Tahoma"/>
              </a:rPr>
              <a:t>are the respective standard deviation of A and B.</a:t>
            </a:r>
            <a:endParaRPr lang="en-US" sz="2000" b="0" u="none" strike="noStrike">
              <a:solidFill>
                <a:srgbClr val="000000"/>
              </a:solidFill>
              <a:effectLst/>
              <a:uFillTx/>
              <a:latin typeface="Tahoma"/>
            </a:endParaRPr>
          </a:p>
          <a:p>
            <a:pPr marL="343080" indent="-343080" algn="l">
              <a:lnSpc>
                <a:spcPct val="11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ahoma"/>
              </a:rPr>
              <a:t>Positive covariance</a:t>
            </a:r>
            <a:r>
              <a:rPr lang="en-US" sz="2000" b="0" u="none" strike="noStrike">
                <a:solidFill>
                  <a:srgbClr val="000000"/>
                </a:solidFill>
                <a:effectLst/>
                <a:uFillTx/>
                <a:latin typeface="Tahoma"/>
              </a:rPr>
              <a:t>: If Cov</a:t>
            </a:r>
            <a:r>
              <a:rPr lang="en-US" sz="2000" b="0" u="none" strike="noStrike" baseline="-25000">
                <a:solidFill>
                  <a:srgbClr val="000000"/>
                </a:solidFill>
                <a:effectLst/>
                <a:uFillTx/>
                <a:latin typeface="Tahoma"/>
              </a:rPr>
              <a:t>A,B </a:t>
            </a:r>
            <a:r>
              <a:rPr lang="en-US" sz="2000" b="0" u="none" strike="noStrike">
                <a:solidFill>
                  <a:srgbClr val="000000"/>
                </a:solidFill>
                <a:effectLst/>
                <a:uFillTx/>
                <a:latin typeface="Tahoma"/>
              </a:rPr>
              <a:t>&gt; 0, then A and B both tend to be larger than their expected values.</a:t>
            </a:r>
            <a:endParaRPr lang="en-US" sz="2000" b="0" u="none" strike="noStrike">
              <a:solidFill>
                <a:srgbClr val="000000"/>
              </a:solidFill>
              <a:effectLst/>
              <a:uFillTx/>
              <a:latin typeface="Tahoma"/>
            </a:endParaRPr>
          </a:p>
          <a:p>
            <a:pPr marL="343080" indent="-343080" algn="l">
              <a:lnSpc>
                <a:spcPct val="11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ahoma"/>
              </a:rPr>
              <a:t>Negative covariance</a:t>
            </a:r>
            <a:r>
              <a:rPr lang="en-US" sz="2000" b="0" u="none" strike="noStrike">
                <a:solidFill>
                  <a:srgbClr val="000000"/>
                </a:solidFill>
                <a:effectLst/>
                <a:uFillTx/>
                <a:latin typeface="Tahoma"/>
              </a:rPr>
              <a:t>: If Cov</a:t>
            </a:r>
            <a:r>
              <a:rPr lang="en-US" sz="2000" b="0" u="none" strike="noStrike" baseline="-25000">
                <a:solidFill>
                  <a:srgbClr val="000000"/>
                </a:solidFill>
                <a:effectLst/>
                <a:uFillTx/>
                <a:latin typeface="Tahoma"/>
              </a:rPr>
              <a:t>A,B </a:t>
            </a:r>
            <a:r>
              <a:rPr lang="en-US" sz="2000" b="0" u="none" strike="noStrike">
                <a:solidFill>
                  <a:srgbClr val="000000"/>
                </a:solidFill>
                <a:effectLst/>
                <a:uFillTx/>
                <a:latin typeface="Tahoma"/>
              </a:rPr>
              <a:t>&lt; 0 then if A is larger than its expected value, B is likely to be smaller than its expected value.</a:t>
            </a:r>
            <a:endParaRPr lang="en-US" sz="2000" b="0" u="none" strike="noStrike">
              <a:solidFill>
                <a:srgbClr val="000000"/>
              </a:solidFill>
              <a:effectLst/>
              <a:uFillTx/>
              <a:latin typeface="Tahoma"/>
            </a:endParaRPr>
          </a:p>
          <a:p>
            <a:pPr marL="343080" indent="-343080" algn="l">
              <a:lnSpc>
                <a:spcPct val="8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ahoma"/>
              </a:rPr>
              <a:t>Independence</a:t>
            </a:r>
            <a:r>
              <a:rPr lang="en-US" sz="2000" b="0" u="none" strike="noStrike">
                <a:solidFill>
                  <a:srgbClr val="000000"/>
                </a:solidFill>
                <a:effectLst/>
                <a:uFillTx/>
                <a:latin typeface="Tahoma"/>
              </a:rPr>
              <a:t>: Cov</a:t>
            </a:r>
            <a:r>
              <a:rPr lang="en-US" sz="2000" b="0" u="none" strike="noStrike" baseline="-25000">
                <a:solidFill>
                  <a:srgbClr val="000000"/>
                </a:solidFill>
                <a:effectLst/>
                <a:uFillTx/>
                <a:latin typeface="Tahoma"/>
              </a:rPr>
              <a:t>A,B</a:t>
            </a:r>
            <a:r>
              <a:rPr lang="en-US" sz="2000" b="0" u="none" strike="noStrike">
                <a:solidFill>
                  <a:srgbClr val="000000"/>
                </a:solidFill>
                <a:effectLst/>
                <a:uFillTx/>
                <a:latin typeface="Tahoma"/>
              </a:rPr>
              <a:t> = 0 but the converse is not true:</a:t>
            </a:r>
            <a:endParaRPr lang="en-US" sz="2000" b="0" u="none" strike="noStrike">
              <a:solidFill>
                <a:srgbClr val="000000"/>
              </a:solidFill>
              <a:effectLst/>
              <a:uFillTx/>
              <a:latin typeface="Tahoma"/>
            </a:endParaRPr>
          </a:p>
          <a:p>
            <a:pPr marL="743040" lvl="1" indent="-285840" algn="l">
              <a:spcBef>
                <a:spcPts val="45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ahoma"/>
              </a:rPr>
              <a:t>Some pairs of random variables may have a covariance of 0 but are not independent. Only under some additional assumptions (e.g., the data follow multivariate normal distributions) does a covariance of 0 imply independence</a:t>
            </a:r>
            <a:endParaRPr lang="en-US" sz="1800" b="0" u="none" strike="noStrike">
              <a:solidFill>
                <a:srgbClr val="000000"/>
              </a:solidFill>
              <a:effectLst/>
              <a:uFillTx/>
              <a:latin typeface="Tahoma"/>
            </a:endParaRPr>
          </a:p>
        </p:txBody>
      </p:sp>
      <mc:AlternateContent>
        <mc:Choice xmlns:a14="http://schemas.microsoft.com/office/drawing/2010/main" Requires="a14">
          <p:sp>
            <p:nvSpPr>
              <p:cNvPr id="106" name="Object 13"/>
              <p:cNvSpPr txBox="1"/>
              <p:nvPr/>
            </p:nvSpPr>
            <p:spPr>
              <a:xfrm>
                <a:off x="4657680" y="3124080"/>
                <a:ext cx="255600" cy="339840"/>
              </a:xfrm>
              <a:prstGeom prst="rect">
                <a:avLst/>
              </a:prstGeom>
            </p:spPr>
            <p:txBody>
              <a:bodyPr/>
              <a:p>
                <a14:m>
                  <m:oMath xmlns:m="http://schemas.openxmlformats.org/officeDocument/2006/math">
                    <m:bar>
                      <m:barPr>
                        <m:pos m:val="top"/>
                      </m:barPr>
                      <m:e>
                        <m:r>
                          <m:t xml:space="preserve">A</m:t>
                        </m:r>
                      </m:e>
                    </m:bar>
                  </m:oMath>
                </a14:m>
              </a:p>
            </p:txBody>
          </p:sp>
        </mc:Choice>
        <mc:Fallback>
          <p:sp>
            <p:nvSpPr>
              <p:cNvPr id="106" name="Object 13"/>
              <p:cNvSpPr txBox="1"/>
              <p:nvPr/>
            </p:nvSpPr>
            <p:spPr>
              <a:xfrm>
                <a:off x="4657680" y="3124080"/>
                <a:ext cx="255600" cy="339840"/>
              </a:xfrm>
              <a:prstGeom prst="rect">
                <a:avLst/>
              </a:prstGeom>
              <a:blipFill>
                <a:blip r:embed="rId3"/>
                <a:stretch>
                  <a:fillRect/>
                </a:stretch>
              </a:blipFill>
            </p:spPr>
          </p:sp>
        </mc:Fallback>
      </mc:AlternateContent>
      <mc:AlternateContent>
        <mc:Choice xmlns:a14="http://schemas.microsoft.com/office/drawing/2010/main" Requires="a14">
          <p:sp>
            <p:nvSpPr>
              <p:cNvPr id="107" name="Object 14"/>
              <p:cNvSpPr txBox="1"/>
              <p:nvPr/>
            </p:nvSpPr>
            <p:spPr>
              <a:xfrm>
                <a:off x="5486400" y="3112920"/>
                <a:ext cx="295200" cy="392400"/>
              </a:xfrm>
              <a:prstGeom prst="rect">
                <a:avLst/>
              </a:prstGeom>
            </p:spPr>
            <p:txBody>
              <a:bodyPr/>
              <a:p>
                <a14:m>
                  <m:oMath xmlns:m="http://schemas.openxmlformats.org/officeDocument/2006/math">
                    <m:bar>
                      <m:barPr>
                        <m:pos m:val="top"/>
                      </m:barPr>
                      <m:e>
                        <m:r>
                          <m:t xml:space="preserve">B</m:t>
                        </m:r>
                      </m:e>
                    </m:bar>
                  </m:oMath>
                </a14:m>
              </a:p>
            </p:txBody>
          </p:sp>
        </mc:Choice>
        <mc:Fallback>
          <p:sp>
            <p:nvSpPr>
              <p:cNvPr id="107" name="Object 14"/>
              <p:cNvSpPr txBox="1"/>
              <p:nvPr/>
            </p:nvSpPr>
            <p:spPr>
              <a:xfrm>
                <a:off x="5486400" y="3112920"/>
                <a:ext cx="295200" cy="392400"/>
              </a:xfrm>
              <a:prstGeom prst="rect">
                <a:avLst/>
              </a:prstGeom>
              <a:blipFill>
                <a:blip r:embed="rId4"/>
                <a:stretch>
                  <a:fillRect/>
                </a:stretch>
              </a:blipFill>
            </p:spPr>
          </p:sp>
        </mc:Fallback>
      </mc:AlternateContent>
      <p:sp>
        <p:nvSpPr>
          <p:cNvPr id="108" name="TextBox 2"/>
          <p:cNvSpPr/>
          <p:nvPr/>
        </p:nvSpPr>
        <p:spPr>
          <a:xfrm>
            <a:off x="586440" y="2440080"/>
            <a:ext cx="2712960" cy="3988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Correlation coefficient:</a:t>
            </a:r>
            <a:endParaRPr lang="en-US" sz="2000" b="0" u="none" strike="noStrike">
              <a:solidFill>
                <a:srgbClr val="000000"/>
              </a:solidFill>
              <a:effectLst/>
              <a:uFillTx/>
              <a:latin typeface="Tahoma"/>
            </a:endParaRPr>
          </a:p>
        </p:txBody>
      </p:sp>
    </p:spTree>
  </p:cSld>
  <p:transition>
    <p:zoom dir="out"/>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9" name="Picture 2"/>
          <p:cNvPicPr/>
          <p:nvPr/>
        </p:nvPicPr>
        <p:blipFill>
          <a:blip r:embed="rId1"/>
          <a:stretch/>
        </p:blipFill>
        <p:spPr>
          <a:xfrm>
            <a:off x="990720" y="1185840"/>
            <a:ext cx="6705360" cy="642960"/>
          </a:xfrm>
          <a:prstGeom prst="rect">
            <a:avLst/>
          </a:prstGeom>
          <a:noFill/>
          <a:ln w="0">
            <a:noFill/>
          </a:ln>
        </p:spPr>
      </p:pic>
      <p:sp>
        <p:nvSpPr>
          <p:cNvPr id="110" name="PlaceHolder 1"/>
          <p:cNvSpPr>
            <a:spLocks noGrp="1"/>
          </p:cNvSpPr>
          <p:nvPr>
            <p:ph type="title"/>
          </p:nvPr>
        </p:nvSpPr>
        <p:spPr>
          <a:xfrm>
            <a:off x="152280" y="304560"/>
            <a:ext cx="876312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Co-Variance: An Example</a:t>
            </a:r>
            <a:endParaRPr lang="en-US" sz="3600" b="1" u="none" strike="noStrike">
              <a:solidFill>
                <a:srgbClr val="333399"/>
              </a:solidFill>
              <a:effectLst/>
              <a:uFillTx/>
              <a:latin typeface="Berlin Sans FB Demi"/>
            </a:endParaRPr>
          </a:p>
        </p:txBody>
      </p:sp>
      <p:sp>
        <p:nvSpPr>
          <p:cNvPr id="111" name="PlaceHolder 2"/>
          <p:cNvSpPr>
            <a:spLocks noGrp="1"/>
          </p:cNvSpPr>
          <p:nvPr>
            <p:ph/>
          </p:nvPr>
        </p:nvSpPr>
        <p:spPr>
          <a:xfrm>
            <a:off x="304920" y="1066680"/>
            <a:ext cx="8534160" cy="5486400"/>
          </a:xfrm>
          <a:prstGeom prst="rect">
            <a:avLst/>
          </a:prstGeom>
          <a:noFill/>
          <a:ln w="0">
            <a:noFill/>
          </a:ln>
        </p:spPr>
        <p:txBody>
          <a:bodyPr lIns="91440" tIns="45720" rIns="91440" bIns="45720" anchor="t">
            <a:normAutofit/>
          </a:bodyPr>
          <a:p>
            <a:pPr marL="343080" indent="0" algn="l">
              <a:lnSpc>
                <a:spcPct val="150000"/>
              </a:lnSpc>
              <a:spcBef>
                <a:spcPts val="4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u="none" strike="noStrike">
              <a:solidFill>
                <a:srgbClr val="000000"/>
              </a:solidFill>
              <a:effectLst/>
              <a:uFillTx/>
              <a:latin typeface="Tahoma"/>
            </a:endParaRPr>
          </a:p>
          <a:p>
            <a:pPr marL="343080" indent="-343080" algn="l">
              <a:lnSpc>
                <a:spcPct val="15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It can be simplified in computation as</a:t>
            </a:r>
            <a:endParaRPr lang="en-US" sz="2000" b="0" u="none" strike="noStrike">
              <a:solidFill>
                <a:srgbClr val="000000"/>
              </a:solidFill>
              <a:effectLst/>
              <a:uFillTx/>
              <a:latin typeface="Tahoma"/>
            </a:endParaRPr>
          </a:p>
          <a:p>
            <a:pPr marL="343080" indent="0" algn="l">
              <a:lnSpc>
                <a:spcPct val="150000"/>
              </a:lnSpc>
              <a:spcBef>
                <a:spcPts val="4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u="none" strike="noStrike">
              <a:solidFill>
                <a:srgbClr val="000000"/>
              </a:solidFill>
              <a:effectLst/>
              <a:uFillTx/>
              <a:latin typeface="Tahoma"/>
            </a:endParaRPr>
          </a:p>
          <a:p>
            <a:pPr marL="343080" indent="-343080" algn="l">
              <a:lnSpc>
                <a:spcPct val="15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Suppose two stocks A and B have the following values in one week:  (2, 5), (3, 8), (5, 10), (4, 11), (6, 14). </a:t>
            </a:r>
            <a:endParaRPr lang="en-US" sz="2000" b="0" u="none" strike="noStrike">
              <a:solidFill>
                <a:srgbClr val="000000"/>
              </a:solidFill>
              <a:effectLst/>
              <a:uFillTx/>
              <a:latin typeface="Tahoma"/>
            </a:endParaRPr>
          </a:p>
          <a:p>
            <a:pPr marL="343080" indent="-343080" algn="l">
              <a:lnSpc>
                <a:spcPct val="15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Question:  If the stocks are affected by the same industry trends, will their prices rise or fall together?</a:t>
            </a:r>
            <a:endParaRPr lang="en-US" sz="2000" b="0" u="none" strike="noStrike">
              <a:solidFill>
                <a:srgbClr val="000000"/>
              </a:solidFill>
              <a:effectLst/>
              <a:uFillTx/>
              <a:latin typeface="Tahoma"/>
            </a:endParaRPr>
          </a:p>
          <a:p>
            <a:pPr marL="743040" lvl="1" indent="-285840" algn="l">
              <a:lnSpc>
                <a:spcPct val="15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E(A) = (2 + 3 + 5 + 4 + 6)/ 5 = 20/5 = 4</a:t>
            </a:r>
            <a:endParaRPr lang="en-US" sz="2000" b="0" u="none" strike="noStrike">
              <a:solidFill>
                <a:srgbClr val="000000"/>
              </a:solidFill>
              <a:effectLst/>
              <a:uFillTx/>
              <a:latin typeface="Tahoma"/>
            </a:endParaRPr>
          </a:p>
          <a:p>
            <a:pPr marL="743040" lvl="1" indent="-285840" algn="l">
              <a:lnSpc>
                <a:spcPct val="15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E(B) = (5 + 8 + 10 + 11 + 14) /5 = 48/5 = 9.6</a:t>
            </a:r>
            <a:endParaRPr lang="en-US" sz="2000" b="0" u="none" strike="noStrike">
              <a:solidFill>
                <a:srgbClr val="000000"/>
              </a:solidFill>
              <a:effectLst/>
              <a:uFillTx/>
              <a:latin typeface="Tahoma"/>
            </a:endParaRPr>
          </a:p>
          <a:p>
            <a:pPr marL="743040" lvl="1" indent="-285840" algn="l">
              <a:lnSpc>
                <a:spcPct val="15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Cov(A,B) = (2×5+3×8+5×10+4×11+6×14)/5 − 4 × 9.6 = 4</a:t>
            </a:r>
            <a:endParaRPr lang="en-US" sz="2000" b="0" u="none" strike="noStrike">
              <a:solidFill>
                <a:srgbClr val="000000"/>
              </a:solidFill>
              <a:effectLst/>
              <a:uFillTx/>
              <a:latin typeface="Tahoma"/>
            </a:endParaRPr>
          </a:p>
          <a:p>
            <a:pPr marL="343080" indent="-343080" algn="l">
              <a:lnSpc>
                <a:spcPct val="15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Thus, A and B rise together since Cov(A, B) &gt; 0.</a:t>
            </a:r>
            <a:endParaRPr lang="en-US" sz="2000" b="0" u="none" strike="noStrike">
              <a:solidFill>
                <a:srgbClr val="000000"/>
              </a:solidFill>
              <a:effectLst/>
              <a:uFillTx/>
              <a:latin typeface="Tahoma"/>
            </a:endParaRPr>
          </a:p>
        </p:txBody>
      </p:sp>
      <p:pic>
        <p:nvPicPr>
          <p:cNvPr id="112" name="Picture 3"/>
          <p:cNvPicPr/>
          <p:nvPr/>
        </p:nvPicPr>
        <p:blipFill>
          <a:blip r:embed="rId2"/>
          <a:stretch/>
        </p:blipFill>
        <p:spPr>
          <a:xfrm>
            <a:off x="2057400" y="2133720"/>
            <a:ext cx="4267080" cy="458640"/>
          </a:xfrm>
          <a:prstGeom prst="rect">
            <a:avLst/>
          </a:prstGeom>
          <a:noFill/>
          <a:ln w="0">
            <a:noFill/>
          </a:ln>
        </p:spPr>
      </p:pic>
    </p:spTree>
  </p:cSld>
  <p:transition>
    <p:zoom dir="out"/>
  </p:transition>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F048947-D323-4EE3-B21B-D61712DD2369}"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114" name="Slide Number Placeholder 6"/>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2BB53FD-ECD2-4315-88B6-D4691473CEE9}"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115" name="PlaceHolder 1"/>
          <p:cNvSpPr>
            <a:spLocks noGrp="1"/>
          </p:cNvSpPr>
          <p:nvPr>
            <p:ph type="title"/>
          </p:nvPr>
        </p:nvSpPr>
        <p:spPr>
          <a:xfrm>
            <a:off x="152280" y="304560"/>
            <a:ext cx="8763120" cy="609480"/>
          </a:xfrm>
          <a:prstGeom prst="rect">
            <a:avLst/>
          </a:prstGeom>
          <a:noFill/>
          <a:ln w="0">
            <a:noFill/>
          </a:ln>
        </p:spPr>
        <p:txBody>
          <a:bodyPr lIns="92160" tIns="46080" rIns="92160" bIns="4608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Berlin Sans FB Demi"/>
              </a:rPr>
              <a:t>Chapter 3: Data Preprocessing</a:t>
            </a:r>
            <a:endParaRPr lang="en-US" sz="3200" b="1" u="none" strike="noStrike">
              <a:solidFill>
                <a:srgbClr val="333399"/>
              </a:solidFill>
              <a:effectLst/>
              <a:uFillTx/>
              <a:latin typeface="Berlin Sans FB Demi"/>
            </a:endParaRPr>
          </a:p>
        </p:txBody>
      </p:sp>
      <p:sp>
        <p:nvSpPr>
          <p:cNvPr id="116" name="PlaceHolder 2"/>
          <p:cNvSpPr>
            <a:spLocks noGrp="1"/>
          </p:cNvSpPr>
          <p:nvPr>
            <p:ph/>
          </p:nvPr>
        </p:nvSpPr>
        <p:spPr>
          <a:xfrm>
            <a:off x="380880" y="1371600"/>
            <a:ext cx="8229600" cy="5105520"/>
          </a:xfrm>
          <a:prstGeom prst="rect">
            <a:avLst/>
          </a:prstGeom>
          <a:noFill/>
          <a:ln w="0">
            <a:noFill/>
          </a:ln>
        </p:spPr>
        <p:txBody>
          <a:bodyPr lIns="92160" tIns="46080" rIns="92160" bIns="46080" anchor="t">
            <a:normAutofit/>
          </a:bodyPr>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Preprocessing: An Overview</a:t>
            </a:r>
            <a:endParaRPr lang="en-US" sz="2400" b="0" u="none" strike="noStrike">
              <a:solidFill>
                <a:srgbClr val="000000"/>
              </a:solidFill>
              <a:effectLst/>
              <a:uFillTx/>
              <a:latin typeface="Tahoma"/>
            </a:endParaRPr>
          </a:p>
          <a:p>
            <a:pPr marL="743040" lvl="1" indent="-285840" algn="l">
              <a:lnSpc>
                <a:spcPct val="15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Quality</a:t>
            </a:r>
            <a:endParaRPr lang="en-US" sz="2400" b="0" u="none" strike="noStrike">
              <a:solidFill>
                <a:srgbClr val="000000"/>
              </a:solidFill>
              <a:effectLst/>
              <a:uFillTx/>
              <a:latin typeface="Tahoma"/>
            </a:endParaRPr>
          </a:p>
          <a:p>
            <a:pPr marL="743040" lvl="1" indent="-285840" algn="l">
              <a:lnSpc>
                <a:spcPct val="15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Major Tasks in Data Preprocessing</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Cleaning</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Integration</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Reduction</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Transformation and Data Discretization</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Summary</a:t>
            </a:r>
            <a:endParaRPr lang="en-US" sz="2400" b="0" u="none" strike="noStrike">
              <a:solidFill>
                <a:srgbClr val="000000"/>
              </a:solidFill>
              <a:effectLst/>
              <a:uFillTx/>
              <a:latin typeface="Tahoma"/>
            </a:endParaRPr>
          </a:p>
        </p:txBody>
      </p:sp>
      <p:sp>
        <p:nvSpPr>
          <p:cNvPr id="117" name="AutoShape 4"/>
          <p:cNvSpPr/>
          <p:nvPr/>
        </p:nvSpPr>
        <p:spPr>
          <a:xfrm rot="9430200">
            <a:off x="3047760" y="4495680"/>
            <a:ext cx="522000" cy="486000"/>
          </a:xfrm>
          <a:custGeom>
            <a:avLst/>
            <a:gdLst>
              <a:gd name="textAreaLeft" fmla="*/ 65160 w 522000"/>
              <a:gd name="textAreaRight" fmla="*/ 456840 w 522000"/>
              <a:gd name="textAreaTop" fmla="*/ 121320 h 486000"/>
              <a:gd name="textAreaBottom" fmla="*/ 364680 h 486000"/>
            </a:gdLst>
            <a:ahLst/>
            <a:cxn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lnTo>
                  <a:pt x="2700" y="10800"/>
                </a:lnTo>
                <a:lnTo>
                  <a:pt x="0" y="5400"/>
                </a:lnTo>
                <a:close/>
              </a:path>
            </a:pathLst>
          </a:custGeom>
          <a:solidFill>
            <a:srgbClr val="339966"/>
          </a:solidFill>
          <a:ln w="9360">
            <a:solidFill>
              <a:srgbClr val="000000"/>
            </a:solidFill>
            <a:miter/>
          </a:ln>
        </p:spPr>
        <p:style>
          <a:lnRef idx="0"/>
          <a:fillRef idx="0"/>
          <a:effectRef idx="0"/>
          <a:fontRef idx="minor"/>
        </p:style>
        <p:txBody>
          <a:bodyPr wrap="none" lIns="90000" tIns="46800" rIns="90000" bIns="46800" anchor="ctr" rot="10800000">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Tree>
  </p:cSld>
  <p:transition>
    <p:zoom dir="out"/>
  </p:transition>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8B8D0E9-124F-4A33-97DA-D6D3C41F5997}"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119" name="PlaceHolder 1"/>
          <p:cNvSpPr>
            <a:spLocks noGrp="1"/>
          </p:cNvSpPr>
          <p:nvPr>
            <p:ph type="title"/>
          </p:nvPr>
        </p:nvSpPr>
        <p:spPr>
          <a:xfrm>
            <a:off x="1294920" y="228240"/>
            <a:ext cx="6248520" cy="68580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Berlin Sans FB Demi"/>
              </a:rPr>
              <a:t>Data Reduction Strategies</a:t>
            </a:r>
            <a:endParaRPr lang="en-US" sz="3200" b="1" u="none" strike="noStrike">
              <a:solidFill>
                <a:srgbClr val="333399"/>
              </a:solidFill>
              <a:effectLst/>
              <a:uFillTx/>
              <a:latin typeface="Berlin Sans FB Demi"/>
            </a:endParaRPr>
          </a:p>
        </p:txBody>
      </p:sp>
      <p:sp>
        <p:nvSpPr>
          <p:cNvPr id="120" name="PlaceHolder 2"/>
          <p:cNvSpPr>
            <a:spLocks noGrp="1"/>
          </p:cNvSpPr>
          <p:nvPr>
            <p:ph/>
          </p:nvPr>
        </p:nvSpPr>
        <p:spPr>
          <a:xfrm>
            <a:off x="304920" y="1294920"/>
            <a:ext cx="8610480" cy="5410440"/>
          </a:xfrm>
          <a:prstGeom prst="rect">
            <a:avLst/>
          </a:prstGeom>
          <a:noFill/>
          <a:ln w="0">
            <a:noFill/>
          </a:ln>
        </p:spPr>
        <p:txBody>
          <a:bodyPr lIns="91440" tIns="45720" rIns="91440" bIns="45720" anchor="t">
            <a:normAutofit/>
          </a:bodyPr>
          <a:p>
            <a:pPr marL="343080" indent="-343080" algn="l">
              <a:lnSpc>
                <a:spcPct val="9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ahoma"/>
              </a:rPr>
              <a:t>Data reduction</a:t>
            </a:r>
            <a:r>
              <a:rPr lang="en-US" sz="2000" b="0" u="none" strike="noStrike">
                <a:solidFill>
                  <a:srgbClr val="000000"/>
                </a:solidFill>
                <a:effectLst/>
                <a:uFillTx/>
                <a:latin typeface="Tahoma"/>
              </a:rPr>
              <a:t>: Obtain a reduced representation of the data set that is much smaller in volume but yet produces the same (or almost the same) analytical results</a:t>
            </a:r>
            <a:endParaRPr lang="en-US" sz="2000" b="0" u="none" strike="noStrike">
              <a:solidFill>
                <a:srgbClr val="000000"/>
              </a:solidFill>
              <a:effectLst/>
              <a:uFillTx/>
              <a:latin typeface="Tahoma"/>
            </a:endParaRPr>
          </a:p>
          <a:p>
            <a:pPr marL="343080" indent="-343080" algn="l">
              <a:lnSpc>
                <a:spcPct val="9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Why data reduction? </a:t>
            </a:r>
            <a:r>
              <a:rPr lang="en-US" sz="2000" b="0" u="none" strike="noStrike">
                <a:solidFill>
                  <a:srgbClr val="000000"/>
                </a:solidFill>
                <a:effectLst/>
                <a:uFillTx/>
                <a:latin typeface="Tahoma"/>
                <a:ea typeface="Tahoma"/>
              </a:rPr>
              <a:t>— </a:t>
            </a:r>
            <a:r>
              <a:rPr lang="en-US" sz="2000" b="0" u="none" strike="noStrike">
                <a:solidFill>
                  <a:srgbClr val="000000"/>
                </a:solidFill>
                <a:effectLst/>
                <a:uFillTx/>
                <a:latin typeface="Tahoma"/>
              </a:rPr>
              <a:t>A database/data warehouse may store terabytes of data.  Complex data analysis may take a very long time to run on the complete data set.</a:t>
            </a:r>
            <a:endParaRPr lang="en-US" sz="2000" b="0" u="none" strike="noStrike">
              <a:solidFill>
                <a:srgbClr val="000000"/>
              </a:solidFill>
              <a:effectLst/>
              <a:uFillTx/>
              <a:latin typeface="Tahoma"/>
            </a:endParaRPr>
          </a:p>
          <a:p>
            <a:pPr marL="343080" indent="-343080" algn="l">
              <a:lnSpc>
                <a:spcPct val="9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Data reduction strategies</a:t>
            </a:r>
            <a:endParaRPr lang="en-US" sz="2000" b="0" u="none" strike="noStrike">
              <a:solidFill>
                <a:srgbClr val="000000"/>
              </a:solidFill>
              <a:effectLst/>
              <a:uFillTx/>
              <a:latin typeface="Tahoma"/>
            </a:endParaRPr>
          </a:p>
          <a:p>
            <a:pPr marL="743040" lvl="1" indent="-285840" algn="l">
              <a:lnSpc>
                <a:spcPct val="9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Tahoma"/>
              </a:rPr>
              <a:t>Dimensionality reduction</a:t>
            </a:r>
            <a:r>
              <a:rPr lang="en-US" sz="2000" b="0" u="none" strike="noStrike">
                <a:solidFill>
                  <a:srgbClr val="3333CC"/>
                </a:solidFill>
                <a:effectLst/>
                <a:uFillTx/>
                <a:latin typeface="Tahoma"/>
              </a:rPr>
              <a:t>, </a:t>
            </a:r>
            <a:r>
              <a:rPr lang="en-US" sz="2000" b="0" u="none" strike="noStrike">
                <a:solidFill>
                  <a:srgbClr val="000000"/>
                </a:solidFill>
                <a:effectLst/>
                <a:uFillTx/>
                <a:latin typeface="Tahoma"/>
              </a:rPr>
              <a:t>e.g.,</a:t>
            </a:r>
            <a:r>
              <a:rPr lang="en-US" sz="2000" b="0" u="none" strike="noStrike">
                <a:solidFill>
                  <a:srgbClr val="3333CC"/>
                </a:solidFill>
                <a:effectLst/>
                <a:uFillTx/>
                <a:latin typeface="Tahoma"/>
              </a:rPr>
              <a:t> </a:t>
            </a:r>
            <a:r>
              <a:rPr lang="en-US" sz="2000" b="0" u="none" strike="noStrike">
                <a:solidFill>
                  <a:srgbClr val="000000"/>
                </a:solidFill>
                <a:effectLst/>
                <a:uFillTx/>
                <a:latin typeface="Tahoma"/>
              </a:rPr>
              <a:t>remove unimportant attributes</a:t>
            </a:r>
            <a:endParaRPr lang="en-US" sz="2000" b="0" u="none" strike="noStrike">
              <a:solidFill>
                <a:srgbClr val="000000"/>
              </a:solidFill>
              <a:effectLst/>
              <a:uFillTx/>
              <a:latin typeface="Tahoma"/>
            </a:endParaRPr>
          </a:p>
          <a:p>
            <a:pPr marL="1143000" lvl="2" indent="-228600" algn="l">
              <a:lnSpc>
                <a:spcPct val="90000"/>
              </a:lnSpc>
              <a:spcBef>
                <a:spcPts val="499"/>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3333CC"/>
                </a:solidFill>
                <a:effectLst/>
                <a:uFillTx/>
                <a:latin typeface="Tahoma"/>
              </a:rPr>
              <a:t>Wavelet transforms</a:t>
            </a:r>
            <a:endParaRPr lang="en-US" sz="2000" b="0" u="none" strike="noStrike">
              <a:solidFill>
                <a:srgbClr val="000000"/>
              </a:solidFill>
              <a:effectLst/>
              <a:uFillTx/>
              <a:latin typeface="Tahoma"/>
            </a:endParaRPr>
          </a:p>
          <a:p>
            <a:pPr marL="1143000" lvl="2" indent="-228600" algn="l">
              <a:lnSpc>
                <a:spcPct val="90000"/>
              </a:lnSpc>
              <a:spcBef>
                <a:spcPts val="499"/>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3333CC"/>
                </a:solidFill>
                <a:effectLst/>
                <a:uFillTx/>
                <a:latin typeface="Tahoma"/>
              </a:rPr>
              <a:t>Principal Components Analysis (PCA)</a:t>
            </a:r>
            <a:endParaRPr lang="en-US" sz="2000" b="0" u="none" strike="noStrike">
              <a:solidFill>
                <a:srgbClr val="000000"/>
              </a:solidFill>
              <a:effectLst/>
              <a:uFillTx/>
              <a:latin typeface="Tahoma"/>
            </a:endParaRPr>
          </a:p>
          <a:p>
            <a:pPr marL="1143000" lvl="2" indent="-228600" algn="l">
              <a:lnSpc>
                <a:spcPct val="90000"/>
              </a:lnSpc>
              <a:spcBef>
                <a:spcPts val="499"/>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3333CC"/>
                </a:solidFill>
                <a:effectLst/>
                <a:uFillTx/>
                <a:latin typeface="Tahoma"/>
              </a:rPr>
              <a:t>Feature subset selection, feature creation</a:t>
            </a:r>
            <a:endParaRPr lang="en-US" sz="2000" b="0" u="none" strike="noStrike">
              <a:solidFill>
                <a:srgbClr val="000000"/>
              </a:solidFill>
              <a:effectLst/>
              <a:uFillTx/>
              <a:latin typeface="Tahoma"/>
            </a:endParaRPr>
          </a:p>
          <a:p>
            <a:pPr marL="743040" lvl="1" indent="-285840" algn="l">
              <a:lnSpc>
                <a:spcPct val="9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Tahoma"/>
              </a:rPr>
              <a:t>Numerosity reduction</a:t>
            </a:r>
            <a:r>
              <a:rPr lang="en-US" sz="2000" b="0" u="none" strike="noStrike">
                <a:solidFill>
                  <a:srgbClr val="3333CC"/>
                </a:solidFill>
                <a:effectLst/>
                <a:uFillTx/>
                <a:latin typeface="Tahoma"/>
              </a:rPr>
              <a:t> (some simply call it: Data Reduction)</a:t>
            </a:r>
            <a:endParaRPr lang="en-US" sz="2000" b="0" u="none" strike="noStrike">
              <a:solidFill>
                <a:srgbClr val="000000"/>
              </a:solidFill>
              <a:effectLst/>
              <a:uFillTx/>
              <a:latin typeface="Tahoma"/>
            </a:endParaRPr>
          </a:p>
          <a:p>
            <a:pPr marL="1143000" lvl="2" indent="-228600" algn="l">
              <a:lnSpc>
                <a:spcPct val="90000"/>
              </a:lnSpc>
              <a:spcBef>
                <a:spcPts val="499"/>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3333CC"/>
                </a:solidFill>
                <a:effectLst/>
                <a:uFillTx/>
                <a:latin typeface="Tahoma"/>
              </a:rPr>
              <a:t>Regression and Log-Linear Models</a:t>
            </a:r>
            <a:endParaRPr lang="en-US" sz="2000" b="0" u="none" strike="noStrike">
              <a:solidFill>
                <a:srgbClr val="000000"/>
              </a:solidFill>
              <a:effectLst/>
              <a:uFillTx/>
              <a:latin typeface="Tahoma"/>
            </a:endParaRPr>
          </a:p>
          <a:p>
            <a:pPr marL="1143000" lvl="2" indent="-228600" algn="l">
              <a:lnSpc>
                <a:spcPct val="90000"/>
              </a:lnSpc>
              <a:spcBef>
                <a:spcPts val="499"/>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3333CC"/>
                </a:solidFill>
                <a:effectLst/>
                <a:uFillTx/>
                <a:latin typeface="Tahoma"/>
              </a:rPr>
              <a:t>Histograms, clustering, sampling</a:t>
            </a:r>
            <a:endParaRPr lang="en-US" sz="2000" b="0" u="none" strike="noStrike">
              <a:solidFill>
                <a:srgbClr val="000000"/>
              </a:solidFill>
              <a:effectLst/>
              <a:uFillTx/>
              <a:latin typeface="Tahoma"/>
            </a:endParaRPr>
          </a:p>
          <a:p>
            <a:pPr marL="1143000" lvl="2" indent="-228600" algn="l">
              <a:lnSpc>
                <a:spcPct val="90000"/>
              </a:lnSpc>
              <a:spcBef>
                <a:spcPts val="499"/>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3333CC"/>
                </a:solidFill>
                <a:effectLst/>
                <a:uFillTx/>
                <a:latin typeface="Tahoma"/>
              </a:rPr>
              <a:t>Data cube aggregation</a:t>
            </a:r>
            <a:endParaRPr lang="en-US" sz="2000" b="0" u="none" strike="noStrike">
              <a:solidFill>
                <a:srgbClr val="000000"/>
              </a:solidFill>
              <a:effectLst/>
              <a:uFillTx/>
              <a:latin typeface="Tahoma"/>
            </a:endParaRPr>
          </a:p>
          <a:p>
            <a:pPr marL="743040" lvl="1" indent="-285840" algn="l">
              <a:lnSpc>
                <a:spcPct val="9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Tahoma"/>
              </a:rPr>
              <a:t>Data compression</a:t>
            </a:r>
            <a:endParaRPr lang="en-US" sz="2000" b="0" u="none" strike="noStrike">
              <a:solidFill>
                <a:srgbClr val="000000"/>
              </a:solidFill>
              <a:effectLst/>
              <a:uFillTx/>
              <a:latin typeface="Tahoma"/>
            </a:endParaRPr>
          </a:p>
        </p:txBody>
      </p:sp>
    </p:spTree>
  </p:cSld>
  <p:transition>
    <p:zoom dir="out"/>
  </p:transition>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0929019-A8F3-4770-B03C-D18873754A8C}"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122" name="PlaceHolder 1"/>
          <p:cNvSpPr>
            <a:spLocks noGrp="1"/>
          </p:cNvSpPr>
          <p:nvPr>
            <p:ph type="title"/>
          </p:nvPr>
        </p:nvSpPr>
        <p:spPr>
          <a:xfrm>
            <a:off x="0" y="609480"/>
            <a:ext cx="9220320" cy="60984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Data Reduction 1: Dimensionality Reduction</a:t>
            </a:r>
            <a:endParaRPr lang="en-US" sz="3600" b="1" u="none" strike="noStrike">
              <a:solidFill>
                <a:srgbClr val="333399"/>
              </a:solidFill>
              <a:effectLst/>
              <a:uFillTx/>
              <a:latin typeface="Berlin Sans FB Demi"/>
            </a:endParaRPr>
          </a:p>
        </p:txBody>
      </p:sp>
      <p:sp>
        <p:nvSpPr>
          <p:cNvPr id="123" name="PlaceHolder 2"/>
          <p:cNvSpPr>
            <a:spLocks noGrp="1"/>
          </p:cNvSpPr>
          <p:nvPr>
            <p:ph/>
          </p:nvPr>
        </p:nvSpPr>
        <p:spPr>
          <a:xfrm>
            <a:off x="304920" y="1295280"/>
            <a:ext cx="8534160" cy="5181840"/>
          </a:xfrm>
          <a:prstGeom prst="rect">
            <a:avLst/>
          </a:prstGeom>
          <a:noFill/>
          <a:ln w="0">
            <a:noFill/>
          </a:ln>
        </p:spPr>
        <p:txBody>
          <a:bodyPr lIns="91440" tIns="45720" rIns="91440" bIns="45720" anchor="t">
            <a:normAutofit/>
          </a:bodyPr>
          <a:p>
            <a:pPr marL="343080" indent="-343080" algn="l">
              <a:lnSpc>
                <a:spcPct val="110000"/>
              </a:lnSpc>
              <a:spcBef>
                <a:spcPts val="45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u="none" strike="noStrike">
                <a:solidFill>
                  <a:srgbClr val="000000"/>
                </a:solidFill>
                <a:effectLst/>
                <a:uFillTx/>
                <a:latin typeface="Tahoma"/>
              </a:rPr>
              <a:t>Curse of dimensionality</a:t>
            </a:r>
            <a:endParaRPr lang="en-US" sz="1800" b="0" u="none" strike="noStrike">
              <a:solidFill>
                <a:srgbClr val="000000"/>
              </a:solidFill>
              <a:effectLst/>
              <a:uFillTx/>
              <a:latin typeface="Tahoma"/>
            </a:endParaRPr>
          </a:p>
          <a:p>
            <a:pPr marL="743040" lvl="1" indent="-285840" algn="l">
              <a:lnSpc>
                <a:spcPct val="110000"/>
              </a:lnSpc>
              <a:spcBef>
                <a:spcPts val="45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ahoma"/>
              </a:rPr>
              <a:t>When dimensionality increases, data becomes increasingly sparse</a:t>
            </a:r>
            <a:endParaRPr lang="en-US" sz="1800" b="0" u="none" strike="noStrike">
              <a:solidFill>
                <a:srgbClr val="000000"/>
              </a:solidFill>
              <a:effectLst/>
              <a:uFillTx/>
              <a:latin typeface="Tahoma"/>
            </a:endParaRPr>
          </a:p>
          <a:p>
            <a:pPr marL="743040" lvl="1" indent="-285840" algn="l">
              <a:lnSpc>
                <a:spcPct val="110000"/>
              </a:lnSpc>
              <a:spcBef>
                <a:spcPts val="45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ahoma"/>
              </a:rPr>
              <a:t>Density and distance between points, which is critical to clustering, outlier analysis, becomes less meaningful</a:t>
            </a:r>
            <a:endParaRPr lang="en-US" sz="1800" b="0" u="none" strike="noStrike">
              <a:solidFill>
                <a:srgbClr val="000000"/>
              </a:solidFill>
              <a:effectLst/>
              <a:uFillTx/>
              <a:latin typeface="Tahoma"/>
            </a:endParaRPr>
          </a:p>
          <a:p>
            <a:pPr marL="743040" lvl="1" indent="-285840" algn="l">
              <a:lnSpc>
                <a:spcPct val="110000"/>
              </a:lnSpc>
              <a:spcBef>
                <a:spcPts val="45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ahoma"/>
              </a:rPr>
              <a:t>The possible combinations of subspaces will grow exponentially</a:t>
            </a:r>
            <a:endParaRPr lang="en-US" sz="1800" b="0" u="none" strike="noStrike">
              <a:solidFill>
                <a:srgbClr val="000000"/>
              </a:solidFill>
              <a:effectLst/>
              <a:uFillTx/>
              <a:latin typeface="Tahoma"/>
            </a:endParaRPr>
          </a:p>
          <a:p>
            <a:pPr marL="343080" indent="-343080" algn="l">
              <a:lnSpc>
                <a:spcPct val="110000"/>
              </a:lnSpc>
              <a:spcBef>
                <a:spcPts val="45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u="none" strike="noStrike">
                <a:solidFill>
                  <a:srgbClr val="000000"/>
                </a:solidFill>
                <a:effectLst/>
                <a:uFillTx/>
                <a:latin typeface="Tahoma"/>
              </a:rPr>
              <a:t>Dimensionality reduction</a:t>
            </a:r>
            <a:endParaRPr lang="en-US" sz="1800" b="0" u="none" strike="noStrike">
              <a:solidFill>
                <a:srgbClr val="000000"/>
              </a:solidFill>
              <a:effectLst/>
              <a:uFillTx/>
              <a:latin typeface="Tahoma"/>
            </a:endParaRPr>
          </a:p>
          <a:p>
            <a:pPr marL="743040" lvl="1" indent="-285840" algn="l">
              <a:lnSpc>
                <a:spcPct val="110000"/>
              </a:lnSpc>
              <a:spcBef>
                <a:spcPts val="45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ahoma"/>
              </a:rPr>
              <a:t>Avoid the curse of dimensionality</a:t>
            </a:r>
            <a:endParaRPr lang="en-US" sz="1800" b="0" u="none" strike="noStrike">
              <a:solidFill>
                <a:srgbClr val="000000"/>
              </a:solidFill>
              <a:effectLst/>
              <a:uFillTx/>
              <a:latin typeface="Tahoma"/>
            </a:endParaRPr>
          </a:p>
          <a:p>
            <a:pPr marL="743040" lvl="1" indent="-285840" algn="l">
              <a:lnSpc>
                <a:spcPct val="110000"/>
              </a:lnSpc>
              <a:spcBef>
                <a:spcPts val="45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ahoma"/>
              </a:rPr>
              <a:t>Help eliminate irrelevant features and reduce noise</a:t>
            </a:r>
            <a:endParaRPr lang="en-US" sz="1800" b="0" u="none" strike="noStrike">
              <a:solidFill>
                <a:srgbClr val="000000"/>
              </a:solidFill>
              <a:effectLst/>
              <a:uFillTx/>
              <a:latin typeface="Tahoma"/>
            </a:endParaRPr>
          </a:p>
          <a:p>
            <a:pPr marL="743040" lvl="1" indent="-285840" algn="l">
              <a:lnSpc>
                <a:spcPct val="110000"/>
              </a:lnSpc>
              <a:spcBef>
                <a:spcPts val="45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ahoma"/>
              </a:rPr>
              <a:t>Reduce time and space required in data mining</a:t>
            </a:r>
            <a:endParaRPr lang="en-US" sz="1800" b="0" u="none" strike="noStrike">
              <a:solidFill>
                <a:srgbClr val="000000"/>
              </a:solidFill>
              <a:effectLst/>
              <a:uFillTx/>
              <a:latin typeface="Tahoma"/>
            </a:endParaRPr>
          </a:p>
          <a:p>
            <a:pPr marL="743040" lvl="1" indent="-285840" algn="l">
              <a:lnSpc>
                <a:spcPct val="110000"/>
              </a:lnSpc>
              <a:spcBef>
                <a:spcPts val="45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ahoma"/>
              </a:rPr>
              <a:t>Allow easier visualization</a:t>
            </a:r>
            <a:endParaRPr lang="en-US" sz="1800" b="0" u="none" strike="noStrike">
              <a:solidFill>
                <a:srgbClr val="000000"/>
              </a:solidFill>
              <a:effectLst/>
              <a:uFillTx/>
              <a:latin typeface="Tahoma"/>
            </a:endParaRPr>
          </a:p>
          <a:p>
            <a:pPr marL="343080" indent="-343080" algn="l">
              <a:lnSpc>
                <a:spcPct val="110000"/>
              </a:lnSpc>
              <a:spcBef>
                <a:spcPts val="45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1" u="none" strike="noStrike">
                <a:solidFill>
                  <a:srgbClr val="000000"/>
                </a:solidFill>
                <a:effectLst/>
                <a:uFillTx/>
                <a:latin typeface="Tahoma"/>
              </a:rPr>
              <a:t>Dimensionality reduction techniques</a:t>
            </a:r>
            <a:endParaRPr lang="en-US" sz="1800" b="0" u="none" strike="noStrike">
              <a:solidFill>
                <a:srgbClr val="000000"/>
              </a:solidFill>
              <a:effectLst/>
              <a:uFillTx/>
              <a:latin typeface="Tahoma"/>
            </a:endParaRPr>
          </a:p>
          <a:p>
            <a:pPr marL="743040" lvl="1" indent="-285840" algn="l">
              <a:lnSpc>
                <a:spcPct val="110000"/>
              </a:lnSpc>
              <a:spcBef>
                <a:spcPts val="45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ahoma"/>
              </a:rPr>
              <a:t>Wavelet transforms</a:t>
            </a:r>
            <a:endParaRPr lang="en-US" sz="1800" b="0" u="none" strike="noStrike">
              <a:solidFill>
                <a:srgbClr val="000000"/>
              </a:solidFill>
              <a:effectLst/>
              <a:uFillTx/>
              <a:latin typeface="Tahoma"/>
            </a:endParaRPr>
          </a:p>
          <a:p>
            <a:pPr marL="743040" lvl="1" indent="-285840" algn="l">
              <a:lnSpc>
                <a:spcPct val="110000"/>
              </a:lnSpc>
              <a:spcBef>
                <a:spcPts val="45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ahoma"/>
              </a:rPr>
              <a:t>Principal Component Analysis</a:t>
            </a:r>
            <a:endParaRPr lang="en-US" sz="1800" b="0" u="none" strike="noStrike">
              <a:solidFill>
                <a:srgbClr val="000000"/>
              </a:solidFill>
              <a:effectLst/>
              <a:uFillTx/>
              <a:latin typeface="Tahoma"/>
            </a:endParaRPr>
          </a:p>
          <a:p>
            <a:pPr marL="743040" lvl="1" indent="-285840" algn="l">
              <a:lnSpc>
                <a:spcPct val="110000"/>
              </a:lnSpc>
              <a:spcBef>
                <a:spcPts val="45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ahoma"/>
              </a:rPr>
              <a:t>Supervised and nonlinear techniques (e.g., feature selection)</a:t>
            </a:r>
            <a:endParaRPr lang="en-US" sz="1800" b="0" u="none" strike="noStrike">
              <a:solidFill>
                <a:srgbClr val="000000"/>
              </a:solidFill>
              <a:effectLst/>
              <a:uFillTx/>
              <a:latin typeface="Tahoma"/>
            </a:endParaRPr>
          </a:p>
        </p:txBody>
      </p:sp>
    </p:spTree>
  </p:cSld>
  <p:transition>
    <p:zoom dir="out"/>
  </p:transition>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33C742C-BFA1-4D9D-B132-6EF4CBE838E8}"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125" name="PlaceHolder 1"/>
          <p:cNvSpPr>
            <a:spLocks noGrp="1"/>
          </p:cNvSpPr>
          <p:nvPr>
            <p:ph type="title"/>
          </p:nvPr>
        </p:nvSpPr>
        <p:spPr>
          <a:xfrm>
            <a:off x="304560" y="304560"/>
            <a:ext cx="8584920" cy="68580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Mapping Data to a New Space</a:t>
            </a:r>
            <a:endParaRPr lang="en-US" sz="3600" b="1" u="none" strike="noStrike">
              <a:solidFill>
                <a:srgbClr val="333399"/>
              </a:solidFill>
              <a:effectLst/>
              <a:uFillTx/>
              <a:latin typeface="Berlin Sans FB Demi"/>
            </a:endParaRPr>
          </a:p>
        </p:txBody>
      </p:sp>
      <p:sp>
        <p:nvSpPr>
          <p:cNvPr id="126" name="PlaceHolder 2"/>
          <p:cNvSpPr>
            <a:spLocks noGrp="1"/>
          </p:cNvSpPr>
          <p:nvPr>
            <p:ph/>
          </p:nvPr>
        </p:nvSpPr>
        <p:spPr>
          <a:xfrm>
            <a:off x="146160" y="990720"/>
            <a:ext cx="8394480" cy="5029200"/>
          </a:xfrm>
          <a:prstGeom prst="rect">
            <a:avLst/>
          </a:prstGeom>
          <a:noFill/>
          <a:ln w="0">
            <a:noFill/>
          </a:ln>
        </p:spPr>
        <p:txBody>
          <a:bodyPr lIns="90360" tIns="44280" rIns="90360" bIns="44280" anchor="t">
            <a:normAutofit/>
          </a:bodyPr>
          <a:p>
            <a:pPr marL="285840" indent="0" algn="just">
              <a:lnSpc>
                <a:spcPct val="95000"/>
              </a:lnSpc>
              <a:spcBef>
                <a:spcPts val="700"/>
              </a:spcBef>
              <a:buNone/>
              <a:tabLst>
                <a:tab pos="1198440" algn="l"/>
                <a:tab pos="1828800" algn="l"/>
                <a:tab pos="2743200" algn="l"/>
                <a:tab pos="3657600" algn="l"/>
                <a:tab pos="4572000" algn="l"/>
                <a:tab pos="5486400" algn="l"/>
                <a:tab pos="6400800" algn="l"/>
                <a:tab pos="7315200" algn="l"/>
                <a:tab pos="8229600" algn="l"/>
                <a:tab pos="9144000" algn="l"/>
                <a:tab pos="10058400" algn="l"/>
              </a:tabLst>
            </a:pPr>
            <a:endParaRPr lang="en-US" sz="2800" b="0" u="none" strike="noStrike">
              <a:solidFill>
                <a:srgbClr val="000000"/>
              </a:solidFill>
              <a:effectLst/>
              <a:uFillTx/>
              <a:latin typeface="Tahoma"/>
            </a:endParaRPr>
          </a:p>
          <a:p>
            <a:pPr marL="285840" indent="0" algn="just">
              <a:lnSpc>
                <a:spcPct val="95000"/>
              </a:lnSpc>
              <a:spcBef>
                <a:spcPts val="700"/>
              </a:spcBef>
              <a:buNone/>
              <a:tabLst>
                <a:tab pos="1198440" algn="l"/>
                <a:tab pos="1828800" algn="l"/>
                <a:tab pos="2743200" algn="l"/>
                <a:tab pos="3657600" algn="l"/>
                <a:tab pos="4572000" algn="l"/>
                <a:tab pos="5486400" algn="l"/>
                <a:tab pos="6400800" algn="l"/>
                <a:tab pos="7315200" algn="l"/>
                <a:tab pos="8229600" algn="l"/>
                <a:tab pos="9144000" algn="l"/>
                <a:tab pos="10058400" algn="l"/>
              </a:tabLst>
            </a:pPr>
            <a:endParaRPr lang="en-US" sz="2800" b="0" u="none" strike="noStrike">
              <a:solidFill>
                <a:srgbClr val="000000"/>
              </a:solidFill>
              <a:effectLst/>
              <a:uFillTx/>
              <a:latin typeface="Tahoma"/>
            </a:endParaRPr>
          </a:p>
        </p:txBody>
      </p:sp>
      <p:sp>
        <p:nvSpPr>
          <p:cNvPr id="127" name="Text Box 4"/>
          <p:cNvSpPr/>
          <p:nvPr/>
        </p:nvSpPr>
        <p:spPr>
          <a:xfrm>
            <a:off x="1676520" y="3657600"/>
            <a:ext cx="1600200" cy="30492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876"/>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28" name="Rectangle 5"/>
          <p:cNvSpPr/>
          <p:nvPr/>
        </p:nvSpPr>
        <p:spPr>
          <a:xfrm>
            <a:off x="1717560" y="5985000"/>
            <a:ext cx="184320" cy="30456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spcBef>
                <a:spcPts val="876"/>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pic>
        <p:nvPicPr>
          <p:cNvPr id="129" name="Picture 6"/>
          <p:cNvPicPr/>
          <p:nvPr/>
        </p:nvPicPr>
        <p:blipFill>
          <a:blip r:embed="rId1"/>
          <a:srcRect l="0" t="0" r="8295" b="0"/>
          <a:stretch/>
        </p:blipFill>
        <p:spPr>
          <a:xfrm>
            <a:off x="5791320" y="2362320"/>
            <a:ext cx="3352680" cy="2741400"/>
          </a:xfrm>
          <a:prstGeom prst="rect">
            <a:avLst/>
          </a:prstGeom>
          <a:noFill/>
          <a:ln w="0">
            <a:noFill/>
          </a:ln>
        </p:spPr>
      </p:pic>
      <p:pic>
        <p:nvPicPr>
          <p:cNvPr id="130" name="Picture 7"/>
          <p:cNvPicPr/>
          <p:nvPr/>
        </p:nvPicPr>
        <p:blipFill>
          <a:blip r:embed="rId2"/>
          <a:srcRect l="6257" t="0" r="0" b="0"/>
          <a:stretch/>
        </p:blipFill>
        <p:spPr>
          <a:xfrm>
            <a:off x="0" y="2362320"/>
            <a:ext cx="3427560" cy="2741400"/>
          </a:xfrm>
          <a:prstGeom prst="rect">
            <a:avLst/>
          </a:prstGeom>
          <a:noFill/>
          <a:ln w="0">
            <a:noFill/>
          </a:ln>
        </p:spPr>
      </p:pic>
      <p:pic>
        <p:nvPicPr>
          <p:cNvPr id="131" name="Picture 8"/>
          <p:cNvPicPr/>
          <p:nvPr/>
        </p:nvPicPr>
        <p:blipFill>
          <a:blip r:embed="rId3"/>
          <a:srcRect l="8337" t="0" r="6207" b="0"/>
          <a:stretch/>
        </p:blipFill>
        <p:spPr>
          <a:xfrm>
            <a:off x="3048120" y="2362320"/>
            <a:ext cx="3124080" cy="2741400"/>
          </a:xfrm>
          <a:prstGeom prst="rect">
            <a:avLst/>
          </a:prstGeom>
          <a:noFill/>
          <a:ln w="0">
            <a:noFill/>
          </a:ln>
        </p:spPr>
      </p:pic>
      <p:sp>
        <p:nvSpPr>
          <p:cNvPr id="132" name="Text Box 9"/>
          <p:cNvSpPr/>
          <p:nvPr/>
        </p:nvSpPr>
        <p:spPr>
          <a:xfrm>
            <a:off x="685800" y="5410080"/>
            <a:ext cx="1905120" cy="30744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876"/>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Arial"/>
              </a:rPr>
              <a:t>Two Sine Waves</a:t>
            </a:r>
            <a:endParaRPr lang="en-US" sz="1400" b="0" u="none" strike="noStrike">
              <a:solidFill>
                <a:srgbClr val="000000"/>
              </a:solidFill>
              <a:effectLst/>
              <a:uFillTx/>
              <a:latin typeface="Tahoma"/>
            </a:endParaRPr>
          </a:p>
        </p:txBody>
      </p:sp>
      <p:sp>
        <p:nvSpPr>
          <p:cNvPr id="133" name="Text Box 10"/>
          <p:cNvSpPr/>
          <p:nvPr/>
        </p:nvSpPr>
        <p:spPr>
          <a:xfrm>
            <a:off x="3429000" y="5486400"/>
            <a:ext cx="2514600" cy="30744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876"/>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Arial"/>
              </a:rPr>
              <a:t>Two Sine Waves + Noise</a:t>
            </a:r>
            <a:endParaRPr lang="en-US" sz="1400" b="0" u="none" strike="noStrike">
              <a:solidFill>
                <a:srgbClr val="000000"/>
              </a:solidFill>
              <a:effectLst/>
              <a:uFillTx/>
              <a:latin typeface="Tahoma"/>
            </a:endParaRPr>
          </a:p>
        </p:txBody>
      </p:sp>
      <p:sp>
        <p:nvSpPr>
          <p:cNvPr id="134" name="Text Box 11"/>
          <p:cNvSpPr/>
          <p:nvPr/>
        </p:nvSpPr>
        <p:spPr>
          <a:xfrm>
            <a:off x="6324480" y="5486400"/>
            <a:ext cx="2514600" cy="30744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876"/>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Arial"/>
              </a:rPr>
              <a:t>Frequency</a:t>
            </a:r>
            <a:endParaRPr lang="en-US" sz="1400" b="0" u="none" strike="noStrike">
              <a:solidFill>
                <a:srgbClr val="000000"/>
              </a:solidFill>
              <a:effectLst/>
              <a:uFillTx/>
              <a:latin typeface="Tahoma"/>
            </a:endParaRPr>
          </a:p>
        </p:txBody>
      </p:sp>
      <p:sp>
        <p:nvSpPr>
          <p:cNvPr id="135" name="Rectangle 12"/>
          <p:cNvSpPr/>
          <p:nvPr/>
        </p:nvSpPr>
        <p:spPr>
          <a:xfrm>
            <a:off x="298440" y="1143000"/>
            <a:ext cx="8394840" cy="5029200"/>
          </a:xfrm>
          <a:prstGeom prst="rect">
            <a:avLst/>
          </a:prstGeom>
          <a:noFill/>
          <a:ln w="0">
            <a:noFill/>
          </a:ln>
        </p:spPr>
        <p:style>
          <a:lnRef idx="0"/>
          <a:fillRef idx="0"/>
          <a:effectRef idx="0"/>
          <a:fontRef idx="minor"/>
        </p:style>
        <p:txBody>
          <a:bodyPr lIns="90360" tIns="44280" rIns="90360" bIns="44280" anchor="t">
            <a:noAutofit/>
          </a:bodyPr>
          <a:p>
            <a:pPr marL="285840" indent="-285840" algn="just">
              <a:lnSpc>
                <a:spcPct val="95000"/>
              </a:lnSpc>
              <a:spcBef>
                <a:spcPts val="700"/>
              </a:spcBef>
              <a:buClr>
                <a:srgbClr val="3333CC"/>
              </a:buClr>
              <a:buSzPct val="60000"/>
              <a:buFont typeface="Wingdings" charset="2"/>
              <a:buChar char=""/>
              <a:tabLst>
                <a:tab pos="119844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ahoma"/>
                <a:ea typeface="Tahoma"/>
              </a:rPr>
              <a:t>Fourier transform</a:t>
            </a:r>
            <a:endParaRPr lang="en-US" sz="2800" b="0" u="none" strike="noStrike">
              <a:solidFill>
                <a:srgbClr val="000000"/>
              </a:solidFill>
              <a:effectLst/>
              <a:uFillTx/>
              <a:latin typeface="Tahoma"/>
            </a:endParaRPr>
          </a:p>
          <a:p>
            <a:pPr marL="285840" indent="-285840" algn="just">
              <a:lnSpc>
                <a:spcPct val="95000"/>
              </a:lnSpc>
              <a:spcBef>
                <a:spcPts val="700"/>
              </a:spcBef>
              <a:buClr>
                <a:srgbClr val="3333CC"/>
              </a:buClr>
              <a:buSzPct val="60000"/>
              <a:buFont typeface="Wingdings" charset="2"/>
              <a:buChar char=""/>
              <a:tabLst>
                <a:tab pos="1198440" algn="l"/>
                <a:tab pos="1828800" algn="l"/>
                <a:tab pos="2743200" algn="l"/>
                <a:tab pos="3657600" algn="l"/>
                <a:tab pos="4572000" algn="l"/>
                <a:tab pos="5486400" algn="l"/>
                <a:tab pos="6400800" algn="l"/>
                <a:tab pos="7315200" algn="l"/>
                <a:tab pos="8229600" algn="l"/>
                <a:tab pos="9144000" algn="l"/>
                <a:tab pos="10058400" algn="l"/>
              </a:tabLst>
            </a:pPr>
            <a:r>
              <a:rPr lang="en-US" sz="2800" b="1" u="none" strike="noStrike">
                <a:solidFill>
                  <a:srgbClr val="000000"/>
                </a:solidFill>
                <a:effectLst/>
                <a:uFillTx/>
                <a:latin typeface="Tahoma"/>
                <a:ea typeface="Tahoma"/>
              </a:rPr>
              <a:t>Wavelet transform </a:t>
            </a:r>
            <a:endParaRPr lang="en-US" sz="2800" b="0" u="none" strike="noStrike">
              <a:solidFill>
                <a:srgbClr val="000000"/>
              </a:solidFill>
              <a:effectLst/>
              <a:uFillTx/>
              <a:latin typeface="Tahoma"/>
            </a:endParaRPr>
          </a:p>
        </p:txBody>
      </p:sp>
    </p:spTree>
  </p:cSld>
  <p:transition>
    <p:zoom dir="out"/>
  </p:transition>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6B899E5-A018-4B1D-B5EC-B8BF5336AF15}"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137" name="PlaceHolder 1"/>
          <p:cNvSpPr>
            <a:spLocks noGrp="1"/>
          </p:cNvSpPr>
          <p:nvPr>
            <p:ph type="title"/>
          </p:nvPr>
        </p:nvSpPr>
        <p:spPr>
          <a:xfrm>
            <a:off x="152280" y="304560"/>
            <a:ext cx="876312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What Is Wavelet Transform?</a:t>
            </a:r>
            <a:endParaRPr lang="en-US" sz="3600" b="1" u="none" strike="noStrike">
              <a:solidFill>
                <a:srgbClr val="333399"/>
              </a:solidFill>
              <a:effectLst/>
              <a:uFillTx/>
              <a:latin typeface="Berlin Sans FB Demi"/>
            </a:endParaRPr>
          </a:p>
        </p:txBody>
      </p:sp>
      <p:sp>
        <p:nvSpPr>
          <p:cNvPr id="138" name="PlaceHolder 2"/>
          <p:cNvSpPr>
            <a:spLocks noGrp="1"/>
          </p:cNvSpPr>
          <p:nvPr>
            <p:ph/>
          </p:nvPr>
        </p:nvSpPr>
        <p:spPr>
          <a:xfrm>
            <a:off x="304920" y="1295280"/>
            <a:ext cx="4572000" cy="5181840"/>
          </a:xfrm>
          <a:prstGeom prst="rect">
            <a:avLst/>
          </a:prstGeom>
          <a:noFill/>
          <a:ln w="0">
            <a:noFill/>
          </a:ln>
        </p:spPr>
        <p:txBody>
          <a:bodyPr lIns="91440" tIns="45720" rIns="91440" bIns="45720" anchor="t">
            <a:normAutofit/>
          </a:bodyPr>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Decomposes a signal into different frequency subbands</a:t>
            </a:r>
            <a:endParaRPr lang="en-US" sz="2400" b="0" u="none" strike="noStrike">
              <a:solidFill>
                <a:srgbClr val="000000"/>
              </a:solidFill>
              <a:effectLst/>
              <a:uFillTx/>
              <a:latin typeface="Tahoma"/>
            </a:endParaRPr>
          </a:p>
          <a:p>
            <a:pPr marL="743040" lvl="1" indent="-285840" algn="l">
              <a:lnSpc>
                <a:spcPct val="11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Applicable to n-dimensional signals</a:t>
            </a: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are transformed to preserve relative distance between objects at different levels of resolution</a:t>
            </a: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Allow natural clusters to become more distinguishable</a:t>
            </a: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Used for image compression</a:t>
            </a:r>
            <a:endParaRPr lang="en-US" sz="2400" b="0" u="none" strike="noStrike">
              <a:solidFill>
                <a:srgbClr val="000000"/>
              </a:solidFill>
              <a:effectLst/>
              <a:uFillTx/>
              <a:latin typeface="Tahoma"/>
            </a:endParaRPr>
          </a:p>
        </p:txBody>
      </p:sp>
      <p:pic>
        <p:nvPicPr>
          <p:cNvPr id="139" name="Picture 4" descr="Lina"/>
          <p:cNvPicPr/>
          <p:nvPr/>
        </p:nvPicPr>
        <p:blipFill>
          <a:blip r:embed="rId1"/>
          <a:stretch/>
        </p:blipFill>
        <p:spPr>
          <a:xfrm>
            <a:off x="4952880" y="1434960"/>
            <a:ext cx="4111920" cy="4584960"/>
          </a:xfrm>
          <a:prstGeom prst="rect">
            <a:avLst/>
          </a:prstGeom>
          <a:noFill/>
          <a:ln w="0">
            <a:noFill/>
          </a:ln>
        </p:spPr>
      </p:pic>
    </p:spTree>
  </p:cSld>
  <p:transition>
    <p:zoom dir="out"/>
  </p:transition>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C0C41C5-A8F6-4B2D-AFBA-D100FC4D422E}"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141" name="PlaceHolder 1"/>
          <p:cNvSpPr>
            <a:spLocks noGrp="1"/>
          </p:cNvSpPr>
          <p:nvPr>
            <p:ph type="title"/>
          </p:nvPr>
        </p:nvSpPr>
        <p:spPr>
          <a:xfrm>
            <a:off x="228240" y="228600"/>
            <a:ext cx="6629400" cy="8380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1" u="none" strike="noStrike">
                <a:solidFill>
                  <a:srgbClr val="333399"/>
                </a:solidFill>
                <a:effectLst/>
                <a:uFillTx/>
                <a:latin typeface="Berlin Sans FB Demi"/>
              </a:rPr>
              <a:t>Wavelet Transformation</a:t>
            </a:r>
            <a:r>
              <a:rPr lang="en-US" sz="3200" b="1" u="none" strike="noStrike">
                <a:solidFill>
                  <a:srgbClr val="333399"/>
                </a:solidFill>
                <a:effectLst/>
                <a:uFillTx/>
                <a:latin typeface="Berlin Sans FB Demi"/>
              </a:rPr>
              <a:t> </a:t>
            </a:r>
            <a:endParaRPr lang="en-US" sz="3200" b="1" u="none" strike="noStrike">
              <a:solidFill>
                <a:srgbClr val="333399"/>
              </a:solidFill>
              <a:effectLst/>
              <a:uFillTx/>
              <a:latin typeface="Berlin Sans FB Demi"/>
            </a:endParaRPr>
          </a:p>
        </p:txBody>
      </p:sp>
      <p:sp>
        <p:nvSpPr>
          <p:cNvPr id="142" name="PlaceHolder 2"/>
          <p:cNvSpPr>
            <a:spLocks noGrp="1"/>
          </p:cNvSpPr>
          <p:nvPr>
            <p:ph/>
          </p:nvPr>
        </p:nvSpPr>
        <p:spPr>
          <a:xfrm>
            <a:off x="304560" y="1447560"/>
            <a:ext cx="8458200" cy="4933800"/>
          </a:xfrm>
          <a:prstGeom prst="rect">
            <a:avLst/>
          </a:prstGeom>
          <a:noFill/>
          <a:ln w="0">
            <a:noFill/>
          </a:ln>
        </p:spPr>
        <p:txBody>
          <a:bodyPr lIns="91440" tIns="45720" rIns="91440" bIns="45720" anchor="t">
            <a:normAutofit lnSpcReduction="9999"/>
          </a:bodyPr>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Discrete wavelet transform (DWT) for linear signal processing, multi-resolution analysis</a:t>
            </a: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Compressed approximation: store only a small fraction of the strongest of the wavelet coefficients</a:t>
            </a: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Similar to discrete Fourier transform (DFT), but better lossy compression, localized in space</a:t>
            </a: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Method:</a:t>
            </a:r>
            <a:endParaRPr lang="en-US" sz="2400" b="0" u="none" strike="noStrike">
              <a:solidFill>
                <a:srgbClr val="000000"/>
              </a:solidFill>
              <a:effectLst/>
              <a:uFillTx/>
              <a:latin typeface="Tahoma"/>
            </a:endParaRPr>
          </a:p>
          <a:p>
            <a:pPr marL="743040" lvl="1" indent="-285840" algn="l">
              <a:lnSpc>
                <a:spcPct val="11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Length, L, must be an integer power of 2 (padding with 0’s, when necessary)</a:t>
            </a:r>
            <a:endParaRPr lang="en-US" sz="2000" b="0" u="none" strike="noStrike">
              <a:solidFill>
                <a:srgbClr val="000000"/>
              </a:solidFill>
              <a:effectLst/>
              <a:uFillTx/>
              <a:latin typeface="Tahoma"/>
            </a:endParaRPr>
          </a:p>
          <a:p>
            <a:pPr marL="743040" lvl="1" indent="-285840" algn="l">
              <a:lnSpc>
                <a:spcPct val="11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Each transform has 2 functions: smoothing, difference</a:t>
            </a:r>
            <a:endParaRPr lang="en-US" sz="2000" b="0" u="none" strike="noStrike">
              <a:solidFill>
                <a:srgbClr val="000000"/>
              </a:solidFill>
              <a:effectLst/>
              <a:uFillTx/>
              <a:latin typeface="Tahoma"/>
            </a:endParaRPr>
          </a:p>
          <a:p>
            <a:pPr marL="743040" lvl="1" indent="-285840" algn="l">
              <a:lnSpc>
                <a:spcPct val="11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Applies to pairs of data, resulting in two set of data of length L/2</a:t>
            </a:r>
            <a:endParaRPr lang="en-US" sz="2000" b="0" u="none" strike="noStrike">
              <a:solidFill>
                <a:srgbClr val="000000"/>
              </a:solidFill>
              <a:effectLst/>
              <a:uFillTx/>
              <a:latin typeface="Tahoma"/>
            </a:endParaRPr>
          </a:p>
          <a:p>
            <a:pPr marL="743040" lvl="1" indent="-285840" algn="l">
              <a:lnSpc>
                <a:spcPct val="11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Applies two functions recursively, until reaches the desired length</a:t>
            </a:r>
            <a:endParaRPr lang="en-US" sz="2000" b="0" u="none" strike="noStrike">
              <a:solidFill>
                <a:srgbClr val="000000"/>
              </a:solidFill>
              <a:effectLst/>
              <a:uFillTx/>
              <a:latin typeface="Tahoma"/>
            </a:endParaRPr>
          </a:p>
        </p:txBody>
      </p:sp>
      <p:grpSp>
        <p:nvGrpSpPr>
          <p:cNvPr id="143" name="Group 4"/>
          <p:cNvGrpSpPr/>
          <p:nvPr/>
        </p:nvGrpSpPr>
        <p:grpSpPr>
          <a:xfrm>
            <a:off x="6553080" y="0"/>
            <a:ext cx="2590560" cy="1581120"/>
            <a:chOff x="6553080" y="0"/>
            <a:chExt cx="2590560" cy="1581120"/>
          </a:xfrm>
        </p:grpSpPr>
        <p:sp>
          <p:nvSpPr>
            <p:cNvPr id="144" name="Rectangle 5"/>
            <p:cNvSpPr/>
            <p:nvPr/>
          </p:nvSpPr>
          <p:spPr>
            <a:xfrm>
              <a:off x="6553080" y="0"/>
              <a:ext cx="2590560" cy="1524240"/>
            </a:xfrm>
            <a:prstGeom prst="rect">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 </a:t>
              </a:r>
              <a:endParaRPr lang="en-US" sz="2400" b="0" u="none" strike="noStrike">
                <a:solidFill>
                  <a:srgbClr val="000000"/>
                </a:solidFill>
                <a:effectLst/>
                <a:uFillTx/>
                <a:latin typeface="Tahoma"/>
              </a:endParaRPr>
            </a:p>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45" name="Line 6"/>
            <p:cNvSpPr/>
            <p:nvPr/>
          </p:nvSpPr>
          <p:spPr>
            <a:xfrm>
              <a:off x="6629040" y="1219320"/>
              <a:ext cx="2286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ahoma"/>
              </a:endParaRPr>
            </a:p>
          </p:txBody>
        </p:sp>
        <p:sp>
          <p:nvSpPr>
            <p:cNvPr id="146" name="Line 7"/>
            <p:cNvSpPr/>
            <p:nvPr/>
          </p:nvSpPr>
          <p:spPr>
            <a:xfrm flipV="1">
              <a:off x="6857640" y="304920"/>
              <a:ext cx="0" cy="9144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ahoma"/>
              </a:endParaRPr>
            </a:p>
          </p:txBody>
        </p:sp>
        <p:sp>
          <p:nvSpPr>
            <p:cNvPr id="147" name="Line 8"/>
            <p:cNvSpPr/>
            <p:nvPr/>
          </p:nvSpPr>
          <p:spPr>
            <a:xfrm>
              <a:off x="6857640" y="304920"/>
              <a:ext cx="45720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ahoma"/>
              </a:endParaRPr>
            </a:p>
          </p:txBody>
        </p:sp>
        <p:sp>
          <p:nvSpPr>
            <p:cNvPr id="148" name="Line 9"/>
            <p:cNvSpPr/>
            <p:nvPr/>
          </p:nvSpPr>
          <p:spPr>
            <a:xfrm>
              <a:off x="7314840" y="304920"/>
              <a:ext cx="0" cy="9144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ahoma"/>
              </a:endParaRPr>
            </a:p>
          </p:txBody>
        </p:sp>
        <p:sp>
          <p:nvSpPr>
            <p:cNvPr id="149" name="Line 10"/>
            <p:cNvSpPr/>
            <p:nvPr/>
          </p:nvSpPr>
          <p:spPr>
            <a:xfrm>
              <a:off x="7314840" y="1219320"/>
              <a:ext cx="30492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ahoma"/>
              </a:endParaRPr>
            </a:p>
          </p:txBody>
        </p:sp>
        <p:sp>
          <p:nvSpPr>
            <p:cNvPr id="150" name="Line 11"/>
            <p:cNvSpPr/>
            <p:nvPr/>
          </p:nvSpPr>
          <p:spPr>
            <a:xfrm>
              <a:off x="8000640" y="1219320"/>
              <a:ext cx="1526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ahoma"/>
              </a:endParaRPr>
            </a:p>
          </p:txBody>
        </p:sp>
        <p:sp>
          <p:nvSpPr>
            <p:cNvPr id="151" name="Line 12"/>
            <p:cNvSpPr/>
            <p:nvPr/>
          </p:nvSpPr>
          <p:spPr>
            <a:xfrm flipV="1">
              <a:off x="8153280" y="381240"/>
              <a:ext cx="304560" cy="83808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ahoma"/>
              </a:endParaRPr>
            </a:p>
          </p:txBody>
        </p:sp>
        <p:sp>
          <p:nvSpPr>
            <p:cNvPr id="152" name="Line 13"/>
            <p:cNvSpPr/>
            <p:nvPr/>
          </p:nvSpPr>
          <p:spPr>
            <a:xfrm>
              <a:off x="8457840" y="381240"/>
              <a:ext cx="15264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ahoma"/>
              </a:endParaRPr>
            </a:p>
          </p:txBody>
        </p:sp>
        <p:sp>
          <p:nvSpPr>
            <p:cNvPr id="153" name="Line 14"/>
            <p:cNvSpPr/>
            <p:nvPr/>
          </p:nvSpPr>
          <p:spPr>
            <a:xfrm>
              <a:off x="8610480" y="838440"/>
              <a:ext cx="152280" cy="45720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ahoma"/>
              </a:endParaRPr>
            </a:p>
          </p:txBody>
        </p:sp>
        <p:sp>
          <p:nvSpPr>
            <p:cNvPr id="154" name="Line 15"/>
            <p:cNvSpPr/>
            <p:nvPr/>
          </p:nvSpPr>
          <p:spPr>
            <a:xfrm flipV="1">
              <a:off x="8762760" y="1219320"/>
              <a:ext cx="152280" cy="76320"/>
            </a:xfrm>
            <a:prstGeom prst="line">
              <a:avLst/>
            </a:prstGeom>
            <a:ln w="9360">
              <a:solidFill>
                <a:srgbClr val="000000"/>
              </a:solidFill>
              <a:miter/>
            </a:ln>
          </p:spPr>
          <p:style>
            <a:lnRef idx="0"/>
            <a:fillRef idx="0"/>
            <a:effectRef idx="0"/>
            <a:fontRef idx="minor"/>
          </p:style>
          <p:txBody>
            <a:bodyPr lIns="90000" tIns="29520" rIns="90000" bIns="29520" anchor="t">
              <a:noAutofit/>
            </a:bodyPr>
            <a:p>
              <a:endParaRPr lang="en-US" sz="2400" b="0" u="none" strike="noStrike">
                <a:solidFill>
                  <a:srgbClr val="000000"/>
                </a:solidFill>
                <a:effectLst/>
                <a:uFillTx/>
                <a:latin typeface="Tahoma"/>
              </a:endParaRPr>
            </a:p>
          </p:txBody>
        </p:sp>
        <p:sp>
          <p:nvSpPr>
            <p:cNvPr id="155" name="Line 16"/>
            <p:cNvSpPr/>
            <p:nvPr/>
          </p:nvSpPr>
          <p:spPr>
            <a:xfrm>
              <a:off x="8915040" y="1219320"/>
              <a:ext cx="152640" cy="0"/>
            </a:xfrm>
            <a:prstGeom prst="line">
              <a:avLst/>
            </a:prstGeom>
            <a:ln w="9360">
              <a:solidFill>
                <a:srgbClr val="000000"/>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ahoma"/>
              </a:endParaRPr>
            </a:p>
          </p:txBody>
        </p:sp>
        <p:sp>
          <p:nvSpPr>
            <p:cNvPr id="156" name="Rectangle 17"/>
            <p:cNvSpPr/>
            <p:nvPr/>
          </p:nvSpPr>
          <p:spPr>
            <a:xfrm>
              <a:off x="6774120" y="1219320"/>
              <a:ext cx="732600" cy="337680"/>
            </a:xfrm>
            <a:prstGeom prst="rect">
              <a:avLst/>
            </a:prstGeom>
            <a:noFill/>
            <a:ln w="0">
              <a:noFill/>
            </a:ln>
          </p:spPr>
          <p:style>
            <a:lnRef idx="0"/>
            <a:fillRef idx="0"/>
            <a:effectRef idx="0"/>
            <a:fontRef idx="minor"/>
          </p:style>
          <p:txBody>
            <a:bodyPr wrap="none" lIns="90000" tIns="46800" rIns="90000" bIns="46800" anchor="t">
              <a:sp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ahoma"/>
                </a:rPr>
                <a:t>Haar2</a:t>
              </a:r>
              <a:endParaRPr lang="en-US" sz="1600" b="0" u="none" strike="noStrike">
                <a:solidFill>
                  <a:srgbClr val="000000"/>
                </a:solidFill>
                <a:effectLst/>
                <a:uFillTx/>
                <a:latin typeface="Tahoma"/>
              </a:endParaRPr>
            </a:p>
          </p:txBody>
        </p:sp>
        <p:sp>
          <p:nvSpPr>
            <p:cNvPr id="157" name="Rectangle 18"/>
            <p:cNvSpPr/>
            <p:nvPr/>
          </p:nvSpPr>
          <p:spPr>
            <a:xfrm>
              <a:off x="7832520" y="1219320"/>
              <a:ext cx="1262520" cy="361800"/>
            </a:xfrm>
            <a:prstGeom prst="rect">
              <a:avLst/>
            </a:prstGeom>
            <a:noFill/>
            <a:ln w="0">
              <a:noFill/>
            </a:ln>
          </p:spPr>
          <p:style>
            <a:lnRef idx="0"/>
            <a:fillRef idx="0"/>
            <a:effectRef idx="0"/>
            <a:fontRef idx="minor"/>
          </p:style>
          <p:txBody>
            <a:bodyPr wrap="none" lIns="90000" tIns="46800" rIns="90000" bIns="46800" anchor="t">
              <a:spAutoFit/>
            </a:bodyPr>
            <a:p>
              <a:pPr>
                <a:lnSpc>
                  <a:spcPct val="110000"/>
                </a:lnSpc>
                <a:spcBef>
                  <a:spcPts val="4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600" b="0" u="none" strike="noStrike">
                  <a:solidFill>
                    <a:srgbClr val="000000"/>
                  </a:solidFill>
                  <a:effectLst/>
                  <a:uFillTx/>
                  <a:latin typeface="Tahoma"/>
                </a:rPr>
                <a:t>Daubechie4</a:t>
              </a:r>
              <a:endParaRPr lang="en-US" sz="1600" b="0" u="none" strike="noStrike">
                <a:solidFill>
                  <a:srgbClr val="000000"/>
                </a:solidFill>
                <a:effectLst/>
                <a:uFillTx/>
                <a:latin typeface="Tahoma"/>
              </a:endParaRPr>
            </a:p>
          </p:txBody>
        </p:sp>
      </p:grpSp>
    </p:spTree>
  </p:cSld>
  <p:transition>
    <p:zoom dir="out"/>
  </p:transition>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E25051F-E07A-4F54-B447-0971EA4D3C07}"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159" name="PlaceHolder 1"/>
          <p:cNvSpPr>
            <a:spLocks noGrp="1"/>
          </p:cNvSpPr>
          <p:nvPr>
            <p:ph type="title"/>
          </p:nvPr>
        </p:nvSpPr>
        <p:spPr>
          <a:xfrm>
            <a:off x="152280" y="304560"/>
            <a:ext cx="876312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Wavelet Decomposition</a:t>
            </a:r>
            <a:endParaRPr lang="en-US" sz="3600" b="1" u="none" strike="noStrike">
              <a:solidFill>
                <a:srgbClr val="333399"/>
              </a:solidFill>
              <a:effectLst/>
              <a:uFillTx/>
              <a:latin typeface="Berlin Sans FB Demi"/>
            </a:endParaRPr>
          </a:p>
        </p:txBody>
      </p:sp>
      <p:sp>
        <p:nvSpPr>
          <p:cNvPr id="160" name="PlaceHolder 2"/>
          <p:cNvSpPr>
            <a:spLocks noGrp="1"/>
          </p:cNvSpPr>
          <p:nvPr>
            <p:ph/>
          </p:nvPr>
        </p:nvSpPr>
        <p:spPr>
          <a:xfrm>
            <a:off x="304560" y="1295280"/>
            <a:ext cx="8381880" cy="5181840"/>
          </a:xfrm>
          <a:prstGeom prst="rect">
            <a:avLst/>
          </a:prstGeom>
          <a:noFill/>
          <a:ln w="0">
            <a:noFill/>
          </a:ln>
        </p:spPr>
        <p:txBody>
          <a:bodyPr lIns="91440" tIns="45720" rIns="91440" bIns="45720" anchor="t">
            <a:normAutofit/>
          </a:bodyPr>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Wavelets: A math tool for space-efficient hierarchical decomposition of functions </a:t>
            </a: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S = [2, 2, 0, 2, 3, 5, 4, 4] can be transformed to S</a:t>
            </a:r>
            <a:r>
              <a:rPr lang="en-US" sz="2400" b="0" u="none" strike="noStrike" baseline="-25000">
                <a:solidFill>
                  <a:srgbClr val="000000"/>
                </a:solidFill>
                <a:effectLst/>
                <a:uFillTx/>
                <a:latin typeface="Tahoma"/>
              </a:rPr>
              <a:t>^ </a:t>
            </a:r>
            <a:r>
              <a:rPr lang="en-US" sz="2400" b="0" u="none" strike="noStrike">
                <a:solidFill>
                  <a:srgbClr val="000000"/>
                </a:solidFill>
                <a:effectLst/>
                <a:uFillTx/>
                <a:latin typeface="Tahoma"/>
              </a:rPr>
              <a:t>= [2</a:t>
            </a:r>
            <a:r>
              <a:rPr lang="en-US" sz="2400" b="0" u="none" strike="noStrike" baseline="30000">
                <a:solidFill>
                  <a:srgbClr val="000000"/>
                </a:solidFill>
                <a:effectLst/>
                <a:uFillTx/>
                <a:latin typeface="Tahoma"/>
              </a:rPr>
              <a:t>3</a:t>
            </a:r>
            <a:r>
              <a:rPr lang="en-US" sz="2400" b="0" u="none" strike="noStrike">
                <a:solidFill>
                  <a:srgbClr val="000000"/>
                </a:solidFill>
                <a:effectLst/>
                <a:uFillTx/>
                <a:latin typeface="Tahoma"/>
              </a:rPr>
              <a:t>/</a:t>
            </a:r>
            <a:r>
              <a:rPr lang="en-US" sz="2400" b="0" u="none" strike="noStrike" baseline="-25000">
                <a:solidFill>
                  <a:srgbClr val="000000"/>
                </a:solidFill>
                <a:effectLst/>
                <a:uFillTx/>
                <a:latin typeface="Tahoma"/>
              </a:rPr>
              <a:t>4</a:t>
            </a:r>
            <a:r>
              <a:rPr lang="en-US" sz="2400" b="0" u="none" strike="noStrike">
                <a:solidFill>
                  <a:srgbClr val="000000"/>
                </a:solidFill>
                <a:effectLst/>
                <a:uFillTx/>
                <a:latin typeface="Tahoma"/>
              </a:rPr>
              <a:t>, -1</a:t>
            </a:r>
            <a:r>
              <a:rPr lang="en-US" sz="2400" b="0" u="none" strike="noStrike" baseline="30000">
                <a:solidFill>
                  <a:srgbClr val="000000"/>
                </a:solidFill>
                <a:effectLst/>
                <a:uFillTx/>
                <a:latin typeface="Tahoma"/>
              </a:rPr>
              <a:t>1</a:t>
            </a:r>
            <a:r>
              <a:rPr lang="en-US" sz="2400" b="0" u="none" strike="noStrike">
                <a:solidFill>
                  <a:srgbClr val="000000"/>
                </a:solidFill>
                <a:effectLst/>
                <a:uFillTx/>
                <a:latin typeface="Tahoma"/>
              </a:rPr>
              <a:t>/</a:t>
            </a:r>
            <a:r>
              <a:rPr lang="en-US" sz="2400" b="0" u="none" strike="noStrike" baseline="-25000">
                <a:solidFill>
                  <a:srgbClr val="000000"/>
                </a:solidFill>
                <a:effectLst/>
                <a:uFillTx/>
                <a:latin typeface="Tahoma"/>
              </a:rPr>
              <a:t>4</a:t>
            </a:r>
            <a:r>
              <a:rPr lang="en-US" sz="2400" b="0" u="none" strike="noStrike">
                <a:solidFill>
                  <a:srgbClr val="000000"/>
                </a:solidFill>
                <a:effectLst/>
                <a:uFillTx/>
                <a:latin typeface="Tahoma"/>
              </a:rPr>
              <a:t>, </a:t>
            </a:r>
            <a:r>
              <a:rPr lang="en-US" sz="2400" b="0" u="none" strike="noStrike" baseline="30000">
                <a:solidFill>
                  <a:srgbClr val="000000"/>
                </a:solidFill>
                <a:effectLst/>
                <a:uFillTx/>
                <a:latin typeface="Tahoma"/>
              </a:rPr>
              <a:t>1</a:t>
            </a:r>
            <a:r>
              <a:rPr lang="en-US" sz="2400" b="0" u="none" strike="noStrike">
                <a:solidFill>
                  <a:srgbClr val="000000"/>
                </a:solidFill>
                <a:effectLst/>
                <a:uFillTx/>
                <a:latin typeface="Tahoma"/>
              </a:rPr>
              <a:t>/</a:t>
            </a:r>
            <a:r>
              <a:rPr lang="en-US" sz="2400" b="0" u="none" strike="noStrike" baseline="-25000">
                <a:solidFill>
                  <a:srgbClr val="000000"/>
                </a:solidFill>
                <a:effectLst/>
                <a:uFillTx/>
                <a:latin typeface="Tahoma"/>
              </a:rPr>
              <a:t>2</a:t>
            </a:r>
            <a:r>
              <a:rPr lang="en-US" sz="2400" b="0" u="none" strike="noStrike">
                <a:solidFill>
                  <a:srgbClr val="000000"/>
                </a:solidFill>
                <a:effectLst/>
                <a:uFillTx/>
                <a:latin typeface="Tahoma"/>
              </a:rPr>
              <a:t>, 0, 0, -1, -1, 0]</a:t>
            </a: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Compression: many small detail coefficients can be replaced by 0’s, and only the significant coefficients are retained</a:t>
            </a:r>
            <a:endParaRPr lang="en-US" sz="2400" b="0" u="none" strike="noStrike">
              <a:solidFill>
                <a:srgbClr val="000000"/>
              </a:solidFill>
              <a:effectLst/>
              <a:uFillTx/>
              <a:latin typeface="Tahoma"/>
            </a:endParaRPr>
          </a:p>
        </p:txBody>
      </p:sp>
      <p:pic>
        <p:nvPicPr>
          <p:cNvPr id="161" name="Picture 4"/>
          <p:cNvPicPr/>
          <p:nvPr/>
        </p:nvPicPr>
        <p:blipFill>
          <a:blip r:embed="rId1"/>
          <a:stretch/>
        </p:blipFill>
        <p:spPr>
          <a:xfrm>
            <a:off x="685800" y="4419720"/>
            <a:ext cx="7543800" cy="2047680"/>
          </a:xfrm>
          <a:prstGeom prst="rect">
            <a:avLst/>
          </a:prstGeom>
          <a:noFill/>
          <a:ln w="0">
            <a:noFill/>
          </a:ln>
        </p:spPr>
      </p:pic>
    </p:spTree>
  </p:cSld>
  <p:transition>
    <p:zoom dir="out"/>
  </p:transition>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AAD9998-6614-4398-8BF8-7862A0C77DF1}"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163" name="PlaceHolder 1"/>
          <p:cNvSpPr>
            <a:spLocks noGrp="1"/>
          </p:cNvSpPr>
          <p:nvPr>
            <p:ph type="title"/>
          </p:nvPr>
        </p:nvSpPr>
        <p:spPr>
          <a:xfrm>
            <a:off x="152280" y="304560"/>
            <a:ext cx="876312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Why Wavelet Transform?</a:t>
            </a:r>
            <a:endParaRPr lang="en-US" sz="3600" b="1" u="none" strike="noStrike">
              <a:solidFill>
                <a:srgbClr val="333399"/>
              </a:solidFill>
              <a:effectLst/>
              <a:uFillTx/>
              <a:latin typeface="Berlin Sans FB Demi"/>
            </a:endParaRPr>
          </a:p>
        </p:txBody>
      </p:sp>
      <p:sp>
        <p:nvSpPr>
          <p:cNvPr id="164" name="PlaceHolder 2"/>
          <p:cNvSpPr>
            <a:spLocks noGrp="1"/>
          </p:cNvSpPr>
          <p:nvPr>
            <p:ph/>
          </p:nvPr>
        </p:nvSpPr>
        <p:spPr>
          <a:xfrm>
            <a:off x="304560" y="1295280"/>
            <a:ext cx="8381880" cy="5181840"/>
          </a:xfrm>
          <a:prstGeom prst="rect">
            <a:avLst/>
          </a:prstGeom>
          <a:noFill/>
          <a:ln w="0">
            <a:noFill/>
          </a:ln>
        </p:spPr>
        <p:txBody>
          <a:bodyPr lIns="91440" tIns="45720" rIns="91440" bIns="45720" anchor="t">
            <a:normAutofit/>
          </a:bodyPr>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Use hat-shape filters</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Emphasize region where points cluster</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Suppress weaker information in their boundaries  </a:t>
            </a:r>
            <a:endParaRPr lang="en-US" sz="2400" b="0" u="none" strike="noStrike">
              <a:solidFill>
                <a:srgbClr val="000000"/>
              </a:solidFill>
              <a:effectLst/>
              <a:uFillTx/>
              <a:latin typeface="Tahoma"/>
            </a:endParaRPr>
          </a:p>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Effective removal of outliers</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Insensitive to noise, insensitive to input order</a:t>
            </a:r>
            <a:endParaRPr lang="en-US" sz="2400" b="0" u="none" strike="noStrike">
              <a:solidFill>
                <a:srgbClr val="000000"/>
              </a:solidFill>
              <a:effectLst/>
              <a:uFillTx/>
              <a:latin typeface="Tahoma"/>
            </a:endParaRPr>
          </a:p>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Multi-resolution</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Detect arbitrary shaped clusters at different scales</a:t>
            </a:r>
            <a:endParaRPr lang="en-US" sz="2400" b="0" u="none" strike="noStrike">
              <a:solidFill>
                <a:srgbClr val="000000"/>
              </a:solidFill>
              <a:effectLst/>
              <a:uFillTx/>
              <a:latin typeface="Tahoma"/>
            </a:endParaRPr>
          </a:p>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Efficient</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Complexity O(N)</a:t>
            </a:r>
            <a:endParaRPr lang="en-US" sz="2400" b="0" u="none" strike="noStrike">
              <a:solidFill>
                <a:srgbClr val="000000"/>
              </a:solidFill>
              <a:effectLst/>
              <a:uFillTx/>
              <a:latin typeface="Tahoma"/>
            </a:endParaRPr>
          </a:p>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Only applicable to low dimensional data</a:t>
            </a:r>
            <a:endParaRPr lang="en-US" sz="2400" b="0" u="none" strike="noStrike">
              <a:solidFill>
                <a:srgbClr val="000000"/>
              </a:solidFill>
              <a:effectLst/>
              <a:uFillTx/>
              <a:latin typeface="Tahoma"/>
            </a:endParaRPr>
          </a:p>
        </p:txBody>
      </p:sp>
    </p:spTree>
  </p:cSld>
  <p:transition>
    <p:zoom dir="out"/>
  </p:transition>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A04F970-285E-4BB2-8C79-7C1165F8D42B}"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grpSp>
        <p:nvGrpSpPr>
          <p:cNvPr id="166" name="Group 39"/>
          <p:cNvGrpSpPr/>
          <p:nvPr/>
        </p:nvGrpSpPr>
        <p:grpSpPr>
          <a:xfrm>
            <a:off x="2085480" y="2895840"/>
            <a:ext cx="4327560" cy="3590280"/>
            <a:chOff x="2085480" y="2895840"/>
            <a:chExt cx="4327560" cy="3590280"/>
          </a:xfrm>
        </p:grpSpPr>
        <p:sp>
          <p:nvSpPr>
            <p:cNvPr id="167" name="Text Box 13"/>
            <p:cNvSpPr/>
            <p:nvPr/>
          </p:nvSpPr>
          <p:spPr>
            <a:xfrm>
              <a:off x="2085480" y="2895840"/>
              <a:ext cx="421560" cy="510120"/>
            </a:xfrm>
            <a:prstGeom prst="rect">
              <a:avLst/>
            </a:prstGeom>
            <a:noFill/>
            <a:ln w="0">
              <a:noFill/>
            </a:ln>
          </p:spPr>
          <p:style>
            <a:lnRef idx="0"/>
            <a:fillRef idx="0"/>
            <a:effectRef idx="0"/>
            <a:fontRef idx="minor"/>
          </p:style>
          <p:txBody>
            <a:bodyPr wrap="none" lIns="90000" tIns="46800" rIns="90000" bIns="46800" anchor="ctr">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x</a:t>
              </a:r>
              <a:r>
                <a:rPr lang="en-US" sz="2400" b="0" u="none" strike="noStrike" baseline="-25000">
                  <a:solidFill>
                    <a:srgbClr val="000000"/>
                  </a:solidFill>
                  <a:effectLst/>
                  <a:uFillTx/>
                  <a:latin typeface="Times New Roman"/>
                </a:rPr>
                <a:t>2</a:t>
              </a:r>
              <a:endParaRPr lang="en-US" sz="2400" b="0" u="none" strike="noStrike">
                <a:solidFill>
                  <a:srgbClr val="000000"/>
                </a:solidFill>
                <a:effectLst/>
                <a:uFillTx/>
                <a:latin typeface="Tahoma"/>
              </a:endParaRPr>
            </a:p>
          </p:txBody>
        </p:sp>
        <p:sp>
          <p:nvSpPr>
            <p:cNvPr id="168" name="Line 15"/>
            <p:cNvSpPr/>
            <p:nvPr/>
          </p:nvSpPr>
          <p:spPr>
            <a:xfrm flipV="1">
              <a:off x="2664360" y="2950560"/>
              <a:ext cx="0" cy="2953080"/>
            </a:xfrm>
            <a:prstGeom prst="line">
              <a:avLst/>
            </a:prstGeom>
            <a:ln w="12600">
              <a:solidFill>
                <a:srgbClr val="000000"/>
              </a:solidFill>
              <a:miter/>
              <a:tailEnd len="sm" type="triangle" w="sm"/>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ahoma"/>
              </a:endParaRPr>
            </a:p>
          </p:txBody>
        </p:sp>
        <p:sp>
          <p:nvSpPr>
            <p:cNvPr id="169" name="Line 16"/>
            <p:cNvSpPr/>
            <p:nvPr/>
          </p:nvSpPr>
          <p:spPr>
            <a:xfrm>
              <a:off x="2664360" y="5904360"/>
              <a:ext cx="3415320" cy="0"/>
            </a:xfrm>
            <a:prstGeom prst="line">
              <a:avLst/>
            </a:prstGeom>
            <a:ln w="12600">
              <a:solidFill>
                <a:srgbClr val="000000"/>
              </a:solidFill>
              <a:miter/>
              <a:tailEnd len="sm" type="triangle" w="sm"/>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ahoma"/>
              </a:endParaRPr>
            </a:p>
          </p:txBody>
        </p:sp>
        <p:sp>
          <p:nvSpPr>
            <p:cNvPr id="170" name="Line 17"/>
            <p:cNvSpPr/>
            <p:nvPr/>
          </p:nvSpPr>
          <p:spPr>
            <a:xfrm flipV="1">
              <a:off x="2680200" y="4315320"/>
              <a:ext cx="3255840" cy="1573200"/>
            </a:xfrm>
            <a:prstGeom prst="line">
              <a:avLst/>
            </a:prstGeom>
            <a:ln w="28440">
              <a:solidFill>
                <a:srgbClr val="333399"/>
              </a:solidFill>
              <a:miter/>
              <a:tailEnd len="med" type="triangle" w="med"/>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ahoma"/>
              </a:endParaRPr>
            </a:p>
          </p:txBody>
        </p:sp>
        <p:sp>
          <p:nvSpPr>
            <p:cNvPr id="171" name="Oval 18"/>
            <p:cNvSpPr/>
            <p:nvPr/>
          </p:nvSpPr>
          <p:spPr>
            <a:xfrm>
              <a:off x="3350880" y="5237280"/>
              <a:ext cx="93600" cy="87120"/>
            </a:xfrm>
            <a:prstGeom prst="ellipse">
              <a:avLst/>
            </a:prstGeom>
            <a:solidFill>
              <a:srgbClr val="00E4A8"/>
            </a:solidFill>
            <a:ln w="12600">
              <a:solidFill>
                <a:srgbClr val="000000"/>
              </a:solidFill>
              <a:miter/>
            </a:ln>
          </p:spPr>
          <p:style>
            <a:lnRef idx="0"/>
            <a:fillRef idx="0"/>
            <a:effectRef idx="0"/>
            <a:fontRef idx="minor"/>
          </p:style>
          <p:txBody>
            <a:bodyPr wrap="none" lIns="90000" tIns="15120" rIns="90000" bIns="1512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72" name="Oval 19"/>
            <p:cNvSpPr/>
            <p:nvPr/>
          </p:nvSpPr>
          <p:spPr>
            <a:xfrm>
              <a:off x="3701880" y="4986000"/>
              <a:ext cx="93600" cy="87120"/>
            </a:xfrm>
            <a:prstGeom prst="ellipse">
              <a:avLst/>
            </a:prstGeom>
            <a:solidFill>
              <a:srgbClr val="00E4A8"/>
            </a:solidFill>
            <a:ln w="12600">
              <a:solidFill>
                <a:srgbClr val="000000"/>
              </a:solidFill>
              <a:miter/>
            </a:ln>
          </p:spPr>
          <p:style>
            <a:lnRef idx="0"/>
            <a:fillRef idx="0"/>
            <a:effectRef idx="0"/>
            <a:fontRef idx="minor"/>
          </p:style>
          <p:txBody>
            <a:bodyPr wrap="none" lIns="90000" tIns="15120" rIns="90000" bIns="1512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73" name="Oval 20"/>
            <p:cNvSpPr/>
            <p:nvPr/>
          </p:nvSpPr>
          <p:spPr>
            <a:xfrm>
              <a:off x="3111120" y="5563800"/>
              <a:ext cx="93960" cy="87120"/>
            </a:xfrm>
            <a:prstGeom prst="ellipse">
              <a:avLst/>
            </a:prstGeom>
            <a:solidFill>
              <a:srgbClr val="00E4A8"/>
            </a:solidFill>
            <a:ln w="12600">
              <a:solidFill>
                <a:srgbClr val="000000"/>
              </a:solidFill>
              <a:miter/>
            </a:ln>
          </p:spPr>
          <p:style>
            <a:lnRef idx="0"/>
            <a:fillRef idx="0"/>
            <a:effectRef idx="0"/>
            <a:fontRef idx="minor"/>
          </p:style>
          <p:txBody>
            <a:bodyPr wrap="none" lIns="90000" tIns="15120" rIns="90000" bIns="1512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74" name="Oval 21"/>
            <p:cNvSpPr/>
            <p:nvPr/>
          </p:nvSpPr>
          <p:spPr>
            <a:xfrm>
              <a:off x="3877560" y="5105520"/>
              <a:ext cx="93600" cy="85320"/>
            </a:xfrm>
            <a:prstGeom prst="ellipse">
              <a:avLst/>
            </a:prstGeom>
            <a:solidFill>
              <a:srgbClr val="00E4A8"/>
            </a:solidFill>
            <a:ln w="12600">
              <a:solidFill>
                <a:srgbClr val="000000"/>
              </a:solidFill>
              <a:miter/>
            </a:ln>
          </p:spPr>
          <p:style>
            <a:lnRef idx="0"/>
            <a:fillRef idx="0"/>
            <a:effectRef idx="0"/>
            <a:fontRef idx="minor"/>
          </p:style>
          <p:txBody>
            <a:bodyPr wrap="none" lIns="90000" tIns="14040" rIns="90000" bIns="1404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75" name="Oval 22"/>
            <p:cNvSpPr/>
            <p:nvPr/>
          </p:nvSpPr>
          <p:spPr>
            <a:xfrm>
              <a:off x="3685680" y="5223240"/>
              <a:ext cx="93960" cy="87120"/>
            </a:xfrm>
            <a:prstGeom prst="ellipse">
              <a:avLst/>
            </a:prstGeom>
            <a:solidFill>
              <a:srgbClr val="00E4A8"/>
            </a:solidFill>
            <a:ln w="12600">
              <a:solidFill>
                <a:srgbClr val="000000"/>
              </a:solidFill>
              <a:miter/>
            </a:ln>
          </p:spPr>
          <p:style>
            <a:lnRef idx="0"/>
            <a:fillRef idx="0"/>
            <a:effectRef idx="0"/>
            <a:fontRef idx="minor"/>
          </p:style>
          <p:txBody>
            <a:bodyPr wrap="none" lIns="90000" tIns="15120" rIns="90000" bIns="1512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76" name="Oval 23"/>
            <p:cNvSpPr/>
            <p:nvPr/>
          </p:nvSpPr>
          <p:spPr>
            <a:xfrm>
              <a:off x="4404240" y="5208840"/>
              <a:ext cx="93600" cy="87480"/>
            </a:xfrm>
            <a:prstGeom prst="ellipse">
              <a:avLst/>
            </a:prstGeom>
            <a:solidFill>
              <a:srgbClr val="00E4A8"/>
            </a:solidFill>
            <a:ln w="12600">
              <a:solidFill>
                <a:srgbClr val="000000"/>
              </a:solidFill>
              <a:miter/>
            </a:ln>
          </p:spPr>
          <p:style>
            <a:lnRef idx="0"/>
            <a:fillRef idx="0"/>
            <a:effectRef idx="0"/>
            <a:fontRef idx="minor"/>
          </p:style>
          <p:txBody>
            <a:bodyPr wrap="none" lIns="90000" tIns="15480" rIns="90000" bIns="1548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77" name="Oval 24"/>
            <p:cNvSpPr/>
            <p:nvPr/>
          </p:nvSpPr>
          <p:spPr>
            <a:xfrm>
              <a:off x="4244400" y="5580000"/>
              <a:ext cx="93600" cy="87120"/>
            </a:xfrm>
            <a:prstGeom prst="ellipse">
              <a:avLst/>
            </a:prstGeom>
            <a:solidFill>
              <a:srgbClr val="00E4A8"/>
            </a:solidFill>
            <a:ln w="12600">
              <a:solidFill>
                <a:srgbClr val="000000"/>
              </a:solidFill>
              <a:miter/>
            </a:ln>
          </p:spPr>
          <p:style>
            <a:lnRef idx="0"/>
            <a:fillRef idx="0"/>
            <a:effectRef idx="0"/>
            <a:fontRef idx="minor"/>
          </p:style>
          <p:txBody>
            <a:bodyPr wrap="none" lIns="90000" tIns="15120" rIns="90000" bIns="1512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78" name="Oval 25"/>
            <p:cNvSpPr/>
            <p:nvPr/>
          </p:nvSpPr>
          <p:spPr>
            <a:xfrm>
              <a:off x="3957120" y="5460120"/>
              <a:ext cx="93600" cy="87120"/>
            </a:xfrm>
            <a:prstGeom prst="ellipse">
              <a:avLst/>
            </a:prstGeom>
            <a:solidFill>
              <a:srgbClr val="00E4A8"/>
            </a:solidFill>
            <a:ln w="12600">
              <a:solidFill>
                <a:srgbClr val="000000"/>
              </a:solidFill>
              <a:miter/>
            </a:ln>
          </p:spPr>
          <p:style>
            <a:lnRef idx="0"/>
            <a:fillRef idx="0"/>
            <a:effectRef idx="0"/>
            <a:fontRef idx="minor"/>
          </p:style>
          <p:txBody>
            <a:bodyPr wrap="none" lIns="90000" tIns="15120" rIns="90000" bIns="1512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79" name="Oval 26"/>
            <p:cNvSpPr/>
            <p:nvPr/>
          </p:nvSpPr>
          <p:spPr>
            <a:xfrm>
              <a:off x="4196520" y="4852440"/>
              <a:ext cx="93960" cy="87120"/>
            </a:xfrm>
            <a:prstGeom prst="ellipse">
              <a:avLst/>
            </a:prstGeom>
            <a:solidFill>
              <a:srgbClr val="00E4A8"/>
            </a:solidFill>
            <a:ln w="12600">
              <a:solidFill>
                <a:srgbClr val="000000"/>
              </a:solidFill>
              <a:miter/>
            </a:ln>
          </p:spPr>
          <p:style>
            <a:lnRef idx="0"/>
            <a:fillRef idx="0"/>
            <a:effectRef idx="0"/>
            <a:fontRef idx="minor"/>
          </p:style>
          <p:txBody>
            <a:bodyPr wrap="none" lIns="90000" tIns="15120" rIns="90000" bIns="1512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80" name="Oval 27"/>
            <p:cNvSpPr/>
            <p:nvPr/>
          </p:nvSpPr>
          <p:spPr>
            <a:xfrm>
              <a:off x="4946760" y="4986000"/>
              <a:ext cx="93960" cy="87120"/>
            </a:xfrm>
            <a:prstGeom prst="ellipse">
              <a:avLst/>
            </a:prstGeom>
            <a:solidFill>
              <a:srgbClr val="00E4A8"/>
            </a:solidFill>
            <a:ln w="12600">
              <a:solidFill>
                <a:srgbClr val="000000"/>
              </a:solidFill>
              <a:miter/>
            </a:ln>
          </p:spPr>
          <p:style>
            <a:lnRef idx="0"/>
            <a:fillRef idx="0"/>
            <a:effectRef idx="0"/>
            <a:fontRef idx="minor"/>
          </p:style>
          <p:txBody>
            <a:bodyPr wrap="none" lIns="90000" tIns="15120" rIns="90000" bIns="1512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81" name="Oval 28"/>
            <p:cNvSpPr/>
            <p:nvPr/>
          </p:nvSpPr>
          <p:spPr>
            <a:xfrm>
              <a:off x="5425560" y="4406400"/>
              <a:ext cx="93600" cy="87120"/>
            </a:xfrm>
            <a:prstGeom prst="ellipse">
              <a:avLst/>
            </a:prstGeom>
            <a:solidFill>
              <a:srgbClr val="00E4A8"/>
            </a:solidFill>
            <a:ln w="12600">
              <a:solidFill>
                <a:srgbClr val="000000"/>
              </a:solidFill>
              <a:miter/>
            </a:ln>
          </p:spPr>
          <p:style>
            <a:lnRef idx="0"/>
            <a:fillRef idx="0"/>
            <a:effectRef idx="0"/>
            <a:fontRef idx="minor"/>
          </p:style>
          <p:txBody>
            <a:bodyPr wrap="none" lIns="90000" tIns="15120" rIns="90000" bIns="1512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82" name="Oval 29"/>
            <p:cNvSpPr/>
            <p:nvPr/>
          </p:nvSpPr>
          <p:spPr>
            <a:xfrm>
              <a:off x="3494160" y="5608440"/>
              <a:ext cx="93600" cy="87120"/>
            </a:xfrm>
            <a:prstGeom prst="ellipse">
              <a:avLst/>
            </a:prstGeom>
            <a:solidFill>
              <a:srgbClr val="00E4A8"/>
            </a:solidFill>
            <a:ln w="12600">
              <a:solidFill>
                <a:srgbClr val="000000"/>
              </a:solidFill>
              <a:miter/>
            </a:ln>
          </p:spPr>
          <p:style>
            <a:lnRef idx="0"/>
            <a:fillRef idx="0"/>
            <a:effectRef idx="0"/>
            <a:fontRef idx="minor"/>
          </p:style>
          <p:txBody>
            <a:bodyPr wrap="none" lIns="90000" tIns="15120" rIns="90000" bIns="1512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83" name="Oval 30"/>
            <p:cNvSpPr/>
            <p:nvPr/>
          </p:nvSpPr>
          <p:spPr>
            <a:xfrm>
              <a:off x="4531680" y="4822200"/>
              <a:ext cx="93600" cy="87120"/>
            </a:xfrm>
            <a:prstGeom prst="ellipse">
              <a:avLst/>
            </a:prstGeom>
            <a:solidFill>
              <a:srgbClr val="00E4A8"/>
            </a:solidFill>
            <a:ln w="12600">
              <a:solidFill>
                <a:srgbClr val="000000"/>
              </a:solidFill>
              <a:miter/>
            </a:ln>
          </p:spPr>
          <p:style>
            <a:lnRef idx="0"/>
            <a:fillRef idx="0"/>
            <a:effectRef idx="0"/>
            <a:fontRef idx="minor"/>
          </p:style>
          <p:txBody>
            <a:bodyPr wrap="none" lIns="90000" tIns="15120" rIns="90000" bIns="1512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84" name="Oval 31"/>
            <p:cNvSpPr/>
            <p:nvPr/>
          </p:nvSpPr>
          <p:spPr>
            <a:xfrm>
              <a:off x="4882680" y="4495680"/>
              <a:ext cx="93960" cy="87120"/>
            </a:xfrm>
            <a:prstGeom prst="ellipse">
              <a:avLst/>
            </a:prstGeom>
            <a:solidFill>
              <a:srgbClr val="00E4A8"/>
            </a:solidFill>
            <a:ln w="12600">
              <a:solidFill>
                <a:srgbClr val="000000"/>
              </a:solidFill>
              <a:miter/>
            </a:ln>
          </p:spPr>
          <p:style>
            <a:lnRef idx="0"/>
            <a:fillRef idx="0"/>
            <a:effectRef idx="0"/>
            <a:fontRef idx="minor"/>
          </p:style>
          <p:txBody>
            <a:bodyPr wrap="none" lIns="90000" tIns="15120" rIns="90000" bIns="1512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85" name="Oval 32"/>
            <p:cNvSpPr/>
            <p:nvPr/>
          </p:nvSpPr>
          <p:spPr>
            <a:xfrm>
              <a:off x="3925440" y="4866480"/>
              <a:ext cx="93600" cy="87120"/>
            </a:xfrm>
            <a:prstGeom prst="ellipse">
              <a:avLst/>
            </a:prstGeom>
            <a:solidFill>
              <a:srgbClr val="00E4A8"/>
            </a:solidFill>
            <a:ln w="12600">
              <a:solidFill>
                <a:srgbClr val="000000"/>
              </a:solidFill>
              <a:miter/>
            </a:ln>
          </p:spPr>
          <p:style>
            <a:lnRef idx="0"/>
            <a:fillRef idx="0"/>
            <a:effectRef idx="0"/>
            <a:fontRef idx="minor"/>
          </p:style>
          <p:txBody>
            <a:bodyPr wrap="none" lIns="90000" tIns="15120" rIns="90000" bIns="1512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86" name="Oval 33"/>
            <p:cNvSpPr/>
            <p:nvPr/>
          </p:nvSpPr>
          <p:spPr>
            <a:xfrm>
              <a:off x="4691520" y="4645440"/>
              <a:ext cx="93600" cy="85680"/>
            </a:xfrm>
            <a:prstGeom prst="ellipse">
              <a:avLst/>
            </a:prstGeom>
            <a:solidFill>
              <a:srgbClr val="00E4A8"/>
            </a:solidFill>
            <a:ln w="12600">
              <a:solidFill>
                <a:srgbClr val="000000"/>
              </a:solidFill>
              <a:miter/>
            </a:ln>
          </p:spPr>
          <p:style>
            <a:lnRef idx="0"/>
            <a:fillRef idx="0"/>
            <a:effectRef idx="0"/>
            <a:fontRef idx="minor"/>
          </p:style>
          <p:txBody>
            <a:bodyPr wrap="none" lIns="90000" tIns="14400" rIns="90000" bIns="144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87" name="Oval 34"/>
            <p:cNvSpPr/>
            <p:nvPr/>
          </p:nvSpPr>
          <p:spPr>
            <a:xfrm>
              <a:off x="4834800" y="5253480"/>
              <a:ext cx="93960" cy="87120"/>
            </a:xfrm>
            <a:prstGeom prst="ellipse">
              <a:avLst/>
            </a:prstGeom>
            <a:solidFill>
              <a:srgbClr val="00E4A8"/>
            </a:solidFill>
            <a:ln w="12600">
              <a:solidFill>
                <a:srgbClr val="000000"/>
              </a:solidFill>
              <a:miter/>
            </a:ln>
          </p:spPr>
          <p:style>
            <a:lnRef idx="0"/>
            <a:fillRef idx="0"/>
            <a:effectRef idx="0"/>
            <a:fontRef idx="minor"/>
          </p:style>
          <p:txBody>
            <a:bodyPr wrap="none" lIns="90000" tIns="15120" rIns="90000" bIns="1512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88" name="Freeform 35"/>
            <p:cNvSpPr/>
            <p:nvPr/>
          </p:nvSpPr>
          <p:spPr>
            <a:xfrm>
              <a:off x="2880000" y="4279680"/>
              <a:ext cx="2906640" cy="1793880"/>
            </a:xfrm>
            <a:custGeom>
              <a:avLst/>
              <a:gdLst>
                <a:gd name="textAreaLeft" fmla="*/ 0 w 2906640"/>
                <a:gd name="textAreaRight" fmla="*/ 2907000 w 2906640"/>
                <a:gd name="textAreaTop" fmla="*/ 0 h 1793880"/>
                <a:gd name="textAreaBottom" fmla="*/ 1794240 h 1793880"/>
                <a:gd name="GluePoint1X" fmla="*/ 4 w 1457"/>
                <a:gd name="GluePoint1Y" fmla="*/ 1002 h 968"/>
                <a:gd name="GluePoint2X" fmla="*/ 212 w 1457"/>
                <a:gd name="GluePoint2Y" fmla="*/ 488 h 968"/>
                <a:gd name="GluePoint3X" fmla="*/ 716 w 1457"/>
                <a:gd name="GluePoint3Y" fmla="*/ 166 h 968"/>
                <a:gd name="GluePoint4X" fmla="*/ 1356 w 1457"/>
                <a:gd name="GluePoint4Y" fmla="*/ 26 h 968"/>
                <a:gd name="GluePoint5X" fmla="*/ 1324 w 1457"/>
                <a:gd name="GluePoint5Y" fmla="*/ 318 h 968"/>
                <a:gd name="GluePoint6X" fmla="*/ 940 w 1457"/>
                <a:gd name="GluePoint6Y" fmla="*/ 882 h 968"/>
                <a:gd name="GluePoint7X" fmla="*/ 188 w 1457"/>
                <a:gd name="GluePoint7Y" fmla="*/ 1194 h 968"/>
                <a:gd name="GluePoint8X" fmla="*/ 4 w 1457"/>
                <a:gd name="GluePoint8Y" fmla="*/ 1002 h 96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457" h="968">
                  <a:moveTo>
                    <a:pt x="4" y="796"/>
                  </a:moveTo>
                  <a:cubicBezTo>
                    <a:pt x="8" y="703"/>
                    <a:pt x="93" y="499"/>
                    <a:pt x="212" y="388"/>
                  </a:cubicBezTo>
                  <a:cubicBezTo>
                    <a:pt x="331" y="277"/>
                    <a:pt x="525" y="193"/>
                    <a:pt x="716" y="132"/>
                  </a:cubicBezTo>
                  <a:cubicBezTo>
                    <a:pt x="907" y="71"/>
                    <a:pt x="1255" y="0"/>
                    <a:pt x="1356" y="20"/>
                  </a:cubicBezTo>
                  <a:cubicBezTo>
                    <a:pt x="1457" y="40"/>
                    <a:pt x="1393" y="139"/>
                    <a:pt x="1324" y="252"/>
                  </a:cubicBezTo>
                  <a:cubicBezTo>
                    <a:pt x="1255" y="365"/>
                    <a:pt x="1129" y="584"/>
                    <a:pt x="940" y="700"/>
                  </a:cubicBezTo>
                  <a:cubicBezTo>
                    <a:pt x="751" y="816"/>
                    <a:pt x="344" y="928"/>
                    <a:pt x="188" y="948"/>
                  </a:cubicBezTo>
                  <a:cubicBezTo>
                    <a:pt x="32" y="968"/>
                    <a:pt x="0" y="889"/>
                    <a:pt x="4" y="796"/>
                  </a:cubicBezTo>
                  <a:close/>
                </a:path>
              </a:pathLst>
            </a:custGeom>
            <a:noFill/>
            <a:ln w="19080">
              <a:solidFill>
                <a:srgbClr val="FF0000"/>
              </a:solidFill>
              <a:prstDash val="dash"/>
              <a:round/>
            </a:ln>
          </p:spPr>
          <p:style>
            <a:lnRef idx="0"/>
            <a:fillRef idx="0"/>
            <a:effectRef idx="0"/>
            <a:fontRef idx="minor"/>
          </p:style>
          <p:txBody>
            <a:bodyPr wrap="none" lIns="90000" tIns="46800" rIns="90000" bIns="46800" anchor="ctr">
              <a:noAutofit/>
            </a:bodyPr>
            <a:p>
              <a:endParaRPr lang="en-US" sz="2400" b="0" u="none" strike="noStrike">
                <a:solidFill>
                  <a:srgbClr val="000000"/>
                </a:solidFill>
                <a:effectLst/>
                <a:uFillTx/>
                <a:latin typeface="Tahoma"/>
              </a:endParaRPr>
            </a:p>
          </p:txBody>
        </p:sp>
        <p:sp>
          <p:nvSpPr>
            <p:cNvPr id="189" name="Oval 36"/>
            <p:cNvSpPr/>
            <p:nvPr/>
          </p:nvSpPr>
          <p:spPr>
            <a:xfrm>
              <a:off x="3270960" y="5816880"/>
              <a:ext cx="93960" cy="87120"/>
            </a:xfrm>
            <a:prstGeom prst="ellipse">
              <a:avLst/>
            </a:prstGeom>
            <a:solidFill>
              <a:srgbClr val="00E4A8"/>
            </a:solidFill>
            <a:ln w="12600">
              <a:solidFill>
                <a:srgbClr val="000000"/>
              </a:solidFill>
              <a:miter/>
            </a:ln>
          </p:spPr>
          <p:style>
            <a:lnRef idx="0"/>
            <a:fillRef idx="0"/>
            <a:effectRef idx="0"/>
            <a:fontRef idx="minor"/>
          </p:style>
          <p:txBody>
            <a:bodyPr wrap="none" lIns="90000" tIns="15120" rIns="90000" bIns="1512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190" name="Text Box 37"/>
            <p:cNvSpPr/>
            <p:nvPr/>
          </p:nvSpPr>
          <p:spPr>
            <a:xfrm>
              <a:off x="5991480" y="5976000"/>
              <a:ext cx="421560" cy="510120"/>
            </a:xfrm>
            <a:prstGeom prst="rect">
              <a:avLst/>
            </a:prstGeom>
            <a:noFill/>
            <a:ln w="0">
              <a:noFill/>
            </a:ln>
          </p:spPr>
          <p:style>
            <a:lnRef idx="0"/>
            <a:fillRef idx="0"/>
            <a:effectRef idx="0"/>
            <a:fontRef idx="minor"/>
          </p:style>
          <p:txBody>
            <a:bodyPr wrap="none" lIns="90000" tIns="46800" rIns="90000" bIns="46800" anchor="ctr">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x</a:t>
              </a:r>
              <a:r>
                <a:rPr lang="en-US" sz="2400" b="0" u="none" strike="noStrike" baseline="-25000">
                  <a:solidFill>
                    <a:srgbClr val="000000"/>
                  </a:solidFill>
                  <a:effectLst/>
                  <a:uFillTx/>
                  <a:latin typeface="Times New Roman"/>
                </a:rPr>
                <a:t>1</a:t>
              </a:r>
              <a:endParaRPr lang="en-US" sz="2400" b="0" u="none" strike="noStrike">
                <a:solidFill>
                  <a:srgbClr val="000000"/>
                </a:solidFill>
                <a:effectLst/>
                <a:uFillTx/>
                <a:latin typeface="Tahoma"/>
              </a:endParaRPr>
            </a:p>
          </p:txBody>
        </p:sp>
        <p:sp>
          <p:nvSpPr>
            <p:cNvPr id="191" name="Text Box 38"/>
            <p:cNvSpPr/>
            <p:nvPr/>
          </p:nvSpPr>
          <p:spPr>
            <a:xfrm>
              <a:off x="6065640" y="3946680"/>
              <a:ext cx="316080" cy="459720"/>
            </a:xfrm>
            <a:prstGeom prst="rect">
              <a:avLst/>
            </a:prstGeom>
            <a:noFill/>
            <a:ln w="0">
              <a:noFill/>
            </a:ln>
          </p:spPr>
          <p:style>
            <a:lnRef idx="0"/>
            <a:fillRef idx="0"/>
            <a:effectRef idx="0"/>
            <a:fontRef idx="minor"/>
          </p:style>
          <p:txBody>
            <a:bodyPr wrap="none" lIns="90000" tIns="46800" rIns="90000" bIns="46800" anchor="ctr">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e</a:t>
              </a:r>
              <a:endParaRPr lang="en-US" sz="2400" b="0" u="none" strike="noStrike">
                <a:solidFill>
                  <a:srgbClr val="000000"/>
                </a:solidFill>
                <a:effectLst/>
                <a:uFillTx/>
                <a:latin typeface="Tahoma"/>
              </a:endParaRPr>
            </a:p>
          </p:txBody>
        </p:sp>
      </p:grpSp>
      <p:sp>
        <p:nvSpPr>
          <p:cNvPr id="192" name="PlaceHolder 1"/>
          <p:cNvSpPr>
            <a:spLocks noGrp="1"/>
          </p:cNvSpPr>
          <p:nvPr>
            <p:ph type="title"/>
          </p:nvPr>
        </p:nvSpPr>
        <p:spPr>
          <a:xfrm>
            <a:off x="152280" y="151920"/>
            <a:ext cx="8763120" cy="83844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Berlin Sans FB Demi"/>
              </a:rPr>
              <a:t>Principal Component Analysis (PCA)</a:t>
            </a:r>
            <a:endParaRPr lang="en-US" sz="3200" b="1" u="none" strike="noStrike">
              <a:solidFill>
                <a:srgbClr val="333399"/>
              </a:solidFill>
              <a:effectLst/>
              <a:uFillTx/>
              <a:latin typeface="Berlin Sans FB Demi"/>
            </a:endParaRPr>
          </a:p>
        </p:txBody>
      </p:sp>
      <p:sp>
        <p:nvSpPr>
          <p:cNvPr id="193" name="PlaceHolder 2"/>
          <p:cNvSpPr>
            <a:spLocks noGrp="1"/>
          </p:cNvSpPr>
          <p:nvPr>
            <p:ph/>
          </p:nvPr>
        </p:nvSpPr>
        <p:spPr>
          <a:xfrm>
            <a:off x="304560" y="1294920"/>
            <a:ext cx="8381880" cy="1600200"/>
          </a:xfrm>
          <a:prstGeom prst="rect">
            <a:avLst/>
          </a:prstGeom>
          <a:noFill/>
          <a:ln w="0">
            <a:noFill/>
          </a:ln>
        </p:spPr>
        <p:txBody>
          <a:bodyPr lIns="91440" tIns="45720" rIns="91440" bIns="45720" anchor="t">
            <a:normAutofit/>
          </a:bodyPr>
          <a:p>
            <a:pPr marL="343080" indent="-343080" algn="l">
              <a:lnSpc>
                <a:spcPct val="11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Find a projection that captures the largest amount of variation in data</a:t>
            </a:r>
            <a:endParaRPr lang="en-US" sz="2000" b="0" u="none" strike="noStrike">
              <a:solidFill>
                <a:srgbClr val="000000"/>
              </a:solidFill>
              <a:effectLst/>
              <a:uFillTx/>
              <a:latin typeface="Tahoma"/>
            </a:endParaRPr>
          </a:p>
          <a:p>
            <a:pPr marL="343080" indent="-343080" algn="l">
              <a:lnSpc>
                <a:spcPct val="11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The original data are projected onto a much smaller space, resulting in dimensionality reduction. We find the eigenvectors of the covariance matrix, and these eigenvectors define the new space</a:t>
            </a:r>
            <a:endParaRPr lang="en-US" sz="2000" b="0" u="none" strike="noStrike">
              <a:solidFill>
                <a:srgbClr val="000000"/>
              </a:solidFill>
              <a:effectLst/>
              <a:uFillTx/>
              <a:latin typeface="Tahoma"/>
            </a:endParaRPr>
          </a:p>
          <a:p>
            <a:pPr marL="343080" indent="0" algn="l">
              <a:lnSpc>
                <a:spcPct val="90000"/>
              </a:lnSpc>
              <a:spcBef>
                <a:spcPts val="4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u="none" strike="noStrike">
              <a:solidFill>
                <a:srgbClr val="000000"/>
              </a:solidFill>
              <a:effectLst/>
              <a:uFillTx/>
              <a:latin typeface="Tahoma"/>
            </a:endParaRPr>
          </a:p>
        </p:txBody>
      </p:sp>
    </p:spTree>
  </p:cSld>
  <p:transition>
    <p:zoom dir="out"/>
  </p:transition>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DD4C0A9-2BF4-4D88-BC31-FE448930551A}"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195" name="PlaceHolder 1"/>
          <p:cNvSpPr>
            <a:spLocks noGrp="1"/>
          </p:cNvSpPr>
          <p:nvPr>
            <p:ph/>
          </p:nvPr>
        </p:nvSpPr>
        <p:spPr>
          <a:xfrm>
            <a:off x="304920" y="1294920"/>
            <a:ext cx="8534160" cy="5257800"/>
          </a:xfrm>
          <a:prstGeom prst="rect">
            <a:avLst/>
          </a:prstGeom>
          <a:noFill/>
          <a:ln w="0">
            <a:noFill/>
          </a:ln>
        </p:spPr>
        <p:txBody>
          <a:bodyPr lIns="91440" tIns="45720" rIns="91440" bIns="45720" anchor="t">
            <a:normAutofit/>
          </a:bodyPr>
          <a:p>
            <a:pPr marL="343080" indent="-343080" algn="l">
              <a:lnSpc>
                <a:spcPct val="12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Given </a:t>
            </a:r>
            <a:r>
              <a:rPr lang="en-US" sz="2000" b="0" i="1" u="none" strike="noStrike">
                <a:solidFill>
                  <a:srgbClr val="000000"/>
                </a:solidFill>
                <a:effectLst/>
                <a:uFillTx/>
                <a:latin typeface="Tahoma"/>
              </a:rPr>
              <a:t>N</a:t>
            </a:r>
            <a:r>
              <a:rPr lang="en-US" sz="2000" b="0" u="none" strike="noStrike">
                <a:solidFill>
                  <a:srgbClr val="000000"/>
                </a:solidFill>
                <a:effectLst/>
                <a:uFillTx/>
                <a:latin typeface="Tahoma"/>
              </a:rPr>
              <a:t> data vectors from </a:t>
            </a:r>
            <a:r>
              <a:rPr lang="en-US" sz="2000" b="0" i="1" u="none" strike="noStrike">
                <a:solidFill>
                  <a:srgbClr val="000000"/>
                </a:solidFill>
                <a:effectLst/>
                <a:uFillTx/>
                <a:latin typeface="Tahoma"/>
              </a:rPr>
              <a:t>n</a:t>
            </a:r>
            <a:r>
              <a:rPr lang="en-US" sz="2000" b="0" u="none" strike="noStrike">
                <a:solidFill>
                  <a:srgbClr val="000000"/>
                </a:solidFill>
                <a:effectLst/>
                <a:uFillTx/>
                <a:latin typeface="Tahoma"/>
              </a:rPr>
              <a:t>-dimensions, find </a:t>
            </a:r>
            <a:r>
              <a:rPr lang="en-US" sz="2000" b="0" i="1" u="none" strike="noStrike">
                <a:solidFill>
                  <a:srgbClr val="000000"/>
                </a:solidFill>
                <a:effectLst/>
                <a:uFillTx/>
                <a:latin typeface="Tahoma"/>
              </a:rPr>
              <a:t>k</a:t>
            </a:r>
            <a:r>
              <a:rPr lang="en-US" sz="2000" b="0" u="none" strike="noStrike">
                <a:solidFill>
                  <a:srgbClr val="000000"/>
                </a:solidFill>
                <a:effectLst/>
                <a:uFillTx/>
                <a:latin typeface="Tahoma"/>
              </a:rPr>
              <a:t> ≤ </a:t>
            </a:r>
            <a:r>
              <a:rPr lang="en-US" sz="2000" b="0" i="1" u="none" strike="noStrike">
                <a:solidFill>
                  <a:srgbClr val="000000"/>
                </a:solidFill>
                <a:effectLst/>
                <a:uFillTx/>
                <a:latin typeface="Tahoma"/>
              </a:rPr>
              <a:t>n </a:t>
            </a:r>
            <a:r>
              <a:rPr lang="en-US" sz="2000" b="0" u="none" strike="noStrike">
                <a:solidFill>
                  <a:srgbClr val="000000"/>
                </a:solidFill>
                <a:effectLst/>
                <a:uFillTx/>
                <a:latin typeface="Tahoma"/>
              </a:rPr>
              <a:t>orthogonal vectors (</a:t>
            </a:r>
            <a:r>
              <a:rPr lang="en-US" sz="2000" b="0" i="1" u="none" strike="noStrike">
                <a:solidFill>
                  <a:srgbClr val="000000"/>
                </a:solidFill>
                <a:effectLst/>
                <a:uFillTx/>
                <a:latin typeface="Tahoma"/>
              </a:rPr>
              <a:t>principal components</a:t>
            </a:r>
            <a:r>
              <a:rPr lang="en-US" sz="2000" b="0" u="none" strike="noStrike">
                <a:solidFill>
                  <a:srgbClr val="000000"/>
                </a:solidFill>
                <a:effectLst/>
                <a:uFillTx/>
                <a:latin typeface="Tahoma"/>
              </a:rPr>
              <a:t>) that can be best used to represent data </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Normalize input data: Each attribute falls within the same range</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Compute </a:t>
            </a:r>
            <a:r>
              <a:rPr lang="en-US" sz="2000" b="0" i="1" u="none" strike="noStrike">
                <a:solidFill>
                  <a:srgbClr val="000000"/>
                </a:solidFill>
                <a:effectLst/>
                <a:uFillTx/>
                <a:latin typeface="Tahoma"/>
              </a:rPr>
              <a:t>k</a:t>
            </a:r>
            <a:r>
              <a:rPr lang="en-US" sz="2000" b="0" u="none" strike="noStrike">
                <a:solidFill>
                  <a:srgbClr val="000000"/>
                </a:solidFill>
                <a:effectLst/>
                <a:uFillTx/>
                <a:latin typeface="Tahoma"/>
              </a:rPr>
              <a:t> orthonormal (unit) vectors, i.e., </a:t>
            </a:r>
            <a:r>
              <a:rPr lang="en-US" sz="2000" b="0" i="1" u="none" strike="noStrike">
                <a:solidFill>
                  <a:srgbClr val="000000"/>
                </a:solidFill>
                <a:effectLst/>
                <a:uFillTx/>
                <a:latin typeface="Tahoma"/>
              </a:rPr>
              <a:t>principal components</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Each input data (vector) is a linear combination of the </a:t>
            </a:r>
            <a:r>
              <a:rPr lang="en-US" sz="2000" b="0" i="1" u="none" strike="noStrike">
                <a:solidFill>
                  <a:srgbClr val="000000"/>
                </a:solidFill>
                <a:effectLst/>
                <a:uFillTx/>
                <a:latin typeface="Tahoma"/>
              </a:rPr>
              <a:t>k</a:t>
            </a:r>
            <a:r>
              <a:rPr lang="en-US" sz="2000" b="0" u="none" strike="noStrike">
                <a:solidFill>
                  <a:srgbClr val="000000"/>
                </a:solidFill>
                <a:effectLst/>
                <a:uFillTx/>
                <a:latin typeface="Tahoma"/>
              </a:rPr>
              <a:t> principal component vectors</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The principal components are sorted in order of decreasing “significance” or strength</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Since the components are sorted, the size of the data can be reduced by eliminating the </a:t>
            </a:r>
            <a:r>
              <a:rPr lang="en-US" sz="2000" b="0" i="1" u="none" strike="noStrike">
                <a:solidFill>
                  <a:srgbClr val="000000"/>
                </a:solidFill>
                <a:effectLst/>
                <a:uFillTx/>
                <a:latin typeface="Tahoma"/>
              </a:rPr>
              <a:t>weak components</a:t>
            </a:r>
            <a:r>
              <a:rPr lang="en-US" sz="2000" b="0" u="none" strike="noStrike">
                <a:solidFill>
                  <a:srgbClr val="000000"/>
                </a:solidFill>
                <a:effectLst/>
                <a:uFillTx/>
                <a:latin typeface="Tahoma"/>
              </a:rPr>
              <a:t>, i.e., those with low variance (i.e., using the strongest principal components, it is possible to reconstruct a good approximation of the original data)</a:t>
            </a:r>
            <a:endParaRPr lang="en-US" sz="2000" b="0" u="none" strike="noStrike">
              <a:solidFill>
                <a:srgbClr val="000000"/>
              </a:solidFill>
              <a:effectLst/>
              <a:uFillTx/>
              <a:latin typeface="Tahoma"/>
            </a:endParaRPr>
          </a:p>
          <a:p>
            <a:pPr marL="343080" indent="-343080" algn="l">
              <a:lnSpc>
                <a:spcPct val="12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Works for numeric data only</a:t>
            </a:r>
            <a:endParaRPr lang="en-US" sz="2000" b="0" u="none" strike="noStrike">
              <a:solidFill>
                <a:srgbClr val="000000"/>
              </a:solidFill>
              <a:effectLst/>
              <a:uFillTx/>
              <a:latin typeface="Tahoma"/>
            </a:endParaRPr>
          </a:p>
        </p:txBody>
      </p:sp>
      <p:sp>
        <p:nvSpPr>
          <p:cNvPr id="196" name="PlaceHolder 2"/>
          <p:cNvSpPr>
            <a:spLocks noGrp="1"/>
          </p:cNvSpPr>
          <p:nvPr>
            <p:ph type="title"/>
          </p:nvPr>
        </p:nvSpPr>
        <p:spPr>
          <a:xfrm>
            <a:off x="0" y="152280"/>
            <a:ext cx="9144000" cy="990720"/>
          </a:xfrm>
          <a:prstGeom prst="rect">
            <a:avLst/>
          </a:prstGeom>
          <a:noFill/>
          <a:ln w="0">
            <a:noFill/>
          </a:ln>
        </p:spPr>
        <p:txBody>
          <a:bodyPr lIns="91440" tIns="45720" rIns="91440" bIns="4572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Principal Component Analysis (Steps)</a:t>
            </a:r>
            <a:endParaRPr lang="en-US" sz="3600" b="1" u="none" strike="noStrike">
              <a:solidFill>
                <a:srgbClr val="333399"/>
              </a:solidFill>
              <a:effectLst/>
              <a:uFillTx/>
              <a:latin typeface="Berlin Sans FB Demi"/>
            </a:endParaRPr>
          </a:p>
        </p:txBody>
      </p:sp>
    </p:spTree>
  </p:cSld>
  <p:transition>
    <p:zoom dir="out"/>
  </p:transition>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D8D3A22-AAC3-4C6E-9A84-F0519970ABA4}"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198" name="PlaceHolder 1"/>
          <p:cNvSpPr>
            <a:spLocks noGrp="1"/>
          </p:cNvSpPr>
          <p:nvPr>
            <p:ph type="title"/>
          </p:nvPr>
        </p:nvSpPr>
        <p:spPr>
          <a:xfrm>
            <a:off x="152280" y="304560"/>
            <a:ext cx="876312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Attribute Subset Selection</a:t>
            </a:r>
            <a:endParaRPr lang="en-US" sz="3600" b="1" u="none" strike="noStrike">
              <a:solidFill>
                <a:srgbClr val="333399"/>
              </a:solidFill>
              <a:effectLst/>
              <a:uFillTx/>
              <a:latin typeface="Berlin Sans FB Demi"/>
            </a:endParaRPr>
          </a:p>
        </p:txBody>
      </p:sp>
      <p:sp>
        <p:nvSpPr>
          <p:cNvPr id="199" name="PlaceHolder 2"/>
          <p:cNvSpPr>
            <a:spLocks noGrp="1"/>
          </p:cNvSpPr>
          <p:nvPr>
            <p:ph/>
          </p:nvPr>
        </p:nvSpPr>
        <p:spPr>
          <a:xfrm>
            <a:off x="304560" y="1295280"/>
            <a:ext cx="8381880" cy="5181840"/>
          </a:xfrm>
          <a:prstGeom prst="rect">
            <a:avLst/>
          </a:prstGeom>
          <a:noFill/>
          <a:ln w="0">
            <a:noFill/>
          </a:ln>
        </p:spPr>
        <p:txBody>
          <a:bodyPr lIns="91440" tIns="45720" rIns="91440" bIns="45720" anchor="t">
            <a:normAutofit/>
          </a:bodyPr>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Another way to reduce dimensionality of data</a:t>
            </a: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Redundant attributes </a:t>
            </a:r>
            <a:endParaRPr lang="en-US" sz="2400" b="0" u="none" strike="noStrike">
              <a:solidFill>
                <a:srgbClr val="000000"/>
              </a:solidFill>
              <a:effectLst/>
              <a:uFillTx/>
              <a:latin typeface="Tahoma"/>
            </a:endParaRPr>
          </a:p>
          <a:p>
            <a:pPr marL="743040" lvl="1" indent="-285840" algn="l">
              <a:lnSpc>
                <a:spcPct val="11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Duplicate much or all of the information contained in one or more other attributes</a:t>
            </a:r>
            <a:endParaRPr lang="en-US" sz="2400" b="0" u="none" strike="noStrike">
              <a:solidFill>
                <a:srgbClr val="000000"/>
              </a:solidFill>
              <a:effectLst/>
              <a:uFillTx/>
              <a:latin typeface="Tahoma"/>
            </a:endParaRPr>
          </a:p>
          <a:p>
            <a:pPr marL="743040" lvl="1" indent="-285840" algn="l">
              <a:lnSpc>
                <a:spcPct val="11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E.g., purchase price of a product and the amount of sales tax paid</a:t>
            </a: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Irrelevant attributes</a:t>
            </a:r>
            <a:endParaRPr lang="en-US" sz="2400" b="0" u="none" strike="noStrike">
              <a:solidFill>
                <a:srgbClr val="000000"/>
              </a:solidFill>
              <a:effectLst/>
              <a:uFillTx/>
              <a:latin typeface="Tahoma"/>
            </a:endParaRPr>
          </a:p>
          <a:p>
            <a:pPr marL="743040" lvl="1" indent="-285840" algn="l">
              <a:lnSpc>
                <a:spcPct val="11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Contain no information that is useful for the data mining task at hand</a:t>
            </a:r>
            <a:endParaRPr lang="en-US" sz="2400" b="0" u="none" strike="noStrike">
              <a:solidFill>
                <a:srgbClr val="000000"/>
              </a:solidFill>
              <a:effectLst/>
              <a:uFillTx/>
              <a:latin typeface="Tahoma"/>
            </a:endParaRPr>
          </a:p>
          <a:p>
            <a:pPr marL="743040" lvl="1" indent="-285840" algn="l">
              <a:lnSpc>
                <a:spcPct val="11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E.g., students' ID is often irrelevant to the task of predicting students' GPA</a:t>
            </a:r>
            <a:endParaRPr lang="en-US" sz="2400" b="0" u="none" strike="noStrike">
              <a:solidFill>
                <a:srgbClr val="000000"/>
              </a:solidFill>
              <a:effectLst/>
              <a:uFillTx/>
              <a:latin typeface="Tahoma"/>
            </a:endParaRPr>
          </a:p>
        </p:txBody>
      </p:sp>
      <p:sp>
        <p:nvSpPr>
          <p:cNvPr id="200" name="Text Box 4"/>
          <p:cNvSpPr/>
          <p:nvPr/>
        </p:nvSpPr>
        <p:spPr>
          <a:xfrm>
            <a:off x="1676520" y="3657600"/>
            <a:ext cx="1600200" cy="30492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876"/>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01" name="Rectangle 5"/>
          <p:cNvSpPr/>
          <p:nvPr/>
        </p:nvSpPr>
        <p:spPr>
          <a:xfrm>
            <a:off x="1717560" y="5985000"/>
            <a:ext cx="184320" cy="30456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spcBef>
                <a:spcPts val="876"/>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Tree>
  </p:cSld>
  <p:transition>
    <p:zoom dir="out"/>
  </p:transition>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6894887-1623-42D3-82B2-1453D528F8F8}"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203" name="PlaceHolder 1"/>
          <p:cNvSpPr>
            <a:spLocks noGrp="1"/>
          </p:cNvSpPr>
          <p:nvPr>
            <p:ph type="title"/>
          </p:nvPr>
        </p:nvSpPr>
        <p:spPr>
          <a:xfrm>
            <a:off x="152280" y="304560"/>
            <a:ext cx="876312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Berlin Sans FB Demi"/>
              </a:rPr>
              <a:t>Heuristic Search in Attribute Selection</a:t>
            </a:r>
            <a:endParaRPr lang="en-US" sz="3200" b="1" u="none" strike="noStrike">
              <a:solidFill>
                <a:srgbClr val="333399"/>
              </a:solidFill>
              <a:effectLst/>
              <a:uFillTx/>
              <a:latin typeface="Berlin Sans FB Demi"/>
            </a:endParaRPr>
          </a:p>
        </p:txBody>
      </p:sp>
      <p:sp>
        <p:nvSpPr>
          <p:cNvPr id="204" name="PlaceHolder 2"/>
          <p:cNvSpPr>
            <a:spLocks noGrp="1"/>
          </p:cNvSpPr>
          <p:nvPr>
            <p:ph/>
          </p:nvPr>
        </p:nvSpPr>
        <p:spPr>
          <a:xfrm>
            <a:off x="304920" y="1295280"/>
            <a:ext cx="8610480" cy="5181840"/>
          </a:xfrm>
          <a:prstGeom prst="rect">
            <a:avLst/>
          </a:prstGeom>
          <a:noFill/>
          <a:ln w="0">
            <a:noFill/>
          </a:ln>
        </p:spPr>
        <p:txBody>
          <a:bodyPr lIns="91440" tIns="45720" rIns="91440" bIns="45720" anchor="t">
            <a:normAutofit lnSpcReduction="9999"/>
          </a:bodyPr>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There are </a:t>
            </a:r>
            <a:r>
              <a:rPr lang="en-US" sz="2400" b="0" i="1" u="none" strike="noStrike">
                <a:solidFill>
                  <a:srgbClr val="000000"/>
                </a:solidFill>
                <a:effectLst/>
                <a:uFillTx/>
                <a:latin typeface="Tahoma"/>
              </a:rPr>
              <a:t>2</a:t>
            </a:r>
            <a:r>
              <a:rPr lang="en-US" sz="2400" b="0" i="1" u="none" strike="noStrike" baseline="30000">
                <a:solidFill>
                  <a:srgbClr val="000000"/>
                </a:solidFill>
                <a:effectLst/>
                <a:uFillTx/>
                <a:latin typeface="Tahoma"/>
              </a:rPr>
              <a:t>d</a:t>
            </a:r>
            <a:r>
              <a:rPr lang="en-US" sz="2400" b="0" u="none" strike="noStrike">
                <a:solidFill>
                  <a:srgbClr val="000000"/>
                </a:solidFill>
                <a:effectLst/>
                <a:uFillTx/>
                <a:latin typeface="Tahoma"/>
              </a:rPr>
              <a:t> possible attribute combinations of </a:t>
            </a:r>
            <a:r>
              <a:rPr lang="en-US" sz="2400" b="0" i="1" u="none" strike="noStrike">
                <a:solidFill>
                  <a:srgbClr val="000000"/>
                </a:solidFill>
                <a:effectLst/>
                <a:uFillTx/>
                <a:latin typeface="Tahoma"/>
              </a:rPr>
              <a:t>d</a:t>
            </a:r>
            <a:r>
              <a:rPr lang="en-US" sz="2400" b="0" u="none" strike="noStrike">
                <a:solidFill>
                  <a:srgbClr val="000000"/>
                </a:solidFill>
                <a:effectLst/>
                <a:uFillTx/>
                <a:latin typeface="Tahoma"/>
              </a:rPr>
              <a:t>  attributes</a:t>
            </a:r>
            <a:endParaRPr lang="en-US" sz="2400" b="0" u="none" strike="noStrike">
              <a:solidFill>
                <a:srgbClr val="000000"/>
              </a:solidFill>
              <a:effectLst/>
              <a:uFillTx/>
              <a:latin typeface="Tahoma"/>
            </a:endParaRPr>
          </a:p>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Typical heuristic attribute selection methods:</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Best single attribute under the attribute independence assumption: choose by significance tests</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Best step-wise feature selection:</a:t>
            </a:r>
            <a:endParaRPr lang="en-US" sz="2400" b="0" u="none" strike="noStrike">
              <a:solidFill>
                <a:srgbClr val="000000"/>
              </a:solidFill>
              <a:effectLst/>
              <a:uFillTx/>
              <a:latin typeface="Tahoma"/>
            </a:endParaRPr>
          </a:p>
          <a:p>
            <a:pPr marL="1143000" lvl="2" indent="-228600" algn="l">
              <a:spcBef>
                <a:spcPts val="601"/>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The best single-attribute is picked first</a:t>
            </a:r>
            <a:endParaRPr lang="en-US" sz="2400" b="0" u="none" strike="noStrike">
              <a:solidFill>
                <a:srgbClr val="000000"/>
              </a:solidFill>
              <a:effectLst/>
              <a:uFillTx/>
              <a:latin typeface="Tahoma"/>
            </a:endParaRPr>
          </a:p>
          <a:p>
            <a:pPr marL="1143000" lvl="2" indent="-228600" algn="l">
              <a:spcBef>
                <a:spcPts val="601"/>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Then next best attribute condition to the first, ...</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Step-wise attribute elimination:</a:t>
            </a:r>
            <a:endParaRPr lang="en-US" sz="2400" b="0" u="none" strike="noStrike">
              <a:solidFill>
                <a:srgbClr val="000000"/>
              </a:solidFill>
              <a:effectLst/>
              <a:uFillTx/>
              <a:latin typeface="Tahoma"/>
            </a:endParaRPr>
          </a:p>
          <a:p>
            <a:pPr marL="1143000" lvl="2" indent="-228600" algn="l">
              <a:spcBef>
                <a:spcPts val="601"/>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Repeatedly eliminate the worst attribute</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Best combined attribute selection and elimination</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Optimal branch and bound:</a:t>
            </a:r>
            <a:endParaRPr lang="en-US" sz="2400" b="0" u="none" strike="noStrike">
              <a:solidFill>
                <a:srgbClr val="000000"/>
              </a:solidFill>
              <a:effectLst/>
              <a:uFillTx/>
              <a:latin typeface="Tahoma"/>
            </a:endParaRPr>
          </a:p>
          <a:p>
            <a:pPr marL="1143000" lvl="2" indent="-228600" algn="l">
              <a:spcBef>
                <a:spcPts val="601"/>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Use attribute elimination and backtracking</a:t>
            </a:r>
            <a:endParaRPr lang="en-US" sz="2400" b="0" u="none" strike="noStrike">
              <a:solidFill>
                <a:srgbClr val="000000"/>
              </a:solidFill>
              <a:effectLst/>
              <a:uFillTx/>
              <a:latin typeface="Tahoma"/>
            </a:endParaRPr>
          </a:p>
        </p:txBody>
      </p:sp>
    </p:spTree>
  </p:cSld>
  <p:transition>
    <p:zoom dir="out"/>
  </p:transition>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DD816BF-7A32-406D-BA61-31EF9803DD8C}"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206" name="PlaceHolder 1"/>
          <p:cNvSpPr>
            <a:spLocks noGrp="1"/>
          </p:cNvSpPr>
          <p:nvPr>
            <p:ph type="title"/>
          </p:nvPr>
        </p:nvSpPr>
        <p:spPr>
          <a:xfrm>
            <a:off x="152280" y="304560"/>
            <a:ext cx="876312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Attribute Creation (Feature Generation)</a:t>
            </a:r>
            <a:endParaRPr lang="en-US" sz="3600" b="1" u="none" strike="noStrike">
              <a:solidFill>
                <a:srgbClr val="333399"/>
              </a:solidFill>
              <a:effectLst/>
              <a:uFillTx/>
              <a:latin typeface="Berlin Sans FB Demi"/>
            </a:endParaRPr>
          </a:p>
        </p:txBody>
      </p:sp>
      <p:sp>
        <p:nvSpPr>
          <p:cNvPr id="207" name="PlaceHolder 2"/>
          <p:cNvSpPr>
            <a:spLocks noGrp="1"/>
          </p:cNvSpPr>
          <p:nvPr>
            <p:ph/>
          </p:nvPr>
        </p:nvSpPr>
        <p:spPr>
          <a:xfrm>
            <a:off x="304560" y="1295280"/>
            <a:ext cx="8381880" cy="5181840"/>
          </a:xfrm>
          <a:prstGeom prst="rect">
            <a:avLst/>
          </a:prstGeom>
          <a:noFill/>
          <a:ln w="0">
            <a:noFill/>
          </a:ln>
        </p:spPr>
        <p:txBody>
          <a:bodyPr lIns="91440" tIns="45720" rIns="91440" bIns="45720" anchor="t">
            <a:normAutofit fontScale="92500" lnSpcReduction="9999"/>
          </a:bodyPr>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Create new attributes (features) that can capture the important information in a data set more effectively than the original ones</a:t>
            </a:r>
            <a:endParaRPr lang="en-US" sz="2400" b="0" u="none" strike="noStrike">
              <a:solidFill>
                <a:srgbClr val="000000"/>
              </a:solidFill>
              <a:effectLst/>
              <a:uFillTx/>
              <a:latin typeface="Tahoma"/>
            </a:endParaRPr>
          </a:p>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Three general methodologies</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Attribute extraction</a:t>
            </a:r>
            <a:endParaRPr lang="en-US" sz="2400" b="0" u="none" strike="noStrike">
              <a:solidFill>
                <a:srgbClr val="000000"/>
              </a:solidFill>
              <a:effectLst/>
              <a:uFillTx/>
              <a:latin typeface="Tahoma"/>
            </a:endParaRPr>
          </a:p>
          <a:p>
            <a:pPr marL="1143000" lvl="2" indent="-228600" algn="l">
              <a:spcBef>
                <a:spcPts val="601"/>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 Domain-specific</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Mapping data to new space (see: data reduction)</a:t>
            </a:r>
            <a:endParaRPr lang="en-US" sz="2400" b="0" u="none" strike="noStrike">
              <a:solidFill>
                <a:srgbClr val="000000"/>
              </a:solidFill>
              <a:effectLst/>
              <a:uFillTx/>
              <a:latin typeface="Tahoma"/>
            </a:endParaRPr>
          </a:p>
          <a:p>
            <a:pPr marL="1143000" lvl="2" indent="-228600" algn="l">
              <a:spcBef>
                <a:spcPts val="601"/>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E.g., Fourier transformation, wavelet transformation, manifold approaches (not covered)</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Attribute construction </a:t>
            </a:r>
            <a:endParaRPr lang="en-US" sz="2400" b="0" u="none" strike="noStrike">
              <a:solidFill>
                <a:srgbClr val="000000"/>
              </a:solidFill>
              <a:effectLst/>
              <a:uFillTx/>
              <a:latin typeface="Tahoma"/>
            </a:endParaRPr>
          </a:p>
          <a:p>
            <a:pPr marL="1143000" lvl="2" indent="-228600" algn="l">
              <a:spcBef>
                <a:spcPts val="601"/>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Combining features (see: discriminative frequent patterns in Chapter 7)</a:t>
            </a:r>
            <a:endParaRPr lang="en-US" sz="2400" b="0" u="none" strike="noStrike">
              <a:solidFill>
                <a:srgbClr val="000000"/>
              </a:solidFill>
              <a:effectLst/>
              <a:uFillTx/>
              <a:latin typeface="Tahoma"/>
            </a:endParaRPr>
          </a:p>
          <a:p>
            <a:pPr marL="1143000" lvl="2" indent="-228600" algn="l">
              <a:spcBef>
                <a:spcPts val="601"/>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discretization</a:t>
            </a:r>
            <a:endParaRPr lang="en-US" sz="2400" b="0" u="none" strike="noStrike">
              <a:solidFill>
                <a:srgbClr val="000000"/>
              </a:solidFill>
              <a:effectLst/>
              <a:uFillTx/>
              <a:latin typeface="Tahoma"/>
            </a:endParaRPr>
          </a:p>
        </p:txBody>
      </p:sp>
    </p:spTree>
  </p:cSld>
  <p:transition>
    <p:zoom dir="out"/>
  </p:transition>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7E2EDA43-1AD4-4A52-89D7-69AF526D0CED}"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209" name="PlaceHolder 1"/>
          <p:cNvSpPr>
            <a:spLocks noGrp="1"/>
          </p:cNvSpPr>
          <p:nvPr>
            <p:ph type="title"/>
          </p:nvPr>
        </p:nvSpPr>
        <p:spPr>
          <a:xfrm>
            <a:off x="-360" y="304920"/>
            <a:ext cx="8991720" cy="8380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Data Reduction 2: Numerosity Reduction</a:t>
            </a:r>
            <a:endParaRPr lang="en-US" sz="3600" b="1" u="none" strike="noStrike">
              <a:solidFill>
                <a:srgbClr val="333399"/>
              </a:solidFill>
              <a:effectLst/>
              <a:uFillTx/>
              <a:latin typeface="Berlin Sans FB Demi"/>
            </a:endParaRPr>
          </a:p>
        </p:txBody>
      </p:sp>
      <p:sp>
        <p:nvSpPr>
          <p:cNvPr id="210" name="PlaceHolder 2"/>
          <p:cNvSpPr>
            <a:spLocks noGrp="1"/>
          </p:cNvSpPr>
          <p:nvPr>
            <p:ph/>
          </p:nvPr>
        </p:nvSpPr>
        <p:spPr>
          <a:xfrm>
            <a:off x="304920" y="1295280"/>
            <a:ext cx="8229600" cy="5181840"/>
          </a:xfrm>
          <a:prstGeom prst="rect">
            <a:avLst/>
          </a:prstGeom>
          <a:noFill/>
          <a:ln w="0">
            <a:noFill/>
          </a:ln>
        </p:spPr>
        <p:txBody>
          <a:bodyPr lIns="91440" tIns="45720" rIns="91440" bIns="45720" anchor="t">
            <a:normAutofit/>
          </a:bodyPr>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Reduce data volume by choosing alternative, </a:t>
            </a:r>
            <a:r>
              <a:rPr lang="en-US" sz="2400" b="0" i="1" u="none" strike="noStrike">
                <a:solidFill>
                  <a:srgbClr val="000000"/>
                </a:solidFill>
                <a:effectLst/>
                <a:uFillTx/>
                <a:latin typeface="Tahoma"/>
              </a:rPr>
              <a:t>smaller forms</a:t>
            </a:r>
            <a:r>
              <a:rPr lang="en-US" sz="2400" b="0" u="none" strike="noStrike">
                <a:solidFill>
                  <a:srgbClr val="000000"/>
                </a:solidFill>
                <a:effectLst/>
                <a:uFillTx/>
                <a:latin typeface="Tahoma"/>
              </a:rPr>
              <a:t> of data representation</a:t>
            </a:r>
            <a:endParaRPr lang="en-US" sz="2400" b="0" u="none" strike="noStrike">
              <a:solidFill>
                <a:srgbClr val="000000"/>
              </a:solidFill>
              <a:effectLst/>
              <a:uFillTx/>
              <a:latin typeface="Tahoma"/>
            </a:endParaRPr>
          </a:p>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ahoma"/>
              </a:rPr>
              <a:t>Parametric methods</a:t>
            </a:r>
            <a:r>
              <a:rPr lang="en-US" sz="2400" b="0" u="none" strike="noStrike">
                <a:solidFill>
                  <a:srgbClr val="000000"/>
                </a:solidFill>
                <a:effectLst/>
                <a:uFillTx/>
                <a:latin typeface="Tahoma"/>
              </a:rPr>
              <a:t> (e.g., regression)</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Assume the data fits some model, estimate model parameters, store only the parameters, and discard the data (except possible outliers)</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Ex.: Log-linear models—obtain value at a point in </a:t>
            </a:r>
            <a:r>
              <a:rPr lang="en-US" sz="2400" b="0" i="1" u="none" strike="noStrike">
                <a:solidFill>
                  <a:srgbClr val="000000"/>
                </a:solidFill>
                <a:effectLst/>
                <a:uFillTx/>
                <a:latin typeface="Tahoma"/>
              </a:rPr>
              <a:t>m</a:t>
            </a:r>
            <a:r>
              <a:rPr lang="en-US" sz="2400" b="0" u="none" strike="noStrike">
                <a:solidFill>
                  <a:srgbClr val="000000"/>
                </a:solidFill>
                <a:effectLst/>
                <a:uFillTx/>
                <a:latin typeface="Tahoma"/>
              </a:rPr>
              <a:t>-D space as the product on appropriate marginal subspaces </a:t>
            </a:r>
            <a:endParaRPr lang="en-US" sz="2400" b="0" u="none" strike="noStrike">
              <a:solidFill>
                <a:srgbClr val="000000"/>
              </a:solidFill>
              <a:effectLst/>
              <a:uFillTx/>
              <a:latin typeface="Tahoma"/>
            </a:endParaRPr>
          </a:p>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ahoma"/>
              </a:rPr>
              <a:t>Non-parametric</a:t>
            </a:r>
            <a:r>
              <a:rPr lang="en-US" sz="2400" b="0" u="none" strike="noStrike">
                <a:solidFill>
                  <a:srgbClr val="000000"/>
                </a:solidFill>
                <a:effectLst/>
                <a:uFillTx/>
                <a:latin typeface="Tahoma"/>
              </a:rPr>
              <a:t> methods </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Do not assume models</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Major families: histograms, clustering, sampling, … </a:t>
            </a:r>
            <a:endParaRPr lang="en-US" sz="2400" b="0" u="none" strike="noStrike">
              <a:solidFill>
                <a:srgbClr val="000000"/>
              </a:solidFill>
              <a:effectLst/>
              <a:uFillTx/>
              <a:latin typeface="Tahoma"/>
            </a:endParaRPr>
          </a:p>
        </p:txBody>
      </p:sp>
    </p:spTree>
  </p:cSld>
  <p:transition>
    <p:zoom dir="out"/>
  </p:transition>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D293FB5-0D9C-45A2-9906-C2CBB8FD033E}"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212" name="PlaceHolder 1"/>
          <p:cNvSpPr>
            <a:spLocks noGrp="1"/>
          </p:cNvSpPr>
          <p:nvPr>
            <p:ph type="title"/>
          </p:nvPr>
        </p:nvSpPr>
        <p:spPr>
          <a:xfrm>
            <a:off x="609480" y="152280"/>
            <a:ext cx="7772400" cy="106704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170981"/>
                </a:solidFill>
                <a:effectLst/>
                <a:uFillTx/>
                <a:latin typeface="Berlin Sans FB Demi"/>
              </a:rPr>
              <a:t>Parametric Data Reduction: Regression and Log-Linear Models</a:t>
            </a:r>
            <a:endParaRPr lang="en-US" sz="3200" b="1" u="none" strike="noStrike">
              <a:solidFill>
                <a:srgbClr val="333399"/>
              </a:solidFill>
              <a:effectLst/>
              <a:uFillTx/>
              <a:latin typeface="Berlin Sans FB Demi"/>
            </a:endParaRPr>
          </a:p>
        </p:txBody>
      </p:sp>
      <p:sp>
        <p:nvSpPr>
          <p:cNvPr id="213" name="PlaceHolder 2"/>
          <p:cNvSpPr>
            <a:spLocks noGrp="1"/>
          </p:cNvSpPr>
          <p:nvPr>
            <p:ph/>
          </p:nvPr>
        </p:nvSpPr>
        <p:spPr>
          <a:xfrm>
            <a:off x="457200" y="1372680"/>
            <a:ext cx="8229600" cy="5085000"/>
          </a:xfrm>
          <a:prstGeom prst="rect">
            <a:avLst/>
          </a:prstGeom>
          <a:noFill/>
          <a:ln w="0">
            <a:noFill/>
          </a:ln>
        </p:spPr>
        <p:txBody>
          <a:bodyPr lIns="91440" tIns="45720" rIns="91440" bIns="45720" anchor="t">
            <a:normAutofit/>
          </a:bodyPr>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ahoma"/>
              </a:rPr>
              <a:t>Linear regression</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modeled to fit a straight line</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Often uses the least-square method to fit the line</a:t>
            </a:r>
            <a:endParaRPr lang="en-US" sz="2400" b="0" u="none" strike="noStrike">
              <a:solidFill>
                <a:srgbClr val="000000"/>
              </a:solidFill>
              <a:effectLst/>
              <a:uFillTx/>
              <a:latin typeface="Tahoma"/>
            </a:endParaRPr>
          </a:p>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ahoma"/>
              </a:rPr>
              <a:t>Multiple regression</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Allows a response variable Y to be modeled as a linear function of multidimensional feature vector</a:t>
            </a:r>
            <a:endParaRPr lang="en-US" sz="2400" b="0" u="none" strike="noStrike">
              <a:solidFill>
                <a:srgbClr val="000000"/>
              </a:solidFill>
              <a:effectLst/>
              <a:uFillTx/>
              <a:latin typeface="Tahoma"/>
            </a:endParaRPr>
          </a:p>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ahoma"/>
              </a:rPr>
              <a:t>Log-linear model</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Approximates discrete multidimensional probability distributions</a:t>
            </a:r>
            <a:endParaRPr lang="en-US" sz="2400" b="0" u="none" strike="noStrike">
              <a:solidFill>
                <a:srgbClr val="000000"/>
              </a:solidFill>
              <a:effectLst/>
              <a:uFillTx/>
              <a:latin typeface="Tahoma"/>
            </a:endParaRPr>
          </a:p>
        </p:txBody>
      </p:sp>
    </p:spTree>
  </p:cSld>
  <p:transition>
    <p:zoom dir="out"/>
  </p:transition>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1176DE6-385C-4110-9143-017CAAC8008F}"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215" name="PlaceHolder 1"/>
          <p:cNvSpPr>
            <a:spLocks noGrp="1"/>
          </p:cNvSpPr>
          <p:nvPr>
            <p:ph type="title"/>
          </p:nvPr>
        </p:nvSpPr>
        <p:spPr>
          <a:xfrm>
            <a:off x="151920" y="304560"/>
            <a:ext cx="624852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Regression Analysis</a:t>
            </a:r>
            <a:endParaRPr lang="en-US" sz="3600" b="1" u="none" strike="noStrike">
              <a:solidFill>
                <a:srgbClr val="333399"/>
              </a:solidFill>
              <a:effectLst/>
              <a:uFillTx/>
              <a:latin typeface="Berlin Sans FB Demi"/>
            </a:endParaRPr>
          </a:p>
        </p:txBody>
      </p:sp>
      <p:sp>
        <p:nvSpPr>
          <p:cNvPr id="216" name="PlaceHolder 2"/>
          <p:cNvSpPr>
            <a:spLocks noGrp="1"/>
          </p:cNvSpPr>
          <p:nvPr>
            <p:ph/>
          </p:nvPr>
        </p:nvSpPr>
        <p:spPr>
          <a:xfrm>
            <a:off x="304920" y="1295280"/>
            <a:ext cx="5410080" cy="5181840"/>
          </a:xfrm>
          <a:prstGeom prst="rect">
            <a:avLst/>
          </a:prstGeom>
          <a:noFill/>
          <a:ln w="0">
            <a:noFill/>
          </a:ln>
        </p:spPr>
        <p:txBody>
          <a:bodyPr lIns="91440" tIns="45720" rIns="91440" bIns="45720" anchor="t">
            <a:normAutofit/>
          </a:bodyPr>
          <a:p>
            <a:pPr marL="343080" indent="-343080" algn="l">
              <a:lnSpc>
                <a:spcPct val="13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Regression analysis:</a:t>
            </a:r>
            <a:r>
              <a:rPr lang="en-US" sz="2000" b="1" u="none" strike="noStrike">
                <a:solidFill>
                  <a:srgbClr val="000000"/>
                </a:solidFill>
                <a:effectLst/>
                <a:uFillTx/>
                <a:latin typeface="Tahoma"/>
              </a:rPr>
              <a:t> </a:t>
            </a:r>
            <a:r>
              <a:rPr lang="en-US" sz="2000" b="0" u="none" strike="noStrike">
                <a:solidFill>
                  <a:srgbClr val="000000"/>
                </a:solidFill>
                <a:effectLst/>
                <a:uFillTx/>
                <a:latin typeface="Tahoma"/>
              </a:rPr>
              <a:t>A collective name for techniques for the modeling and analysis of numerical data consisting of values of a </a:t>
            </a:r>
            <a:r>
              <a:rPr lang="en-US" sz="2000" b="1" i="1" u="none" strike="noStrike">
                <a:solidFill>
                  <a:srgbClr val="000000"/>
                </a:solidFill>
                <a:effectLst/>
                <a:uFillTx/>
                <a:latin typeface="Tahoma"/>
              </a:rPr>
              <a:t>dependent variable</a:t>
            </a:r>
            <a:r>
              <a:rPr lang="en-US" sz="2000" b="1" u="none" strike="noStrike">
                <a:solidFill>
                  <a:srgbClr val="000000"/>
                </a:solidFill>
                <a:effectLst/>
                <a:uFillTx/>
                <a:latin typeface="Tahoma"/>
              </a:rPr>
              <a:t> </a:t>
            </a:r>
            <a:r>
              <a:rPr lang="en-US" sz="2000" b="0" u="none" strike="noStrike">
                <a:solidFill>
                  <a:srgbClr val="000000"/>
                </a:solidFill>
                <a:effectLst/>
                <a:uFillTx/>
                <a:latin typeface="Tahoma"/>
              </a:rPr>
              <a:t>(also called </a:t>
            </a:r>
            <a:r>
              <a:rPr lang="en-US" sz="2000" b="1" i="1" u="none" strike="noStrike">
                <a:solidFill>
                  <a:srgbClr val="000000"/>
                </a:solidFill>
                <a:effectLst/>
                <a:uFillTx/>
                <a:latin typeface="Tahoma"/>
              </a:rPr>
              <a:t>response variable</a:t>
            </a:r>
            <a:r>
              <a:rPr lang="en-US" sz="2000" b="1" u="none" strike="noStrike">
                <a:solidFill>
                  <a:srgbClr val="000000"/>
                </a:solidFill>
                <a:effectLst/>
                <a:uFillTx/>
                <a:latin typeface="Tahoma"/>
              </a:rPr>
              <a:t> </a:t>
            </a:r>
            <a:r>
              <a:rPr lang="en-US" sz="2000" b="0" u="none" strike="noStrike">
                <a:solidFill>
                  <a:srgbClr val="000000"/>
                </a:solidFill>
                <a:effectLst/>
                <a:uFillTx/>
                <a:latin typeface="Tahoma"/>
              </a:rPr>
              <a:t>or </a:t>
            </a:r>
            <a:r>
              <a:rPr lang="en-US" sz="2000" b="0" i="1" u="none" strike="noStrike">
                <a:solidFill>
                  <a:srgbClr val="000000"/>
                </a:solidFill>
                <a:effectLst/>
                <a:uFillTx/>
                <a:latin typeface="Tahoma"/>
              </a:rPr>
              <a:t>measurement</a:t>
            </a:r>
            <a:r>
              <a:rPr lang="en-US" sz="2000" b="0" u="none" strike="noStrike">
                <a:solidFill>
                  <a:srgbClr val="000000"/>
                </a:solidFill>
                <a:effectLst/>
                <a:uFillTx/>
                <a:latin typeface="Tahoma"/>
              </a:rPr>
              <a:t>) and of one or more </a:t>
            </a:r>
            <a:r>
              <a:rPr lang="en-US" sz="2000" b="0" i="1" u="none" strike="noStrike">
                <a:solidFill>
                  <a:srgbClr val="000000"/>
                </a:solidFill>
                <a:effectLst/>
                <a:uFillTx/>
                <a:latin typeface="Tahoma"/>
              </a:rPr>
              <a:t>independent variables</a:t>
            </a:r>
            <a:r>
              <a:rPr lang="en-US" sz="2000" b="0" u="none" strike="noStrike">
                <a:solidFill>
                  <a:srgbClr val="000000"/>
                </a:solidFill>
                <a:effectLst/>
                <a:uFillTx/>
                <a:latin typeface="Tahoma"/>
              </a:rPr>
              <a:t> (aka. </a:t>
            </a:r>
            <a:r>
              <a:rPr lang="en-US" sz="2000" b="1" i="1" u="none" strike="noStrike">
                <a:solidFill>
                  <a:srgbClr val="000000"/>
                </a:solidFill>
                <a:effectLst/>
                <a:uFillTx/>
                <a:latin typeface="Tahoma"/>
              </a:rPr>
              <a:t>explanatory variables</a:t>
            </a:r>
            <a:r>
              <a:rPr lang="en-US" sz="2000" b="1" u="none" strike="noStrike">
                <a:solidFill>
                  <a:srgbClr val="000000"/>
                </a:solidFill>
                <a:effectLst/>
                <a:uFillTx/>
                <a:latin typeface="Tahoma"/>
              </a:rPr>
              <a:t> </a:t>
            </a:r>
            <a:r>
              <a:rPr lang="en-US" sz="2000" b="0" u="none" strike="noStrike">
                <a:solidFill>
                  <a:srgbClr val="000000"/>
                </a:solidFill>
                <a:effectLst/>
                <a:uFillTx/>
                <a:latin typeface="Tahoma"/>
              </a:rPr>
              <a:t>or </a:t>
            </a:r>
            <a:r>
              <a:rPr lang="en-US" sz="2000" b="1" i="1" u="none" strike="noStrike">
                <a:solidFill>
                  <a:srgbClr val="000000"/>
                </a:solidFill>
                <a:effectLst/>
                <a:uFillTx/>
                <a:latin typeface="Tahoma"/>
              </a:rPr>
              <a:t>predictors</a:t>
            </a:r>
            <a:r>
              <a:rPr lang="en-US" sz="2000" b="0" u="none" strike="noStrike">
                <a:solidFill>
                  <a:srgbClr val="000000"/>
                </a:solidFill>
                <a:effectLst/>
                <a:uFillTx/>
                <a:latin typeface="Tahoma"/>
              </a:rPr>
              <a:t>)</a:t>
            </a:r>
            <a:endParaRPr lang="en-US" sz="2000" b="0" u="none" strike="noStrike">
              <a:solidFill>
                <a:srgbClr val="000000"/>
              </a:solidFill>
              <a:effectLst/>
              <a:uFillTx/>
              <a:latin typeface="Tahoma"/>
            </a:endParaRPr>
          </a:p>
          <a:p>
            <a:pPr marL="343080" indent="-343080" algn="l">
              <a:lnSpc>
                <a:spcPct val="13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The parameters are estimated so as to give a "</a:t>
            </a:r>
            <a:r>
              <a:rPr lang="en-US" sz="2000" b="1" u="none" strike="noStrike">
                <a:solidFill>
                  <a:srgbClr val="000000"/>
                </a:solidFill>
                <a:effectLst/>
                <a:uFillTx/>
                <a:latin typeface="Tahoma"/>
              </a:rPr>
              <a:t>best fit</a:t>
            </a:r>
            <a:r>
              <a:rPr lang="en-US" sz="2000" b="0" u="none" strike="noStrike">
                <a:solidFill>
                  <a:srgbClr val="000000"/>
                </a:solidFill>
                <a:effectLst/>
                <a:uFillTx/>
                <a:latin typeface="Tahoma"/>
              </a:rPr>
              <a:t>" of the data</a:t>
            </a:r>
            <a:endParaRPr lang="en-US" sz="2000" b="0" u="none" strike="noStrike">
              <a:solidFill>
                <a:srgbClr val="000000"/>
              </a:solidFill>
              <a:effectLst/>
              <a:uFillTx/>
              <a:latin typeface="Tahoma"/>
            </a:endParaRPr>
          </a:p>
          <a:p>
            <a:pPr marL="343080" indent="-343080" algn="l">
              <a:lnSpc>
                <a:spcPct val="13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Most commonly the best fit is evaluated by using the </a:t>
            </a:r>
            <a:r>
              <a:rPr lang="en-US" sz="2000" b="1" i="1" u="none" strike="noStrike">
                <a:solidFill>
                  <a:srgbClr val="000000"/>
                </a:solidFill>
                <a:effectLst/>
                <a:uFillTx/>
                <a:latin typeface="Tahoma"/>
              </a:rPr>
              <a:t>least squares method</a:t>
            </a:r>
            <a:r>
              <a:rPr lang="en-US" sz="2000" b="0" u="none" strike="noStrike">
                <a:solidFill>
                  <a:srgbClr val="000000"/>
                </a:solidFill>
                <a:effectLst/>
                <a:uFillTx/>
                <a:latin typeface="Tahoma"/>
              </a:rPr>
              <a:t>, but other criteria have also been used</a:t>
            </a:r>
            <a:endParaRPr lang="en-US" sz="2000" b="0" u="none" strike="noStrike">
              <a:solidFill>
                <a:srgbClr val="000000"/>
              </a:solidFill>
              <a:effectLst/>
              <a:uFillTx/>
              <a:latin typeface="Tahoma"/>
            </a:endParaRPr>
          </a:p>
        </p:txBody>
      </p:sp>
      <p:sp>
        <p:nvSpPr>
          <p:cNvPr id="217" name="PlaceHolder 3"/>
          <p:cNvSpPr>
            <a:spLocks noGrp="1"/>
          </p:cNvSpPr>
          <p:nvPr>
            <p:ph/>
          </p:nvPr>
        </p:nvSpPr>
        <p:spPr>
          <a:xfrm>
            <a:off x="5486040" y="3886200"/>
            <a:ext cx="3809880" cy="2286000"/>
          </a:xfrm>
          <a:prstGeom prst="rect">
            <a:avLst/>
          </a:prstGeom>
          <a:noFill/>
          <a:ln w="0">
            <a:noFill/>
          </a:ln>
        </p:spPr>
        <p:txBody>
          <a:bodyPr lIns="91440" tIns="45720" rIns="91440" bIns="45720" anchor="t">
            <a:normAutofit/>
          </a:bodyPr>
          <a:p>
            <a:pPr marL="343080" indent="-343080" algn="l">
              <a:lnSpc>
                <a:spcPct val="11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Used for prediction (including forecasting of time-series data), inference, hypothesis testing, and modeling of causal relationships</a:t>
            </a:r>
            <a:endParaRPr lang="en-US" sz="2000" b="0" u="none" strike="noStrike">
              <a:solidFill>
                <a:srgbClr val="000000"/>
              </a:solidFill>
              <a:effectLst/>
              <a:uFillTx/>
              <a:latin typeface="Tahoma"/>
            </a:endParaRPr>
          </a:p>
        </p:txBody>
      </p:sp>
      <p:sp>
        <p:nvSpPr>
          <p:cNvPr id="218" name="Text Box 20"/>
          <p:cNvSpPr/>
          <p:nvPr/>
        </p:nvSpPr>
        <p:spPr>
          <a:xfrm>
            <a:off x="5793120" y="0"/>
            <a:ext cx="333000" cy="45972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y</a:t>
            </a:r>
            <a:endParaRPr lang="en-US" sz="2400" b="0" u="none" strike="noStrike">
              <a:solidFill>
                <a:srgbClr val="000000"/>
              </a:solidFill>
              <a:effectLst/>
              <a:uFillTx/>
              <a:latin typeface="Tahoma"/>
            </a:endParaRPr>
          </a:p>
        </p:txBody>
      </p:sp>
      <p:grpSp>
        <p:nvGrpSpPr>
          <p:cNvPr id="219" name="Group 30"/>
          <p:cNvGrpSpPr/>
          <p:nvPr/>
        </p:nvGrpSpPr>
        <p:grpSpPr>
          <a:xfrm>
            <a:off x="5486400" y="253800"/>
            <a:ext cx="3362760" cy="3177000"/>
            <a:chOff x="5486400" y="253800"/>
            <a:chExt cx="3362760" cy="3177000"/>
          </a:xfrm>
        </p:grpSpPr>
        <p:sp>
          <p:nvSpPr>
            <p:cNvPr id="220" name="Line 3"/>
            <p:cNvSpPr/>
            <p:nvPr/>
          </p:nvSpPr>
          <p:spPr>
            <a:xfrm>
              <a:off x="5486400" y="2971800"/>
              <a:ext cx="327672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ahoma"/>
              </a:endParaRPr>
            </a:p>
          </p:txBody>
        </p:sp>
        <p:sp>
          <p:nvSpPr>
            <p:cNvPr id="221" name="Line 4"/>
            <p:cNvSpPr/>
            <p:nvPr/>
          </p:nvSpPr>
          <p:spPr>
            <a:xfrm flipV="1">
              <a:off x="5791320" y="253800"/>
              <a:ext cx="1440" cy="317484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ahoma"/>
              </a:endParaRPr>
            </a:p>
          </p:txBody>
        </p:sp>
        <p:sp>
          <p:nvSpPr>
            <p:cNvPr id="222" name="Oval 5"/>
            <p:cNvSpPr/>
            <p:nvPr/>
          </p:nvSpPr>
          <p:spPr>
            <a:xfrm flipV="1">
              <a:off x="7178760" y="1923840"/>
              <a:ext cx="42840" cy="42480"/>
            </a:xfrm>
            <a:prstGeom prst="ellipse">
              <a:avLst/>
            </a:prstGeom>
            <a:solidFill>
              <a:srgbClr val="00E4A8"/>
            </a:solidFill>
            <a:ln w="9360">
              <a:solidFill>
                <a:srgbClr val="000000"/>
              </a:solidFill>
              <a:miter/>
            </a:ln>
          </p:spPr>
          <p:style>
            <a:lnRef idx="0"/>
            <a:fillRef idx="0"/>
            <a:effectRef idx="0"/>
            <a:fontRef idx="minor"/>
          </p:style>
          <p:txBody>
            <a:bodyPr wrap="none" lIns="90000" tIns="-16560" rIns="90000" bIns="-1656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23" name="Oval 6"/>
            <p:cNvSpPr/>
            <p:nvPr/>
          </p:nvSpPr>
          <p:spPr>
            <a:xfrm flipV="1">
              <a:off x="6761160" y="2028600"/>
              <a:ext cx="42840" cy="42480"/>
            </a:xfrm>
            <a:prstGeom prst="ellipse">
              <a:avLst/>
            </a:prstGeom>
            <a:solidFill>
              <a:srgbClr val="00E4A8"/>
            </a:solidFill>
            <a:ln w="9360">
              <a:solidFill>
                <a:srgbClr val="000000"/>
              </a:solidFill>
              <a:miter/>
            </a:ln>
          </p:spPr>
          <p:style>
            <a:lnRef idx="0"/>
            <a:fillRef idx="0"/>
            <a:effectRef idx="0"/>
            <a:fontRef idx="minor"/>
          </p:style>
          <p:txBody>
            <a:bodyPr wrap="none" lIns="90000" tIns="-16560" rIns="90000" bIns="-1656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24" name="Oval 7"/>
            <p:cNvSpPr/>
            <p:nvPr/>
          </p:nvSpPr>
          <p:spPr>
            <a:xfrm flipV="1">
              <a:off x="6586560" y="1104840"/>
              <a:ext cx="42840" cy="42480"/>
            </a:xfrm>
            <a:prstGeom prst="ellipse">
              <a:avLst/>
            </a:prstGeom>
            <a:solidFill>
              <a:srgbClr val="00E4A8"/>
            </a:solidFill>
            <a:ln w="9360">
              <a:solidFill>
                <a:srgbClr val="000000"/>
              </a:solidFill>
              <a:miter/>
            </a:ln>
          </p:spPr>
          <p:style>
            <a:lnRef idx="0"/>
            <a:fillRef idx="0"/>
            <a:effectRef idx="0"/>
            <a:fontRef idx="minor"/>
          </p:style>
          <p:txBody>
            <a:bodyPr wrap="none" lIns="90000" tIns="-16560" rIns="90000" bIns="-1656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25" name="Oval 8"/>
            <p:cNvSpPr/>
            <p:nvPr/>
          </p:nvSpPr>
          <p:spPr>
            <a:xfrm flipV="1">
              <a:off x="6411960" y="2496960"/>
              <a:ext cx="42840" cy="42480"/>
            </a:xfrm>
            <a:prstGeom prst="ellipse">
              <a:avLst/>
            </a:prstGeom>
            <a:solidFill>
              <a:srgbClr val="00E4A8"/>
            </a:solidFill>
            <a:ln w="9360">
              <a:solidFill>
                <a:srgbClr val="000000"/>
              </a:solidFill>
              <a:miter/>
            </a:ln>
          </p:spPr>
          <p:style>
            <a:lnRef idx="0"/>
            <a:fillRef idx="0"/>
            <a:effectRef idx="0"/>
            <a:fontRef idx="minor"/>
          </p:style>
          <p:txBody>
            <a:bodyPr wrap="none" lIns="90000" tIns="-16560" rIns="90000" bIns="-1656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26" name="Oval 9"/>
            <p:cNvSpPr/>
            <p:nvPr/>
          </p:nvSpPr>
          <p:spPr>
            <a:xfrm flipV="1">
              <a:off x="7283520" y="1571400"/>
              <a:ext cx="42840" cy="42480"/>
            </a:xfrm>
            <a:prstGeom prst="ellipse">
              <a:avLst/>
            </a:prstGeom>
            <a:solidFill>
              <a:srgbClr val="00E4A8"/>
            </a:solidFill>
            <a:ln w="9360">
              <a:solidFill>
                <a:srgbClr val="000000"/>
              </a:solidFill>
              <a:miter/>
            </a:ln>
          </p:spPr>
          <p:style>
            <a:lnRef idx="0"/>
            <a:fillRef idx="0"/>
            <a:effectRef idx="0"/>
            <a:fontRef idx="minor"/>
          </p:style>
          <p:txBody>
            <a:bodyPr wrap="none" lIns="90000" tIns="-16560" rIns="90000" bIns="-1656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27" name="Oval 10"/>
            <p:cNvSpPr/>
            <p:nvPr/>
          </p:nvSpPr>
          <p:spPr>
            <a:xfrm flipV="1">
              <a:off x="7485120" y="1298520"/>
              <a:ext cx="42840" cy="42480"/>
            </a:xfrm>
            <a:prstGeom prst="ellipse">
              <a:avLst/>
            </a:prstGeom>
            <a:solidFill>
              <a:srgbClr val="00E4A8"/>
            </a:solidFill>
            <a:ln w="9360">
              <a:solidFill>
                <a:srgbClr val="000000"/>
              </a:solidFill>
              <a:miter/>
            </a:ln>
          </p:spPr>
          <p:style>
            <a:lnRef idx="0"/>
            <a:fillRef idx="0"/>
            <a:effectRef idx="0"/>
            <a:fontRef idx="minor"/>
          </p:style>
          <p:txBody>
            <a:bodyPr wrap="none" lIns="90000" tIns="-16560" rIns="90000" bIns="-1656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28" name="Oval 11"/>
            <p:cNvSpPr/>
            <p:nvPr/>
          </p:nvSpPr>
          <p:spPr>
            <a:xfrm flipV="1">
              <a:off x="6053040" y="2593800"/>
              <a:ext cx="42840" cy="42480"/>
            </a:xfrm>
            <a:prstGeom prst="ellipse">
              <a:avLst/>
            </a:prstGeom>
            <a:solidFill>
              <a:srgbClr val="00E4A8"/>
            </a:solidFill>
            <a:ln w="9360">
              <a:solidFill>
                <a:srgbClr val="000000"/>
              </a:solidFill>
              <a:miter/>
            </a:ln>
          </p:spPr>
          <p:style>
            <a:lnRef idx="0"/>
            <a:fillRef idx="0"/>
            <a:effectRef idx="0"/>
            <a:fontRef idx="minor"/>
          </p:style>
          <p:txBody>
            <a:bodyPr wrap="none" lIns="90000" tIns="-16560" rIns="90000" bIns="-1656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29" name="Oval 12"/>
            <p:cNvSpPr/>
            <p:nvPr/>
          </p:nvSpPr>
          <p:spPr>
            <a:xfrm flipV="1">
              <a:off x="7805880" y="1293840"/>
              <a:ext cx="42840" cy="42480"/>
            </a:xfrm>
            <a:prstGeom prst="ellipse">
              <a:avLst/>
            </a:prstGeom>
            <a:solidFill>
              <a:srgbClr val="00E4A8"/>
            </a:solidFill>
            <a:ln w="9360">
              <a:solidFill>
                <a:srgbClr val="000000"/>
              </a:solidFill>
              <a:miter/>
            </a:ln>
          </p:spPr>
          <p:style>
            <a:lnRef idx="0"/>
            <a:fillRef idx="0"/>
            <a:effectRef idx="0"/>
            <a:fontRef idx="minor"/>
          </p:style>
          <p:txBody>
            <a:bodyPr wrap="none" lIns="90000" tIns="-16560" rIns="90000" bIns="-1656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30" name="Oval 13"/>
            <p:cNvSpPr/>
            <p:nvPr/>
          </p:nvSpPr>
          <p:spPr>
            <a:xfrm flipV="1">
              <a:off x="7826400" y="1054080"/>
              <a:ext cx="42840" cy="42480"/>
            </a:xfrm>
            <a:prstGeom prst="ellipse">
              <a:avLst/>
            </a:prstGeom>
            <a:solidFill>
              <a:srgbClr val="00E4A8"/>
            </a:solidFill>
            <a:ln w="9360">
              <a:solidFill>
                <a:srgbClr val="000000"/>
              </a:solidFill>
              <a:miter/>
            </a:ln>
          </p:spPr>
          <p:style>
            <a:lnRef idx="0"/>
            <a:fillRef idx="0"/>
            <a:effectRef idx="0"/>
            <a:fontRef idx="minor"/>
          </p:style>
          <p:txBody>
            <a:bodyPr wrap="none" lIns="90000" tIns="-16560" rIns="90000" bIns="-1656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31" name="Oval 14"/>
            <p:cNvSpPr/>
            <p:nvPr/>
          </p:nvSpPr>
          <p:spPr>
            <a:xfrm flipV="1">
              <a:off x="8240760" y="1027080"/>
              <a:ext cx="42840" cy="42480"/>
            </a:xfrm>
            <a:prstGeom prst="ellipse">
              <a:avLst/>
            </a:prstGeom>
            <a:solidFill>
              <a:srgbClr val="00E4A8"/>
            </a:solidFill>
            <a:ln w="9360">
              <a:solidFill>
                <a:srgbClr val="000000"/>
              </a:solidFill>
              <a:miter/>
            </a:ln>
          </p:spPr>
          <p:style>
            <a:lnRef idx="0"/>
            <a:fillRef idx="0"/>
            <a:effectRef idx="0"/>
            <a:fontRef idx="minor"/>
          </p:style>
          <p:txBody>
            <a:bodyPr wrap="none" lIns="90000" tIns="-16560" rIns="90000" bIns="-1656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32" name="Oval 15"/>
            <p:cNvSpPr/>
            <p:nvPr/>
          </p:nvSpPr>
          <p:spPr>
            <a:xfrm flipV="1">
              <a:off x="6008760" y="2860560"/>
              <a:ext cx="42840" cy="42480"/>
            </a:xfrm>
            <a:prstGeom prst="ellipse">
              <a:avLst/>
            </a:prstGeom>
            <a:solidFill>
              <a:srgbClr val="00E4A8"/>
            </a:solidFill>
            <a:ln w="9360">
              <a:solidFill>
                <a:srgbClr val="000000"/>
              </a:solidFill>
              <a:miter/>
            </a:ln>
          </p:spPr>
          <p:style>
            <a:lnRef idx="0"/>
            <a:fillRef idx="0"/>
            <a:effectRef idx="0"/>
            <a:fontRef idx="minor"/>
          </p:style>
          <p:txBody>
            <a:bodyPr wrap="none" lIns="90000" tIns="-16560" rIns="90000" bIns="-1656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33" name="Oval 16"/>
            <p:cNvSpPr/>
            <p:nvPr/>
          </p:nvSpPr>
          <p:spPr>
            <a:xfrm flipV="1">
              <a:off x="8220240" y="776160"/>
              <a:ext cx="42840" cy="42480"/>
            </a:xfrm>
            <a:prstGeom prst="ellipse">
              <a:avLst/>
            </a:prstGeom>
            <a:solidFill>
              <a:srgbClr val="00E4A8"/>
            </a:solidFill>
            <a:ln w="9360">
              <a:solidFill>
                <a:srgbClr val="000000"/>
              </a:solidFill>
              <a:miter/>
            </a:ln>
          </p:spPr>
          <p:style>
            <a:lnRef idx="0"/>
            <a:fillRef idx="0"/>
            <a:effectRef idx="0"/>
            <a:fontRef idx="minor"/>
          </p:style>
          <p:txBody>
            <a:bodyPr wrap="none" lIns="90000" tIns="-16560" rIns="90000" bIns="-1656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34" name="Oval 17"/>
            <p:cNvSpPr/>
            <p:nvPr/>
          </p:nvSpPr>
          <p:spPr>
            <a:xfrm flipV="1">
              <a:off x="8550360" y="650880"/>
              <a:ext cx="42840" cy="42480"/>
            </a:xfrm>
            <a:prstGeom prst="ellipse">
              <a:avLst/>
            </a:prstGeom>
            <a:solidFill>
              <a:srgbClr val="00E4A8"/>
            </a:solidFill>
            <a:ln w="9360">
              <a:solidFill>
                <a:srgbClr val="000000"/>
              </a:solidFill>
              <a:miter/>
            </a:ln>
          </p:spPr>
          <p:style>
            <a:lnRef idx="0"/>
            <a:fillRef idx="0"/>
            <a:effectRef idx="0"/>
            <a:fontRef idx="minor"/>
          </p:style>
          <p:txBody>
            <a:bodyPr wrap="none" lIns="90000" tIns="-16560" rIns="90000" bIns="-1656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35" name="Line 18"/>
            <p:cNvSpPr/>
            <p:nvPr/>
          </p:nvSpPr>
          <p:spPr>
            <a:xfrm flipV="1">
              <a:off x="5775480" y="563040"/>
              <a:ext cx="2906640" cy="2269800"/>
            </a:xfrm>
            <a:prstGeom prst="line">
              <a:avLst/>
            </a:prstGeom>
            <a:ln w="9360">
              <a:solidFill>
                <a:srgbClr val="333399"/>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ahoma"/>
              </a:endParaRPr>
            </a:p>
          </p:txBody>
        </p:sp>
        <p:sp>
          <p:nvSpPr>
            <p:cNvPr id="236" name="Text Box 19"/>
            <p:cNvSpPr/>
            <p:nvPr/>
          </p:nvSpPr>
          <p:spPr>
            <a:xfrm>
              <a:off x="8460000" y="2895480"/>
              <a:ext cx="333000" cy="45972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x</a:t>
              </a:r>
              <a:endParaRPr lang="en-US" sz="2400" b="0" u="none" strike="noStrike">
                <a:solidFill>
                  <a:srgbClr val="000000"/>
                </a:solidFill>
                <a:effectLst/>
                <a:uFillTx/>
                <a:latin typeface="Tahoma"/>
              </a:endParaRPr>
            </a:p>
          </p:txBody>
        </p:sp>
        <p:sp>
          <p:nvSpPr>
            <p:cNvPr id="237" name="Text Box 21"/>
            <p:cNvSpPr/>
            <p:nvPr/>
          </p:nvSpPr>
          <p:spPr>
            <a:xfrm>
              <a:off x="7562520" y="1839960"/>
              <a:ext cx="1286640" cy="45972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y = x + 1</a:t>
              </a:r>
              <a:endParaRPr lang="en-US" sz="2400" b="0" u="none" strike="noStrike">
                <a:solidFill>
                  <a:srgbClr val="000000"/>
                </a:solidFill>
                <a:effectLst/>
                <a:uFillTx/>
                <a:latin typeface="Tahoma"/>
              </a:endParaRPr>
            </a:p>
          </p:txBody>
        </p:sp>
        <p:sp>
          <p:nvSpPr>
            <p:cNvPr id="238" name="Line 22"/>
            <p:cNvSpPr/>
            <p:nvPr/>
          </p:nvSpPr>
          <p:spPr>
            <a:xfrm>
              <a:off x="6608880" y="1119240"/>
              <a:ext cx="0" cy="1909080"/>
            </a:xfrm>
            <a:prstGeom prst="line">
              <a:avLst/>
            </a:prstGeom>
            <a:ln w="9360">
              <a:solidFill>
                <a:srgbClr val="006666"/>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ahoma"/>
              </a:endParaRPr>
            </a:p>
          </p:txBody>
        </p:sp>
        <p:sp>
          <p:nvSpPr>
            <p:cNvPr id="239" name="Line 23"/>
            <p:cNvSpPr/>
            <p:nvPr/>
          </p:nvSpPr>
          <p:spPr>
            <a:xfrm flipH="1">
              <a:off x="5792400" y="1135080"/>
              <a:ext cx="800280" cy="0"/>
            </a:xfrm>
            <a:prstGeom prst="line">
              <a:avLst/>
            </a:prstGeom>
            <a:ln w="9360">
              <a:solidFill>
                <a:srgbClr val="006666"/>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ahoma"/>
              </a:endParaRPr>
            </a:p>
          </p:txBody>
        </p:sp>
        <p:sp>
          <p:nvSpPr>
            <p:cNvPr id="240" name="Line 24"/>
            <p:cNvSpPr/>
            <p:nvPr/>
          </p:nvSpPr>
          <p:spPr>
            <a:xfrm flipH="1">
              <a:off x="5776560" y="2146320"/>
              <a:ext cx="816120" cy="0"/>
            </a:xfrm>
            <a:prstGeom prst="line">
              <a:avLst/>
            </a:prstGeom>
            <a:ln w="9360">
              <a:solidFill>
                <a:srgbClr val="006666"/>
              </a:solidFill>
              <a:prstDash val="dash"/>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ahoma"/>
              </a:endParaRPr>
            </a:p>
          </p:txBody>
        </p:sp>
        <p:sp>
          <p:nvSpPr>
            <p:cNvPr id="241" name="Text Box 25"/>
            <p:cNvSpPr/>
            <p:nvPr/>
          </p:nvSpPr>
          <p:spPr>
            <a:xfrm>
              <a:off x="6534360" y="3031920"/>
              <a:ext cx="491760" cy="39888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X1</a:t>
              </a:r>
              <a:endParaRPr lang="en-US" sz="2000" b="0" u="none" strike="noStrike">
                <a:solidFill>
                  <a:srgbClr val="000000"/>
                </a:solidFill>
                <a:effectLst/>
                <a:uFillTx/>
                <a:latin typeface="Tahoma"/>
              </a:endParaRPr>
            </a:p>
          </p:txBody>
        </p:sp>
        <p:sp>
          <p:nvSpPr>
            <p:cNvPr id="242" name="Text Box 26"/>
            <p:cNvSpPr/>
            <p:nvPr/>
          </p:nvSpPr>
          <p:spPr>
            <a:xfrm>
              <a:off x="5716800" y="838080"/>
              <a:ext cx="491760" cy="39888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Y1</a:t>
              </a:r>
              <a:endParaRPr lang="en-US" sz="2000" b="0" u="none" strike="noStrike">
                <a:solidFill>
                  <a:srgbClr val="000000"/>
                </a:solidFill>
                <a:effectLst/>
                <a:uFillTx/>
                <a:latin typeface="Tahoma"/>
              </a:endParaRPr>
            </a:p>
          </p:txBody>
        </p:sp>
        <p:sp>
          <p:nvSpPr>
            <p:cNvPr id="243" name="Text Box 27"/>
            <p:cNvSpPr/>
            <p:nvPr/>
          </p:nvSpPr>
          <p:spPr>
            <a:xfrm>
              <a:off x="5746680" y="1752480"/>
              <a:ext cx="576360" cy="39888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Y1’</a:t>
              </a:r>
              <a:endParaRPr lang="en-US" sz="2000" b="0" u="none" strike="noStrike">
                <a:solidFill>
                  <a:srgbClr val="000000"/>
                </a:solidFill>
                <a:effectLst/>
                <a:uFillTx/>
                <a:latin typeface="Tahoma"/>
              </a:endParaRPr>
            </a:p>
          </p:txBody>
        </p:sp>
      </p:grpSp>
    </p:spTree>
  </p:cSld>
  <p:transition>
    <p:zoom dir="out"/>
  </p:transition>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E3E1C493-4DEB-4BBE-8F36-70A0E40EC643}"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245" name="PlaceHolder 1"/>
          <p:cNvSpPr>
            <a:spLocks noGrp="1"/>
          </p:cNvSpPr>
          <p:nvPr>
            <p:ph/>
          </p:nvPr>
        </p:nvSpPr>
        <p:spPr>
          <a:xfrm>
            <a:off x="380520" y="1294920"/>
            <a:ext cx="8534520" cy="5257800"/>
          </a:xfrm>
          <a:prstGeom prst="rect">
            <a:avLst/>
          </a:prstGeom>
          <a:noFill/>
          <a:ln w="0">
            <a:noFill/>
          </a:ln>
        </p:spPr>
        <p:txBody>
          <a:bodyPr lIns="92160" tIns="46080" rIns="92160" bIns="46080" anchor="t">
            <a:normAutofit lnSpcReduction="9999"/>
          </a:bodyPr>
          <a:p>
            <a:pPr marL="343080" indent="-343080" algn="l">
              <a:lnSpc>
                <a:spcPct val="12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sng" strike="noStrike">
                <a:solidFill>
                  <a:srgbClr val="000000"/>
                </a:solidFill>
                <a:effectLst/>
                <a:uFillTx/>
                <a:latin typeface="Tahoma"/>
              </a:rPr>
              <a:t>Linear regression</a:t>
            </a:r>
            <a:r>
              <a:rPr lang="en-US" sz="2000" b="0" u="none" strike="noStrike">
                <a:solidFill>
                  <a:srgbClr val="000000"/>
                </a:solidFill>
                <a:effectLst/>
                <a:uFillTx/>
                <a:latin typeface="Tahoma"/>
              </a:rPr>
              <a:t>: </a:t>
            </a:r>
            <a:r>
              <a:rPr lang="en-US" sz="2000" b="0" i="1" u="none" strike="noStrike">
                <a:solidFill>
                  <a:srgbClr val="000000"/>
                </a:solidFill>
                <a:effectLst/>
                <a:uFillTx/>
                <a:latin typeface="Tahoma"/>
              </a:rPr>
              <a:t>Y = w X + b</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Two regression coefficients, </a:t>
            </a:r>
            <a:r>
              <a:rPr lang="en-US" sz="2000" b="0" i="1" u="none" strike="noStrike">
                <a:solidFill>
                  <a:srgbClr val="000000"/>
                </a:solidFill>
                <a:effectLst/>
                <a:uFillTx/>
                <a:latin typeface="Tahoma"/>
              </a:rPr>
              <a:t>w</a:t>
            </a:r>
            <a:r>
              <a:rPr lang="en-US" sz="2000" b="0" u="none" strike="noStrike">
                <a:solidFill>
                  <a:srgbClr val="000000"/>
                </a:solidFill>
                <a:effectLst/>
                <a:uFillTx/>
                <a:latin typeface="Tahoma"/>
              </a:rPr>
              <a:t> and </a:t>
            </a:r>
            <a:r>
              <a:rPr lang="en-US" sz="2000" b="0" i="1" u="none" strike="noStrike">
                <a:solidFill>
                  <a:srgbClr val="000000"/>
                </a:solidFill>
                <a:effectLst/>
                <a:uFillTx/>
                <a:latin typeface="Tahoma"/>
              </a:rPr>
              <a:t>b,</a:t>
            </a:r>
            <a:r>
              <a:rPr lang="en-US" sz="2000" b="0" u="none" strike="noStrike">
                <a:solidFill>
                  <a:srgbClr val="000000"/>
                </a:solidFill>
                <a:effectLst/>
                <a:uFillTx/>
                <a:latin typeface="Tahoma"/>
              </a:rPr>
              <a:t> specify the line and are to be estimated by using the data at hand</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Using the least squares criterion to the known values of </a:t>
            </a:r>
            <a:r>
              <a:rPr lang="en-US" sz="2000" b="0" i="1" u="none" strike="noStrike">
                <a:solidFill>
                  <a:srgbClr val="000000"/>
                </a:solidFill>
                <a:effectLst/>
                <a:uFillTx/>
                <a:latin typeface="Tahoma"/>
              </a:rPr>
              <a:t>Y</a:t>
            </a:r>
            <a:r>
              <a:rPr lang="en-US" sz="2000" b="0" i="1" u="none" strike="noStrike" baseline="-25000">
                <a:solidFill>
                  <a:srgbClr val="000000"/>
                </a:solidFill>
                <a:effectLst/>
                <a:uFillTx/>
                <a:latin typeface="Tahoma"/>
              </a:rPr>
              <a:t>1</a:t>
            </a:r>
            <a:r>
              <a:rPr lang="en-US" sz="2000" b="0" i="1" u="none" strike="noStrike">
                <a:solidFill>
                  <a:srgbClr val="000000"/>
                </a:solidFill>
                <a:effectLst/>
                <a:uFillTx/>
                <a:latin typeface="Tahoma"/>
              </a:rPr>
              <a:t>, Y</a:t>
            </a:r>
            <a:r>
              <a:rPr lang="en-US" sz="2000" b="0" i="1" u="none" strike="noStrike" baseline="-25000">
                <a:solidFill>
                  <a:srgbClr val="000000"/>
                </a:solidFill>
                <a:effectLst/>
                <a:uFillTx/>
                <a:latin typeface="Tahoma"/>
              </a:rPr>
              <a:t>2</a:t>
            </a:r>
            <a:r>
              <a:rPr lang="en-US" sz="2000" b="0" i="1" u="none" strike="noStrike">
                <a:solidFill>
                  <a:srgbClr val="000000"/>
                </a:solidFill>
                <a:effectLst/>
                <a:uFillTx/>
                <a:latin typeface="Tahoma"/>
              </a:rPr>
              <a:t>, …, X</a:t>
            </a:r>
            <a:r>
              <a:rPr lang="en-US" sz="2000" b="0" i="1" u="none" strike="noStrike" baseline="-25000">
                <a:solidFill>
                  <a:srgbClr val="000000"/>
                </a:solidFill>
                <a:effectLst/>
                <a:uFillTx/>
                <a:latin typeface="Tahoma"/>
              </a:rPr>
              <a:t>1</a:t>
            </a:r>
            <a:r>
              <a:rPr lang="en-US" sz="2000" b="0" i="1" u="none" strike="noStrike">
                <a:solidFill>
                  <a:srgbClr val="000000"/>
                </a:solidFill>
                <a:effectLst/>
                <a:uFillTx/>
                <a:latin typeface="Tahoma"/>
              </a:rPr>
              <a:t>, X</a:t>
            </a:r>
            <a:r>
              <a:rPr lang="en-US" sz="2000" b="0" i="1" u="none" strike="noStrike" baseline="-25000">
                <a:solidFill>
                  <a:srgbClr val="000000"/>
                </a:solidFill>
                <a:effectLst/>
                <a:uFillTx/>
                <a:latin typeface="Tahoma"/>
              </a:rPr>
              <a:t>2</a:t>
            </a:r>
            <a:r>
              <a:rPr lang="en-US" sz="2000" b="0" i="1" u="none" strike="noStrike">
                <a:solidFill>
                  <a:srgbClr val="000000"/>
                </a:solidFill>
                <a:effectLst/>
                <a:uFillTx/>
                <a:latin typeface="Tahoma"/>
              </a:rPr>
              <a:t>, ….</a:t>
            </a:r>
            <a:endParaRPr lang="en-US" sz="2000" b="0" u="none" strike="noStrike">
              <a:solidFill>
                <a:srgbClr val="000000"/>
              </a:solidFill>
              <a:effectLst/>
              <a:uFillTx/>
              <a:latin typeface="Tahoma"/>
            </a:endParaRPr>
          </a:p>
          <a:p>
            <a:pPr marL="343080" indent="-343080" algn="l">
              <a:lnSpc>
                <a:spcPct val="12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sng" strike="noStrike">
                <a:solidFill>
                  <a:srgbClr val="000000"/>
                </a:solidFill>
                <a:effectLst/>
                <a:uFillTx/>
                <a:latin typeface="Tahoma"/>
              </a:rPr>
              <a:t>Multiple regression</a:t>
            </a:r>
            <a:r>
              <a:rPr lang="en-US" sz="2000" b="0" u="none" strike="noStrike">
                <a:solidFill>
                  <a:srgbClr val="000000"/>
                </a:solidFill>
                <a:effectLst/>
                <a:uFillTx/>
                <a:latin typeface="Tahoma"/>
              </a:rPr>
              <a:t>: </a:t>
            </a:r>
            <a:r>
              <a:rPr lang="en-US" sz="2000" b="0" i="1" u="none" strike="noStrike">
                <a:solidFill>
                  <a:srgbClr val="000000"/>
                </a:solidFill>
                <a:effectLst/>
                <a:uFillTx/>
                <a:latin typeface="Tahoma"/>
              </a:rPr>
              <a:t>Y = b</a:t>
            </a:r>
            <a:r>
              <a:rPr lang="en-US" sz="2000" b="0" i="1" u="none" strike="noStrike" baseline="-25000">
                <a:solidFill>
                  <a:srgbClr val="000000"/>
                </a:solidFill>
                <a:effectLst/>
                <a:uFillTx/>
                <a:latin typeface="Tahoma"/>
              </a:rPr>
              <a:t>0</a:t>
            </a:r>
            <a:r>
              <a:rPr lang="en-US" sz="2000" b="0" i="1" u="none" strike="noStrike">
                <a:solidFill>
                  <a:srgbClr val="000000"/>
                </a:solidFill>
                <a:effectLst/>
                <a:uFillTx/>
                <a:latin typeface="Tahoma"/>
              </a:rPr>
              <a:t> + b</a:t>
            </a:r>
            <a:r>
              <a:rPr lang="en-US" sz="2000" b="0" i="1" u="none" strike="noStrike" baseline="-25000">
                <a:solidFill>
                  <a:srgbClr val="000000"/>
                </a:solidFill>
                <a:effectLst/>
                <a:uFillTx/>
                <a:latin typeface="Tahoma"/>
              </a:rPr>
              <a:t>1</a:t>
            </a:r>
            <a:r>
              <a:rPr lang="en-US" sz="2000" b="0" i="1" u="none" strike="noStrike">
                <a:solidFill>
                  <a:srgbClr val="000000"/>
                </a:solidFill>
                <a:effectLst/>
                <a:uFillTx/>
                <a:latin typeface="Tahoma"/>
              </a:rPr>
              <a:t> X</a:t>
            </a:r>
            <a:r>
              <a:rPr lang="en-US" sz="2000" b="0" i="1" u="none" strike="noStrike" baseline="-25000">
                <a:solidFill>
                  <a:srgbClr val="000000"/>
                </a:solidFill>
                <a:effectLst/>
                <a:uFillTx/>
                <a:latin typeface="Tahoma"/>
              </a:rPr>
              <a:t>1</a:t>
            </a:r>
            <a:r>
              <a:rPr lang="en-US" sz="2000" b="0" i="1" u="none" strike="noStrike">
                <a:solidFill>
                  <a:srgbClr val="000000"/>
                </a:solidFill>
                <a:effectLst/>
                <a:uFillTx/>
                <a:latin typeface="Tahoma"/>
              </a:rPr>
              <a:t> + b</a:t>
            </a:r>
            <a:r>
              <a:rPr lang="en-US" sz="2000" b="0" i="1" u="none" strike="noStrike" baseline="-25000">
                <a:solidFill>
                  <a:srgbClr val="000000"/>
                </a:solidFill>
                <a:effectLst/>
                <a:uFillTx/>
                <a:latin typeface="Tahoma"/>
              </a:rPr>
              <a:t>2</a:t>
            </a:r>
            <a:r>
              <a:rPr lang="en-US" sz="2000" b="0" i="1" u="none" strike="noStrike">
                <a:solidFill>
                  <a:srgbClr val="000000"/>
                </a:solidFill>
                <a:effectLst/>
                <a:uFillTx/>
                <a:latin typeface="Tahoma"/>
              </a:rPr>
              <a:t> X</a:t>
            </a:r>
            <a:r>
              <a:rPr lang="en-US" sz="2000" b="0" i="1" u="none" strike="noStrike" baseline="-25000">
                <a:solidFill>
                  <a:srgbClr val="000000"/>
                </a:solidFill>
                <a:effectLst/>
                <a:uFillTx/>
                <a:latin typeface="Tahoma"/>
              </a:rPr>
              <a:t>2</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Many nonlinear functions can be transformed into the above</a:t>
            </a:r>
            <a:endParaRPr lang="en-US" sz="2000" b="0" u="none" strike="noStrike">
              <a:solidFill>
                <a:srgbClr val="000000"/>
              </a:solidFill>
              <a:effectLst/>
              <a:uFillTx/>
              <a:latin typeface="Tahoma"/>
            </a:endParaRPr>
          </a:p>
          <a:p>
            <a:pPr marL="343080" indent="-343080" algn="l">
              <a:lnSpc>
                <a:spcPct val="12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sng" strike="noStrike">
                <a:solidFill>
                  <a:srgbClr val="000000"/>
                </a:solidFill>
                <a:effectLst/>
                <a:uFillTx/>
                <a:latin typeface="Tahoma"/>
              </a:rPr>
              <a:t>Log-linear models</a:t>
            </a:r>
            <a:r>
              <a:rPr lang="en-US" sz="2000" b="0" u="none" strike="noStrike">
                <a:solidFill>
                  <a:srgbClr val="000000"/>
                </a:solidFill>
                <a:effectLst/>
                <a:uFillTx/>
                <a:latin typeface="Tahoma"/>
              </a:rPr>
              <a:t>:</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Approximate discrete multidimensional probability distributions</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Estimate the probability of each point (tuple) in a multi-dimensional space for a set of discretized attributes, based on a smaller subset of dimensional combinations</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Useful for dimensionality reduction and data smoothing</a:t>
            </a:r>
            <a:endParaRPr lang="en-US" sz="2000" b="0" u="none" strike="noStrike">
              <a:solidFill>
                <a:srgbClr val="000000"/>
              </a:solidFill>
              <a:effectLst/>
              <a:uFillTx/>
              <a:latin typeface="Tahoma"/>
            </a:endParaRPr>
          </a:p>
        </p:txBody>
      </p:sp>
      <p:sp>
        <p:nvSpPr>
          <p:cNvPr id="246" name="PlaceHolder 2"/>
          <p:cNvSpPr>
            <a:spLocks noGrp="1"/>
          </p:cNvSpPr>
          <p:nvPr>
            <p:ph type="title"/>
          </p:nvPr>
        </p:nvSpPr>
        <p:spPr>
          <a:xfrm>
            <a:off x="380520" y="228600"/>
            <a:ext cx="8458200" cy="838080"/>
          </a:xfrm>
          <a:prstGeom prst="rect">
            <a:avLst/>
          </a:prstGeom>
          <a:noFill/>
          <a:ln w="0">
            <a:noFill/>
          </a:ln>
        </p:spPr>
        <p:txBody>
          <a:bodyPr lIns="92160" tIns="46080" rIns="92160" bIns="4608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Regress Analysis and Log-Linear Models</a:t>
            </a:r>
            <a:endParaRPr lang="en-US" sz="3600" b="1" u="none" strike="noStrike">
              <a:solidFill>
                <a:srgbClr val="333399"/>
              </a:solidFill>
              <a:effectLst/>
              <a:uFillTx/>
              <a:latin typeface="Berlin Sans FB Demi"/>
            </a:endParaRPr>
          </a:p>
        </p:txBody>
      </p:sp>
    </p:spTree>
  </p:cSld>
  <p:transition>
    <p:zoom dir="out"/>
  </p:transition>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09CB2625-E58A-4E65-9588-FC24CFF38A1E}"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248" name="PlaceHolder 1"/>
          <p:cNvSpPr>
            <a:spLocks noGrp="1"/>
          </p:cNvSpPr>
          <p:nvPr>
            <p:ph type="title"/>
          </p:nvPr>
        </p:nvSpPr>
        <p:spPr>
          <a:xfrm>
            <a:off x="533160" y="151920"/>
            <a:ext cx="7924680" cy="83844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170981"/>
                </a:solidFill>
                <a:effectLst/>
                <a:uFillTx/>
                <a:latin typeface="Berlin Sans FB Demi"/>
              </a:rPr>
              <a:t>Histogram Analysis</a:t>
            </a:r>
            <a:endParaRPr lang="en-US" sz="3600" b="1" u="none" strike="noStrike">
              <a:solidFill>
                <a:srgbClr val="333399"/>
              </a:solidFill>
              <a:effectLst/>
              <a:uFillTx/>
              <a:latin typeface="Berlin Sans FB Demi"/>
            </a:endParaRPr>
          </a:p>
        </p:txBody>
      </p:sp>
      <p:sp>
        <p:nvSpPr>
          <p:cNvPr id="249" name="PlaceHolder 2"/>
          <p:cNvSpPr>
            <a:spLocks noGrp="1"/>
          </p:cNvSpPr>
          <p:nvPr>
            <p:ph/>
          </p:nvPr>
        </p:nvSpPr>
        <p:spPr>
          <a:xfrm>
            <a:off x="0" y="1371600"/>
            <a:ext cx="4648320" cy="4191120"/>
          </a:xfrm>
          <a:prstGeom prst="rect">
            <a:avLst/>
          </a:prstGeom>
          <a:noFill/>
          <a:ln w="0">
            <a:noFill/>
          </a:ln>
        </p:spPr>
        <p:txBody>
          <a:bodyPr lIns="91440" tIns="45720" rIns="91440" bIns="45720" anchor="t">
            <a:normAutofit/>
          </a:bodyPr>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Divide data into buckets and store average (sum) for each bucket</a:t>
            </a:r>
            <a:endParaRPr lang="en-US" sz="2400" b="0" u="none" strike="noStrike">
              <a:solidFill>
                <a:srgbClr val="000000"/>
              </a:solidFill>
              <a:effectLst/>
              <a:uFillTx/>
              <a:latin typeface="Tahoma"/>
            </a:endParaRPr>
          </a:p>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Partitioning rules:</a:t>
            </a:r>
            <a:endParaRPr lang="en-US" sz="2400" b="0" u="none" strike="noStrike">
              <a:solidFill>
                <a:srgbClr val="000000"/>
              </a:solidFill>
              <a:effectLst/>
              <a:uFillTx/>
              <a:latin typeface="Tahoma"/>
            </a:endParaRPr>
          </a:p>
          <a:p>
            <a:pPr marL="743040" lvl="1" indent="-285840" algn="l">
              <a:lnSpc>
                <a:spcPct val="12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Equal-width: equal bucket range</a:t>
            </a:r>
            <a:endParaRPr lang="en-US" sz="2400" b="0" u="none" strike="noStrike">
              <a:solidFill>
                <a:srgbClr val="000000"/>
              </a:solidFill>
              <a:effectLst/>
              <a:uFillTx/>
              <a:latin typeface="Tahoma"/>
            </a:endParaRPr>
          </a:p>
          <a:p>
            <a:pPr marL="743040" lvl="1" indent="-285840" algn="l">
              <a:lnSpc>
                <a:spcPct val="12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Equal-frequency (or equal-depth)</a:t>
            </a:r>
            <a:endParaRPr lang="en-US" sz="2400" b="0" u="none" strike="noStrike">
              <a:solidFill>
                <a:srgbClr val="000000"/>
              </a:solidFill>
              <a:effectLst/>
              <a:uFillTx/>
              <a:latin typeface="Tahoma"/>
            </a:endParaRPr>
          </a:p>
          <a:p>
            <a:pPr marL="743040" lvl="1" indent="0" algn="l">
              <a:lnSpc>
                <a:spcPct val="120000"/>
              </a:lnSpc>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graphicFrame>
        <p:nvGraphicFramePr>
          <p:cNvPr id="250" name="Object 4"/>
          <p:cNvGraphicFramePr/>
          <p:nvPr/>
        </p:nvGraphicFramePr>
        <p:xfrm>
          <a:off x="3962520" y="1295280"/>
          <a:ext cx="6476760" cy="5410440"/>
        </p:xfrm>
        <a:graphic>
          <a:graphicData uri="http://schemas.openxmlformats.org/presentationml/2006/ole">
            <p:oleObj r:id="rId1" spid="">
              <p:embed/>
              <p:pic>
                <p:nvPicPr>
                  <p:cNvPr id="251" name="Object 4"/>
                  <p:cNvPicPr/>
                  <p:nvPr/>
                </p:nvPicPr>
                <p:blipFill>
                  <a:blip r:embed="rId2"/>
                  <a:stretch/>
                </p:blipFill>
                <p:spPr>
                  <a:xfrm>
                    <a:off x="3962520" y="1295280"/>
                    <a:ext cx="6476760" cy="5410440"/>
                  </a:xfrm>
                  <a:prstGeom prst="rect">
                    <a:avLst/>
                  </a:prstGeom>
                  <a:noFill/>
                  <a:ln w="0">
                    <a:noFill/>
                  </a:ln>
                </p:spPr>
              </p:pic>
            </p:oleObj>
          </a:graphicData>
        </a:graphic>
      </p:graphicFrame>
    </p:spTree>
  </p:cSld>
  <p:transition>
    <p:zoom dir="out"/>
  </p:transition>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A0226DB-8CD5-4530-B6A2-2839A7FC6058}"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253" name="PlaceHolder 1"/>
          <p:cNvSpPr>
            <a:spLocks noGrp="1"/>
          </p:cNvSpPr>
          <p:nvPr>
            <p:ph type="title"/>
          </p:nvPr>
        </p:nvSpPr>
        <p:spPr>
          <a:xfrm>
            <a:off x="0" y="380880"/>
            <a:ext cx="9144000" cy="60984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170981"/>
                </a:solidFill>
                <a:effectLst/>
                <a:uFillTx/>
                <a:latin typeface="Berlin Sans FB Demi"/>
              </a:rPr>
              <a:t>Clustering</a:t>
            </a:r>
            <a:endParaRPr lang="en-US" sz="3600" b="1" u="none" strike="noStrike">
              <a:solidFill>
                <a:srgbClr val="333399"/>
              </a:solidFill>
              <a:effectLst/>
              <a:uFillTx/>
              <a:latin typeface="Berlin Sans FB Demi"/>
            </a:endParaRPr>
          </a:p>
        </p:txBody>
      </p:sp>
      <p:sp>
        <p:nvSpPr>
          <p:cNvPr id="254" name="PlaceHolder 2"/>
          <p:cNvSpPr>
            <a:spLocks noGrp="1"/>
          </p:cNvSpPr>
          <p:nvPr>
            <p:ph/>
          </p:nvPr>
        </p:nvSpPr>
        <p:spPr>
          <a:xfrm>
            <a:off x="380880" y="1371600"/>
            <a:ext cx="8229600" cy="5105520"/>
          </a:xfrm>
          <a:prstGeom prst="rect">
            <a:avLst/>
          </a:prstGeom>
          <a:noFill/>
          <a:ln w="0">
            <a:noFill/>
          </a:ln>
        </p:spPr>
        <p:txBody>
          <a:bodyPr lIns="91440" tIns="45720" rIns="91440" bIns="45720" anchor="t">
            <a:normAutofit/>
          </a:bodyPr>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Partition data set into clusters based on similarity, and store cluster representation (e.g., centroid and diameter) only</a:t>
            </a:r>
            <a:endParaRPr lang="en-US" sz="2400" b="0" u="none" strike="noStrike">
              <a:solidFill>
                <a:srgbClr val="000000"/>
              </a:solidFill>
              <a:effectLst/>
              <a:uFillTx/>
              <a:latin typeface="Tahoma"/>
            </a:endParaRPr>
          </a:p>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Can be very effective if data is clustered but not if data is “smeared”</a:t>
            </a:r>
            <a:endParaRPr lang="en-US" sz="2400" b="0" u="none" strike="noStrike">
              <a:solidFill>
                <a:srgbClr val="000000"/>
              </a:solidFill>
              <a:effectLst/>
              <a:uFillTx/>
              <a:latin typeface="Tahoma"/>
            </a:endParaRPr>
          </a:p>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Can have hierarchical clustering and be stored in multi-dimensional index tree structures</a:t>
            </a:r>
            <a:endParaRPr lang="en-US" sz="2400" b="0" u="none" strike="noStrike">
              <a:solidFill>
                <a:srgbClr val="000000"/>
              </a:solidFill>
              <a:effectLst/>
              <a:uFillTx/>
              <a:latin typeface="Tahoma"/>
            </a:endParaRPr>
          </a:p>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There are many choices of clustering definitions and clustering algorithms</a:t>
            </a:r>
            <a:endParaRPr lang="en-US" sz="2400" b="0" u="none" strike="noStrike">
              <a:solidFill>
                <a:srgbClr val="000000"/>
              </a:solidFill>
              <a:effectLst/>
              <a:uFillTx/>
              <a:latin typeface="Tahoma"/>
            </a:endParaRPr>
          </a:p>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Cluster analysis will be studied in depth in Chapter 10</a:t>
            </a:r>
            <a:endParaRPr lang="en-US" sz="2400" b="0" u="none" strike="noStrike">
              <a:solidFill>
                <a:srgbClr val="000000"/>
              </a:solidFill>
              <a:effectLst/>
              <a:uFillTx/>
              <a:latin typeface="Tahoma"/>
            </a:endParaRPr>
          </a:p>
        </p:txBody>
      </p:sp>
    </p:spTree>
  </p:cSld>
  <p:transition>
    <p:zoom dir="out"/>
  </p:transition>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44111C3-3BF3-4E8D-B6B8-50D4EE4A7E5A}"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256" name="PlaceHolder 1"/>
          <p:cNvSpPr>
            <a:spLocks noGrp="1"/>
          </p:cNvSpPr>
          <p:nvPr>
            <p:ph type="title"/>
          </p:nvPr>
        </p:nvSpPr>
        <p:spPr>
          <a:xfrm>
            <a:off x="-152280" y="151920"/>
            <a:ext cx="9524880" cy="76212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170981"/>
                </a:solidFill>
                <a:effectLst/>
                <a:uFillTx/>
                <a:latin typeface="Berlin Sans FB Demi"/>
              </a:rPr>
              <a:t>Sampling</a:t>
            </a:r>
            <a:endParaRPr lang="en-US" sz="3600" b="1" u="none" strike="noStrike">
              <a:solidFill>
                <a:srgbClr val="333399"/>
              </a:solidFill>
              <a:effectLst/>
              <a:uFillTx/>
              <a:latin typeface="Berlin Sans FB Demi"/>
            </a:endParaRPr>
          </a:p>
        </p:txBody>
      </p:sp>
      <p:sp>
        <p:nvSpPr>
          <p:cNvPr id="257" name="PlaceHolder 2"/>
          <p:cNvSpPr>
            <a:spLocks noGrp="1"/>
          </p:cNvSpPr>
          <p:nvPr>
            <p:ph/>
          </p:nvPr>
        </p:nvSpPr>
        <p:spPr>
          <a:xfrm>
            <a:off x="380520" y="1371240"/>
            <a:ext cx="8458200" cy="5181480"/>
          </a:xfrm>
          <a:prstGeom prst="rect">
            <a:avLst/>
          </a:prstGeom>
          <a:noFill/>
          <a:ln w="0">
            <a:noFill/>
          </a:ln>
        </p:spPr>
        <p:txBody>
          <a:bodyPr lIns="91440" tIns="45720" rIns="91440" bIns="45720" anchor="t">
            <a:normAutofit lnSpcReduction="9999"/>
          </a:bodyPr>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Sampling: obtaining a small sample </a:t>
            </a:r>
            <a:r>
              <a:rPr lang="en-US" sz="2400" b="0" i="1" u="none" strike="noStrike">
                <a:solidFill>
                  <a:srgbClr val="000000"/>
                </a:solidFill>
                <a:effectLst/>
                <a:uFillTx/>
                <a:latin typeface="Tahoma"/>
              </a:rPr>
              <a:t>s</a:t>
            </a:r>
            <a:r>
              <a:rPr lang="en-US" sz="2400" b="0" u="none" strike="noStrike">
                <a:solidFill>
                  <a:srgbClr val="000000"/>
                </a:solidFill>
                <a:effectLst/>
                <a:uFillTx/>
                <a:latin typeface="Tahoma"/>
              </a:rPr>
              <a:t> to represent the whole data set </a:t>
            </a:r>
            <a:r>
              <a:rPr lang="en-US" sz="2400" b="0" i="1" u="none" strike="noStrike">
                <a:solidFill>
                  <a:srgbClr val="000000"/>
                </a:solidFill>
                <a:effectLst/>
                <a:uFillTx/>
                <a:latin typeface="Tahoma"/>
              </a:rPr>
              <a:t>N</a:t>
            </a:r>
            <a:endParaRPr lang="en-US" sz="2400" b="0" u="none" strike="noStrike">
              <a:solidFill>
                <a:srgbClr val="000000"/>
              </a:solidFill>
              <a:effectLst/>
              <a:uFillTx/>
              <a:latin typeface="Tahoma"/>
            </a:endParaRPr>
          </a:p>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Allow a mining algorithm to run in complexity that is potentially sub-linear to the size of the data</a:t>
            </a:r>
            <a:endParaRPr lang="en-US" sz="2400" b="0" u="none" strike="noStrike">
              <a:solidFill>
                <a:srgbClr val="000000"/>
              </a:solidFill>
              <a:effectLst/>
              <a:uFillTx/>
              <a:latin typeface="Tahoma"/>
            </a:endParaRPr>
          </a:p>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Key principle: Choose a </a:t>
            </a:r>
            <a:r>
              <a:rPr lang="en-US" sz="2400" b="0" u="none" strike="noStrike">
                <a:solidFill>
                  <a:srgbClr val="FF0000"/>
                </a:solidFill>
                <a:effectLst/>
                <a:uFillTx/>
                <a:latin typeface="Tahoma"/>
              </a:rPr>
              <a:t>representative</a:t>
            </a:r>
            <a:r>
              <a:rPr lang="en-US" sz="2400" b="0" u="none" strike="noStrike">
                <a:solidFill>
                  <a:srgbClr val="000000"/>
                </a:solidFill>
                <a:effectLst/>
                <a:uFillTx/>
                <a:latin typeface="Tahoma"/>
              </a:rPr>
              <a:t> subset of the data</a:t>
            </a:r>
            <a:endParaRPr lang="en-US" sz="2400" b="0" u="none" strike="noStrike">
              <a:solidFill>
                <a:srgbClr val="000000"/>
              </a:solidFill>
              <a:effectLst/>
              <a:uFillTx/>
              <a:latin typeface="Tahoma"/>
            </a:endParaRPr>
          </a:p>
          <a:p>
            <a:pPr marL="743040" lvl="1" indent="-285840" algn="l">
              <a:lnSpc>
                <a:spcPct val="12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Simple random sampling may have very poor performance in the presence of skew</a:t>
            </a:r>
            <a:endParaRPr lang="en-US" sz="2400" b="0" u="none" strike="noStrike">
              <a:solidFill>
                <a:srgbClr val="000000"/>
              </a:solidFill>
              <a:effectLst/>
              <a:uFillTx/>
              <a:latin typeface="Tahoma"/>
            </a:endParaRPr>
          </a:p>
          <a:p>
            <a:pPr marL="743040" lvl="1" indent="-285840" algn="l">
              <a:lnSpc>
                <a:spcPct val="12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Develop adaptive sampling methods, e.g., stratified sampling: </a:t>
            </a:r>
            <a:endParaRPr lang="en-US" sz="2400" b="0" u="none" strike="noStrike">
              <a:solidFill>
                <a:srgbClr val="000000"/>
              </a:solidFill>
              <a:effectLst/>
              <a:uFillTx/>
              <a:latin typeface="Tahoma"/>
            </a:endParaRPr>
          </a:p>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Note: Sampling may not reduce database I/Os (page at a time)</a:t>
            </a:r>
            <a:endParaRPr lang="en-US" sz="2400" b="0" u="none" strike="noStrike">
              <a:solidFill>
                <a:srgbClr val="000000"/>
              </a:solidFill>
              <a:effectLst/>
              <a:uFillTx/>
              <a:latin typeface="Tahoma"/>
            </a:endParaRPr>
          </a:p>
        </p:txBody>
      </p:sp>
    </p:spTree>
  </p:cSld>
  <p:transition>
    <p:zoom dir="out"/>
  </p:transition>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29F20918-A569-42F3-82EA-8B590B350F63}"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259" name="PlaceHolder 1"/>
          <p:cNvSpPr>
            <a:spLocks noGrp="1"/>
          </p:cNvSpPr>
          <p:nvPr>
            <p:ph type="title"/>
          </p:nvPr>
        </p:nvSpPr>
        <p:spPr>
          <a:xfrm>
            <a:off x="-152280" y="151920"/>
            <a:ext cx="9524880" cy="76212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Types of Sampling</a:t>
            </a:r>
            <a:endParaRPr lang="en-US" sz="3600" b="1" u="none" strike="noStrike">
              <a:solidFill>
                <a:srgbClr val="333399"/>
              </a:solidFill>
              <a:effectLst/>
              <a:uFillTx/>
              <a:latin typeface="Berlin Sans FB Demi"/>
            </a:endParaRPr>
          </a:p>
        </p:txBody>
      </p:sp>
      <p:sp>
        <p:nvSpPr>
          <p:cNvPr id="260" name="PlaceHolder 2"/>
          <p:cNvSpPr>
            <a:spLocks noGrp="1"/>
          </p:cNvSpPr>
          <p:nvPr>
            <p:ph/>
          </p:nvPr>
        </p:nvSpPr>
        <p:spPr>
          <a:xfrm>
            <a:off x="304920" y="1447560"/>
            <a:ext cx="8534160" cy="5105160"/>
          </a:xfrm>
          <a:prstGeom prst="rect">
            <a:avLst/>
          </a:prstGeom>
          <a:noFill/>
          <a:ln w="0">
            <a:noFill/>
          </a:ln>
        </p:spPr>
        <p:txBody>
          <a:bodyPr lIns="91440" tIns="45720" rIns="91440" bIns="45720" anchor="t">
            <a:normAutofit/>
          </a:bodyPr>
          <a:p>
            <a:pPr marL="343080" indent="-343080" algn="l">
              <a:lnSpc>
                <a:spcPct val="9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ahoma"/>
              </a:rPr>
              <a:t>Simple random sampling</a:t>
            </a:r>
            <a:endParaRPr lang="en-US" sz="2400" b="0" u="none" strike="noStrike">
              <a:solidFill>
                <a:srgbClr val="000000"/>
              </a:solidFill>
              <a:effectLst/>
              <a:uFillTx/>
              <a:latin typeface="Tahoma"/>
            </a:endParaRPr>
          </a:p>
          <a:p>
            <a:pPr marL="743040" lvl="1" indent="-285840" algn="l">
              <a:lnSpc>
                <a:spcPct val="9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There is an equal probability of selecting any particular item</a:t>
            </a:r>
            <a:endParaRPr lang="en-US" sz="2400" b="0" u="none" strike="noStrike">
              <a:solidFill>
                <a:srgbClr val="000000"/>
              </a:solidFill>
              <a:effectLst/>
              <a:uFillTx/>
              <a:latin typeface="Tahoma"/>
            </a:endParaRPr>
          </a:p>
          <a:p>
            <a:pPr marL="343080" indent="-343080" algn="l">
              <a:lnSpc>
                <a:spcPct val="9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ahoma"/>
              </a:rPr>
              <a:t>Sampling without replacement</a:t>
            </a:r>
            <a:endParaRPr lang="en-US" sz="2400" b="0" u="none" strike="noStrike">
              <a:solidFill>
                <a:srgbClr val="000000"/>
              </a:solidFill>
              <a:effectLst/>
              <a:uFillTx/>
              <a:latin typeface="Tahoma"/>
            </a:endParaRPr>
          </a:p>
          <a:p>
            <a:pPr marL="743040" lvl="1" indent="-285840" algn="l">
              <a:lnSpc>
                <a:spcPct val="9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Once an object is selected, it is removed from the population</a:t>
            </a:r>
            <a:endParaRPr lang="en-US" sz="2400" b="0" u="none" strike="noStrike">
              <a:solidFill>
                <a:srgbClr val="000000"/>
              </a:solidFill>
              <a:effectLst/>
              <a:uFillTx/>
              <a:latin typeface="Tahoma"/>
            </a:endParaRPr>
          </a:p>
          <a:p>
            <a:pPr marL="343080" indent="-343080" algn="l">
              <a:lnSpc>
                <a:spcPct val="9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ahoma"/>
              </a:rPr>
              <a:t>Sampling with replacement</a:t>
            </a:r>
            <a:endParaRPr lang="en-US" sz="2400" b="0" u="none" strike="noStrike">
              <a:solidFill>
                <a:srgbClr val="000000"/>
              </a:solidFill>
              <a:effectLst/>
              <a:uFillTx/>
              <a:latin typeface="Tahoma"/>
            </a:endParaRPr>
          </a:p>
          <a:p>
            <a:pPr marL="743040" lvl="1" indent="-285840" algn="l">
              <a:lnSpc>
                <a:spcPct val="9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A selected object is not removed from the population</a:t>
            </a:r>
            <a:endParaRPr lang="en-US" sz="2400" b="0" u="none" strike="noStrike">
              <a:solidFill>
                <a:srgbClr val="000000"/>
              </a:solidFill>
              <a:effectLst/>
              <a:uFillTx/>
              <a:latin typeface="Tahoma"/>
            </a:endParaRPr>
          </a:p>
          <a:p>
            <a:pPr marL="343080" indent="-343080" algn="l">
              <a:lnSpc>
                <a:spcPct val="9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1" u="none" strike="noStrike">
                <a:solidFill>
                  <a:srgbClr val="000000"/>
                </a:solidFill>
                <a:effectLst/>
                <a:uFillTx/>
                <a:latin typeface="Tahoma"/>
              </a:rPr>
              <a:t>Stratified sampling: </a:t>
            </a:r>
            <a:endParaRPr lang="en-US" sz="2400" b="0" u="none" strike="noStrike">
              <a:solidFill>
                <a:srgbClr val="000000"/>
              </a:solidFill>
              <a:effectLst/>
              <a:uFillTx/>
              <a:latin typeface="Tahoma"/>
            </a:endParaRPr>
          </a:p>
          <a:p>
            <a:pPr marL="743040" lvl="1" indent="-285840" algn="l">
              <a:lnSpc>
                <a:spcPct val="9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Partition the data set, and draw samples from each partition (proportionally, i.e., approximately the same percentage of the data) </a:t>
            </a:r>
            <a:endParaRPr lang="en-US" sz="2400" b="0" u="none" strike="noStrike">
              <a:solidFill>
                <a:srgbClr val="000000"/>
              </a:solidFill>
              <a:effectLst/>
              <a:uFillTx/>
              <a:latin typeface="Tahoma"/>
            </a:endParaRPr>
          </a:p>
          <a:p>
            <a:pPr marL="743040" lvl="1" indent="-285840" algn="l">
              <a:lnSpc>
                <a:spcPct val="9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Used in conjunction with skewed data</a:t>
            </a:r>
            <a:endParaRPr lang="en-US" sz="2400" b="0" u="none" strike="noStrike">
              <a:solidFill>
                <a:srgbClr val="000000"/>
              </a:solidFill>
              <a:effectLst/>
              <a:uFillTx/>
              <a:latin typeface="Tahoma"/>
            </a:endParaRPr>
          </a:p>
          <a:p>
            <a:pPr marL="743040" lvl="1" indent="0" algn="l">
              <a:lnSpc>
                <a:spcPct val="90000"/>
              </a:lnSpc>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Tree>
  </p:cSld>
  <p:transition>
    <p:zoom dir="out"/>
  </p:transition>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3887ABD-3FEF-4050-8C8B-00F300CAE442}"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262" name="Text Box 2"/>
          <p:cNvSpPr/>
          <p:nvPr/>
        </p:nvSpPr>
        <p:spPr>
          <a:xfrm>
            <a:off x="152280" y="380880"/>
            <a:ext cx="8610840" cy="581760"/>
          </a:xfrm>
          <a:prstGeom prst="rect">
            <a:avLst/>
          </a:prstGeom>
          <a:noFill/>
          <a:ln w="0">
            <a:noFill/>
          </a:ln>
        </p:spPr>
        <p:style>
          <a:lnRef idx="0"/>
          <a:fillRef idx="0"/>
          <a:effectRef idx="0"/>
          <a:fontRef idx="minor"/>
        </p:style>
        <p:txBody>
          <a:bodyPr lIns="90000" tIns="46800" rIns="90000" bIns="46800" anchor="t">
            <a:spAutoFit/>
          </a:bodyPr>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Tahoma"/>
              </a:rPr>
              <a:t>Sampling: With or without Replacement</a:t>
            </a:r>
            <a:endParaRPr lang="en-US" sz="3200" b="0" u="none" strike="noStrike">
              <a:solidFill>
                <a:srgbClr val="000000"/>
              </a:solidFill>
              <a:effectLst/>
              <a:uFillTx/>
              <a:latin typeface="Tahoma"/>
            </a:endParaRPr>
          </a:p>
        </p:txBody>
      </p:sp>
      <p:sp>
        <p:nvSpPr>
          <p:cNvPr id="263" name="Text Box 3"/>
          <p:cNvSpPr/>
          <p:nvPr/>
        </p:nvSpPr>
        <p:spPr>
          <a:xfrm rot="20586600">
            <a:off x="3734640" y="2819160"/>
            <a:ext cx="2203920" cy="155700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SRSWOR</a:t>
            </a:r>
            <a:endParaRPr lang="en-US" sz="2400" b="0" u="none" strike="noStrike">
              <a:solidFill>
                <a:srgbClr val="000000"/>
              </a:solidFill>
              <a:effectLst/>
              <a:uFillTx/>
              <a:latin typeface="Tahoma"/>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(simple random</a:t>
            </a:r>
            <a:endParaRPr lang="en-US" sz="2400" b="0" u="none" strike="noStrike">
              <a:solidFill>
                <a:srgbClr val="000000"/>
              </a:solidFill>
              <a:effectLst/>
              <a:uFillTx/>
              <a:latin typeface="Tahoma"/>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 sample without </a:t>
            </a:r>
            <a:endParaRPr lang="en-US" sz="2400" b="0" u="none" strike="noStrike">
              <a:solidFill>
                <a:srgbClr val="000000"/>
              </a:solidFill>
              <a:effectLst/>
              <a:uFillTx/>
              <a:latin typeface="Tahoma"/>
            </a:endParaRPr>
          </a:p>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replacement)</a:t>
            </a:r>
            <a:endParaRPr lang="en-US" sz="2400" b="0" u="none" strike="noStrike">
              <a:solidFill>
                <a:srgbClr val="000000"/>
              </a:solidFill>
              <a:effectLst/>
              <a:uFillTx/>
              <a:latin typeface="Tahoma"/>
            </a:endParaRPr>
          </a:p>
        </p:txBody>
      </p:sp>
      <p:grpSp>
        <p:nvGrpSpPr>
          <p:cNvPr id="264" name="Group 4"/>
          <p:cNvGrpSpPr/>
          <p:nvPr/>
        </p:nvGrpSpPr>
        <p:grpSpPr>
          <a:xfrm>
            <a:off x="5695920" y="1771560"/>
            <a:ext cx="2438280" cy="1676520"/>
            <a:chOff x="5695920" y="1771560"/>
            <a:chExt cx="2438280" cy="1676520"/>
          </a:xfrm>
        </p:grpSpPr>
        <p:sp>
          <p:nvSpPr>
            <p:cNvPr id="265" name="AutoShape 5"/>
            <p:cNvSpPr/>
            <p:nvPr/>
          </p:nvSpPr>
          <p:spPr>
            <a:xfrm>
              <a:off x="5695920" y="1771560"/>
              <a:ext cx="2438280" cy="1676520"/>
            </a:xfrm>
            <a:prstGeom prst="can">
              <a:avLst>
                <a:gd name="adj" fmla="val 25000"/>
              </a:avLst>
            </a:prstGeom>
            <a:no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66" name="Oval 6"/>
            <p:cNvSpPr/>
            <p:nvPr/>
          </p:nvSpPr>
          <p:spPr>
            <a:xfrm>
              <a:off x="6496200" y="2838600"/>
              <a:ext cx="857160" cy="5713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67" name="Oval 7"/>
            <p:cNvSpPr/>
            <p:nvPr/>
          </p:nvSpPr>
          <p:spPr>
            <a:xfrm>
              <a:off x="7353360" y="2590920"/>
              <a:ext cx="780840" cy="628560"/>
            </a:xfrm>
            <a:prstGeom prst="ellipse">
              <a:avLst/>
            </a:prstGeom>
            <a:solidFill>
              <a:srgbClr val="00E4A8"/>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68" name="Oval 8"/>
            <p:cNvSpPr/>
            <p:nvPr/>
          </p:nvSpPr>
          <p:spPr>
            <a:xfrm>
              <a:off x="5695920" y="2647800"/>
              <a:ext cx="857160" cy="571680"/>
            </a:xfrm>
            <a:prstGeom prst="ellipse">
              <a:avLst/>
            </a:prstGeom>
            <a:solidFill>
              <a:srgbClr val="333399"/>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grpSp>
      <p:sp>
        <p:nvSpPr>
          <p:cNvPr id="269" name="Text Box 9"/>
          <p:cNvSpPr/>
          <p:nvPr/>
        </p:nvSpPr>
        <p:spPr>
          <a:xfrm rot="847800">
            <a:off x="3963960" y="5105160"/>
            <a:ext cx="1213920" cy="45972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SRSWR</a:t>
            </a:r>
            <a:endParaRPr lang="en-US" sz="2400" b="0" u="none" strike="noStrike">
              <a:solidFill>
                <a:srgbClr val="000000"/>
              </a:solidFill>
              <a:effectLst/>
              <a:uFillTx/>
              <a:latin typeface="Tahoma"/>
            </a:endParaRPr>
          </a:p>
        </p:txBody>
      </p:sp>
      <p:grpSp>
        <p:nvGrpSpPr>
          <p:cNvPr id="270" name="Group 10"/>
          <p:cNvGrpSpPr/>
          <p:nvPr/>
        </p:nvGrpSpPr>
        <p:grpSpPr>
          <a:xfrm>
            <a:off x="5772240" y="4457880"/>
            <a:ext cx="2438280" cy="1676160"/>
            <a:chOff x="5772240" y="4457880"/>
            <a:chExt cx="2438280" cy="1676160"/>
          </a:xfrm>
        </p:grpSpPr>
        <p:sp>
          <p:nvSpPr>
            <p:cNvPr id="271" name="AutoShape 11"/>
            <p:cNvSpPr/>
            <p:nvPr/>
          </p:nvSpPr>
          <p:spPr>
            <a:xfrm>
              <a:off x="5772240" y="4457880"/>
              <a:ext cx="2438280" cy="1676160"/>
            </a:xfrm>
            <a:prstGeom prst="can">
              <a:avLst>
                <a:gd name="adj" fmla="val 25000"/>
              </a:avLst>
            </a:prstGeom>
            <a:no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72" name="Oval 12"/>
            <p:cNvSpPr/>
            <p:nvPr/>
          </p:nvSpPr>
          <p:spPr>
            <a:xfrm>
              <a:off x="5791320" y="5353200"/>
              <a:ext cx="857160" cy="571320"/>
            </a:xfrm>
            <a:prstGeom prst="ellipse">
              <a:avLst/>
            </a:prstGeom>
            <a:solidFill>
              <a:srgbClr val="333399"/>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73" name="Oval 13"/>
            <p:cNvSpPr/>
            <p:nvPr/>
          </p:nvSpPr>
          <p:spPr>
            <a:xfrm>
              <a:off x="6648480" y="5524560"/>
              <a:ext cx="857160" cy="571320"/>
            </a:xfrm>
            <a:prstGeom prst="ellipse">
              <a:avLst/>
            </a:prstGeom>
            <a:solidFill>
              <a:srgbClr val="333399"/>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74" name="Oval 14"/>
            <p:cNvSpPr/>
            <p:nvPr/>
          </p:nvSpPr>
          <p:spPr>
            <a:xfrm>
              <a:off x="7391520" y="5219640"/>
              <a:ext cx="819000" cy="628560"/>
            </a:xfrm>
            <a:prstGeom prst="ellipse">
              <a:avLst/>
            </a:prstGeom>
            <a:solidFill>
              <a:srgbClr val="FAE2F6"/>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grpSp>
      <p:grpSp>
        <p:nvGrpSpPr>
          <p:cNvPr id="275" name="Group 15"/>
          <p:cNvGrpSpPr/>
          <p:nvPr/>
        </p:nvGrpSpPr>
        <p:grpSpPr>
          <a:xfrm>
            <a:off x="876240" y="1905120"/>
            <a:ext cx="2724120" cy="4558680"/>
            <a:chOff x="876240" y="1905120"/>
            <a:chExt cx="2724120" cy="4558680"/>
          </a:xfrm>
        </p:grpSpPr>
        <p:sp>
          <p:nvSpPr>
            <p:cNvPr id="276" name="AutoShape 16"/>
            <p:cNvSpPr/>
            <p:nvPr/>
          </p:nvSpPr>
          <p:spPr>
            <a:xfrm>
              <a:off x="876240" y="1905120"/>
              <a:ext cx="2724120" cy="4152960"/>
            </a:xfrm>
            <a:prstGeom prst="can">
              <a:avLst>
                <a:gd name="adj" fmla="val 25000"/>
              </a:avLst>
            </a:prstGeom>
            <a:no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77" name="Oval 17"/>
            <p:cNvSpPr/>
            <p:nvPr/>
          </p:nvSpPr>
          <p:spPr>
            <a:xfrm>
              <a:off x="1047600" y="5162760"/>
              <a:ext cx="819360" cy="628560"/>
            </a:xfrm>
            <a:prstGeom prst="ellipse">
              <a:avLst/>
            </a:prstGeom>
            <a:solidFill>
              <a:srgbClr val="FAE2F6"/>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78" name="Oval 18"/>
            <p:cNvSpPr/>
            <p:nvPr/>
          </p:nvSpPr>
          <p:spPr>
            <a:xfrm>
              <a:off x="1028520" y="4496040"/>
              <a:ext cx="857520" cy="571320"/>
            </a:xfrm>
            <a:prstGeom prst="ellipse">
              <a:avLst/>
            </a:prstGeom>
            <a:solidFill>
              <a:srgbClr val="006666"/>
            </a:solidFill>
            <a:ln w="9360">
              <a:solidFill>
                <a:srgbClr val="FFCF01"/>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79" name="Oval 19"/>
            <p:cNvSpPr/>
            <p:nvPr/>
          </p:nvSpPr>
          <p:spPr>
            <a:xfrm>
              <a:off x="1942920" y="5372280"/>
              <a:ext cx="895680" cy="628560"/>
            </a:xfrm>
            <a:prstGeom prst="ellipse">
              <a:avLst/>
            </a:prstGeom>
            <a:solidFill>
              <a:srgbClr val="121328"/>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80" name="Oval 20"/>
            <p:cNvSpPr/>
            <p:nvPr/>
          </p:nvSpPr>
          <p:spPr>
            <a:xfrm>
              <a:off x="2781360" y="5010480"/>
              <a:ext cx="780840" cy="628560"/>
            </a:xfrm>
            <a:prstGeom prst="ellipse">
              <a:avLst/>
            </a:prstGeom>
            <a:solidFill>
              <a:srgbClr val="00E4A8"/>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81" name="Oval 21"/>
            <p:cNvSpPr/>
            <p:nvPr/>
          </p:nvSpPr>
          <p:spPr>
            <a:xfrm>
              <a:off x="1942920" y="4762800"/>
              <a:ext cx="743040" cy="590400"/>
            </a:xfrm>
            <a:prstGeom prst="ellipse">
              <a:avLst/>
            </a:prstGeom>
            <a:solidFill>
              <a:srgbClr val="CCFF99"/>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82" name="Oval 22"/>
            <p:cNvSpPr/>
            <p:nvPr/>
          </p:nvSpPr>
          <p:spPr>
            <a:xfrm>
              <a:off x="2647800" y="4324680"/>
              <a:ext cx="857520" cy="571320"/>
            </a:xfrm>
            <a:prstGeom prst="ellipse">
              <a:avLst/>
            </a:prstGeom>
            <a:solidFill>
              <a:srgbClr val="FF0000"/>
            </a:solidFill>
            <a:ln w="9360">
              <a:solidFill>
                <a:srgbClr val="FF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83" name="Oval 23"/>
            <p:cNvSpPr/>
            <p:nvPr/>
          </p:nvSpPr>
          <p:spPr>
            <a:xfrm>
              <a:off x="1714320" y="4096080"/>
              <a:ext cx="857520" cy="571320"/>
            </a:xfrm>
            <a:prstGeom prst="ellipse">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84" name="Oval 24"/>
            <p:cNvSpPr/>
            <p:nvPr/>
          </p:nvSpPr>
          <p:spPr>
            <a:xfrm>
              <a:off x="876240" y="3924360"/>
              <a:ext cx="857160" cy="571680"/>
            </a:xfrm>
            <a:prstGeom prst="ellipse">
              <a:avLst/>
            </a:prstGeom>
            <a:solidFill>
              <a:srgbClr val="333399"/>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85" name="Oval 25"/>
            <p:cNvSpPr/>
            <p:nvPr/>
          </p:nvSpPr>
          <p:spPr>
            <a:xfrm>
              <a:off x="2552760" y="3714840"/>
              <a:ext cx="857160" cy="571680"/>
            </a:xfrm>
            <a:prstGeom prst="ellipse">
              <a:avLst/>
            </a:prstGeom>
            <a:solidFill>
              <a:srgbClr val="423E78"/>
            </a:solid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86" name="Text Box 26"/>
            <p:cNvSpPr/>
            <p:nvPr/>
          </p:nvSpPr>
          <p:spPr>
            <a:xfrm>
              <a:off x="1528560" y="6004080"/>
              <a:ext cx="1391040" cy="45972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Raw Data</a:t>
              </a:r>
              <a:endParaRPr lang="en-US" sz="2400" b="0" u="none" strike="noStrike">
                <a:solidFill>
                  <a:srgbClr val="000000"/>
                </a:solidFill>
                <a:effectLst/>
                <a:uFillTx/>
                <a:latin typeface="Tahoma"/>
              </a:endParaRPr>
            </a:p>
          </p:txBody>
        </p:sp>
      </p:grpSp>
      <p:sp>
        <p:nvSpPr>
          <p:cNvPr id="287" name="Line 27"/>
          <p:cNvSpPr/>
          <p:nvPr/>
        </p:nvSpPr>
        <p:spPr>
          <a:xfrm flipV="1">
            <a:off x="3809880" y="2971440"/>
            <a:ext cx="1657440" cy="55260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ahoma"/>
            </a:endParaRPr>
          </a:p>
        </p:txBody>
      </p:sp>
      <p:sp>
        <p:nvSpPr>
          <p:cNvPr id="288" name="Line 28"/>
          <p:cNvSpPr/>
          <p:nvPr/>
        </p:nvSpPr>
        <p:spPr>
          <a:xfrm>
            <a:off x="3828960" y="4896000"/>
            <a:ext cx="1790640" cy="49500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ahoma"/>
            </a:endParaRPr>
          </a:p>
        </p:txBody>
      </p:sp>
    </p:spTree>
  </p:cSld>
  <p:transition>
    <p:zoom dir="out"/>
  </p:transition>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55350A24-AE2F-4B17-802A-B5B8BB5E052F}"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290" name="PlaceHolder 1"/>
          <p:cNvSpPr>
            <a:spLocks noGrp="1"/>
          </p:cNvSpPr>
          <p:nvPr>
            <p:ph type="title"/>
          </p:nvPr>
        </p:nvSpPr>
        <p:spPr>
          <a:xfrm>
            <a:off x="228600" y="304920"/>
            <a:ext cx="8686800" cy="8380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Sampling: Cluster or Stratified Sampling</a:t>
            </a:r>
            <a:endParaRPr lang="en-US" sz="3600" b="1" u="none" strike="noStrike">
              <a:solidFill>
                <a:srgbClr val="333399"/>
              </a:solidFill>
              <a:effectLst/>
              <a:uFillTx/>
              <a:latin typeface="Berlin Sans FB Demi"/>
            </a:endParaRPr>
          </a:p>
        </p:txBody>
      </p:sp>
      <p:grpSp>
        <p:nvGrpSpPr>
          <p:cNvPr id="291" name="Group 3"/>
          <p:cNvGrpSpPr/>
          <p:nvPr/>
        </p:nvGrpSpPr>
        <p:grpSpPr>
          <a:xfrm>
            <a:off x="520560" y="2698920"/>
            <a:ext cx="3751200" cy="3348000"/>
            <a:chOff x="520560" y="2698920"/>
            <a:chExt cx="3751200" cy="3348000"/>
          </a:xfrm>
        </p:grpSpPr>
        <p:sp>
          <p:nvSpPr>
            <p:cNvPr id="292" name="Rectangle 4"/>
            <p:cNvSpPr/>
            <p:nvPr/>
          </p:nvSpPr>
          <p:spPr>
            <a:xfrm>
              <a:off x="520560" y="2698920"/>
              <a:ext cx="3751200" cy="3348000"/>
            </a:xfrm>
            <a:prstGeom prst="rect">
              <a:avLst/>
            </a:prstGeom>
            <a:no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93" name="AutoShape 5"/>
            <p:cNvSpPr/>
            <p:nvPr/>
          </p:nvSpPr>
          <p:spPr>
            <a:xfrm>
              <a:off x="2639880" y="3611880"/>
              <a:ext cx="88920" cy="118800"/>
            </a:xfrm>
            <a:prstGeom prst="flowChartConnector">
              <a:avLst/>
            </a:prstGeom>
            <a:solidFill>
              <a:srgbClr val="FFFFFF"/>
            </a:solidFill>
            <a:ln w="9360">
              <a:solidFill>
                <a:srgbClr val="000000"/>
              </a:solidFill>
              <a:miter/>
            </a:ln>
          </p:spPr>
          <p:style>
            <a:lnRef idx="0"/>
            <a:fillRef idx="0"/>
            <a:effectRef idx="0"/>
            <a:fontRef idx="minor"/>
          </p:style>
          <p:txBody>
            <a:bodyPr wrap="none" lIns="90000" tIns="37440" rIns="90000" bIns="3744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94" name="AutoShape 6"/>
            <p:cNvSpPr/>
            <p:nvPr/>
          </p:nvSpPr>
          <p:spPr>
            <a:xfrm>
              <a:off x="2571840" y="4124520"/>
              <a:ext cx="88920" cy="119160"/>
            </a:xfrm>
            <a:prstGeom prst="flowChartConnector">
              <a:avLst/>
            </a:prstGeom>
            <a:solidFill>
              <a:srgbClr val="FFFFFF"/>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95" name="AutoShape 7"/>
            <p:cNvSpPr/>
            <p:nvPr/>
          </p:nvSpPr>
          <p:spPr>
            <a:xfrm>
              <a:off x="2801880" y="3835440"/>
              <a:ext cx="88920" cy="119160"/>
            </a:xfrm>
            <a:prstGeom prst="flowChartConnector">
              <a:avLst/>
            </a:prstGeom>
            <a:solidFill>
              <a:srgbClr val="FFFFFF"/>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96" name="AutoShape 8"/>
            <p:cNvSpPr/>
            <p:nvPr/>
          </p:nvSpPr>
          <p:spPr>
            <a:xfrm>
              <a:off x="2482920" y="3889440"/>
              <a:ext cx="88920" cy="119160"/>
            </a:xfrm>
            <a:prstGeom prst="flowChartConnector">
              <a:avLst/>
            </a:prstGeom>
            <a:solidFill>
              <a:srgbClr val="FFFFFF"/>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97" name="AutoShape 9"/>
            <p:cNvSpPr/>
            <p:nvPr/>
          </p:nvSpPr>
          <p:spPr>
            <a:xfrm>
              <a:off x="3171960" y="3932280"/>
              <a:ext cx="88560" cy="117720"/>
            </a:xfrm>
            <a:prstGeom prst="flowChartConnector">
              <a:avLst/>
            </a:prstGeom>
            <a:solidFill>
              <a:srgbClr val="FFFFFF"/>
            </a:solidFill>
            <a:ln w="9360">
              <a:solidFill>
                <a:srgbClr val="000000"/>
              </a:solidFill>
              <a:miter/>
            </a:ln>
          </p:spPr>
          <p:style>
            <a:lnRef idx="0"/>
            <a:fillRef idx="0"/>
            <a:effectRef idx="0"/>
            <a:fontRef idx="minor"/>
          </p:style>
          <p:txBody>
            <a:bodyPr wrap="none" lIns="90000" tIns="36360" rIns="90000" bIns="3636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98" name="AutoShape 10"/>
            <p:cNvSpPr/>
            <p:nvPr/>
          </p:nvSpPr>
          <p:spPr>
            <a:xfrm>
              <a:off x="3060720" y="4184640"/>
              <a:ext cx="88920" cy="119160"/>
            </a:xfrm>
            <a:prstGeom prst="flowChartConnector">
              <a:avLst/>
            </a:prstGeom>
            <a:solidFill>
              <a:srgbClr val="FFFFFF"/>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299" name="AutoShape 11"/>
            <p:cNvSpPr/>
            <p:nvPr/>
          </p:nvSpPr>
          <p:spPr>
            <a:xfrm>
              <a:off x="2847960" y="4246560"/>
              <a:ext cx="90360" cy="119160"/>
            </a:xfrm>
            <a:prstGeom prst="flowChartConnector">
              <a:avLst/>
            </a:prstGeom>
            <a:solidFill>
              <a:srgbClr val="FFFFFF"/>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00" name="AutoShape 12"/>
            <p:cNvSpPr/>
            <p:nvPr/>
          </p:nvSpPr>
          <p:spPr>
            <a:xfrm>
              <a:off x="2360520" y="3376800"/>
              <a:ext cx="88920" cy="117360"/>
            </a:xfrm>
            <a:prstGeom prst="flowChartConnector">
              <a:avLst/>
            </a:prstGeom>
            <a:solidFill>
              <a:srgbClr val="FFFFFF"/>
            </a:solidFill>
            <a:ln w="9360">
              <a:solidFill>
                <a:srgbClr val="000000"/>
              </a:solidFill>
              <a:miter/>
            </a:ln>
          </p:spPr>
          <p:style>
            <a:lnRef idx="0"/>
            <a:fillRef idx="0"/>
            <a:effectRef idx="0"/>
            <a:fontRef idx="minor"/>
          </p:style>
          <p:txBody>
            <a:bodyPr wrap="none" lIns="90000" tIns="36000" rIns="90000" bIns="360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01" name="Freeform 13"/>
            <p:cNvSpPr/>
            <p:nvPr/>
          </p:nvSpPr>
          <p:spPr>
            <a:xfrm>
              <a:off x="2270160" y="3246480"/>
              <a:ext cx="1089000" cy="1392480"/>
            </a:xfrm>
            <a:custGeom>
              <a:avLst/>
              <a:gdLst>
                <a:gd name="textAreaLeft" fmla="*/ 0 w 1089000"/>
                <a:gd name="textAreaRight" fmla="*/ 1089360 w 1089000"/>
                <a:gd name="textAreaTop" fmla="*/ 0 h 1392480"/>
                <a:gd name="textAreaBottom" fmla="*/ 1392840 h 1392480"/>
                <a:gd name="GluePoint1X" fmla="*/ 61 w 1101"/>
                <a:gd name="GluePoint1Y" fmla="*/ 86 h 1077"/>
                <a:gd name="GluePoint2X" fmla="*/ 63 w 1101"/>
                <a:gd name="GluePoint2Y" fmla="*/ 141 h 1077"/>
                <a:gd name="GluePoint3X" fmla="*/ 59 w 1101"/>
                <a:gd name="GluePoint3Y" fmla="*/ 271 h 1077"/>
                <a:gd name="GluePoint4X" fmla="*/ 55 w 1101"/>
                <a:gd name="GluePoint4Y" fmla="*/ 304 h 1077"/>
                <a:gd name="GluePoint5X" fmla="*/ 50 w 1101"/>
                <a:gd name="GluePoint5Y" fmla="*/ 314 h 1077"/>
                <a:gd name="GluePoint6X" fmla="*/ 35 w 1101"/>
                <a:gd name="GluePoint6Y" fmla="*/ 304 h 1077"/>
                <a:gd name="GluePoint7X" fmla="*/ 29 w 1101"/>
                <a:gd name="GluePoint7Y" fmla="*/ 290 h 1077"/>
                <a:gd name="GluePoint8X" fmla="*/ 27 w 1101"/>
                <a:gd name="GluePoint8Y" fmla="*/ 287 h 1077"/>
                <a:gd name="GluePoint9X" fmla="*/ 19 w 1101"/>
                <a:gd name="GluePoint9Y" fmla="*/ 256 h 1077"/>
                <a:gd name="GluePoint10X" fmla="*/ 14 w 1101"/>
                <a:gd name="GluePoint10Y" fmla="*/ 234 h 1077"/>
                <a:gd name="GluePoint11X" fmla="*/ 6 w 1101"/>
                <a:gd name="GluePoint11Y" fmla="*/ 200 h 1077"/>
                <a:gd name="GluePoint12X" fmla="*/ 1 w 1101"/>
                <a:gd name="GluePoint12Y" fmla="*/ 131 h 1077"/>
                <a:gd name="GluePoint13X" fmla="*/ 1 w 1101"/>
                <a:gd name="GluePoint13Y" fmla="*/ 37 h 1077"/>
                <a:gd name="GluePoint14X" fmla="*/ 11 w 1101"/>
                <a:gd name="GluePoint14Y" fmla="*/ 6 h 1077"/>
                <a:gd name="GluePoint15X" fmla="*/ 13 w 1101"/>
                <a:gd name="GluePoint15Y" fmla="*/ 4 h 1077"/>
                <a:gd name="GluePoint16X" fmla="*/ 25 w 1101"/>
                <a:gd name="GluePoint16Y" fmla="*/ 9 h 1077"/>
                <a:gd name="GluePoint17X" fmla="*/ 34 w 1101"/>
                <a:gd name="GluePoint17Y" fmla="*/ 30 h 1077"/>
                <a:gd name="GluePoint18X" fmla="*/ 40 w 1101"/>
                <a:gd name="GluePoint18Y" fmla="*/ 51 h 1077"/>
                <a:gd name="GluePoint19X" fmla="*/ 45 w 1101"/>
                <a:gd name="GluePoint19Y" fmla="*/ 59 h 1077"/>
                <a:gd name="GluePoint20X" fmla="*/ 61 w 1101"/>
                <a:gd name="GluePoint20Y" fmla="*/ 86 h 107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360">
              <a:solidFill>
                <a:srgbClr val="000000"/>
              </a:solidFill>
              <a:round/>
            </a:ln>
          </p:spPr>
          <p:style>
            <a:lnRef idx="0"/>
            <a:fillRef idx="0"/>
            <a:effectRef idx="0"/>
            <a:fontRef idx="minor"/>
          </p:style>
          <p:txBody>
            <a:bodyPr wrap="none" lIns="90000" tIns="46800" rIns="90000" bIns="46800" anchor="ctr">
              <a:noAutofit/>
            </a:bodyPr>
            <a:p>
              <a:endParaRPr lang="en-US" sz="2400" b="0" u="none" strike="noStrike">
                <a:solidFill>
                  <a:srgbClr val="000000"/>
                </a:solidFill>
                <a:effectLst/>
                <a:uFillTx/>
                <a:latin typeface="Tahoma"/>
              </a:endParaRPr>
            </a:p>
          </p:txBody>
        </p:sp>
        <p:sp>
          <p:nvSpPr>
            <p:cNvPr id="302" name="AutoShape 14"/>
            <p:cNvSpPr/>
            <p:nvPr/>
          </p:nvSpPr>
          <p:spPr>
            <a:xfrm>
              <a:off x="1838160" y="4550040"/>
              <a:ext cx="88920" cy="118800"/>
            </a:xfrm>
            <a:prstGeom prst="flowChartConnector">
              <a:avLst/>
            </a:prstGeom>
            <a:solidFill>
              <a:srgbClr val="333399"/>
            </a:solidFill>
            <a:ln w="9360">
              <a:solidFill>
                <a:srgbClr val="000000"/>
              </a:solidFill>
              <a:miter/>
            </a:ln>
          </p:spPr>
          <p:style>
            <a:lnRef idx="0"/>
            <a:fillRef idx="0"/>
            <a:effectRef idx="0"/>
            <a:fontRef idx="minor"/>
          </p:style>
          <p:txBody>
            <a:bodyPr wrap="none" lIns="90000" tIns="37440" rIns="90000" bIns="3744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03" name="AutoShape 15"/>
            <p:cNvSpPr/>
            <p:nvPr/>
          </p:nvSpPr>
          <p:spPr>
            <a:xfrm>
              <a:off x="2293920" y="4650120"/>
              <a:ext cx="88920" cy="118800"/>
            </a:xfrm>
            <a:prstGeom prst="flowChartConnector">
              <a:avLst/>
            </a:prstGeom>
            <a:solidFill>
              <a:srgbClr val="333399"/>
            </a:solidFill>
            <a:ln w="9360">
              <a:solidFill>
                <a:srgbClr val="000000"/>
              </a:solidFill>
              <a:miter/>
            </a:ln>
          </p:spPr>
          <p:style>
            <a:lnRef idx="0"/>
            <a:fillRef idx="0"/>
            <a:effectRef idx="0"/>
            <a:fontRef idx="minor"/>
          </p:style>
          <p:txBody>
            <a:bodyPr wrap="none" lIns="90000" tIns="37440" rIns="90000" bIns="3744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04" name="AutoShape 16"/>
            <p:cNvSpPr/>
            <p:nvPr/>
          </p:nvSpPr>
          <p:spPr>
            <a:xfrm>
              <a:off x="2127240" y="5056200"/>
              <a:ext cx="88920" cy="119160"/>
            </a:xfrm>
            <a:prstGeom prst="flowChartConnector">
              <a:avLst/>
            </a:prstGeom>
            <a:solidFill>
              <a:srgbClr val="333399"/>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05" name="AutoShape 17"/>
            <p:cNvSpPr/>
            <p:nvPr/>
          </p:nvSpPr>
          <p:spPr>
            <a:xfrm>
              <a:off x="2220840" y="4884840"/>
              <a:ext cx="88920" cy="119160"/>
            </a:xfrm>
            <a:prstGeom prst="flowChartConnector">
              <a:avLst/>
            </a:prstGeom>
            <a:solidFill>
              <a:srgbClr val="333399"/>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06" name="AutoShape 18"/>
            <p:cNvSpPr/>
            <p:nvPr/>
          </p:nvSpPr>
          <p:spPr>
            <a:xfrm>
              <a:off x="1944720" y="4816800"/>
              <a:ext cx="88920" cy="118800"/>
            </a:xfrm>
            <a:prstGeom prst="flowChartConnector">
              <a:avLst/>
            </a:prstGeom>
            <a:solidFill>
              <a:srgbClr val="333399"/>
            </a:solidFill>
            <a:ln w="9360">
              <a:solidFill>
                <a:srgbClr val="000000"/>
              </a:solidFill>
              <a:miter/>
            </a:ln>
          </p:spPr>
          <p:style>
            <a:lnRef idx="0"/>
            <a:fillRef idx="0"/>
            <a:effectRef idx="0"/>
            <a:fontRef idx="minor"/>
          </p:style>
          <p:txBody>
            <a:bodyPr wrap="none" lIns="90000" tIns="37440" rIns="90000" bIns="3744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07" name="AutoShape 19"/>
            <p:cNvSpPr/>
            <p:nvPr/>
          </p:nvSpPr>
          <p:spPr>
            <a:xfrm>
              <a:off x="1940040" y="5011920"/>
              <a:ext cx="88920" cy="119160"/>
            </a:xfrm>
            <a:prstGeom prst="flowChartConnector">
              <a:avLst/>
            </a:prstGeom>
            <a:solidFill>
              <a:srgbClr val="333399"/>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08" name="AutoShape 20"/>
            <p:cNvSpPr/>
            <p:nvPr/>
          </p:nvSpPr>
          <p:spPr>
            <a:xfrm>
              <a:off x="2028960" y="4422960"/>
              <a:ext cx="88560" cy="119160"/>
            </a:xfrm>
            <a:prstGeom prst="flowChartConnector">
              <a:avLst/>
            </a:prstGeom>
            <a:solidFill>
              <a:srgbClr val="333399"/>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09" name="AutoShape 21"/>
            <p:cNvSpPr/>
            <p:nvPr/>
          </p:nvSpPr>
          <p:spPr>
            <a:xfrm>
              <a:off x="2131920" y="4619880"/>
              <a:ext cx="88920" cy="117360"/>
            </a:xfrm>
            <a:prstGeom prst="flowChartConnector">
              <a:avLst/>
            </a:prstGeom>
            <a:solidFill>
              <a:srgbClr val="333399"/>
            </a:solidFill>
            <a:ln w="9360">
              <a:solidFill>
                <a:srgbClr val="000000"/>
              </a:solidFill>
              <a:miter/>
            </a:ln>
          </p:spPr>
          <p:style>
            <a:lnRef idx="0"/>
            <a:fillRef idx="0"/>
            <a:effectRef idx="0"/>
            <a:fontRef idx="minor"/>
          </p:style>
          <p:txBody>
            <a:bodyPr wrap="none" lIns="90000" tIns="36000" rIns="90000" bIns="360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10" name="AutoShape 22"/>
            <p:cNvSpPr/>
            <p:nvPr/>
          </p:nvSpPr>
          <p:spPr>
            <a:xfrm>
              <a:off x="2354040" y="5023080"/>
              <a:ext cx="88920" cy="119160"/>
            </a:xfrm>
            <a:prstGeom prst="flowChartConnector">
              <a:avLst/>
            </a:prstGeom>
            <a:solidFill>
              <a:srgbClr val="333399"/>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11" name="Freeform 23"/>
            <p:cNvSpPr/>
            <p:nvPr/>
          </p:nvSpPr>
          <p:spPr>
            <a:xfrm>
              <a:off x="1770120" y="4214880"/>
              <a:ext cx="909360" cy="1246320"/>
            </a:xfrm>
            <a:custGeom>
              <a:avLst/>
              <a:gdLst>
                <a:gd name="textAreaLeft" fmla="*/ 0 w 909360"/>
                <a:gd name="textAreaRight" fmla="*/ 909720 w 909360"/>
                <a:gd name="textAreaTop" fmla="*/ 0 h 1246320"/>
                <a:gd name="textAreaBottom" fmla="*/ 1246680 h 1246320"/>
                <a:gd name="GluePoint1X" fmla="*/ 14 w 918"/>
                <a:gd name="GluePoint1Y" fmla="*/ 237 h 965"/>
                <a:gd name="GluePoint2X" fmla="*/ 11 w 918"/>
                <a:gd name="GluePoint2Y" fmla="*/ 226 h 965"/>
                <a:gd name="GluePoint3X" fmla="*/ 7 w 918"/>
                <a:gd name="GluePoint3Y" fmla="*/ 214 h 965"/>
                <a:gd name="GluePoint4X" fmla="*/ 4 w 918"/>
                <a:gd name="GluePoint4Y" fmla="*/ 203 h 965"/>
                <a:gd name="GluePoint5X" fmla="*/ 2 w 918"/>
                <a:gd name="GluePoint5Y" fmla="*/ 187 h 965"/>
                <a:gd name="GluePoint6X" fmla="*/ 0 w 918"/>
                <a:gd name="GluePoint6Y" fmla="*/ 134 h 965"/>
                <a:gd name="GluePoint7X" fmla="*/ 1 w 918"/>
                <a:gd name="GluePoint7Y" fmla="*/ 59 h 965"/>
                <a:gd name="GluePoint8X" fmla="*/ 4 w 918"/>
                <a:gd name="GluePoint8Y" fmla="*/ 39 h 965"/>
                <a:gd name="GluePoint9X" fmla="*/ 17 w 918"/>
                <a:gd name="GluePoint9Y" fmla="*/ 0 h 965"/>
                <a:gd name="GluePoint10X" fmla="*/ 23 w 918"/>
                <a:gd name="GluePoint10Y" fmla="*/ 6 h 965"/>
                <a:gd name="GluePoint11X" fmla="*/ 29 w 918"/>
                <a:gd name="GluePoint11Y" fmla="*/ 16 h 965"/>
                <a:gd name="GluePoint12X" fmla="*/ 41 w 918"/>
                <a:gd name="GluePoint12Y" fmla="*/ 48 h 965"/>
                <a:gd name="GluePoint13X" fmla="*/ 42 w 918"/>
                <a:gd name="GluePoint13Y" fmla="*/ 63 h 965"/>
                <a:gd name="GluePoint14X" fmla="*/ 44 w 918"/>
                <a:gd name="GluePoint14Y" fmla="*/ 72 h 965"/>
                <a:gd name="GluePoint15X" fmla="*/ 48 w 918"/>
                <a:gd name="GluePoint15Y" fmla="*/ 100 h 965"/>
                <a:gd name="GluePoint16X" fmla="*/ 50 w 918"/>
                <a:gd name="GluePoint16Y" fmla="*/ 123 h 965"/>
                <a:gd name="GluePoint17X" fmla="*/ 51 w 918"/>
                <a:gd name="GluePoint17Y" fmla="*/ 150 h 965"/>
                <a:gd name="GluePoint18X" fmla="*/ 52 w 918"/>
                <a:gd name="GluePoint18Y" fmla="*/ 177 h 965"/>
                <a:gd name="GluePoint19X" fmla="*/ 54 w 918"/>
                <a:gd name="GluePoint19Y" fmla="*/ 224 h 965"/>
                <a:gd name="GluePoint20X" fmla="*/ 49 w 918"/>
                <a:gd name="GluePoint20Y" fmla="*/ 268 h 965"/>
                <a:gd name="GluePoint21X" fmla="*/ 45 w 918"/>
                <a:gd name="GluePoint21Y" fmla="*/ 274 h 965"/>
                <a:gd name="GluePoint22X" fmla="*/ 42 w 918"/>
                <a:gd name="GluePoint22Y" fmla="*/ 277 h 965"/>
                <a:gd name="GluePoint23X" fmla="*/ 21 w 918"/>
                <a:gd name="GluePoint23Y" fmla="*/ 272 h 965"/>
                <a:gd name="GluePoint24X" fmla="*/ 14 w 918"/>
                <a:gd name="GluePoint24Y" fmla="*/ 250 h 965"/>
                <a:gd name="GluePoint25X" fmla="*/ 14 w 918"/>
                <a:gd name="GluePoint25Y" fmla="*/ 237 h 9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360">
              <a:solidFill>
                <a:srgbClr val="000000"/>
              </a:solidFill>
              <a:round/>
            </a:ln>
          </p:spPr>
          <p:style>
            <a:lnRef idx="0"/>
            <a:fillRef idx="0"/>
            <a:effectRef idx="0"/>
            <a:fontRef idx="minor"/>
          </p:style>
          <p:txBody>
            <a:bodyPr wrap="none" lIns="90000" tIns="46800" rIns="90000" bIns="46800" anchor="ctr">
              <a:noAutofit/>
            </a:bodyPr>
            <a:p>
              <a:endParaRPr lang="en-US" sz="2400" b="0" u="none" strike="noStrike">
                <a:solidFill>
                  <a:srgbClr val="000000"/>
                </a:solidFill>
                <a:effectLst/>
                <a:uFillTx/>
                <a:latin typeface="Tahoma"/>
              </a:endParaRPr>
            </a:p>
          </p:txBody>
        </p:sp>
        <p:grpSp>
          <p:nvGrpSpPr>
            <p:cNvPr id="312" name="Group 24"/>
            <p:cNvGrpSpPr/>
            <p:nvPr/>
          </p:nvGrpSpPr>
          <p:grpSpPr>
            <a:xfrm>
              <a:off x="960480" y="3299040"/>
              <a:ext cx="860400" cy="1514520"/>
              <a:chOff x="960480" y="3299040"/>
              <a:chExt cx="860400" cy="1514520"/>
            </a:xfrm>
          </p:grpSpPr>
          <p:sp>
            <p:nvSpPr>
              <p:cNvPr id="313" name="AutoShape 25"/>
              <p:cNvSpPr/>
              <p:nvPr/>
            </p:nvSpPr>
            <p:spPr>
              <a:xfrm>
                <a:off x="1239840" y="4403880"/>
                <a:ext cx="88920" cy="119160"/>
              </a:xfrm>
              <a:prstGeom prst="flowChartConnector">
                <a:avLst/>
              </a:prstGeom>
              <a:solidFill>
                <a:srgbClr val="00E4A8"/>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14" name="AutoShape 26"/>
              <p:cNvSpPr/>
              <p:nvPr/>
            </p:nvSpPr>
            <p:spPr>
              <a:xfrm>
                <a:off x="1119240" y="4245120"/>
                <a:ext cx="88920" cy="119160"/>
              </a:xfrm>
              <a:prstGeom prst="flowChartConnector">
                <a:avLst/>
              </a:prstGeom>
              <a:solidFill>
                <a:srgbClr val="00E4A8"/>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15" name="AutoShape 27"/>
              <p:cNvSpPr/>
              <p:nvPr/>
            </p:nvSpPr>
            <p:spPr>
              <a:xfrm>
                <a:off x="1431720" y="4265640"/>
                <a:ext cx="88920" cy="117720"/>
              </a:xfrm>
              <a:prstGeom prst="flowChartConnector">
                <a:avLst/>
              </a:prstGeom>
              <a:solidFill>
                <a:srgbClr val="00E4A8"/>
              </a:solidFill>
              <a:ln w="9360">
                <a:solidFill>
                  <a:srgbClr val="000000"/>
                </a:solidFill>
                <a:miter/>
              </a:ln>
            </p:spPr>
            <p:style>
              <a:lnRef idx="0"/>
              <a:fillRef idx="0"/>
              <a:effectRef idx="0"/>
              <a:fontRef idx="minor"/>
            </p:style>
            <p:txBody>
              <a:bodyPr wrap="none" lIns="90000" tIns="36360" rIns="90000" bIns="3636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16" name="AutoShape 28"/>
              <p:cNvSpPr/>
              <p:nvPr/>
            </p:nvSpPr>
            <p:spPr>
              <a:xfrm>
                <a:off x="1281240" y="3988080"/>
                <a:ext cx="90360" cy="118800"/>
              </a:xfrm>
              <a:prstGeom prst="flowChartConnector">
                <a:avLst/>
              </a:prstGeom>
              <a:solidFill>
                <a:srgbClr val="00E4A8"/>
              </a:solidFill>
              <a:ln w="9360">
                <a:solidFill>
                  <a:srgbClr val="000000"/>
                </a:solidFill>
                <a:miter/>
              </a:ln>
            </p:spPr>
            <p:style>
              <a:lnRef idx="0"/>
              <a:fillRef idx="0"/>
              <a:effectRef idx="0"/>
              <a:fontRef idx="minor"/>
            </p:style>
            <p:txBody>
              <a:bodyPr wrap="none" lIns="90000" tIns="37440" rIns="90000" bIns="3744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17" name="AutoShape 29"/>
              <p:cNvSpPr/>
              <p:nvPr/>
            </p:nvSpPr>
            <p:spPr>
              <a:xfrm>
                <a:off x="1062000" y="4429440"/>
                <a:ext cx="88920" cy="118800"/>
              </a:xfrm>
              <a:prstGeom prst="flowChartConnector">
                <a:avLst/>
              </a:prstGeom>
              <a:solidFill>
                <a:srgbClr val="00E4A8"/>
              </a:solidFill>
              <a:ln w="9360">
                <a:solidFill>
                  <a:srgbClr val="000000"/>
                </a:solidFill>
                <a:miter/>
              </a:ln>
            </p:spPr>
            <p:style>
              <a:lnRef idx="0"/>
              <a:fillRef idx="0"/>
              <a:effectRef idx="0"/>
              <a:fontRef idx="minor"/>
            </p:style>
            <p:txBody>
              <a:bodyPr wrap="none" lIns="90000" tIns="37440" rIns="90000" bIns="3744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18" name="AutoShape 30"/>
              <p:cNvSpPr/>
              <p:nvPr/>
            </p:nvSpPr>
            <p:spPr>
              <a:xfrm>
                <a:off x="1147680" y="4048200"/>
                <a:ext cx="88920" cy="119160"/>
              </a:xfrm>
              <a:prstGeom prst="flowChartConnector">
                <a:avLst/>
              </a:prstGeom>
              <a:solidFill>
                <a:srgbClr val="00E4A8"/>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19" name="AutoShape 31"/>
              <p:cNvSpPr/>
              <p:nvPr/>
            </p:nvSpPr>
            <p:spPr>
              <a:xfrm>
                <a:off x="1446120" y="4521240"/>
                <a:ext cx="88920" cy="119160"/>
              </a:xfrm>
              <a:prstGeom prst="flowChartConnector">
                <a:avLst/>
              </a:prstGeom>
              <a:solidFill>
                <a:srgbClr val="00E4A8"/>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20" name="AutoShape 32"/>
              <p:cNvSpPr/>
              <p:nvPr/>
            </p:nvSpPr>
            <p:spPr>
              <a:xfrm>
                <a:off x="1552680" y="4035600"/>
                <a:ext cx="88920" cy="119160"/>
              </a:xfrm>
              <a:prstGeom prst="flowChartConnector">
                <a:avLst/>
              </a:prstGeom>
              <a:solidFill>
                <a:srgbClr val="00E4A8"/>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21" name="AutoShape 33"/>
              <p:cNvSpPr/>
              <p:nvPr/>
            </p:nvSpPr>
            <p:spPr>
              <a:xfrm>
                <a:off x="1563480" y="3768840"/>
                <a:ext cx="88920" cy="119160"/>
              </a:xfrm>
              <a:prstGeom prst="flowChartConnector">
                <a:avLst/>
              </a:prstGeom>
              <a:solidFill>
                <a:srgbClr val="00E4A8"/>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22" name="AutoShape 34"/>
              <p:cNvSpPr/>
              <p:nvPr/>
            </p:nvSpPr>
            <p:spPr>
              <a:xfrm>
                <a:off x="1484280" y="3535560"/>
                <a:ext cx="88920" cy="119160"/>
              </a:xfrm>
              <a:prstGeom prst="flowChartConnector">
                <a:avLst/>
              </a:prstGeom>
              <a:solidFill>
                <a:srgbClr val="00E4A8"/>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23" name="Freeform 35"/>
              <p:cNvSpPr/>
              <p:nvPr/>
            </p:nvSpPr>
            <p:spPr>
              <a:xfrm>
                <a:off x="960480" y="3299040"/>
                <a:ext cx="860400" cy="1514520"/>
              </a:xfrm>
              <a:custGeom>
                <a:avLst/>
                <a:gdLst>
                  <a:gd name="textAreaLeft" fmla="*/ 0 w 860400"/>
                  <a:gd name="textAreaRight" fmla="*/ 860760 w 860400"/>
                  <a:gd name="textAreaTop" fmla="*/ 0 h 1514520"/>
                  <a:gd name="textAreaBottom" fmla="*/ 1514880 h 1514520"/>
                  <a:gd name="GluePoint1X" fmla="*/ 44 w 869"/>
                  <a:gd name="GluePoint1Y" fmla="*/ 229 h 1173"/>
                  <a:gd name="GluePoint2X" fmla="*/ 41 w 869"/>
                  <a:gd name="GluePoint2Y" fmla="*/ 273 h 1173"/>
                  <a:gd name="GluePoint3X" fmla="*/ 39 w 869"/>
                  <a:gd name="GluePoint3Y" fmla="*/ 313 h 1173"/>
                  <a:gd name="GluePoint4X" fmla="*/ 37 w 869"/>
                  <a:gd name="GluePoint4Y" fmla="*/ 329 h 1173"/>
                  <a:gd name="GluePoint5X" fmla="*/ 37 w 869"/>
                  <a:gd name="GluePoint5Y" fmla="*/ 334 h 1173"/>
                  <a:gd name="GluePoint6X" fmla="*/ 33 w 869"/>
                  <a:gd name="GluePoint6Y" fmla="*/ 339 h 1173"/>
                  <a:gd name="GluePoint7X" fmla="*/ 17 w 869"/>
                  <a:gd name="GluePoint7Y" fmla="*/ 331 h 1173"/>
                  <a:gd name="GluePoint8X" fmla="*/ 7 w 869"/>
                  <a:gd name="GluePoint8Y" fmla="*/ 310 h 1173"/>
                  <a:gd name="GluePoint9X" fmla="*/ 2 w 869"/>
                  <a:gd name="GluePoint9Y" fmla="*/ 292 h 1173"/>
                  <a:gd name="GluePoint10X" fmla="*/ 0 w 869"/>
                  <a:gd name="GluePoint10Y" fmla="*/ 277 h 1173"/>
                  <a:gd name="GluePoint11X" fmla="*/ 4 w 869"/>
                  <a:gd name="GluePoint11Y" fmla="*/ 145 h 1173"/>
                  <a:gd name="GluePoint12X" fmla="*/ 6 w 869"/>
                  <a:gd name="GluePoint12Y" fmla="*/ 68 h 1173"/>
                  <a:gd name="GluePoint13X" fmla="*/ 9 w 869"/>
                  <a:gd name="GluePoint13Y" fmla="*/ 48 h 1173"/>
                  <a:gd name="GluePoint14X" fmla="*/ 12 w 869"/>
                  <a:gd name="GluePoint14Y" fmla="*/ 39 h 1173"/>
                  <a:gd name="GluePoint15X" fmla="*/ 18 w 869"/>
                  <a:gd name="GluePoint15Y" fmla="*/ 21 h 1173"/>
                  <a:gd name="GluePoint16X" fmla="*/ 21 w 869"/>
                  <a:gd name="GluePoint16Y" fmla="*/ 13 h 1173"/>
                  <a:gd name="GluePoint17X" fmla="*/ 26 w 869"/>
                  <a:gd name="GluePoint17Y" fmla="*/ 0 h 1173"/>
                  <a:gd name="GluePoint18X" fmla="*/ 42 w 869"/>
                  <a:gd name="GluePoint18Y" fmla="*/ 24 h 1173"/>
                  <a:gd name="GluePoint19X" fmla="*/ 47 w 869"/>
                  <a:gd name="GluePoint19Y" fmla="*/ 59 h 1173"/>
                  <a:gd name="GluePoint20X" fmla="*/ 50 w 869"/>
                  <a:gd name="GluePoint20Y" fmla="*/ 73 h 1173"/>
                  <a:gd name="GluePoint21X" fmla="*/ 51 w 869"/>
                  <a:gd name="GluePoint21Y" fmla="*/ 89 h 1173"/>
                  <a:gd name="GluePoint22X" fmla="*/ 46 w 869"/>
                  <a:gd name="GluePoint22Y" fmla="*/ 205 h 1173"/>
                  <a:gd name="GluePoint23X" fmla="*/ 44 w 869"/>
                  <a:gd name="GluePoint23Y" fmla="*/ 229 h 117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360">
                <a:solidFill>
                  <a:srgbClr val="000000"/>
                </a:solidFill>
                <a:round/>
              </a:ln>
            </p:spPr>
            <p:style>
              <a:lnRef idx="0"/>
              <a:fillRef idx="0"/>
              <a:effectRef idx="0"/>
              <a:fontRef idx="minor"/>
            </p:style>
            <p:txBody>
              <a:bodyPr wrap="none" lIns="90000" tIns="46800" rIns="90000" bIns="46800" anchor="ctr">
                <a:noAutofit/>
              </a:bodyPr>
              <a:p>
                <a:endParaRPr lang="en-US" sz="2400" b="0" u="none" strike="noStrike">
                  <a:solidFill>
                    <a:srgbClr val="000000"/>
                  </a:solidFill>
                  <a:effectLst/>
                  <a:uFillTx/>
                  <a:latin typeface="Tahoma"/>
                </a:endParaRPr>
              </a:p>
            </p:txBody>
          </p:sp>
        </p:grpSp>
      </p:grpSp>
      <p:sp>
        <p:nvSpPr>
          <p:cNvPr id="324" name="Rectangle 36"/>
          <p:cNvSpPr/>
          <p:nvPr/>
        </p:nvSpPr>
        <p:spPr>
          <a:xfrm>
            <a:off x="4802040" y="2678040"/>
            <a:ext cx="3751560" cy="3348000"/>
          </a:xfrm>
          <a:prstGeom prst="rect">
            <a:avLst/>
          </a:prstGeom>
          <a:noFill/>
          <a:ln w="9360">
            <a:solidFill>
              <a:srgbClr val="000000"/>
            </a:solidFill>
            <a:miter/>
          </a:ln>
        </p:spPr>
        <p:style>
          <a:lnRef idx="0"/>
          <a:fillRef idx="0"/>
          <a:effectRef idx="0"/>
          <a:fontRef idx="minor"/>
        </p:style>
        <p:txBody>
          <a:bodyPr wrap="none" lIns="90000" tIns="46800" rIns="90000" bIns="46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grpSp>
        <p:nvGrpSpPr>
          <p:cNvPr id="325" name="Group 37"/>
          <p:cNvGrpSpPr/>
          <p:nvPr/>
        </p:nvGrpSpPr>
        <p:grpSpPr>
          <a:xfrm>
            <a:off x="5241960" y="3225960"/>
            <a:ext cx="2398680" cy="2214360"/>
            <a:chOff x="5241960" y="3225960"/>
            <a:chExt cx="2398680" cy="2214360"/>
          </a:xfrm>
        </p:grpSpPr>
        <p:sp>
          <p:nvSpPr>
            <p:cNvPr id="326" name="AutoShape 38"/>
            <p:cNvSpPr/>
            <p:nvPr/>
          </p:nvSpPr>
          <p:spPr>
            <a:xfrm>
              <a:off x="5343480" y="4408560"/>
              <a:ext cx="88920" cy="119160"/>
            </a:xfrm>
            <a:prstGeom prst="flowChartConnector">
              <a:avLst/>
            </a:prstGeom>
            <a:solidFill>
              <a:srgbClr val="00E4A8"/>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27" name="AutoShape 39"/>
            <p:cNvSpPr/>
            <p:nvPr/>
          </p:nvSpPr>
          <p:spPr>
            <a:xfrm>
              <a:off x="5429160" y="4027320"/>
              <a:ext cx="88920" cy="119160"/>
            </a:xfrm>
            <a:prstGeom prst="flowChartConnector">
              <a:avLst/>
            </a:prstGeom>
            <a:solidFill>
              <a:srgbClr val="00E4A8"/>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28" name="AutoShape 40"/>
            <p:cNvSpPr/>
            <p:nvPr/>
          </p:nvSpPr>
          <p:spPr>
            <a:xfrm>
              <a:off x="6921360" y="3591000"/>
              <a:ext cx="88920" cy="119160"/>
            </a:xfrm>
            <a:prstGeom prst="flowChartConnector">
              <a:avLst/>
            </a:prstGeom>
            <a:solidFill>
              <a:srgbClr val="FFFFFF"/>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29" name="AutoShape 41"/>
            <p:cNvSpPr/>
            <p:nvPr/>
          </p:nvSpPr>
          <p:spPr>
            <a:xfrm>
              <a:off x="6853320" y="4103640"/>
              <a:ext cx="88920" cy="119160"/>
            </a:xfrm>
            <a:prstGeom prst="flowChartConnector">
              <a:avLst/>
            </a:prstGeom>
            <a:solidFill>
              <a:srgbClr val="FFFFFF"/>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30" name="AutoShape 42"/>
            <p:cNvSpPr/>
            <p:nvPr/>
          </p:nvSpPr>
          <p:spPr>
            <a:xfrm>
              <a:off x="7453440" y="3911760"/>
              <a:ext cx="88920" cy="117360"/>
            </a:xfrm>
            <a:prstGeom prst="flowChartConnector">
              <a:avLst/>
            </a:prstGeom>
            <a:solidFill>
              <a:srgbClr val="FFFFFF"/>
            </a:solidFill>
            <a:ln w="9360">
              <a:solidFill>
                <a:srgbClr val="000000"/>
              </a:solidFill>
              <a:miter/>
            </a:ln>
          </p:spPr>
          <p:style>
            <a:lnRef idx="0"/>
            <a:fillRef idx="0"/>
            <a:effectRef idx="0"/>
            <a:fontRef idx="minor"/>
          </p:style>
          <p:txBody>
            <a:bodyPr wrap="none" lIns="90000" tIns="36000" rIns="90000" bIns="360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31" name="AutoShape 43"/>
            <p:cNvSpPr/>
            <p:nvPr/>
          </p:nvSpPr>
          <p:spPr>
            <a:xfrm>
              <a:off x="5727600" y="4500720"/>
              <a:ext cx="88920" cy="118800"/>
            </a:xfrm>
            <a:prstGeom prst="flowChartConnector">
              <a:avLst/>
            </a:prstGeom>
            <a:solidFill>
              <a:srgbClr val="00E4A8"/>
            </a:solidFill>
            <a:ln w="9360">
              <a:solidFill>
                <a:srgbClr val="000000"/>
              </a:solidFill>
              <a:miter/>
            </a:ln>
          </p:spPr>
          <p:style>
            <a:lnRef idx="0"/>
            <a:fillRef idx="0"/>
            <a:effectRef idx="0"/>
            <a:fontRef idx="minor"/>
          </p:style>
          <p:txBody>
            <a:bodyPr wrap="none" lIns="90000" tIns="37440" rIns="90000" bIns="3744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32" name="AutoShape 44"/>
            <p:cNvSpPr/>
            <p:nvPr/>
          </p:nvSpPr>
          <p:spPr>
            <a:xfrm>
              <a:off x="6408720" y="5035680"/>
              <a:ext cx="88920" cy="118800"/>
            </a:xfrm>
            <a:prstGeom prst="flowChartConnector">
              <a:avLst/>
            </a:prstGeom>
            <a:solidFill>
              <a:srgbClr val="333399"/>
            </a:solidFill>
            <a:ln w="9360">
              <a:solidFill>
                <a:srgbClr val="000000"/>
              </a:solidFill>
              <a:miter/>
            </a:ln>
          </p:spPr>
          <p:style>
            <a:lnRef idx="0"/>
            <a:fillRef idx="0"/>
            <a:effectRef idx="0"/>
            <a:fontRef idx="minor"/>
          </p:style>
          <p:txBody>
            <a:bodyPr wrap="none" lIns="90000" tIns="37440" rIns="90000" bIns="3744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33" name="AutoShape 45"/>
            <p:cNvSpPr/>
            <p:nvPr/>
          </p:nvSpPr>
          <p:spPr>
            <a:xfrm>
              <a:off x="6502320" y="4863960"/>
              <a:ext cx="88920" cy="119160"/>
            </a:xfrm>
            <a:prstGeom prst="flowChartConnector">
              <a:avLst/>
            </a:prstGeom>
            <a:solidFill>
              <a:srgbClr val="333399"/>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34" name="AutoShape 46"/>
            <p:cNvSpPr/>
            <p:nvPr/>
          </p:nvSpPr>
          <p:spPr>
            <a:xfrm>
              <a:off x="5834160" y="4014720"/>
              <a:ext cx="88920" cy="119160"/>
            </a:xfrm>
            <a:prstGeom prst="flowChartConnector">
              <a:avLst/>
            </a:prstGeom>
            <a:solidFill>
              <a:srgbClr val="00E4A8"/>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35" name="AutoShape 47"/>
            <p:cNvSpPr/>
            <p:nvPr/>
          </p:nvSpPr>
          <p:spPr>
            <a:xfrm>
              <a:off x="6226200" y="4795920"/>
              <a:ext cx="88920" cy="119160"/>
            </a:xfrm>
            <a:prstGeom prst="flowChartConnector">
              <a:avLst/>
            </a:prstGeom>
            <a:solidFill>
              <a:srgbClr val="333399"/>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36" name="AutoShape 48"/>
            <p:cNvSpPr/>
            <p:nvPr/>
          </p:nvSpPr>
          <p:spPr>
            <a:xfrm>
              <a:off x="5845320" y="3747960"/>
              <a:ext cx="88920" cy="119160"/>
            </a:xfrm>
            <a:prstGeom prst="flowChartConnector">
              <a:avLst/>
            </a:prstGeom>
            <a:solidFill>
              <a:srgbClr val="00E4A8"/>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37" name="AutoShape 49"/>
            <p:cNvSpPr/>
            <p:nvPr/>
          </p:nvSpPr>
          <p:spPr>
            <a:xfrm>
              <a:off x="6642000" y="3355920"/>
              <a:ext cx="88920" cy="117360"/>
            </a:xfrm>
            <a:prstGeom prst="flowChartConnector">
              <a:avLst/>
            </a:prstGeom>
            <a:solidFill>
              <a:srgbClr val="FFFFFF"/>
            </a:solidFill>
            <a:ln w="9360">
              <a:solidFill>
                <a:srgbClr val="000000"/>
              </a:solidFill>
              <a:miter/>
            </a:ln>
          </p:spPr>
          <p:style>
            <a:lnRef idx="0"/>
            <a:fillRef idx="0"/>
            <a:effectRef idx="0"/>
            <a:fontRef idx="minor"/>
          </p:style>
          <p:txBody>
            <a:bodyPr wrap="none" lIns="90000" tIns="36000" rIns="90000" bIns="360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38" name="AutoShape 50"/>
            <p:cNvSpPr/>
            <p:nvPr/>
          </p:nvSpPr>
          <p:spPr>
            <a:xfrm>
              <a:off x="6310440" y="4402080"/>
              <a:ext cx="88920" cy="119160"/>
            </a:xfrm>
            <a:prstGeom prst="flowChartConnector">
              <a:avLst/>
            </a:prstGeom>
            <a:solidFill>
              <a:srgbClr val="333399"/>
            </a:solidFill>
            <a:ln w="9360">
              <a:solidFill>
                <a:srgbClr val="000000"/>
              </a:solidFill>
              <a:miter/>
            </a:ln>
          </p:spPr>
          <p:style>
            <a:lnRef idx="0"/>
            <a:fillRef idx="0"/>
            <a:effectRef idx="0"/>
            <a:fontRef idx="minor"/>
          </p:style>
          <p:txBody>
            <a:bodyPr wrap="none" lIns="90000" tIns="37800" rIns="90000" bIns="37800" anchor="ctr">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39" name="Freeform 51"/>
            <p:cNvSpPr/>
            <p:nvPr/>
          </p:nvSpPr>
          <p:spPr>
            <a:xfrm>
              <a:off x="6551640" y="3225960"/>
              <a:ext cx="1089000" cy="1392120"/>
            </a:xfrm>
            <a:custGeom>
              <a:avLst/>
              <a:gdLst>
                <a:gd name="textAreaLeft" fmla="*/ 0 w 1089000"/>
                <a:gd name="textAreaRight" fmla="*/ 1089360 w 1089000"/>
                <a:gd name="textAreaTop" fmla="*/ 0 h 1392120"/>
                <a:gd name="textAreaBottom" fmla="*/ 1392480 h 1392120"/>
                <a:gd name="GluePoint1X" fmla="*/ 61 w 1101"/>
                <a:gd name="GluePoint1Y" fmla="*/ 86 h 1077"/>
                <a:gd name="GluePoint2X" fmla="*/ 63 w 1101"/>
                <a:gd name="GluePoint2Y" fmla="*/ 141 h 1077"/>
                <a:gd name="GluePoint3X" fmla="*/ 59 w 1101"/>
                <a:gd name="GluePoint3Y" fmla="*/ 271 h 1077"/>
                <a:gd name="GluePoint4X" fmla="*/ 55 w 1101"/>
                <a:gd name="GluePoint4Y" fmla="*/ 304 h 1077"/>
                <a:gd name="GluePoint5X" fmla="*/ 50 w 1101"/>
                <a:gd name="GluePoint5Y" fmla="*/ 314 h 1077"/>
                <a:gd name="GluePoint6X" fmla="*/ 35 w 1101"/>
                <a:gd name="GluePoint6Y" fmla="*/ 304 h 1077"/>
                <a:gd name="GluePoint7X" fmla="*/ 29 w 1101"/>
                <a:gd name="GluePoint7Y" fmla="*/ 290 h 1077"/>
                <a:gd name="GluePoint8X" fmla="*/ 27 w 1101"/>
                <a:gd name="GluePoint8Y" fmla="*/ 287 h 1077"/>
                <a:gd name="GluePoint9X" fmla="*/ 19 w 1101"/>
                <a:gd name="GluePoint9Y" fmla="*/ 256 h 1077"/>
                <a:gd name="GluePoint10X" fmla="*/ 14 w 1101"/>
                <a:gd name="GluePoint10Y" fmla="*/ 234 h 1077"/>
                <a:gd name="GluePoint11X" fmla="*/ 6 w 1101"/>
                <a:gd name="GluePoint11Y" fmla="*/ 200 h 1077"/>
                <a:gd name="GluePoint12X" fmla="*/ 1 w 1101"/>
                <a:gd name="GluePoint12Y" fmla="*/ 131 h 1077"/>
                <a:gd name="GluePoint13X" fmla="*/ 1 w 1101"/>
                <a:gd name="GluePoint13Y" fmla="*/ 37 h 1077"/>
                <a:gd name="GluePoint14X" fmla="*/ 11 w 1101"/>
                <a:gd name="GluePoint14Y" fmla="*/ 6 h 1077"/>
                <a:gd name="GluePoint15X" fmla="*/ 13 w 1101"/>
                <a:gd name="GluePoint15Y" fmla="*/ 4 h 1077"/>
                <a:gd name="GluePoint16X" fmla="*/ 25 w 1101"/>
                <a:gd name="GluePoint16Y" fmla="*/ 9 h 1077"/>
                <a:gd name="GluePoint17X" fmla="*/ 34 w 1101"/>
                <a:gd name="GluePoint17Y" fmla="*/ 30 h 1077"/>
                <a:gd name="GluePoint18X" fmla="*/ 40 w 1101"/>
                <a:gd name="GluePoint18Y" fmla="*/ 51 h 1077"/>
                <a:gd name="GluePoint19X" fmla="*/ 45 w 1101"/>
                <a:gd name="GluePoint19Y" fmla="*/ 59 h 1077"/>
                <a:gd name="GluePoint20X" fmla="*/ 61 w 1101"/>
                <a:gd name="GluePoint20Y" fmla="*/ 86 h 107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360">
              <a:solidFill>
                <a:srgbClr val="000000"/>
              </a:solidFill>
              <a:round/>
            </a:ln>
          </p:spPr>
          <p:style>
            <a:lnRef idx="0"/>
            <a:fillRef idx="0"/>
            <a:effectRef idx="0"/>
            <a:fontRef idx="minor"/>
          </p:style>
          <p:txBody>
            <a:bodyPr wrap="none" lIns="90000" tIns="46800" rIns="90000" bIns="46800" anchor="ctr">
              <a:noAutofit/>
            </a:bodyPr>
            <a:p>
              <a:endParaRPr lang="en-US" sz="2400" b="0" u="none" strike="noStrike">
                <a:solidFill>
                  <a:srgbClr val="000000"/>
                </a:solidFill>
                <a:effectLst/>
                <a:uFillTx/>
                <a:latin typeface="Tahoma"/>
              </a:endParaRPr>
            </a:p>
          </p:txBody>
        </p:sp>
        <p:sp>
          <p:nvSpPr>
            <p:cNvPr id="340" name="Freeform 52"/>
            <p:cNvSpPr/>
            <p:nvPr/>
          </p:nvSpPr>
          <p:spPr>
            <a:xfrm>
              <a:off x="6051600" y="4194000"/>
              <a:ext cx="909720" cy="1246320"/>
            </a:xfrm>
            <a:custGeom>
              <a:avLst/>
              <a:gdLst>
                <a:gd name="textAreaLeft" fmla="*/ 0 w 909720"/>
                <a:gd name="textAreaRight" fmla="*/ 910080 w 909720"/>
                <a:gd name="textAreaTop" fmla="*/ 0 h 1246320"/>
                <a:gd name="textAreaBottom" fmla="*/ 1246680 h 1246320"/>
                <a:gd name="GluePoint1X" fmla="*/ 14 w 918"/>
                <a:gd name="GluePoint1Y" fmla="*/ 237 h 965"/>
                <a:gd name="GluePoint2X" fmla="*/ 11 w 918"/>
                <a:gd name="GluePoint2Y" fmla="*/ 226 h 965"/>
                <a:gd name="GluePoint3X" fmla="*/ 7 w 918"/>
                <a:gd name="GluePoint3Y" fmla="*/ 214 h 965"/>
                <a:gd name="GluePoint4X" fmla="*/ 4 w 918"/>
                <a:gd name="GluePoint4Y" fmla="*/ 203 h 965"/>
                <a:gd name="GluePoint5X" fmla="*/ 2 w 918"/>
                <a:gd name="GluePoint5Y" fmla="*/ 187 h 965"/>
                <a:gd name="GluePoint6X" fmla="*/ 0 w 918"/>
                <a:gd name="GluePoint6Y" fmla="*/ 134 h 965"/>
                <a:gd name="GluePoint7X" fmla="*/ 1 w 918"/>
                <a:gd name="GluePoint7Y" fmla="*/ 59 h 965"/>
                <a:gd name="GluePoint8X" fmla="*/ 4 w 918"/>
                <a:gd name="GluePoint8Y" fmla="*/ 39 h 965"/>
                <a:gd name="GluePoint9X" fmla="*/ 17 w 918"/>
                <a:gd name="GluePoint9Y" fmla="*/ 0 h 965"/>
                <a:gd name="GluePoint10X" fmla="*/ 23 w 918"/>
                <a:gd name="GluePoint10Y" fmla="*/ 6 h 965"/>
                <a:gd name="GluePoint11X" fmla="*/ 29 w 918"/>
                <a:gd name="GluePoint11Y" fmla="*/ 16 h 965"/>
                <a:gd name="GluePoint12X" fmla="*/ 41 w 918"/>
                <a:gd name="GluePoint12Y" fmla="*/ 48 h 965"/>
                <a:gd name="GluePoint13X" fmla="*/ 42 w 918"/>
                <a:gd name="GluePoint13Y" fmla="*/ 63 h 965"/>
                <a:gd name="GluePoint14X" fmla="*/ 44 w 918"/>
                <a:gd name="GluePoint14Y" fmla="*/ 72 h 965"/>
                <a:gd name="GluePoint15X" fmla="*/ 48 w 918"/>
                <a:gd name="GluePoint15Y" fmla="*/ 100 h 965"/>
                <a:gd name="GluePoint16X" fmla="*/ 50 w 918"/>
                <a:gd name="GluePoint16Y" fmla="*/ 123 h 965"/>
                <a:gd name="GluePoint17X" fmla="*/ 51 w 918"/>
                <a:gd name="GluePoint17Y" fmla="*/ 150 h 965"/>
                <a:gd name="GluePoint18X" fmla="*/ 52 w 918"/>
                <a:gd name="GluePoint18Y" fmla="*/ 177 h 965"/>
                <a:gd name="GluePoint19X" fmla="*/ 54 w 918"/>
                <a:gd name="GluePoint19Y" fmla="*/ 224 h 965"/>
                <a:gd name="GluePoint20X" fmla="*/ 49 w 918"/>
                <a:gd name="GluePoint20Y" fmla="*/ 268 h 965"/>
                <a:gd name="GluePoint21X" fmla="*/ 45 w 918"/>
                <a:gd name="GluePoint21Y" fmla="*/ 274 h 965"/>
                <a:gd name="GluePoint22X" fmla="*/ 42 w 918"/>
                <a:gd name="GluePoint22Y" fmla="*/ 277 h 965"/>
                <a:gd name="GluePoint23X" fmla="*/ 21 w 918"/>
                <a:gd name="GluePoint23Y" fmla="*/ 272 h 965"/>
                <a:gd name="GluePoint24X" fmla="*/ 14 w 918"/>
                <a:gd name="GluePoint24Y" fmla="*/ 250 h 965"/>
                <a:gd name="GluePoint25X" fmla="*/ 14 w 918"/>
                <a:gd name="GluePoint25Y" fmla="*/ 237 h 9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360">
              <a:solidFill>
                <a:srgbClr val="000000"/>
              </a:solidFill>
              <a:round/>
            </a:ln>
          </p:spPr>
          <p:style>
            <a:lnRef idx="0"/>
            <a:fillRef idx="0"/>
            <a:effectRef idx="0"/>
            <a:fontRef idx="minor"/>
          </p:style>
          <p:txBody>
            <a:bodyPr wrap="none" lIns="90000" tIns="46800" rIns="90000" bIns="46800" anchor="ctr">
              <a:noAutofit/>
            </a:bodyPr>
            <a:p>
              <a:endParaRPr lang="en-US" sz="2400" b="0" u="none" strike="noStrike">
                <a:solidFill>
                  <a:srgbClr val="000000"/>
                </a:solidFill>
                <a:effectLst/>
                <a:uFillTx/>
                <a:latin typeface="Tahoma"/>
              </a:endParaRPr>
            </a:p>
          </p:txBody>
        </p:sp>
        <p:sp>
          <p:nvSpPr>
            <p:cNvPr id="341" name="Freeform 53"/>
            <p:cNvSpPr/>
            <p:nvPr/>
          </p:nvSpPr>
          <p:spPr>
            <a:xfrm>
              <a:off x="5241960" y="3278160"/>
              <a:ext cx="860400" cy="1514520"/>
            </a:xfrm>
            <a:custGeom>
              <a:avLst/>
              <a:gdLst>
                <a:gd name="textAreaLeft" fmla="*/ 0 w 860400"/>
                <a:gd name="textAreaRight" fmla="*/ 860760 w 860400"/>
                <a:gd name="textAreaTop" fmla="*/ 0 h 1514520"/>
                <a:gd name="textAreaBottom" fmla="*/ 1514880 h 1514520"/>
                <a:gd name="GluePoint1X" fmla="*/ 44 w 869"/>
                <a:gd name="GluePoint1Y" fmla="*/ 229 h 1173"/>
                <a:gd name="GluePoint2X" fmla="*/ 41 w 869"/>
                <a:gd name="GluePoint2Y" fmla="*/ 273 h 1173"/>
                <a:gd name="GluePoint3X" fmla="*/ 39 w 869"/>
                <a:gd name="GluePoint3Y" fmla="*/ 313 h 1173"/>
                <a:gd name="GluePoint4X" fmla="*/ 37 w 869"/>
                <a:gd name="GluePoint4Y" fmla="*/ 329 h 1173"/>
                <a:gd name="GluePoint5X" fmla="*/ 37 w 869"/>
                <a:gd name="GluePoint5Y" fmla="*/ 334 h 1173"/>
                <a:gd name="GluePoint6X" fmla="*/ 33 w 869"/>
                <a:gd name="GluePoint6Y" fmla="*/ 339 h 1173"/>
                <a:gd name="GluePoint7X" fmla="*/ 17 w 869"/>
                <a:gd name="GluePoint7Y" fmla="*/ 331 h 1173"/>
                <a:gd name="GluePoint8X" fmla="*/ 7 w 869"/>
                <a:gd name="GluePoint8Y" fmla="*/ 310 h 1173"/>
                <a:gd name="GluePoint9X" fmla="*/ 2 w 869"/>
                <a:gd name="GluePoint9Y" fmla="*/ 292 h 1173"/>
                <a:gd name="GluePoint10X" fmla="*/ 0 w 869"/>
                <a:gd name="GluePoint10Y" fmla="*/ 277 h 1173"/>
                <a:gd name="GluePoint11X" fmla="*/ 4 w 869"/>
                <a:gd name="GluePoint11Y" fmla="*/ 145 h 1173"/>
                <a:gd name="GluePoint12X" fmla="*/ 6 w 869"/>
                <a:gd name="GluePoint12Y" fmla="*/ 68 h 1173"/>
                <a:gd name="GluePoint13X" fmla="*/ 9 w 869"/>
                <a:gd name="GluePoint13Y" fmla="*/ 48 h 1173"/>
                <a:gd name="GluePoint14X" fmla="*/ 12 w 869"/>
                <a:gd name="GluePoint14Y" fmla="*/ 39 h 1173"/>
                <a:gd name="GluePoint15X" fmla="*/ 18 w 869"/>
                <a:gd name="GluePoint15Y" fmla="*/ 21 h 1173"/>
                <a:gd name="GluePoint16X" fmla="*/ 21 w 869"/>
                <a:gd name="GluePoint16Y" fmla="*/ 13 h 1173"/>
                <a:gd name="GluePoint17X" fmla="*/ 26 w 869"/>
                <a:gd name="GluePoint17Y" fmla="*/ 0 h 1173"/>
                <a:gd name="GluePoint18X" fmla="*/ 42 w 869"/>
                <a:gd name="GluePoint18Y" fmla="*/ 24 h 1173"/>
                <a:gd name="GluePoint19X" fmla="*/ 47 w 869"/>
                <a:gd name="GluePoint19Y" fmla="*/ 59 h 1173"/>
                <a:gd name="GluePoint20X" fmla="*/ 50 w 869"/>
                <a:gd name="GluePoint20Y" fmla="*/ 73 h 1173"/>
                <a:gd name="GluePoint21X" fmla="*/ 51 w 869"/>
                <a:gd name="GluePoint21Y" fmla="*/ 89 h 1173"/>
                <a:gd name="GluePoint22X" fmla="*/ 46 w 869"/>
                <a:gd name="GluePoint22Y" fmla="*/ 205 h 1173"/>
                <a:gd name="GluePoint23X" fmla="*/ 44 w 869"/>
                <a:gd name="GluePoint23Y" fmla="*/ 229 h 117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Lst>
              <a:rect l="textAreaLeft" t="textAreaTop" r="textAreaRight" b="textAreaBottom"/>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360">
              <a:solidFill>
                <a:srgbClr val="000000"/>
              </a:solidFill>
              <a:round/>
            </a:ln>
          </p:spPr>
          <p:style>
            <a:lnRef idx="0"/>
            <a:fillRef idx="0"/>
            <a:effectRef idx="0"/>
            <a:fontRef idx="minor"/>
          </p:style>
          <p:txBody>
            <a:bodyPr wrap="none" lIns="90000" tIns="46800" rIns="90000" bIns="46800" anchor="ctr">
              <a:noAutofit/>
            </a:bodyPr>
            <a:p>
              <a:endParaRPr lang="en-US" sz="2400" b="0" u="none" strike="noStrike">
                <a:solidFill>
                  <a:srgbClr val="000000"/>
                </a:solidFill>
                <a:effectLst/>
                <a:uFillTx/>
                <a:latin typeface="Tahoma"/>
              </a:endParaRPr>
            </a:p>
          </p:txBody>
        </p:sp>
      </p:grpSp>
      <p:sp>
        <p:nvSpPr>
          <p:cNvPr id="342" name="Text Box 54"/>
          <p:cNvSpPr/>
          <p:nvPr/>
        </p:nvSpPr>
        <p:spPr>
          <a:xfrm>
            <a:off x="1464840" y="1897200"/>
            <a:ext cx="1467360" cy="45972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Raw Data </a:t>
            </a:r>
            <a:endParaRPr lang="en-US" sz="2400" b="0" u="none" strike="noStrike">
              <a:solidFill>
                <a:srgbClr val="000000"/>
              </a:solidFill>
              <a:effectLst/>
              <a:uFillTx/>
              <a:latin typeface="Tahoma"/>
            </a:endParaRPr>
          </a:p>
        </p:txBody>
      </p:sp>
      <p:sp>
        <p:nvSpPr>
          <p:cNvPr id="343" name="Text Box 55"/>
          <p:cNvSpPr/>
          <p:nvPr/>
        </p:nvSpPr>
        <p:spPr>
          <a:xfrm>
            <a:off x="5042520" y="1839960"/>
            <a:ext cx="3270600" cy="45972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Cluster/Stratified Sample</a:t>
            </a:r>
            <a:endParaRPr lang="en-US" sz="2400" b="0" u="none" strike="noStrike">
              <a:solidFill>
                <a:srgbClr val="000000"/>
              </a:solidFill>
              <a:effectLst/>
              <a:uFillTx/>
              <a:latin typeface="Tahoma"/>
            </a:endParaRPr>
          </a:p>
        </p:txBody>
      </p:sp>
    </p:spTree>
  </p:cSld>
  <p:transition>
    <p:zoom dir="out"/>
  </p:transition>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4A0F4C8-05AE-43D9-AC15-F68299B57EC4}"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345" name="PlaceHolder 1"/>
          <p:cNvSpPr>
            <a:spLocks noGrp="1"/>
          </p:cNvSpPr>
          <p:nvPr>
            <p:ph type="title"/>
          </p:nvPr>
        </p:nvSpPr>
        <p:spPr>
          <a:xfrm>
            <a:off x="837720" y="228240"/>
            <a:ext cx="7162920" cy="68580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170981"/>
                </a:solidFill>
                <a:effectLst/>
                <a:uFillTx/>
                <a:latin typeface="Berlin Sans FB Demi"/>
              </a:rPr>
              <a:t>Data Cube Aggregation</a:t>
            </a:r>
            <a:endParaRPr lang="en-US" sz="3600" b="1" u="none" strike="noStrike">
              <a:solidFill>
                <a:srgbClr val="333399"/>
              </a:solidFill>
              <a:effectLst/>
              <a:uFillTx/>
              <a:latin typeface="Berlin Sans FB Demi"/>
            </a:endParaRPr>
          </a:p>
        </p:txBody>
      </p:sp>
      <p:sp>
        <p:nvSpPr>
          <p:cNvPr id="346" name="PlaceHolder 2"/>
          <p:cNvSpPr>
            <a:spLocks noGrp="1"/>
          </p:cNvSpPr>
          <p:nvPr>
            <p:ph/>
          </p:nvPr>
        </p:nvSpPr>
        <p:spPr>
          <a:xfrm>
            <a:off x="304560" y="1371600"/>
            <a:ext cx="8458200" cy="5238720"/>
          </a:xfrm>
          <a:prstGeom prst="rect">
            <a:avLst/>
          </a:prstGeom>
          <a:noFill/>
          <a:ln w="0">
            <a:noFill/>
          </a:ln>
        </p:spPr>
        <p:txBody>
          <a:bodyPr lIns="91440" tIns="45720" rIns="91440" bIns="45720" anchor="t">
            <a:normAutofit/>
          </a:bodyPr>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The lowest level of a data cube (base cuboid)</a:t>
            </a:r>
            <a:endParaRPr lang="en-US" sz="2400" b="0" u="none" strike="noStrike">
              <a:solidFill>
                <a:srgbClr val="000000"/>
              </a:solidFill>
              <a:effectLst/>
              <a:uFillTx/>
              <a:latin typeface="Tahoma"/>
            </a:endParaRPr>
          </a:p>
          <a:p>
            <a:pPr marL="743040" lvl="1" indent="-285840" algn="l">
              <a:lnSpc>
                <a:spcPct val="12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The aggregated data for an </a:t>
            </a:r>
            <a:r>
              <a:rPr lang="en-US" sz="2400" b="0" u="none" strike="noStrike">
                <a:solidFill>
                  <a:srgbClr val="FF0000"/>
                </a:solidFill>
                <a:effectLst/>
                <a:uFillTx/>
                <a:latin typeface="Tahoma"/>
              </a:rPr>
              <a:t>individual entity of interest</a:t>
            </a:r>
            <a:endParaRPr lang="en-US" sz="2400" b="0" u="none" strike="noStrike">
              <a:solidFill>
                <a:srgbClr val="000000"/>
              </a:solidFill>
              <a:effectLst/>
              <a:uFillTx/>
              <a:latin typeface="Tahoma"/>
            </a:endParaRPr>
          </a:p>
          <a:p>
            <a:pPr marL="743040" lvl="1" indent="-285840" algn="l">
              <a:lnSpc>
                <a:spcPct val="12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E.g., a customer in a phone calling data warehouse</a:t>
            </a:r>
            <a:endParaRPr lang="en-US" sz="2400" b="0" u="none" strike="noStrike">
              <a:solidFill>
                <a:srgbClr val="000000"/>
              </a:solidFill>
              <a:effectLst/>
              <a:uFillTx/>
              <a:latin typeface="Tahoma"/>
            </a:endParaRPr>
          </a:p>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Multiple levels of aggregation in data cubes</a:t>
            </a:r>
            <a:endParaRPr lang="en-US" sz="2400" b="0" u="none" strike="noStrike">
              <a:solidFill>
                <a:srgbClr val="000000"/>
              </a:solidFill>
              <a:effectLst/>
              <a:uFillTx/>
              <a:latin typeface="Tahoma"/>
            </a:endParaRPr>
          </a:p>
          <a:p>
            <a:pPr marL="743040" lvl="1" indent="-285840" algn="l">
              <a:lnSpc>
                <a:spcPct val="12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Further reduce the size of data to deal with</a:t>
            </a:r>
            <a:endParaRPr lang="en-US" sz="2400" b="0" u="none" strike="noStrike">
              <a:solidFill>
                <a:srgbClr val="000000"/>
              </a:solidFill>
              <a:effectLst/>
              <a:uFillTx/>
              <a:latin typeface="Tahoma"/>
            </a:endParaRPr>
          </a:p>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Reference appropriate levels</a:t>
            </a:r>
            <a:endParaRPr lang="en-US" sz="2400" b="0" u="none" strike="noStrike">
              <a:solidFill>
                <a:srgbClr val="000000"/>
              </a:solidFill>
              <a:effectLst/>
              <a:uFillTx/>
              <a:latin typeface="Tahoma"/>
            </a:endParaRPr>
          </a:p>
          <a:p>
            <a:pPr marL="743040" lvl="1" indent="-285840" algn="l">
              <a:lnSpc>
                <a:spcPct val="12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Use the smallest representation which is enough to solve the task</a:t>
            </a:r>
            <a:endParaRPr lang="en-US" sz="2400" b="0" u="none" strike="noStrike">
              <a:solidFill>
                <a:srgbClr val="000000"/>
              </a:solidFill>
              <a:effectLst/>
              <a:uFillTx/>
              <a:latin typeface="Tahoma"/>
            </a:endParaRPr>
          </a:p>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Queries regarding aggregated information should be answered using data cube, when possible</a:t>
            </a:r>
            <a:endParaRPr lang="en-US" sz="2400" b="0" u="none" strike="noStrike">
              <a:solidFill>
                <a:srgbClr val="000000"/>
              </a:solidFill>
              <a:effectLst/>
              <a:uFillTx/>
              <a:latin typeface="Tahoma"/>
            </a:endParaRPr>
          </a:p>
        </p:txBody>
      </p:sp>
    </p:spTree>
  </p:cSld>
  <p:transition>
    <p:zoom dir="out"/>
  </p:transition>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36F4CFF-BA68-448B-AE64-CA453C3B07C3}"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348" name="PlaceHolder 1"/>
          <p:cNvSpPr>
            <a:spLocks noGrp="1"/>
          </p:cNvSpPr>
          <p:nvPr>
            <p:ph type="title"/>
          </p:nvPr>
        </p:nvSpPr>
        <p:spPr>
          <a:xfrm>
            <a:off x="0" y="151920"/>
            <a:ext cx="9144000" cy="83844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Data Reduction 3: Data Compression</a:t>
            </a:r>
            <a:endParaRPr lang="en-US" sz="3600" b="1" u="none" strike="noStrike">
              <a:solidFill>
                <a:srgbClr val="333399"/>
              </a:solidFill>
              <a:effectLst/>
              <a:uFillTx/>
              <a:latin typeface="Berlin Sans FB Demi"/>
            </a:endParaRPr>
          </a:p>
        </p:txBody>
      </p:sp>
      <p:sp>
        <p:nvSpPr>
          <p:cNvPr id="349" name="PlaceHolder 2"/>
          <p:cNvSpPr>
            <a:spLocks noGrp="1"/>
          </p:cNvSpPr>
          <p:nvPr>
            <p:ph/>
          </p:nvPr>
        </p:nvSpPr>
        <p:spPr>
          <a:xfrm>
            <a:off x="304920" y="1371600"/>
            <a:ext cx="8610480" cy="5315040"/>
          </a:xfrm>
          <a:prstGeom prst="rect">
            <a:avLst/>
          </a:prstGeom>
          <a:noFill/>
          <a:ln w="0">
            <a:noFill/>
          </a:ln>
        </p:spPr>
        <p:txBody>
          <a:bodyPr lIns="91440" tIns="45720" rIns="91440" bIns="45720" anchor="t">
            <a:normAutofit/>
          </a:bodyPr>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String compression</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There are extensive theories and well-tuned algorithms</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Typically lossless, but only limited manipulation is possible without expansion</a:t>
            </a:r>
            <a:endParaRPr lang="en-US" sz="2400" b="0" u="none" strike="noStrike">
              <a:solidFill>
                <a:srgbClr val="000000"/>
              </a:solidFill>
              <a:effectLst/>
              <a:uFillTx/>
              <a:latin typeface="Tahoma"/>
            </a:endParaRPr>
          </a:p>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Audio/video compression</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Typically lossy compression, with progressive refinement</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Sometimes small fragments of signal can be reconstructed without reconstructing the whole</a:t>
            </a:r>
            <a:endParaRPr lang="en-US" sz="2400" b="0" u="none" strike="noStrike">
              <a:solidFill>
                <a:srgbClr val="000000"/>
              </a:solidFill>
              <a:effectLst/>
              <a:uFillTx/>
              <a:latin typeface="Tahoma"/>
            </a:endParaRPr>
          </a:p>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Time sequence is not audio</a:t>
            </a:r>
            <a:endParaRPr lang="en-US" sz="2400" b="0" u="none" strike="noStrike">
              <a:solidFill>
                <a:srgbClr val="000000"/>
              </a:solidFill>
              <a:effectLst/>
              <a:uFillTx/>
              <a:latin typeface="Tahoma"/>
            </a:endParaRPr>
          </a:p>
          <a:p>
            <a:pPr marL="743040" lvl="1" indent="-285840" algn="l">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Typically short and vary slowly with time</a:t>
            </a:r>
            <a:endParaRPr lang="en-US" sz="2400" b="0" u="none" strike="noStrike">
              <a:solidFill>
                <a:srgbClr val="000000"/>
              </a:solidFill>
              <a:effectLst/>
              <a:uFillTx/>
              <a:latin typeface="Tahoma"/>
            </a:endParaRPr>
          </a:p>
          <a:p>
            <a:pPr marL="343080" indent="-343080" algn="l">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Dimensionality and numerosity reduction may also be considered as forms of data compression</a:t>
            </a:r>
            <a:endParaRPr lang="en-US" sz="2400" b="0" u="none" strike="noStrike">
              <a:solidFill>
                <a:srgbClr val="000000"/>
              </a:solidFill>
              <a:effectLst/>
              <a:uFillTx/>
              <a:latin typeface="Tahoma"/>
            </a:endParaRPr>
          </a:p>
          <a:p>
            <a:pPr marL="743040" lvl="1" indent="0" algn="l">
              <a:lnSpc>
                <a:spcPct val="80000"/>
              </a:lnSpc>
              <a:spcBef>
                <a:spcPts val="601"/>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Tree>
  </p:cSld>
  <p:transition>
    <p:zoom dir="out"/>
  </p:transition>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2689377-5351-43E5-A4EC-363A83BE738C}"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351" name="PlaceHolder 1"/>
          <p:cNvSpPr>
            <a:spLocks noGrp="1"/>
          </p:cNvSpPr>
          <p:nvPr>
            <p:ph type="title"/>
          </p:nvPr>
        </p:nvSpPr>
        <p:spPr>
          <a:xfrm>
            <a:off x="1157040" y="304560"/>
            <a:ext cx="576396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Data Compression</a:t>
            </a:r>
            <a:endParaRPr lang="en-US" sz="3600" b="1" u="none" strike="noStrike">
              <a:solidFill>
                <a:srgbClr val="333399"/>
              </a:solidFill>
              <a:effectLst/>
              <a:uFillTx/>
              <a:latin typeface="Berlin Sans FB Demi"/>
            </a:endParaRPr>
          </a:p>
        </p:txBody>
      </p:sp>
      <p:sp>
        <p:nvSpPr>
          <p:cNvPr id="352" name="AutoShape 3"/>
          <p:cNvSpPr/>
          <p:nvPr/>
        </p:nvSpPr>
        <p:spPr>
          <a:xfrm>
            <a:off x="838080" y="1625760"/>
            <a:ext cx="3446640" cy="2595240"/>
          </a:xfrm>
          <a:prstGeom prst="can">
            <a:avLst>
              <a:gd name="adj" fmla="val 25000"/>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Original Data</a:t>
            </a:r>
            <a:endParaRPr lang="en-US" sz="2400" b="0" u="none" strike="noStrike">
              <a:solidFill>
                <a:srgbClr val="000000"/>
              </a:solidFill>
              <a:effectLst/>
              <a:uFillTx/>
              <a:latin typeface="Tahoma"/>
            </a:endParaRPr>
          </a:p>
        </p:txBody>
      </p:sp>
      <p:sp>
        <p:nvSpPr>
          <p:cNvPr id="353" name="AutoShape 4"/>
          <p:cNvSpPr/>
          <p:nvPr/>
        </p:nvSpPr>
        <p:spPr>
          <a:xfrm>
            <a:off x="6175440" y="2249640"/>
            <a:ext cx="2182680" cy="1608120"/>
          </a:xfrm>
          <a:prstGeom prst="cube">
            <a:avLst>
              <a:gd name="adj" fmla="val 25000"/>
            </a:avLst>
          </a:prstGeom>
          <a:solidFill>
            <a:srgbClr val="F6E6EA"/>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Compressed </a:t>
            </a:r>
            <a:endParaRPr lang="en-US" sz="2400" b="0" u="none" strike="noStrike">
              <a:solidFill>
                <a:srgbClr val="000000"/>
              </a:solidFill>
              <a:effectLst/>
              <a:uFillTx/>
              <a:latin typeface="Tahoma"/>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Data</a:t>
            </a:r>
            <a:endParaRPr lang="en-US" sz="2400" b="0" u="none" strike="noStrike">
              <a:solidFill>
                <a:srgbClr val="000000"/>
              </a:solidFill>
              <a:effectLst/>
              <a:uFillTx/>
              <a:latin typeface="Tahoma"/>
            </a:endParaRPr>
          </a:p>
        </p:txBody>
      </p:sp>
      <p:sp>
        <p:nvSpPr>
          <p:cNvPr id="354" name="Line 5"/>
          <p:cNvSpPr/>
          <p:nvPr/>
        </p:nvSpPr>
        <p:spPr>
          <a:xfrm>
            <a:off x="4319640" y="3005280"/>
            <a:ext cx="18381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ahoma"/>
            </a:endParaRPr>
          </a:p>
        </p:txBody>
      </p:sp>
      <p:sp>
        <p:nvSpPr>
          <p:cNvPr id="355" name="Line 6"/>
          <p:cNvSpPr/>
          <p:nvPr/>
        </p:nvSpPr>
        <p:spPr>
          <a:xfrm flipH="1">
            <a:off x="4319640" y="3579840"/>
            <a:ext cx="1838160" cy="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ahoma"/>
            </a:endParaRPr>
          </a:p>
        </p:txBody>
      </p:sp>
      <p:sp>
        <p:nvSpPr>
          <p:cNvPr id="356" name="Text Box 7"/>
          <p:cNvSpPr/>
          <p:nvPr/>
        </p:nvSpPr>
        <p:spPr>
          <a:xfrm>
            <a:off x="4638960" y="3665520"/>
            <a:ext cx="1112400" cy="45972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lossless</a:t>
            </a:r>
            <a:endParaRPr lang="en-US" sz="2400" b="0" u="none" strike="noStrike">
              <a:solidFill>
                <a:srgbClr val="000000"/>
              </a:solidFill>
              <a:effectLst/>
              <a:uFillTx/>
              <a:latin typeface="Tahoma"/>
            </a:endParaRPr>
          </a:p>
        </p:txBody>
      </p:sp>
      <p:sp>
        <p:nvSpPr>
          <p:cNvPr id="357" name="AutoShape 8"/>
          <p:cNvSpPr/>
          <p:nvPr/>
        </p:nvSpPr>
        <p:spPr>
          <a:xfrm>
            <a:off x="950760" y="4367160"/>
            <a:ext cx="3286440" cy="2184480"/>
          </a:xfrm>
          <a:prstGeom prst="can">
            <a:avLst>
              <a:gd name="adj" fmla="val 25000"/>
            </a:avLst>
          </a:prstGeom>
          <a:solidFill>
            <a:srgbClr val="FFFFFF"/>
          </a:solidFill>
          <a:ln w="9360">
            <a:solidFill>
              <a:srgbClr val="000000"/>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Original Data</a:t>
            </a:r>
            <a:endParaRPr lang="en-US" sz="2400" b="0" u="none" strike="noStrike">
              <a:solidFill>
                <a:srgbClr val="000000"/>
              </a:solidFill>
              <a:effectLst/>
              <a:uFillTx/>
              <a:latin typeface="Tahoma"/>
            </a:endParaRPr>
          </a:p>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Approximated </a:t>
            </a:r>
            <a:endParaRPr lang="en-US" sz="2400" b="0" u="none" strike="noStrike">
              <a:solidFill>
                <a:srgbClr val="000000"/>
              </a:solidFill>
              <a:effectLst/>
              <a:uFillTx/>
              <a:latin typeface="Tahoma"/>
            </a:endParaRPr>
          </a:p>
        </p:txBody>
      </p:sp>
      <p:sp>
        <p:nvSpPr>
          <p:cNvPr id="358" name="Line 9"/>
          <p:cNvSpPr/>
          <p:nvPr/>
        </p:nvSpPr>
        <p:spPr>
          <a:xfrm flipH="1">
            <a:off x="4253040" y="3875040"/>
            <a:ext cx="2743200" cy="1806480"/>
          </a:xfrm>
          <a:prstGeom prst="line">
            <a:avLst/>
          </a:prstGeom>
          <a:ln w="9360">
            <a:solidFill>
              <a:srgbClr val="000000"/>
            </a:solidFill>
            <a:miter/>
            <a:tailEnd len="med" type="triangle" w="med"/>
          </a:ln>
        </p:spPr>
        <p:style>
          <a:lnRef idx="0"/>
          <a:fillRef idx="0"/>
          <a:effectRef idx="0"/>
          <a:fontRef idx="minor"/>
        </p:style>
        <p:txBody>
          <a:bodyPr lIns="90000" tIns="46800" rIns="90000" bIns="46800" anchor="ctr">
            <a:noAutofit/>
          </a:bodyPr>
          <a:p>
            <a:endParaRPr lang="en-US" sz="2400" b="0" u="none" strike="noStrike">
              <a:solidFill>
                <a:srgbClr val="000000"/>
              </a:solidFill>
              <a:effectLst/>
              <a:uFillTx/>
              <a:latin typeface="Tahoma"/>
            </a:endParaRPr>
          </a:p>
        </p:txBody>
      </p:sp>
      <p:sp>
        <p:nvSpPr>
          <p:cNvPr id="359" name="Text Box 10"/>
          <p:cNvSpPr/>
          <p:nvPr/>
        </p:nvSpPr>
        <p:spPr>
          <a:xfrm rot="19802400">
            <a:off x="5229720" y="4782960"/>
            <a:ext cx="807480" cy="45972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lossy</a:t>
            </a:r>
            <a:endParaRPr lang="en-US" sz="2400" b="0" u="none" strike="noStrike">
              <a:solidFill>
                <a:srgbClr val="000000"/>
              </a:solidFill>
              <a:effectLst/>
              <a:uFillTx/>
              <a:latin typeface="Tahoma"/>
            </a:endParaRPr>
          </a:p>
        </p:txBody>
      </p:sp>
    </p:spTree>
  </p:cSld>
  <p:transition>
    <p:zoom dir="out"/>
  </p:transition>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189D7CB6-C8E4-4448-BCCC-3AC0BA4E38A7}"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361" name="PlaceHolder 1"/>
          <p:cNvSpPr>
            <a:spLocks noGrp="1"/>
          </p:cNvSpPr>
          <p:nvPr>
            <p:ph type="title"/>
          </p:nvPr>
        </p:nvSpPr>
        <p:spPr>
          <a:xfrm>
            <a:off x="152280" y="304560"/>
            <a:ext cx="8763120" cy="609480"/>
          </a:xfrm>
          <a:prstGeom prst="rect">
            <a:avLst/>
          </a:prstGeom>
          <a:noFill/>
          <a:ln w="0">
            <a:noFill/>
          </a:ln>
        </p:spPr>
        <p:txBody>
          <a:bodyPr lIns="92160" tIns="46080" rIns="92160" bIns="4608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Berlin Sans FB Demi"/>
              </a:rPr>
              <a:t>Chapter 3: Data Preprocessing</a:t>
            </a:r>
            <a:endParaRPr lang="en-US" sz="3200" b="1" u="none" strike="noStrike">
              <a:solidFill>
                <a:srgbClr val="333399"/>
              </a:solidFill>
              <a:effectLst/>
              <a:uFillTx/>
              <a:latin typeface="Berlin Sans FB Demi"/>
            </a:endParaRPr>
          </a:p>
        </p:txBody>
      </p:sp>
      <p:sp>
        <p:nvSpPr>
          <p:cNvPr id="362" name="PlaceHolder 2"/>
          <p:cNvSpPr>
            <a:spLocks noGrp="1"/>
          </p:cNvSpPr>
          <p:nvPr>
            <p:ph/>
          </p:nvPr>
        </p:nvSpPr>
        <p:spPr>
          <a:xfrm>
            <a:off x="380880" y="1371600"/>
            <a:ext cx="8229600" cy="5105520"/>
          </a:xfrm>
          <a:prstGeom prst="rect">
            <a:avLst/>
          </a:prstGeom>
          <a:noFill/>
          <a:ln w="0">
            <a:noFill/>
          </a:ln>
        </p:spPr>
        <p:txBody>
          <a:bodyPr lIns="92160" tIns="46080" rIns="92160" bIns="46080" anchor="t">
            <a:normAutofit/>
          </a:bodyPr>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Preprocessing: An Overview</a:t>
            </a:r>
            <a:endParaRPr lang="en-US" sz="2400" b="0" u="none" strike="noStrike">
              <a:solidFill>
                <a:srgbClr val="000000"/>
              </a:solidFill>
              <a:effectLst/>
              <a:uFillTx/>
              <a:latin typeface="Tahoma"/>
            </a:endParaRPr>
          </a:p>
          <a:p>
            <a:pPr marL="743040" lvl="1" indent="-285840" algn="l">
              <a:lnSpc>
                <a:spcPct val="15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Quality</a:t>
            </a:r>
            <a:endParaRPr lang="en-US" sz="2400" b="0" u="none" strike="noStrike">
              <a:solidFill>
                <a:srgbClr val="000000"/>
              </a:solidFill>
              <a:effectLst/>
              <a:uFillTx/>
              <a:latin typeface="Tahoma"/>
            </a:endParaRPr>
          </a:p>
          <a:p>
            <a:pPr marL="743040" lvl="1" indent="-285840" algn="l">
              <a:lnSpc>
                <a:spcPct val="15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Major Tasks in Data Preprocessing</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Cleaning</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Integration</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Reduction</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Transformation and Data Discretization</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Summary</a:t>
            </a:r>
            <a:endParaRPr lang="en-US" sz="2400" b="0" u="none" strike="noStrike">
              <a:solidFill>
                <a:srgbClr val="000000"/>
              </a:solidFill>
              <a:effectLst/>
              <a:uFillTx/>
              <a:latin typeface="Tahoma"/>
            </a:endParaRPr>
          </a:p>
        </p:txBody>
      </p:sp>
      <p:sp>
        <p:nvSpPr>
          <p:cNvPr id="363" name="AutoShape 4"/>
          <p:cNvSpPr/>
          <p:nvPr/>
        </p:nvSpPr>
        <p:spPr>
          <a:xfrm rot="9430200">
            <a:off x="7009920" y="5105160"/>
            <a:ext cx="522360" cy="485640"/>
          </a:xfrm>
          <a:custGeom>
            <a:avLst/>
            <a:gdLst>
              <a:gd name="textAreaLeft" fmla="*/ 65160 w 522360"/>
              <a:gd name="textAreaRight" fmla="*/ 457200 w 522360"/>
              <a:gd name="textAreaTop" fmla="*/ 121320 h 485640"/>
              <a:gd name="textAreaBottom" fmla="*/ 364320 h 485640"/>
            </a:gdLst>
            <a:ahLst/>
            <a:cxn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lnTo>
                  <a:pt x="2700" y="10800"/>
                </a:lnTo>
                <a:lnTo>
                  <a:pt x="0" y="5400"/>
                </a:lnTo>
                <a:close/>
              </a:path>
            </a:pathLst>
          </a:custGeom>
          <a:solidFill>
            <a:srgbClr val="339966"/>
          </a:solidFill>
          <a:ln w="9360">
            <a:solidFill>
              <a:srgbClr val="000000"/>
            </a:solidFill>
            <a:miter/>
          </a:ln>
        </p:spPr>
        <p:style>
          <a:lnRef idx="0"/>
          <a:fillRef idx="0"/>
          <a:effectRef idx="0"/>
          <a:fontRef idx="minor"/>
        </p:style>
        <p:txBody>
          <a:bodyPr wrap="none" lIns="90000" tIns="46800" rIns="90000" bIns="46800" anchor="ctr" rot="10800000">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Tree>
  </p:cSld>
  <p:transition>
    <p:zoom dir="out"/>
  </p:transition>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AE75A81-B5E5-4090-BD60-A4F33A8DA8BC}"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365" name="PlaceHolder 1"/>
          <p:cNvSpPr>
            <a:spLocks noGrp="1"/>
          </p:cNvSpPr>
          <p:nvPr>
            <p:ph type="title"/>
          </p:nvPr>
        </p:nvSpPr>
        <p:spPr>
          <a:xfrm>
            <a:off x="495000" y="304560"/>
            <a:ext cx="805500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170981"/>
                </a:solidFill>
                <a:effectLst/>
                <a:uFillTx/>
                <a:latin typeface="Berlin Sans FB Demi"/>
              </a:rPr>
              <a:t>Data Transformation</a:t>
            </a:r>
            <a:endParaRPr lang="en-US" sz="3600" b="1" u="none" strike="noStrike">
              <a:solidFill>
                <a:srgbClr val="333399"/>
              </a:solidFill>
              <a:effectLst/>
              <a:uFillTx/>
              <a:latin typeface="Berlin Sans FB Demi"/>
            </a:endParaRPr>
          </a:p>
        </p:txBody>
      </p:sp>
      <p:sp>
        <p:nvSpPr>
          <p:cNvPr id="366" name="PlaceHolder 2"/>
          <p:cNvSpPr>
            <a:spLocks noGrp="1"/>
          </p:cNvSpPr>
          <p:nvPr>
            <p:ph/>
          </p:nvPr>
        </p:nvSpPr>
        <p:spPr>
          <a:xfrm>
            <a:off x="304560" y="1219320"/>
            <a:ext cx="8305560" cy="5333760"/>
          </a:xfrm>
          <a:prstGeom prst="rect">
            <a:avLst/>
          </a:prstGeom>
          <a:noFill/>
          <a:ln w="0">
            <a:noFill/>
          </a:ln>
        </p:spPr>
        <p:txBody>
          <a:bodyPr lIns="91440" tIns="45720" rIns="91440" bIns="45720" anchor="t">
            <a:normAutofit fontScale="92500" lnSpcReduction="9999"/>
          </a:bodyPr>
          <a:p>
            <a:pPr marL="343080" indent="-343080" algn="l">
              <a:spcBef>
                <a:spcPts val="601"/>
              </a:spcBef>
              <a:spcAft>
                <a:spcPts val="601"/>
              </a:spcAft>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A function that maps the entire set of values of a given attribute to a new set of replacement values s.t. each old value can be identified with one of the new values</a:t>
            </a:r>
            <a:endParaRPr lang="en-US" sz="2000" b="0" u="none" strike="noStrike">
              <a:solidFill>
                <a:srgbClr val="000000"/>
              </a:solidFill>
              <a:effectLst/>
              <a:uFillTx/>
              <a:latin typeface="Tahoma"/>
            </a:endParaRPr>
          </a:p>
          <a:p>
            <a:pPr marL="343080" indent="-343080" algn="l">
              <a:spcBef>
                <a:spcPts val="601"/>
              </a:spcBef>
              <a:spcAft>
                <a:spcPts val="601"/>
              </a:spcAft>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Methods</a:t>
            </a:r>
            <a:endParaRPr lang="en-US" sz="2000" b="0" u="none" strike="noStrike">
              <a:solidFill>
                <a:srgbClr val="000000"/>
              </a:solidFill>
              <a:effectLst/>
              <a:uFillTx/>
              <a:latin typeface="Tahoma"/>
            </a:endParaRPr>
          </a:p>
          <a:p>
            <a:pPr marL="743040" lvl="1" indent="-285840" algn="l">
              <a:spcBef>
                <a:spcPts val="601"/>
              </a:spcBef>
              <a:spcAft>
                <a:spcPts val="601"/>
              </a:spcAft>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Smoothing: Remove noise from data</a:t>
            </a:r>
            <a:endParaRPr lang="en-US" sz="2000" b="0" u="none" strike="noStrike">
              <a:solidFill>
                <a:srgbClr val="000000"/>
              </a:solidFill>
              <a:effectLst/>
              <a:uFillTx/>
              <a:latin typeface="Tahoma"/>
            </a:endParaRPr>
          </a:p>
          <a:p>
            <a:pPr marL="743040" lvl="1" indent="-285840" algn="l">
              <a:spcBef>
                <a:spcPts val="601"/>
              </a:spcBef>
              <a:spcAft>
                <a:spcPts val="601"/>
              </a:spcAft>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Attribute/feature construction</a:t>
            </a:r>
            <a:endParaRPr lang="en-US" sz="2000" b="0" u="none" strike="noStrike">
              <a:solidFill>
                <a:srgbClr val="000000"/>
              </a:solidFill>
              <a:effectLst/>
              <a:uFillTx/>
              <a:latin typeface="Tahoma"/>
            </a:endParaRPr>
          </a:p>
          <a:p>
            <a:pPr marL="1143000" lvl="2" indent="-228600" algn="l">
              <a:spcBef>
                <a:spcPts val="601"/>
              </a:spcBef>
              <a:spcAft>
                <a:spcPts val="601"/>
              </a:spcAft>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New attributes constructed from the given ones</a:t>
            </a:r>
            <a:endParaRPr lang="en-US" sz="2000" b="0" u="none" strike="noStrike">
              <a:solidFill>
                <a:srgbClr val="000000"/>
              </a:solidFill>
              <a:effectLst/>
              <a:uFillTx/>
              <a:latin typeface="Tahoma"/>
            </a:endParaRPr>
          </a:p>
          <a:p>
            <a:pPr marL="743040" lvl="1" indent="-285840" algn="l">
              <a:spcBef>
                <a:spcPts val="601"/>
              </a:spcBef>
              <a:spcAft>
                <a:spcPts val="601"/>
              </a:spcAft>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Aggregation: Summarization, data cube construction</a:t>
            </a:r>
            <a:endParaRPr lang="en-US" sz="2000" b="0" u="none" strike="noStrike">
              <a:solidFill>
                <a:srgbClr val="000000"/>
              </a:solidFill>
              <a:effectLst/>
              <a:uFillTx/>
              <a:latin typeface="Tahoma"/>
            </a:endParaRPr>
          </a:p>
          <a:p>
            <a:pPr marL="743040" lvl="1" indent="-285840" algn="l">
              <a:spcBef>
                <a:spcPts val="601"/>
              </a:spcBef>
              <a:spcAft>
                <a:spcPts val="601"/>
              </a:spcAft>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Normalization: Scaled to fall within a smaller, specified range</a:t>
            </a:r>
            <a:endParaRPr lang="en-US" sz="2000" b="0" u="none" strike="noStrike">
              <a:solidFill>
                <a:srgbClr val="000000"/>
              </a:solidFill>
              <a:effectLst/>
              <a:uFillTx/>
              <a:latin typeface="Tahoma"/>
            </a:endParaRPr>
          </a:p>
          <a:p>
            <a:pPr marL="1143000" lvl="2" indent="-228600" algn="l">
              <a:spcBef>
                <a:spcPts val="601"/>
              </a:spcBef>
              <a:spcAft>
                <a:spcPts val="601"/>
              </a:spcAft>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min-max normalization</a:t>
            </a:r>
            <a:endParaRPr lang="en-US" sz="2000" b="0" u="none" strike="noStrike">
              <a:solidFill>
                <a:srgbClr val="000000"/>
              </a:solidFill>
              <a:effectLst/>
              <a:uFillTx/>
              <a:latin typeface="Tahoma"/>
            </a:endParaRPr>
          </a:p>
          <a:p>
            <a:pPr marL="1143000" lvl="2" indent="-228600" algn="l">
              <a:spcBef>
                <a:spcPts val="601"/>
              </a:spcBef>
              <a:spcAft>
                <a:spcPts val="601"/>
              </a:spcAft>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z-score normalization</a:t>
            </a:r>
            <a:endParaRPr lang="en-US" sz="2000" b="0" u="none" strike="noStrike">
              <a:solidFill>
                <a:srgbClr val="000000"/>
              </a:solidFill>
              <a:effectLst/>
              <a:uFillTx/>
              <a:latin typeface="Tahoma"/>
            </a:endParaRPr>
          </a:p>
          <a:p>
            <a:pPr marL="1143000" lvl="2" indent="-228600" algn="l">
              <a:spcBef>
                <a:spcPts val="601"/>
              </a:spcBef>
              <a:spcAft>
                <a:spcPts val="601"/>
              </a:spcAft>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normalization by decimal scaling</a:t>
            </a:r>
            <a:endParaRPr lang="en-US" sz="2000" b="0" u="none" strike="noStrike">
              <a:solidFill>
                <a:srgbClr val="000000"/>
              </a:solidFill>
              <a:effectLst/>
              <a:uFillTx/>
              <a:latin typeface="Tahoma"/>
            </a:endParaRPr>
          </a:p>
          <a:p>
            <a:pPr marL="743040" lvl="1" indent="-285840" algn="l">
              <a:spcBef>
                <a:spcPts val="601"/>
              </a:spcBef>
              <a:spcAft>
                <a:spcPts val="601"/>
              </a:spcAft>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Discretization: Concept hierarchy climbing</a:t>
            </a:r>
            <a:endParaRPr lang="en-US" sz="2000" b="0" u="none" strike="noStrike">
              <a:solidFill>
                <a:srgbClr val="000000"/>
              </a:solidFill>
              <a:effectLst/>
              <a:uFillTx/>
              <a:latin typeface="Tahoma"/>
            </a:endParaRPr>
          </a:p>
        </p:txBody>
      </p:sp>
    </p:spTree>
  </p:cSld>
  <p:transition>
    <p:zoom dir="out"/>
  </p:transition>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8E5822BB-A203-402B-BC0E-4F7ABF21B07B}"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368" name="PlaceHolder 1"/>
          <p:cNvSpPr>
            <a:spLocks noGrp="1"/>
          </p:cNvSpPr>
          <p:nvPr>
            <p:ph type="title"/>
          </p:nvPr>
        </p:nvSpPr>
        <p:spPr>
          <a:xfrm>
            <a:off x="0" y="380880"/>
            <a:ext cx="9144000" cy="60984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Normalization</a:t>
            </a:r>
            <a:endParaRPr lang="en-US" sz="3600" b="1" u="none" strike="noStrike">
              <a:solidFill>
                <a:srgbClr val="333399"/>
              </a:solidFill>
              <a:effectLst/>
              <a:uFillTx/>
              <a:latin typeface="Berlin Sans FB Demi"/>
            </a:endParaRPr>
          </a:p>
        </p:txBody>
      </p:sp>
      <p:sp>
        <p:nvSpPr>
          <p:cNvPr id="369" name="PlaceHolder 2"/>
          <p:cNvSpPr>
            <a:spLocks noGrp="1"/>
          </p:cNvSpPr>
          <p:nvPr>
            <p:ph/>
          </p:nvPr>
        </p:nvSpPr>
        <p:spPr>
          <a:xfrm>
            <a:off x="304560" y="1295280"/>
            <a:ext cx="8305560" cy="5029200"/>
          </a:xfrm>
          <a:prstGeom prst="rect">
            <a:avLst/>
          </a:prstGeom>
          <a:noFill/>
          <a:ln w="0">
            <a:noFill/>
          </a:ln>
        </p:spPr>
        <p:txBody>
          <a:bodyPr lIns="91440" tIns="45720" rIns="91440" bIns="45720" anchor="t">
            <a:normAutofit/>
          </a:bodyPr>
          <a:p>
            <a:pPr marL="343080" indent="-343080" algn="l">
              <a:lnSpc>
                <a:spcPct val="12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ahoma"/>
              </a:rPr>
              <a:t>Min-max normalization</a:t>
            </a:r>
            <a:r>
              <a:rPr lang="en-US" sz="2000" b="0" u="none" strike="noStrike">
                <a:solidFill>
                  <a:srgbClr val="000000"/>
                </a:solidFill>
                <a:effectLst/>
                <a:uFillTx/>
                <a:latin typeface="Tahoma"/>
              </a:rPr>
              <a:t>: to [new_min</a:t>
            </a:r>
            <a:r>
              <a:rPr lang="en-US" sz="2000" b="0" u="none" strike="noStrike" baseline="-25000">
                <a:solidFill>
                  <a:srgbClr val="000000"/>
                </a:solidFill>
                <a:effectLst/>
                <a:uFillTx/>
                <a:latin typeface="Tahoma"/>
              </a:rPr>
              <a:t>A</a:t>
            </a:r>
            <a:r>
              <a:rPr lang="en-US" sz="2000" b="0" u="none" strike="noStrike">
                <a:solidFill>
                  <a:srgbClr val="000000"/>
                </a:solidFill>
                <a:effectLst/>
                <a:uFillTx/>
                <a:latin typeface="Tahoma"/>
              </a:rPr>
              <a:t>, new_max</a:t>
            </a:r>
            <a:r>
              <a:rPr lang="en-US" sz="2000" b="0" u="none" strike="noStrike" baseline="-25000">
                <a:solidFill>
                  <a:srgbClr val="000000"/>
                </a:solidFill>
                <a:effectLst/>
                <a:uFillTx/>
                <a:latin typeface="Tahoma"/>
              </a:rPr>
              <a:t>A</a:t>
            </a:r>
            <a:r>
              <a:rPr lang="en-US" sz="2000" b="0" u="none" strike="noStrike">
                <a:solidFill>
                  <a:srgbClr val="000000"/>
                </a:solidFill>
                <a:effectLst/>
                <a:uFillTx/>
                <a:latin typeface="Tahoma"/>
              </a:rPr>
              <a:t>]</a:t>
            </a:r>
            <a:endParaRPr lang="en-US" sz="2000" b="0" u="none" strike="noStrike">
              <a:solidFill>
                <a:srgbClr val="000000"/>
              </a:solidFill>
              <a:effectLst/>
              <a:uFillTx/>
              <a:latin typeface="Tahoma"/>
            </a:endParaRPr>
          </a:p>
          <a:p>
            <a:pPr marL="743040" lvl="1" indent="0" algn="l">
              <a:lnSpc>
                <a:spcPct val="120000"/>
              </a:lnSpc>
              <a:spcBef>
                <a:spcPts val="4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u="none" strike="noStrike">
              <a:solidFill>
                <a:srgbClr val="000000"/>
              </a:solidFill>
              <a:effectLst/>
              <a:uFillTx/>
              <a:latin typeface="Tahoma"/>
            </a:endParaRPr>
          </a:p>
          <a:p>
            <a:pPr marL="743040" lvl="1" indent="0" algn="l">
              <a:lnSpc>
                <a:spcPct val="120000"/>
              </a:lnSpc>
              <a:spcBef>
                <a:spcPts val="4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Ex.  Let income range $12,000 to $98,000 normalized to [0.0, 1.0].  Then $73,000 is mapped to  </a:t>
            </a:r>
            <a:endParaRPr lang="en-US" sz="2000" b="0" u="none" strike="noStrike">
              <a:solidFill>
                <a:srgbClr val="000000"/>
              </a:solidFill>
              <a:effectLst/>
              <a:uFillTx/>
              <a:latin typeface="Tahoma"/>
            </a:endParaRPr>
          </a:p>
          <a:p>
            <a:pPr marL="343080" indent="-343080" algn="l">
              <a:lnSpc>
                <a:spcPct val="12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ahoma"/>
              </a:rPr>
              <a:t>Z-score normalization</a:t>
            </a:r>
            <a:r>
              <a:rPr lang="en-US" sz="2000" b="0" u="none" strike="noStrike">
                <a:solidFill>
                  <a:srgbClr val="000000"/>
                </a:solidFill>
                <a:effectLst/>
                <a:uFillTx/>
                <a:latin typeface="Tahoma"/>
              </a:rPr>
              <a:t> (</a:t>
            </a:r>
            <a:r>
              <a:rPr lang="el-GR" sz="2000" b="0" u="none" strike="noStrike">
                <a:solidFill>
                  <a:srgbClr val="000000"/>
                </a:solidFill>
                <a:effectLst/>
                <a:uFillTx/>
                <a:latin typeface="Tahoma"/>
              </a:rPr>
              <a:t>μ</a:t>
            </a:r>
            <a:r>
              <a:rPr lang="en-US" sz="2000" b="0" u="none" strike="noStrike">
                <a:solidFill>
                  <a:srgbClr val="000000"/>
                </a:solidFill>
                <a:effectLst/>
                <a:uFillTx/>
                <a:latin typeface="Tahoma"/>
              </a:rPr>
              <a:t>: mean, </a:t>
            </a:r>
            <a:r>
              <a:rPr lang="el-GR" sz="2000" b="0" u="none" strike="noStrike">
                <a:solidFill>
                  <a:srgbClr val="000000"/>
                </a:solidFill>
                <a:effectLst/>
                <a:uFillTx/>
                <a:latin typeface="Tahoma"/>
              </a:rPr>
              <a:t>σ</a:t>
            </a:r>
            <a:r>
              <a:rPr lang="en-US" sz="2000" b="0" u="none" strike="noStrike">
                <a:solidFill>
                  <a:srgbClr val="000000"/>
                </a:solidFill>
                <a:effectLst/>
                <a:uFillTx/>
                <a:latin typeface="Tahoma"/>
              </a:rPr>
              <a:t>: standard deviation):</a:t>
            </a:r>
            <a:endParaRPr lang="en-US" sz="2000" b="0" u="none" strike="noStrike">
              <a:solidFill>
                <a:srgbClr val="000000"/>
              </a:solidFill>
              <a:effectLst/>
              <a:uFillTx/>
              <a:latin typeface="Tahoma"/>
            </a:endParaRPr>
          </a:p>
          <a:p>
            <a:pPr marL="343080" indent="0" algn="l">
              <a:lnSpc>
                <a:spcPct val="120000"/>
              </a:lnSpc>
              <a:spcBef>
                <a:spcPts val="4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u="none" strike="noStrike">
              <a:solidFill>
                <a:srgbClr val="000000"/>
              </a:solidFill>
              <a:effectLst/>
              <a:uFillTx/>
              <a:latin typeface="Tahoma"/>
            </a:endParaRPr>
          </a:p>
          <a:p>
            <a:pPr marL="743040" lvl="1" indent="0" algn="l">
              <a:lnSpc>
                <a:spcPct val="120000"/>
              </a:lnSpc>
              <a:spcBef>
                <a:spcPts val="4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Ex. Let </a:t>
            </a:r>
            <a:r>
              <a:rPr lang="el-GR" sz="2000" b="0" u="none" strike="noStrike">
                <a:solidFill>
                  <a:srgbClr val="000000"/>
                </a:solidFill>
                <a:effectLst/>
                <a:uFillTx/>
                <a:latin typeface="Tahoma"/>
              </a:rPr>
              <a:t>μ</a:t>
            </a:r>
            <a:r>
              <a:rPr lang="en-US" sz="2000" b="0" u="none" strike="noStrike">
                <a:solidFill>
                  <a:srgbClr val="000000"/>
                </a:solidFill>
                <a:effectLst/>
                <a:uFillTx/>
                <a:latin typeface="Tahoma"/>
              </a:rPr>
              <a:t> = 54,000, </a:t>
            </a:r>
            <a:r>
              <a:rPr lang="el-GR" sz="2000" b="0" u="none" strike="noStrike">
                <a:solidFill>
                  <a:srgbClr val="000000"/>
                </a:solidFill>
                <a:effectLst/>
                <a:uFillTx/>
                <a:latin typeface="Tahoma"/>
              </a:rPr>
              <a:t>σ</a:t>
            </a:r>
            <a:r>
              <a:rPr lang="en-US" sz="2000" b="0" u="none" strike="noStrike">
                <a:solidFill>
                  <a:srgbClr val="000000"/>
                </a:solidFill>
                <a:effectLst/>
                <a:uFillTx/>
                <a:latin typeface="Tahoma"/>
              </a:rPr>
              <a:t> = 16,000.  Then</a:t>
            </a:r>
            <a:endParaRPr lang="en-US" sz="2000" b="0" u="none" strike="noStrike">
              <a:solidFill>
                <a:srgbClr val="000000"/>
              </a:solidFill>
              <a:effectLst/>
              <a:uFillTx/>
              <a:latin typeface="Tahoma"/>
            </a:endParaRPr>
          </a:p>
          <a:p>
            <a:pPr marL="343080" indent="-343080" algn="l">
              <a:lnSpc>
                <a:spcPct val="12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ahoma"/>
              </a:rPr>
              <a:t>Normalization by decimal scaling</a:t>
            </a:r>
            <a:endParaRPr lang="en-US" sz="2000" b="0" u="none" strike="noStrike">
              <a:solidFill>
                <a:srgbClr val="000000"/>
              </a:solidFill>
              <a:effectLst/>
              <a:uFillTx/>
              <a:latin typeface="Tahoma"/>
            </a:endParaRPr>
          </a:p>
        </p:txBody>
      </p:sp>
      <mc:AlternateContent>
        <mc:Choice xmlns:a14="http://schemas.microsoft.com/office/drawing/2010/main" Requires="a14">
          <p:sp>
            <p:nvSpPr>
              <p:cNvPr id="370" name="Object 4"/>
              <p:cNvSpPr txBox="1"/>
              <p:nvPr/>
            </p:nvSpPr>
            <p:spPr>
              <a:xfrm>
                <a:off x="5181480" y="2895480"/>
                <a:ext cx="2514600" cy="489240"/>
              </a:xfrm>
              <a:prstGeom prst="rect">
                <a:avLst/>
              </a:prstGeom>
            </p:spPr>
            <p:txBody>
              <a:bodyPr/>
              <a:p>
                <a14:m>
                  <m:oMath xmlns:m="http://schemas.openxmlformats.org/officeDocument/2006/math">
                    <m:f>
                      <m:num>
                        <m:r>
                          <m:rPr>
                            <m:lit/>
                            <m:nor/>
                          </m:rPr>
                          <m:t xml:space="preserve">73</m:t>
                        </m:r>
                        <m:r>
                          <m:t xml:space="preserve">,</m:t>
                        </m:r>
                        <m:r>
                          <m:rPr>
                            <m:lit/>
                            <m:nor/>
                          </m:rPr>
                          <m:t xml:space="preserve">600</m:t>
                        </m:r>
                        <m:r>
                          <m:t xml:space="preserve">−</m:t>
                        </m:r>
                        <m:r>
                          <m:rPr>
                            <m:lit/>
                            <m:nor/>
                          </m:rPr>
                          <m:t xml:space="preserve">12</m:t>
                        </m:r>
                        <m:r>
                          <m:t xml:space="preserve">,</m:t>
                        </m:r>
                        <m:r>
                          <m:rPr>
                            <m:lit/>
                            <m:nor/>
                          </m:rPr>
                          <m:t xml:space="preserve">000</m:t>
                        </m:r>
                      </m:num>
                      <m:den>
                        <m:r>
                          <m:rPr>
                            <m:lit/>
                            <m:nor/>
                          </m:rPr>
                          <m:t xml:space="preserve">98</m:t>
                        </m:r>
                        <m:r>
                          <m:t xml:space="preserve">,</m:t>
                        </m:r>
                        <m:r>
                          <m:rPr>
                            <m:lit/>
                            <m:nor/>
                          </m:rPr>
                          <m:t xml:space="preserve">000</m:t>
                        </m:r>
                        <m:r>
                          <m:t xml:space="preserve">−</m:t>
                        </m:r>
                        <m:r>
                          <m:rPr>
                            <m:lit/>
                            <m:nor/>
                          </m:rPr>
                          <m:t xml:space="preserve">12</m:t>
                        </m:r>
                        <m:r>
                          <m:t xml:space="preserve">,</m:t>
                        </m:r>
                        <m:r>
                          <m:rPr>
                            <m:lit/>
                            <m:nor/>
                          </m:rPr>
                          <m:t xml:space="preserve">000</m:t>
                        </m:r>
                      </m:den>
                    </m:f>
                    <m:r>
                      <m:t xml:space="preserve">(</m:t>
                    </m:r>
                    <m:r>
                      <m:t xml:space="preserve">1</m:t>
                    </m:r>
                    <m:r>
                      <m:rPr>
                        <m:lit/>
                        <m:nor/>
                      </m:rPr>
                      <m:t xml:space="preserve">.</m:t>
                    </m:r>
                    <m:r>
                      <m:t xml:space="preserve">0</m:t>
                    </m:r>
                    <m:r>
                      <m:t xml:space="preserve">−</m:t>
                    </m:r>
                    <m:r>
                      <m:t xml:space="preserve">0</m:t>
                    </m:r>
                    <m:r>
                      <m:t xml:space="preserve">)</m:t>
                    </m:r>
                    <m:r>
                      <m:t xml:space="preserve">+</m:t>
                    </m:r>
                    <m:r>
                      <m:t xml:space="preserve">0</m:t>
                    </m:r>
                    <m:r>
                      <m:t xml:space="preserve">=</m:t>
                    </m:r>
                    <m:r>
                      <m:t xml:space="preserve">0</m:t>
                    </m:r>
                    <m:r>
                      <m:rPr>
                        <m:lit/>
                        <m:nor/>
                      </m:rPr>
                      <m:t xml:space="preserve">.</m:t>
                    </m:r>
                    <m:r>
                      <m:rPr>
                        <m:lit/>
                        <m:nor/>
                      </m:rPr>
                      <m:t xml:space="preserve">716</m:t>
                    </m:r>
                  </m:oMath>
                </a14:m>
              </a:p>
            </p:txBody>
          </p:sp>
        </mc:Choice>
        <mc:Fallback>
          <p:sp>
            <p:nvSpPr>
              <p:cNvPr id="370" name="Object 4"/>
              <p:cNvSpPr txBox="1"/>
              <p:nvPr/>
            </p:nvSpPr>
            <p:spPr>
              <a:xfrm>
                <a:off x="5181480" y="2895480"/>
                <a:ext cx="2514600" cy="489240"/>
              </a:xfrm>
              <a:prstGeom prst="rect">
                <a:avLst/>
              </a:prstGeom>
              <a:blipFill>
                <a:blip r:embed="rId1"/>
                <a:stretch>
                  <a:fillRect/>
                </a:stretch>
              </a:blipFill>
            </p:spPr>
          </p:sp>
        </mc:Fallback>
      </mc:AlternateContent>
      <mc:AlternateContent>
        <mc:Choice xmlns:a14="http://schemas.microsoft.com/office/drawing/2010/main" Requires="a14">
          <p:sp>
            <p:nvSpPr>
              <p:cNvPr id="371" name="Object 5"/>
              <p:cNvSpPr txBox="1"/>
              <p:nvPr/>
            </p:nvSpPr>
            <p:spPr>
              <a:xfrm>
                <a:off x="1905120" y="1828800"/>
                <a:ext cx="5943600" cy="709560"/>
              </a:xfrm>
              <a:prstGeom prst="rect">
                <a:avLst/>
              </a:prstGeom>
            </p:spPr>
            <p:txBody>
              <a:bodyPr/>
              <a:p>
                <a14:m>
                  <m:oMath xmlns:m="http://schemas.openxmlformats.org/officeDocument/2006/math">
                    <m:r>
                      <m:t xml:space="preserve">v</m:t>
                    </m:r>
                    <m:r>
                      <m:t xml:space="preserve">'</m:t>
                    </m:r>
                    <m:r>
                      <m:t xml:space="preserve">=</m:t>
                    </m:r>
                    <m:f>
                      <m:num>
                        <m:r>
                          <m:t xml:space="preserve">v</m:t>
                        </m:r>
                        <m:r>
                          <m:t xml:space="preserve">−</m:t>
                        </m:r>
                        <m:r>
                          <m:rPr>
                            <m:lit/>
                            <m:nor/>
                          </m:rPr>
                          <m:t xml:space="preserve">min</m:t>
                        </m:r>
                        <m:r>
                          <m:t xml:space="preserve">A</m:t>
                        </m:r>
                      </m:num>
                      <m:den>
                        <m:r>
                          <m:rPr>
                            <m:lit/>
                            <m:nor/>
                          </m:rPr>
                          <m:t xml:space="preserve">max</m:t>
                        </m:r>
                        <m:r>
                          <m:t xml:space="preserve">A</m:t>
                        </m:r>
                        <m:r>
                          <m:t xml:space="preserve">−</m:t>
                        </m:r>
                        <m:r>
                          <m:rPr>
                            <m:lit/>
                            <m:nor/>
                          </m:rPr>
                          <m:t xml:space="preserve">min</m:t>
                        </m:r>
                        <m:r>
                          <m:t xml:space="preserve">A</m:t>
                        </m:r>
                      </m:den>
                    </m:f>
                    <m:r>
                      <m:t xml:space="preserve">(</m:t>
                    </m:r>
                    <m:sSub>
                      <m:e>
                        <m:r>
                          <m:rPr>
                            <m:lit/>
                            <m:nor/>
                          </m:rPr>
                          <m:t xml:space="preserve">new</m:t>
                        </m:r>
                      </m:e>
                      <m:sub>
                        <m:r>
                          <m:rPr>
                            <m:lit/>
                            <m:nor/>
                          </m:rPr>
                          <m:t xml:space="preserve">max</m:t>
                        </m:r>
                      </m:sub>
                    </m:sSub>
                    <m:r>
                      <m:t xml:space="preserve">A</m:t>
                    </m:r>
                    <m:r>
                      <m:t xml:space="preserve">−</m:t>
                    </m:r>
                    <m:sSub>
                      <m:e>
                        <m:r>
                          <m:rPr>
                            <m:lit/>
                            <m:nor/>
                          </m:rPr>
                          <m:t xml:space="preserve">new</m:t>
                        </m:r>
                      </m:e>
                      <m:sub>
                        <m:r>
                          <m:rPr>
                            <m:lit/>
                            <m:nor/>
                          </m:rPr>
                          <m:t xml:space="preserve">min</m:t>
                        </m:r>
                      </m:sub>
                    </m:sSub>
                    <m:r>
                      <m:t xml:space="preserve">A</m:t>
                    </m:r>
                    <m:r>
                      <m:t xml:space="preserve">)</m:t>
                    </m:r>
                    <m:r>
                      <m:t xml:space="preserve">+</m:t>
                    </m:r>
                    <m:sSub>
                      <m:e>
                        <m:r>
                          <m:rPr>
                            <m:lit/>
                            <m:nor/>
                          </m:rPr>
                          <m:t xml:space="preserve">new</m:t>
                        </m:r>
                      </m:e>
                      <m:sub>
                        <m:r>
                          <m:rPr>
                            <m:lit/>
                            <m:nor/>
                          </m:rPr>
                          <m:t xml:space="preserve">min</m:t>
                        </m:r>
                      </m:sub>
                    </m:sSub>
                    <m:r>
                      <m:t xml:space="preserve">A</m:t>
                    </m:r>
                  </m:oMath>
                </a14:m>
              </a:p>
            </p:txBody>
          </p:sp>
        </mc:Choice>
        <mc:Fallback>
          <p:sp>
            <p:nvSpPr>
              <p:cNvPr id="371" name="Object 5"/>
              <p:cNvSpPr txBox="1"/>
              <p:nvPr/>
            </p:nvSpPr>
            <p:spPr>
              <a:xfrm>
                <a:off x="1905120" y="1828800"/>
                <a:ext cx="5943600" cy="709560"/>
              </a:xfrm>
              <a:prstGeom prst="rect">
                <a:avLst/>
              </a:prstGeom>
              <a:blipFill>
                <a:blip r:embed="rId2"/>
                <a:stretch>
                  <a:fillRect/>
                </a:stretch>
              </a:blipFill>
            </p:spPr>
          </p:sp>
        </mc:Fallback>
      </mc:AlternateContent>
      <mc:AlternateContent>
        <mc:Choice xmlns:a14="http://schemas.microsoft.com/office/drawing/2010/main" Requires="a14">
          <p:sp>
            <p:nvSpPr>
              <p:cNvPr id="372" name="Object 6"/>
              <p:cNvSpPr txBox="1"/>
              <p:nvPr/>
            </p:nvSpPr>
            <p:spPr>
              <a:xfrm>
                <a:off x="1981080" y="3886200"/>
                <a:ext cx="1447920" cy="679320"/>
              </a:xfrm>
              <a:prstGeom prst="rect">
                <a:avLst/>
              </a:prstGeom>
            </p:spPr>
            <p:txBody>
              <a:bodyPr/>
              <a:p>
                <a14:m>
                  <m:oMath xmlns:m="http://schemas.openxmlformats.org/officeDocument/2006/math">
                    <m:r>
                      <m:t xml:space="preserve">v</m:t>
                    </m:r>
                    <m:r>
                      <m:t xml:space="preserve">'</m:t>
                    </m:r>
                    <m:r>
                      <m:t xml:space="preserve">=</m:t>
                    </m:r>
                    <m:f>
                      <m:num>
                        <m:r>
                          <m:t xml:space="preserve">v</m:t>
                        </m:r>
                        <m:r>
                          <m:t xml:space="preserve">−</m:t>
                        </m:r>
                        <m:r>
                          <m:t xml:space="preserve">μ</m:t>
                        </m:r>
                        <m:r>
                          <m:t xml:space="preserve">A</m:t>
                        </m:r>
                      </m:num>
                      <m:den>
                        <m:r>
                          <m:t xml:space="preserve">σ</m:t>
                        </m:r>
                        <m:r>
                          <m:t xml:space="preserve">A</m:t>
                        </m:r>
                      </m:den>
                    </m:f>
                  </m:oMath>
                </a14:m>
              </a:p>
            </p:txBody>
          </p:sp>
        </mc:Choice>
        <mc:Fallback>
          <p:sp>
            <p:nvSpPr>
              <p:cNvPr id="372" name="Object 6"/>
              <p:cNvSpPr txBox="1"/>
              <p:nvPr/>
            </p:nvSpPr>
            <p:spPr>
              <a:xfrm>
                <a:off x="1981080" y="3886200"/>
                <a:ext cx="1447920" cy="679320"/>
              </a:xfrm>
              <a:prstGeom prst="rect">
                <a:avLst/>
              </a:prstGeom>
              <a:blipFill>
                <a:blip r:embed="rId3"/>
                <a:stretch>
                  <a:fillRect/>
                </a:stretch>
              </a:blipFill>
            </p:spPr>
          </p:sp>
        </mc:Fallback>
      </mc:AlternateContent>
      <mc:AlternateContent>
        <mc:Choice xmlns:a14="http://schemas.microsoft.com/office/drawing/2010/main" Requires="a14">
          <p:sp>
            <p:nvSpPr>
              <p:cNvPr id="373" name="Object 7"/>
              <p:cNvSpPr txBox="1"/>
              <p:nvPr/>
            </p:nvSpPr>
            <p:spPr>
              <a:xfrm>
                <a:off x="1219320" y="5486400"/>
                <a:ext cx="1066680" cy="847800"/>
              </a:xfrm>
              <a:prstGeom prst="rect">
                <a:avLst/>
              </a:prstGeom>
            </p:spPr>
            <p:txBody>
              <a:bodyPr/>
              <a:p>
                <a14:m>
                  <m:oMath xmlns:m="http://schemas.openxmlformats.org/officeDocument/2006/math">
                    <m:r>
                      <m:t xml:space="preserve">v</m:t>
                    </m:r>
                    <m:r>
                      <m:t xml:space="preserve">'</m:t>
                    </m:r>
                    <m:r>
                      <m:t xml:space="preserve">=</m:t>
                    </m:r>
                    <m:f>
                      <m:num>
                        <m:r>
                          <m:t xml:space="preserve">v</m:t>
                        </m:r>
                      </m:num>
                      <m:den>
                        <m:sSup>
                          <m:e>
                            <m:r>
                              <m:rPr>
                                <m:lit/>
                                <m:nor/>
                              </m:rPr>
                              <m:t xml:space="preserve">10</m:t>
                            </m:r>
                          </m:e>
                          <m:sup>
                            <m:r>
                              <m:t xml:space="preserve">j</m:t>
                            </m:r>
                          </m:sup>
                        </m:sSup>
                      </m:den>
                    </m:f>
                  </m:oMath>
                </a14:m>
              </a:p>
            </p:txBody>
          </p:sp>
        </mc:Choice>
        <mc:Fallback>
          <p:sp>
            <p:nvSpPr>
              <p:cNvPr id="373" name="Object 7"/>
              <p:cNvSpPr txBox="1"/>
              <p:nvPr/>
            </p:nvSpPr>
            <p:spPr>
              <a:xfrm>
                <a:off x="1219320" y="5486400"/>
                <a:ext cx="1066680" cy="847800"/>
              </a:xfrm>
              <a:prstGeom prst="rect">
                <a:avLst/>
              </a:prstGeom>
              <a:blipFill>
                <a:blip r:embed="rId4"/>
                <a:stretch>
                  <a:fillRect/>
                </a:stretch>
              </a:blipFill>
            </p:spPr>
          </p:sp>
        </mc:Fallback>
      </mc:AlternateContent>
      <mc:AlternateContent>
        <mc:Choice xmlns:a14="http://schemas.microsoft.com/office/drawing/2010/main" Requires="a14">
          <p:sp>
            <p:nvSpPr>
              <p:cNvPr id="374" name="Object 8"/>
              <p:cNvSpPr txBox="1"/>
              <p:nvPr/>
            </p:nvSpPr>
            <p:spPr>
              <a:xfrm>
                <a:off x="4514760" y="3321000"/>
                <a:ext cx="112680" cy="214200"/>
              </a:xfrm>
              <a:prstGeom prst="rect">
                <a:avLst/>
              </a:prstGeom>
            </p:spPr>
            <p:txBody>
              <a:bodyPr/>
              <a:p>
                <a14:m>
                  <m:oMath xmlns:m="http://schemas.openxmlformats.org/officeDocument/2006/math"/>
                </a14:m>
              </a:p>
            </p:txBody>
          </p:sp>
        </mc:Choice>
        <mc:Fallback>
          <p:sp>
            <p:nvSpPr>
              <p:cNvPr id="374" name="Object 8"/>
              <p:cNvSpPr txBox="1"/>
              <p:nvPr/>
            </p:nvSpPr>
            <p:spPr>
              <a:xfrm>
                <a:off x="4514760" y="3321000"/>
                <a:ext cx="112680" cy="214200"/>
              </a:xfrm>
              <a:prstGeom prst="rect">
                <a:avLst/>
              </a:prstGeom>
              <a:blipFill>
                <a:blip r:embed="rId5"/>
                <a:stretch>
                  <a:fillRect/>
                </a:stretch>
              </a:blipFill>
            </p:spPr>
          </p:sp>
        </mc:Fallback>
      </mc:AlternateContent>
      <p:sp>
        <p:nvSpPr>
          <p:cNvPr id="375" name="Text Box 9"/>
          <p:cNvSpPr/>
          <p:nvPr/>
        </p:nvSpPr>
        <p:spPr>
          <a:xfrm>
            <a:off x="2514600" y="5638680"/>
            <a:ext cx="6126120" cy="459720"/>
          </a:xfrm>
          <a:prstGeom prst="rect">
            <a:avLst/>
          </a:prstGeom>
          <a:noFill/>
          <a:ln w="0">
            <a:noFill/>
          </a:ln>
        </p:spPr>
        <p:style>
          <a:lnRef idx="0"/>
          <a:fillRef idx="0"/>
          <a:effectRef idx="0"/>
          <a:fontRef idx="minor"/>
        </p:style>
        <p:txBody>
          <a:bodyPr lIns="90000" tIns="46800" rIns="90000" bIns="46800" anchor="t">
            <a:spAutoFit/>
          </a:bodyPr>
          <a:p>
            <a:pP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imes New Roman"/>
              </a:rPr>
              <a:t>Where </a:t>
            </a:r>
            <a:r>
              <a:rPr lang="en-US" sz="2400" b="0" i="1" u="none" strike="noStrike">
                <a:solidFill>
                  <a:srgbClr val="000000"/>
                </a:solidFill>
                <a:effectLst/>
                <a:uFillTx/>
                <a:latin typeface="Times New Roman"/>
              </a:rPr>
              <a:t>j</a:t>
            </a:r>
            <a:r>
              <a:rPr lang="en-US" sz="2000" b="0" u="none" strike="noStrike">
                <a:solidFill>
                  <a:srgbClr val="000000"/>
                </a:solidFill>
                <a:effectLst/>
                <a:uFillTx/>
                <a:latin typeface="Times New Roman"/>
              </a:rPr>
              <a:t> is the smallest integer such that Max(|</a:t>
            </a:r>
            <a:r>
              <a:rPr lang="el-GR" sz="2000" b="0" u="none" strike="noStrike">
                <a:solidFill>
                  <a:srgbClr val="000000"/>
                </a:solidFill>
                <a:effectLst/>
                <a:uFillTx/>
                <a:latin typeface="Times New Roman"/>
                <a:ea typeface="Times New Roman"/>
              </a:rPr>
              <a:t>ν</a:t>
            </a:r>
            <a:r>
              <a:rPr lang="en-US" sz="2000" b="0" u="none" strike="noStrike">
                <a:solidFill>
                  <a:srgbClr val="000000"/>
                </a:solidFill>
                <a:effectLst/>
                <a:uFillTx/>
                <a:latin typeface="Times New Roman"/>
                <a:ea typeface="Times New Roman"/>
              </a:rPr>
              <a:t>’</a:t>
            </a:r>
            <a:r>
              <a:rPr lang="en-US" sz="2000" b="0" u="none" strike="noStrike">
                <a:solidFill>
                  <a:srgbClr val="000000"/>
                </a:solidFill>
                <a:effectLst/>
                <a:uFillTx/>
                <a:latin typeface="Times New Roman"/>
              </a:rPr>
              <a:t>|) &lt; 1</a:t>
            </a:r>
            <a:endParaRPr lang="en-US" sz="2000" b="0" u="none" strike="noStrike">
              <a:solidFill>
                <a:srgbClr val="000000"/>
              </a:solidFill>
              <a:effectLst/>
              <a:uFillTx/>
              <a:latin typeface="Tahoma"/>
            </a:endParaRPr>
          </a:p>
        </p:txBody>
      </p:sp>
      <mc:AlternateContent>
        <mc:Choice xmlns:a14="http://schemas.microsoft.com/office/drawing/2010/main" Requires="a14">
          <p:sp>
            <p:nvSpPr>
              <p:cNvPr id="376" name="Object 10"/>
              <p:cNvSpPr txBox="1"/>
              <p:nvPr/>
            </p:nvSpPr>
            <p:spPr>
              <a:xfrm>
                <a:off x="5562720" y="4592520"/>
                <a:ext cx="1952640" cy="563760"/>
              </a:xfrm>
              <a:prstGeom prst="rect">
                <a:avLst/>
              </a:prstGeom>
            </p:spPr>
            <p:txBody>
              <a:bodyPr/>
              <a:p>
                <a14:m>
                  <m:oMath xmlns:m="http://schemas.openxmlformats.org/officeDocument/2006/math">
                    <m:f>
                      <m:num>
                        <m:r>
                          <m:rPr>
                            <m:lit/>
                            <m:nor/>
                          </m:rPr>
                          <m:t xml:space="preserve">73</m:t>
                        </m:r>
                        <m:r>
                          <m:t xml:space="preserve">,</m:t>
                        </m:r>
                        <m:r>
                          <m:rPr>
                            <m:lit/>
                            <m:nor/>
                          </m:rPr>
                          <m:t xml:space="preserve">600</m:t>
                        </m:r>
                        <m:r>
                          <m:t xml:space="preserve">−</m:t>
                        </m:r>
                        <m:r>
                          <m:rPr>
                            <m:lit/>
                            <m:nor/>
                          </m:rPr>
                          <m:t xml:space="preserve">54</m:t>
                        </m:r>
                        <m:r>
                          <m:t xml:space="preserve">,</m:t>
                        </m:r>
                        <m:r>
                          <m:rPr>
                            <m:lit/>
                            <m:nor/>
                          </m:rPr>
                          <m:t xml:space="preserve">000</m:t>
                        </m:r>
                      </m:num>
                      <m:den>
                        <m:r>
                          <m:rPr>
                            <m:lit/>
                            <m:nor/>
                          </m:rPr>
                          <m:t xml:space="preserve">16</m:t>
                        </m:r>
                        <m:r>
                          <m:t xml:space="preserve">,</m:t>
                        </m:r>
                        <m:r>
                          <m:rPr>
                            <m:lit/>
                            <m:nor/>
                          </m:rPr>
                          <m:t xml:space="preserve">000</m:t>
                        </m:r>
                      </m:den>
                    </m:f>
                    <m:r>
                      <m:t xml:space="preserve">=</m:t>
                    </m:r>
                    <m:r>
                      <m:t xml:space="preserve">1</m:t>
                    </m:r>
                    <m:r>
                      <m:rPr>
                        <m:lit/>
                        <m:nor/>
                      </m:rPr>
                      <m:t xml:space="preserve">.</m:t>
                    </m:r>
                    <m:r>
                      <m:rPr>
                        <m:lit/>
                        <m:nor/>
                      </m:rPr>
                      <m:t xml:space="preserve">225</m:t>
                    </m:r>
                  </m:oMath>
                </a14:m>
              </a:p>
            </p:txBody>
          </p:sp>
        </mc:Choice>
        <mc:Fallback>
          <p:sp>
            <p:nvSpPr>
              <p:cNvPr id="376" name="Object 10"/>
              <p:cNvSpPr txBox="1"/>
              <p:nvPr/>
            </p:nvSpPr>
            <p:spPr>
              <a:xfrm>
                <a:off x="5562720" y="4592520"/>
                <a:ext cx="1952640" cy="563760"/>
              </a:xfrm>
              <a:prstGeom prst="rect">
                <a:avLst/>
              </a:prstGeom>
              <a:blipFill>
                <a:blip r:embed="rId6"/>
                <a:stretch>
                  <a:fillRect/>
                </a:stretch>
              </a:blipFill>
            </p:spPr>
          </p:sp>
        </mc:Fallback>
      </mc:AlternateContent>
    </p:spTree>
  </p:cSld>
  <p:transition>
    <p:zoom dir="out"/>
  </p:transition>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B9B895DC-D923-423A-937D-84D5D3C81F11}"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378" name="PlaceHolder 1"/>
          <p:cNvSpPr>
            <a:spLocks noGrp="1"/>
          </p:cNvSpPr>
          <p:nvPr>
            <p:ph type="title"/>
          </p:nvPr>
        </p:nvSpPr>
        <p:spPr>
          <a:xfrm>
            <a:off x="152280" y="304560"/>
            <a:ext cx="876312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170981"/>
                </a:solidFill>
                <a:effectLst/>
                <a:uFillTx/>
                <a:latin typeface="Berlin Sans FB Demi"/>
              </a:rPr>
              <a:t>Discretization</a:t>
            </a:r>
            <a:r>
              <a:rPr lang="en-US" sz="3600" b="1" u="none" strike="noStrike">
                <a:solidFill>
                  <a:srgbClr val="FF0000"/>
                </a:solidFill>
                <a:effectLst/>
                <a:uFillTx/>
                <a:latin typeface="Berlin Sans FB Demi"/>
              </a:rPr>
              <a:t> </a:t>
            </a:r>
            <a:endParaRPr lang="en-US" sz="3600" b="1" u="none" strike="noStrike">
              <a:solidFill>
                <a:srgbClr val="333399"/>
              </a:solidFill>
              <a:effectLst/>
              <a:uFillTx/>
              <a:latin typeface="Berlin Sans FB Demi"/>
            </a:endParaRPr>
          </a:p>
        </p:txBody>
      </p:sp>
      <p:sp>
        <p:nvSpPr>
          <p:cNvPr id="379" name="PlaceHolder 2"/>
          <p:cNvSpPr>
            <a:spLocks noGrp="1"/>
          </p:cNvSpPr>
          <p:nvPr>
            <p:ph/>
          </p:nvPr>
        </p:nvSpPr>
        <p:spPr>
          <a:xfrm>
            <a:off x="304920" y="1219320"/>
            <a:ext cx="8534160" cy="5333760"/>
          </a:xfrm>
          <a:prstGeom prst="rect">
            <a:avLst/>
          </a:prstGeom>
          <a:noFill/>
          <a:ln w="0">
            <a:noFill/>
          </a:ln>
        </p:spPr>
        <p:txBody>
          <a:bodyPr lIns="91440" tIns="45720" rIns="91440" bIns="45720" anchor="t">
            <a:normAutofit/>
          </a:bodyPr>
          <a:p>
            <a:pPr marL="343080" indent="-343080" algn="l">
              <a:lnSpc>
                <a:spcPct val="12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Three types of attributes</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Nominal—values from an unordered set, e.g., color, profession</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Ordinal—values from an ordered set, e.g., military or academic rank </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Numeric—real numbers, e.g., integer or real numbers</a:t>
            </a:r>
            <a:endParaRPr lang="en-US" sz="2000" b="0" u="none" strike="noStrike">
              <a:solidFill>
                <a:srgbClr val="000000"/>
              </a:solidFill>
              <a:effectLst/>
              <a:uFillTx/>
              <a:latin typeface="Tahoma"/>
            </a:endParaRPr>
          </a:p>
          <a:p>
            <a:pPr marL="343080" indent="-343080" algn="l">
              <a:lnSpc>
                <a:spcPct val="12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Discretization: Divide the range of a continuous attribute into intervals</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Interval labels can then be used to replace actual data values </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Reduce data size by discretization</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Supervised vs. unsupervised</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Split (top-down) vs. merge (bottom-up)</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Discretization can be performed recursively on an attribute</a:t>
            </a:r>
            <a:endParaRPr lang="en-US" sz="2000" b="0" u="none" strike="noStrike">
              <a:solidFill>
                <a:srgbClr val="000000"/>
              </a:solidFill>
              <a:effectLst/>
              <a:uFillTx/>
              <a:latin typeface="Tahoma"/>
            </a:endParaRPr>
          </a:p>
          <a:p>
            <a:pPr marL="743040" lvl="1" indent="-285840" algn="l">
              <a:lnSpc>
                <a:spcPct val="120000"/>
              </a:lnSpc>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Prepare for further analysis, e.g., classification</a:t>
            </a:r>
            <a:endParaRPr lang="en-US" sz="2000" b="0" u="none" strike="noStrike">
              <a:solidFill>
                <a:srgbClr val="000000"/>
              </a:solidFill>
              <a:effectLst/>
              <a:uFillTx/>
              <a:latin typeface="Tahoma"/>
            </a:endParaRPr>
          </a:p>
        </p:txBody>
      </p:sp>
    </p:spTree>
  </p:cSld>
  <p:transition>
    <p:zoom dir="out"/>
  </p:transition>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06864E5-A57E-4EED-B298-D51D39482F2A}"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381" name="PlaceHolder 1"/>
          <p:cNvSpPr>
            <a:spLocks noGrp="1"/>
          </p:cNvSpPr>
          <p:nvPr>
            <p:ph type="title"/>
          </p:nvPr>
        </p:nvSpPr>
        <p:spPr>
          <a:xfrm>
            <a:off x="-360" y="228240"/>
            <a:ext cx="8991720" cy="76212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Data Discretization Methods</a:t>
            </a:r>
            <a:endParaRPr lang="en-US" sz="3600" b="1" u="none" strike="noStrike">
              <a:solidFill>
                <a:srgbClr val="333399"/>
              </a:solidFill>
              <a:effectLst/>
              <a:uFillTx/>
              <a:latin typeface="Berlin Sans FB Demi"/>
            </a:endParaRPr>
          </a:p>
        </p:txBody>
      </p:sp>
      <p:sp>
        <p:nvSpPr>
          <p:cNvPr id="382" name="PlaceHolder 2"/>
          <p:cNvSpPr>
            <a:spLocks noGrp="1"/>
          </p:cNvSpPr>
          <p:nvPr>
            <p:ph/>
          </p:nvPr>
        </p:nvSpPr>
        <p:spPr>
          <a:xfrm>
            <a:off x="304920" y="1295280"/>
            <a:ext cx="8610480" cy="5181840"/>
          </a:xfrm>
          <a:prstGeom prst="rect">
            <a:avLst/>
          </a:prstGeom>
          <a:noFill/>
          <a:ln w="0">
            <a:noFill/>
          </a:ln>
        </p:spPr>
        <p:txBody>
          <a:bodyPr lIns="91440" tIns="45720" rIns="91440" bIns="45720" anchor="t">
            <a:normAutofit/>
          </a:bodyPr>
          <a:p>
            <a:pPr marL="343080" indent="-343080" algn="l">
              <a:lnSpc>
                <a:spcPct val="12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Typical methods: All the methods can be applied recursively</a:t>
            </a:r>
            <a:endParaRPr lang="en-US" sz="2400" b="0" u="none" strike="noStrike">
              <a:solidFill>
                <a:srgbClr val="000000"/>
              </a:solidFill>
              <a:effectLst/>
              <a:uFillTx/>
              <a:latin typeface="Tahoma"/>
            </a:endParaRPr>
          </a:p>
          <a:p>
            <a:pPr marL="743040" lvl="1" indent="-285840" algn="l">
              <a:lnSpc>
                <a:spcPct val="12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FF0000"/>
                </a:solidFill>
                <a:effectLst/>
                <a:uFillTx/>
                <a:latin typeface="Tahoma"/>
              </a:rPr>
              <a:t>Binning</a:t>
            </a:r>
            <a:r>
              <a:rPr lang="en-US" sz="2400" b="0" u="none" strike="noStrike">
                <a:solidFill>
                  <a:srgbClr val="000000"/>
                </a:solidFill>
                <a:effectLst/>
                <a:uFillTx/>
                <a:latin typeface="Tahoma"/>
              </a:rPr>
              <a:t> </a:t>
            </a:r>
            <a:endParaRPr lang="en-US" sz="2400" b="0" u="none" strike="noStrike">
              <a:solidFill>
                <a:srgbClr val="000000"/>
              </a:solidFill>
              <a:effectLst/>
              <a:uFillTx/>
              <a:latin typeface="Tahoma"/>
            </a:endParaRPr>
          </a:p>
          <a:p>
            <a:pPr marL="1143000" lvl="2" indent="-228600" algn="l">
              <a:lnSpc>
                <a:spcPct val="120000"/>
              </a:lnSpc>
              <a:spcBef>
                <a:spcPts val="601"/>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Top-down split, unsupervised</a:t>
            </a:r>
            <a:endParaRPr lang="en-US" sz="2400" b="0" u="none" strike="noStrike">
              <a:solidFill>
                <a:srgbClr val="000000"/>
              </a:solidFill>
              <a:effectLst/>
              <a:uFillTx/>
              <a:latin typeface="Tahoma"/>
            </a:endParaRPr>
          </a:p>
          <a:p>
            <a:pPr marL="743040" lvl="1" indent="-285840" algn="l">
              <a:lnSpc>
                <a:spcPct val="12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FF0000"/>
                </a:solidFill>
                <a:effectLst/>
                <a:uFillTx/>
                <a:latin typeface="Tahoma"/>
              </a:rPr>
              <a:t>Histogram analysis</a:t>
            </a:r>
            <a:endParaRPr lang="en-US" sz="2400" b="0" u="none" strike="noStrike">
              <a:solidFill>
                <a:srgbClr val="000000"/>
              </a:solidFill>
              <a:effectLst/>
              <a:uFillTx/>
              <a:latin typeface="Tahoma"/>
            </a:endParaRPr>
          </a:p>
          <a:p>
            <a:pPr marL="1143000" lvl="2" indent="-228600" algn="l">
              <a:lnSpc>
                <a:spcPct val="120000"/>
              </a:lnSpc>
              <a:spcBef>
                <a:spcPts val="601"/>
              </a:spcBef>
              <a:buClr>
                <a:srgbClr val="3333CC"/>
              </a:buClr>
              <a:buSzPct val="50000"/>
              <a:buFont typeface="Wingdings" charset="2"/>
              <a:buChar char=""/>
              <a:tabLst>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Top-down split, unsupervised</a:t>
            </a:r>
            <a:endParaRPr lang="en-US" sz="2400" b="0" u="none" strike="noStrike">
              <a:solidFill>
                <a:srgbClr val="000000"/>
              </a:solidFill>
              <a:effectLst/>
              <a:uFillTx/>
              <a:latin typeface="Tahoma"/>
            </a:endParaRPr>
          </a:p>
          <a:p>
            <a:pPr marL="743040" lvl="1" indent="-285840" algn="l">
              <a:lnSpc>
                <a:spcPct val="12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FF0000"/>
                </a:solidFill>
                <a:effectLst/>
                <a:uFillTx/>
                <a:latin typeface="Tahoma"/>
              </a:rPr>
              <a:t>Clustering analysis</a:t>
            </a:r>
            <a:r>
              <a:rPr lang="en-US" sz="2400" b="0" u="none" strike="noStrike">
                <a:solidFill>
                  <a:srgbClr val="000000"/>
                </a:solidFill>
                <a:effectLst/>
                <a:uFillTx/>
                <a:latin typeface="Tahoma"/>
              </a:rPr>
              <a:t> (unsupervised, top-down split or bottom-up merge)</a:t>
            </a:r>
            <a:endParaRPr lang="en-US" sz="2400" b="0" u="none" strike="noStrike">
              <a:solidFill>
                <a:srgbClr val="000000"/>
              </a:solidFill>
              <a:effectLst/>
              <a:uFillTx/>
              <a:latin typeface="Tahoma"/>
            </a:endParaRPr>
          </a:p>
          <a:p>
            <a:pPr marL="743040" lvl="1" indent="-285840" algn="l">
              <a:lnSpc>
                <a:spcPct val="12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FF0000"/>
                </a:solidFill>
                <a:effectLst/>
                <a:uFillTx/>
                <a:latin typeface="Tahoma"/>
              </a:rPr>
              <a:t>Decision-tree analysis</a:t>
            </a:r>
            <a:r>
              <a:rPr lang="en-US" sz="2400" b="0" u="none" strike="noStrike">
                <a:solidFill>
                  <a:srgbClr val="000000"/>
                </a:solidFill>
                <a:effectLst/>
                <a:uFillTx/>
                <a:latin typeface="Tahoma"/>
              </a:rPr>
              <a:t> (supervised, top-down split)</a:t>
            </a:r>
            <a:endParaRPr lang="en-US" sz="2400" b="0" u="none" strike="noStrike">
              <a:solidFill>
                <a:srgbClr val="000000"/>
              </a:solidFill>
              <a:effectLst/>
              <a:uFillTx/>
              <a:latin typeface="Tahoma"/>
            </a:endParaRPr>
          </a:p>
          <a:p>
            <a:pPr marL="743040" lvl="1" indent="-285840" algn="l">
              <a:lnSpc>
                <a:spcPct val="12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FF0000"/>
                </a:solidFill>
                <a:effectLst/>
                <a:uFillTx/>
                <a:latin typeface="Tahoma"/>
              </a:rPr>
              <a:t>Correlation (e.g., </a:t>
            </a:r>
            <a:r>
              <a:rPr lang="en-US" sz="2400" b="0" u="none" strike="noStrike">
                <a:solidFill>
                  <a:srgbClr val="FF0000"/>
                </a:solidFill>
                <a:effectLst/>
                <a:uFillTx/>
                <a:latin typeface="Symbol"/>
                <a:ea typeface="Symbol"/>
              </a:rPr>
              <a:t></a:t>
            </a:r>
            <a:r>
              <a:rPr lang="en-US" sz="2400" b="0" u="none" strike="noStrike" baseline="30000">
                <a:solidFill>
                  <a:srgbClr val="FF0000"/>
                </a:solidFill>
                <a:effectLst/>
                <a:uFillTx/>
                <a:latin typeface="Tahoma"/>
              </a:rPr>
              <a:t>2</a:t>
            </a:r>
            <a:r>
              <a:rPr lang="en-US" sz="2400" b="0" u="none" strike="noStrike">
                <a:solidFill>
                  <a:srgbClr val="FF0000"/>
                </a:solidFill>
                <a:effectLst/>
                <a:uFillTx/>
                <a:latin typeface="Tahoma"/>
              </a:rPr>
              <a:t>) analysis</a:t>
            </a:r>
            <a:r>
              <a:rPr lang="en-US" sz="2400" b="0" u="none" strike="noStrike">
                <a:solidFill>
                  <a:srgbClr val="000000"/>
                </a:solidFill>
                <a:effectLst/>
                <a:uFillTx/>
                <a:latin typeface="Tahoma"/>
              </a:rPr>
              <a:t> (unsupervised, bottom-up merge)</a:t>
            </a:r>
            <a:endParaRPr lang="en-US" sz="2400" b="0" u="none" strike="noStrike">
              <a:solidFill>
                <a:srgbClr val="000000"/>
              </a:solidFill>
              <a:effectLst/>
              <a:uFillTx/>
              <a:latin typeface="Tahoma"/>
            </a:endParaRPr>
          </a:p>
        </p:txBody>
      </p:sp>
    </p:spTree>
  </p:cSld>
  <p:transition>
    <p:zoom dir="out"/>
  </p:transition>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A9229B0-387B-43A5-8CA3-73F5C8894E47}"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384" name="PlaceHolder 1"/>
          <p:cNvSpPr>
            <a:spLocks noGrp="1"/>
          </p:cNvSpPr>
          <p:nvPr>
            <p:ph type="title"/>
          </p:nvPr>
        </p:nvSpPr>
        <p:spPr>
          <a:xfrm>
            <a:off x="-152640" y="304560"/>
            <a:ext cx="937260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Berlin Sans FB Demi"/>
              </a:rPr>
              <a:t>Simple Discretization: Binning</a:t>
            </a:r>
            <a:endParaRPr lang="en-US" sz="3200" b="1" u="none" strike="noStrike">
              <a:solidFill>
                <a:srgbClr val="333399"/>
              </a:solidFill>
              <a:effectLst/>
              <a:uFillTx/>
              <a:latin typeface="Berlin Sans FB Demi"/>
            </a:endParaRPr>
          </a:p>
        </p:txBody>
      </p:sp>
      <p:sp>
        <p:nvSpPr>
          <p:cNvPr id="385" name="PlaceHolder 2"/>
          <p:cNvSpPr>
            <a:spLocks noGrp="1"/>
          </p:cNvSpPr>
          <p:nvPr>
            <p:ph/>
          </p:nvPr>
        </p:nvSpPr>
        <p:spPr>
          <a:xfrm>
            <a:off x="304560" y="1295280"/>
            <a:ext cx="8458200" cy="5181840"/>
          </a:xfrm>
          <a:prstGeom prst="rect">
            <a:avLst/>
          </a:prstGeom>
          <a:noFill/>
          <a:ln w="0">
            <a:noFill/>
          </a:ln>
        </p:spPr>
        <p:txBody>
          <a:bodyPr lIns="91440" tIns="45720" rIns="91440" bIns="45720" anchor="t">
            <a:normAutofit lnSpcReduction="9999"/>
          </a:bodyPr>
          <a:p>
            <a:pPr marL="343080" indent="-343080" algn="l">
              <a:lnSpc>
                <a:spcPct val="15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Tahoma"/>
              </a:rPr>
              <a:t>Equal-width</a:t>
            </a:r>
            <a:r>
              <a:rPr lang="en-US" sz="2000" b="0" u="none" strike="noStrike">
                <a:solidFill>
                  <a:srgbClr val="000000"/>
                </a:solidFill>
                <a:effectLst/>
                <a:uFillTx/>
                <a:latin typeface="Tahoma"/>
              </a:rPr>
              <a:t> (distance) partitioning</a:t>
            </a:r>
            <a:endParaRPr lang="en-US" sz="2000" b="0" u="none" strike="noStrike">
              <a:solidFill>
                <a:srgbClr val="000000"/>
              </a:solidFill>
              <a:effectLst/>
              <a:uFillTx/>
              <a:latin typeface="Tahoma"/>
            </a:endParaRPr>
          </a:p>
          <a:p>
            <a:pPr marL="743040" lvl="1" indent="-285840" algn="l">
              <a:lnSpc>
                <a:spcPct val="150000"/>
              </a:lnSpc>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Divides the range into </a:t>
            </a:r>
            <a:r>
              <a:rPr lang="en-US" sz="2000" b="0" i="1" u="none" strike="noStrike">
                <a:solidFill>
                  <a:srgbClr val="000000"/>
                </a:solidFill>
                <a:effectLst/>
                <a:uFillTx/>
                <a:latin typeface="Tahoma"/>
              </a:rPr>
              <a:t>N</a:t>
            </a:r>
            <a:r>
              <a:rPr lang="en-US" sz="2000" b="0" u="none" strike="noStrike">
                <a:solidFill>
                  <a:srgbClr val="000000"/>
                </a:solidFill>
                <a:effectLst/>
                <a:uFillTx/>
                <a:latin typeface="Tahoma"/>
              </a:rPr>
              <a:t> intervals of equal size: </a:t>
            </a:r>
            <a:r>
              <a:rPr lang="en-US" sz="2000" b="0" u="none" strike="noStrike">
                <a:solidFill>
                  <a:srgbClr val="39513E"/>
                </a:solidFill>
                <a:effectLst/>
                <a:uFillTx/>
                <a:latin typeface="Tahoma"/>
              </a:rPr>
              <a:t>uniform grid</a:t>
            </a:r>
            <a:endParaRPr lang="en-US" sz="2000" b="0" u="none" strike="noStrike">
              <a:solidFill>
                <a:srgbClr val="000000"/>
              </a:solidFill>
              <a:effectLst/>
              <a:uFillTx/>
              <a:latin typeface="Tahoma"/>
            </a:endParaRPr>
          </a:p>
          <a:p>
            <a:pPr marL="743040" lvl="1" indent="-285840" algn="l">
              <a:lnSpc>
                <a:spcPct val="150000"/>
              </a:lnSpc>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if </a:t>
            </a:r>
            <a:r>
              <a:rPr lang="en-US" sz="2000" b="0" i="1" u="none" strike="noStrike">
                <a:solidFill>
                  <a:srgbClr val="000000"/>
                </a:solidFill>
                <a:effectLst/>
                <a:uFillTx/>
                <a:latin typeface="Tahoma"/>
              </a:rPr>
              <a:t>A</a:t>
            </a:r>
            <a:r>
              <a:rPr lang="en-US" sz="2000" b="0" u="none" strike="noStrike">
                <a:solidFill>
                  <a:srgbClr val="000000"/>
                </a:solidFill>
                <a:effectLst/>
                <a:uFillTx/>
                <a:latin typeface="Tahoma"/>
              </a:rPr>
              <a:t> and </a:t>
            </a:r>
            <a:r>
              <a:rPr lang="en-US" sz="2000" b="0" i="1" u="none" strike="noStrike">
                <a:solidFill>
                  <a:srgbClr val="000000"/>
                </a:solidFill>
                <a:effectLst/>
                <a:uFillTx/>
                <a:latin typeface="Tahoma"/>
              </a:rPr>
              <a:t>B</a:t>
            </a:r>
            <a:r>
              <a:rPr lang="en-US" sz="2000" b="0" u="none" strike="noStrike">
                <a:solidFill>
                  <a:srgbClr val="000000"/>
                </a:solidFill>
                <a:effectLst/>
                <a:uFillTx/>
                <a:latin typeface="Tahoma"/>
              </a:rPr>
              <a:t> are the lowest and highest values of the attribute, the width of intervals will be: </a:t>
            </a:r>
            <a:r>
              <a:rPr lang="en-US" sz="2000" b="0" i="1" u="none" strike="noStrike">
                <a:solidFill>
                  <a:srgbClr val="000000"/>
                </a:solidFill>
                <a:effectLst/>
                <a:uFillTx/>
                <a:latin typeface="Tahoma"/>
              </a:rPr>
              <a:t>W </a:t>
            </a:r>
            <a:r>
              <a:rPr lang="en-US" sz="2000" b="0" u="none" strike="noStrike">
                <a:solidFill>
                  <a:srgbClr val="000000"/>
                </a:solidFill>
                <a:effectLst/>
                <a:uFillTx/>
                <a:latin typeface="Tahoma"/>
              </a:rPr>
              <a:t>= (</a:t>
            </a:r>
            <a:r>
              <a:rPr lang="en-US" sz="2000" b="0" i="1" u="none" strike="noStrike">
                <a:solidFill>
                  <a:srgbClr val="000000"/>
                </a:solidFill>
                <a:effectLst/>
                <a:uFillTx/>
                <a:latin typeface="Tahoma"/>
              </a:rPr>
              <a:t>B </a:t>
            </a:r>
            <a:r>
              <a:rPr lang="en-US" sz="2000" b="0" u="none" strike="noStrike">
                <a:solidFill>
                  <a:srgbClr val="000000"/>
                </a:solidFill>
                <a:effectLst/>
                <a:uFillTx/>
                <a:latin typeface="Tahoma"/>
              </a:rPr>
              <a:t>–</a:t>
            </a:r>
            <a:r>
              <a:rPr lang="en-US" sz="2000" b="0" i="1" u="none" strike="noStrike">
                <a:solidFill>
                  <a:srgbClr val="000000"/>
                </a:solidFill>
                <a:effectLst/>
                <a:uFillTx/>
                <a:latin typeface="Tahoma"/>
              </a:rPr>
              <a:t>A</a:t>
            </a:r>
            <a:r>
              <a:rPr lang="en-US" sz="2000" b="0" u="none" strike="noStrike">
                <a:solidFill>
                  <a:srgbClr val="000000"/>
                </a:solidFill>
                <a:effectLst/>
                <a:uFillTx/>
                <a:latin typeface="Tahoma"/>
              </a:rPr>
              <a:t>)/</a:t>
            </a:r>
            <a:r>
              <a:rPr lang="en-US" sz="2000" b="0" i="1" u="none" strike="noStrike">
                <a:solidFill>
                  <a:srgbClr val="000000"/>
                </a:solidFill>
                <a:effectLst/>
                <a:uFillTx/>
                <a:latin typeface="Tahoma"/>
              </a:rPr>
              <a:t>N.</a:t>
            </a:r>
            <a:endParaRPr lang="en-US" sz="2000" b="0" u="none" strike="noStrike">
              <a:solidFill>
                <a:srgbClr val="000000"/>
              </a:solidFill>
              <a:effectLst/>
              <a:uFillTx/>
              <a:latin typeface="Tahoma"/>
            </a:endParaRPr>
          </a:p>
          <a:p>
            <a:pPr marL="743040" lvl="1" indent="-285840" algn="l">
              <a:lnSpc>
                <a:spcPct val="150000"/>
              </a:lnSpc>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The most straightforward, but outliers may dominate presentation</a:t>
            </a:r>
            <a:endParaRPr lang="en-US" sz="2000" b="0" u="none" strike="noStrike">
              <a:solidFill>
                <a:srgbClr val="000000"/>
              </a:solidFill>
              <a:effectLst/>
              <a:uFillTx/>
              <a:latin typeface="Tahoma"/>
            </a:endParaRPr>
          </a:p>
          <a:p>
            <a:pPr marL="743040" lvl="1" indent="-285840" algn="l">
              <a:lnSpc>
                <a:spcPct val="150000"/>
              </a:lnSpc>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Skewed data is not handled well</a:t>
            </a:r>
            <a:endParaRPr lang="en-US" sz="2000" b="0" u="none" strike="noStrike">
              <a:solidFill>
                <a:srgbClr val="000000"/>
              </a:solidFill>
              <a:effectLst/>
              <a:uFillTx/>
              <a:latin typeface="Tahoma"/>
            </a:endParaRPr>
          </a:p>
          <a:p>
            <a:pPr marL="343080" indent="-343080" algn="l">
              <a:lnSpc>
                <a:spcPct val="15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FF0000"/>
                </a:solidFill>
                <a:effectLst/>
                <a:uFillTx/>
                <a:latin typeface="Tahoma"/>
              </a:rPr>
              <a:t>Equal-depth</a:t>
            </a:r>
            <a:r>
              <a:rPr lang="en-US" sz="2000" b="0" u="none" strike="noStrike">
                <a:solidFill>
                  <a:srgbClr val="000000"/>
                </a:solidFill>
                <a:effectLst/>
                <a:uFillTx/>
                <a:latin typeface="Tahoma"/>
              </a:rPr>
              <a:t> (frequency) partitioning</a:t>
            </a:r>
            <a:endParaRPr lang="en-US" sz="2000" b="0" u="none" strike="noStrike">
              <a:solidFill>
                <a:srgbClr val="000000"/>
              </a:solidFill>
              <a:effectLst/>
              <a:uFillTx/>
              <a:latin typeface="Tahoma"/>
            </a:endParaRPr>
          </a:p>
          <a:p>
            <a:pPr marL="743040" lvl="1" indent="-285840" algn="l">
              <a:lnSpc>
                <a:spcPct val="150000"/>
              </a:lnSpc>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Divides the range into </a:t>
            </a:r>
            <a:r>
              <a:rPr lang="en-US" sz="2000" b="0" i="1" u="none" strike="noStrike">
                <a:solidFill>
                  <a:srgbClr val="000000"/>
                </a:solidFill>
                <a:effectLst/>
                <a:uFillTx/>
                <a:latin typeface="Tahoma"/>
              </a:rPr>
              <a:t>N</a:t>
            </a:r>
            <a:r>
              <a:rPr lang="en-US" sz="2000" b="0" u="none" strike="noStrike">
                <a:solidFill>
                  <a:srgbClr val="000000"/>
                </a:solidFill>
                <a:effectLst/>
                <a:uFillTx/>
                <a:latin typeface="Tahoma"/>
              </a:rPr>
              <a:t> intervals, each containing approximately same number of samples</a:t>
            </a:r>
            <a:endParaRPr lang="en-US" sz="2000" b="0" u="none" strike="noStrike">
              <a:solidFill>
                <a:srgbClr val="000000"/>
              </a:solidFill>
              <a:effectLst/>
              <a:uFillTx/>
              <a:latin typeface="Tahoma"/>
            </a:endParaRPr>
          </a:p>
          <a:p>
            <a:pPr marL="743040" lvl="1" indent="-285840" algn="l">
              <a:lnSpc>
                <a:spcPct val="150000"/>
              </a:lnSpc>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Good data scaling</a:t>
            </a:r>
            <a:endParaRPr lang="en-US" sz="2000" b="0" u="none" strike="noStrike">
              <a:solidFill>
                <a:srgbClr val="000000"/>
              </a:solidFill>
              <a:effectLst/>
              <a:uFillTx/>
              <a:latin typeface="Tahoma"/>
            </a:endParaRPr>
          </a:p>
          <a:p>
            <a:pPr marL="743040" lvl="1" indent="-285840" algn="l">
              <a:lnSpc>
                <a:spcPct val="150000"/>
              </a:lnSpc>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Managing categorical attributes can be tricky</a:t>
            </a:r>
            <a:endParaRPr lang="en-US" sz="2000" b="0" u="none" strike="noStrike">
              <a:solidFill>
                <a:srgbClr val="000000"/>
              </a:solidFill>
              <a:effectLst/>
              <a:uFillTx/>
              <a:latin typeface="Tahoma"/>
            </a:endParaRPr>
          </a:p>
        </p:txBody>
      </p:sp>
    </p:spTree>
  </p:cSld>
  <p:transition>
    <p:zoom dir="out"/>
  </p:transition>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1F19110-39A3-49DD-9375-7E5A2D26AA3F}"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387" name="PlaceHolder 1"/>
          <p:cNvSpPr>
            <a:spLocks noGrp="1"/>
          </p:cNvSpPr>
          <p:nvPr>
            <p:ph type="title"/>
          </p:nvPr>
        </p:nvSpPr>
        <p:spPr>
          <a:xfrm>
            <a:off x="76320" y="304560"/>
            <a:ext cx="906768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Binning Methods for Data Smoothing</a:t>
            </a:r>
            <a:endParaRPr lang="en-US" sz="3600" b="1" u="none" strike="noStrike">
              <a:solidFill>
                <a:srgbClr val="333399"/>
              </a:solidFill>
              <a:effectLst/>
              <a:uFillTx/>
              <a:latin typeface="Berlin Sans FB Demi"/>
            </a:endParaRPr>
          </a:p>
        </p:txBody>
      </p:sp>
      <p:sp>
        <p:nvSpPr>
          <p:cNvPr id="388" name="PlaceHolder 2"/>
          <p:cNvSpPr>
            <a:spLocks noGrp="1"/>
          </p:cNvSpPr>
          <p:nvPr>
            <p:ph/>
          </p:nvPr>
        </p:nvSpPr>
        <p:spPr>
          <a:xfrm>
            <a:off x="456840" y="1371600"/>
            <a:ext cx="8077320" cy="5029200"/>
          </a:xfrm>
          <a:prstGeom prst="rect">
            <a:avLst/>
          </a:prstGeom>
          <a:noFill/>
          <a:ln w="0">
            <a:noFill/>
          </a:ln>
        </p:spPr>
        <p:txBody>
          <a:bodyPr lIns="91440" tIns="45720" rIns="91440" bIns="45720" anchor="t">
            <a:normAutofit fontScale="92500" lnSpcReduction="9999"/>
          </a:bodyPr>
          <a:p>
            <a:pPr marL="343080" indent="-343080" algn="l">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Sorted data for price (in dollars): 4, 8, 9, 15, 21, 21, 24, 25, 26, 28, 29, 34</a:t>
            </a:r>
            <a:endParaRPr lang="en-US" sz="2000" b="0" u="none" strike="noStrike">
              <a:solidFill>
                <a:srgbClr val="000000"/>
              </a:solidFill>
              <a:effectLst/>
              <a:uFillTx/>
              <a:latin typeface="Tahoma"/>
            </a:endParaRPr>
          </a:p>
          <a:p>
            <a:pPr marL="343080" indent="-343080" algn="l">
              <a:spcBef>
                <a:spcPts val="4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  Partition into equal-frequency (</a:t>
            </a:r>
            <a:r>
              <a:rPr lang="en-US" sz="2000" b="1" u="none" strike="noStrike">
                <a:solidFill>
                  <a:srgbClr val="000000"/>
                </a:solidFill>
                <a:effectLst/>
                <a:uFillTx/>
                <a:latin typeface="Tahoma"/>
              </a:rPr>
              <a:t>equi-depth</a:t>
            </a:r>
            <a:r>
              <a:rPr lang="en-US" sz="2000" b="0" u="none" strike="noStrike">
                <a:solidFill>
                  <a:srgbClr val="000000"/>
                </a:solidFill>
                <a:effectLst/>
                <a:uFillTx/>
                <a:latin typeface="Tahoma"/>
              </a:rPr>
              <a:t>) bins:</a:t>
            </a:r>
            <a:endParaRPr lang="en-US" sz="2000" b="0" u="none" strike="noStrike">
              <a:solidFill>
                <a:srgbClr val="000000"/>
              </a:solidFill>
              <a:effectLst/>
              <a:uFillTx/>
              <a:latin typeface="Tahoma"/>
            </a:endParaRPr>
          </a:p>
          <a:p>
            <a:pPr marL="343080" indent="-343080" algn="l">
              <a:spcBef>
                <a:spcPts val="4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      - Bin 1: 4, 8, 9, 15</a:t>
            </a:r>
            <a:endParaRPr lang="en-US" sz="2000" b="0" u="none" strike="noStrike">
              <a:solidFill>
                <a:srgbClr val="000000"/>
              </a:solidFill>
              <a:effectLst/>
              <a:uFillTx/>
              <a:latin typeface="Tahoma"/>
            </a:endParaRPr>
          </a:p>
          <a:p>
            <a:pPr marL="343080" indent="-343080" algn="l">
              <a:spcBef>
                <a:spcPts val="4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      - Bin 2: 21, 21, 24, 25</a:t>
            </a:r>
            <a:endParaRPr lang="en-US" sz="2000" b="0" u="none" strike="noStrike">
              <a:solidFill>
                <a:srgbClr val="000000"/>
              </a:solidFill>
              <a:effectLst/>
              <a:uFillTx/>
              <a:latin typeface="Tahoma"/>
            </a:endParaRPr>
          </a:p>
          <a:p>
            <a:pPr marL="343080" indent="-343080" algn="l">
              <a:spcBef>
                <a:spcPts val="4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      - Bin 3: 26, 28, 29, 34</a:t>
            </a:r>
            <a:endParaRPr lang="en-US" sz="2000" b="0" u="none" strike="noStrike">
              <a:solidFill>
                <a:srgbClr val="000000"/>
              </a:solidFill>
              <a:effectLst/>
              <a:uFillTx/>
              <a:latin typeface="Tahoma"/>
            </a:endParaRPr>
          </a:p>
          <a:p>
            <a:pPr marL="343080" indent="-343080" algn="l">
              <a:spcBef>
                <a:spcPts val="4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  Smoothing by </a:t>
            </a:r>
            <a:r>
              <a:rPr lang="en-US" sz="2000" b="1" u="none" strike="noStrike">
                <a:solidFill>
                  <a:srgbClr val="000000"/>
                </a:solidFill>
                <a:effectLst/>
                <a:uFillTx/>
                <a:latin typeface="Tahoma"/>
              </a:rPr>
              <a:t>bin means</a:t>
            </a:r>
            <a:r>
              <a:rPr lang="en-US" sz="2000" b="0" u="none" strike="noStrike">
                <a:solidFill>
                  <a:srgbClr val="000000"/>
                </a:solidFill>
                <a:effectLst/>
                <a:uFillTx/>
                <a:latin typeface="Tahoma"/>
              </a:rPr>
              <a:t>:</a:t>
            </a:r>
            <a:endParaRPr lang="en-US" sz="2000" b="0" u="none" strike="noStrike">
              <a:solidFill>
                <a:srgbClr val="000000"/>
              </a:solidFill>
              <a:effectLst/>
              <a:uFillTx/>
              <a:latin typeface="Tahoma"/>
            </a:endParaRPr>
          </a:p>
          <a:p>
            <a:pPr marL="343080" indent="-343080" algn="l">
              <a:spcBef>
                <a:spcPts val="4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      - Bin 1: 9, 9, 9, 9</a:t>
            </a:r>
            <a:endParaRPr lang="en-US" sz="2000" b="0" u="none" strike="noStrike">
              <a:solidFill>
                <a:srgbClr val="000000"/>
              </a:solidFill>
              <a:effectLst/>
              <a:uFillTx/>
              <a:latin typeface="Tahoma"/>
            </a:endParaRPr>
          </a:p>
          <a:p>
            <a:pPr marL="343080" indent="-343080" algn="l">
              <a:spcBef>
                <a:spcPts val="4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      - Bin 2: 23, 23, 23, 23</a:t>
            </a:r>
            <a:endParaRPr lang="en-US" sz="2000" b="0" u="none" strike="noStrike">
              <a:solidFill>
                <a:srgbClr val="000000"/>
              </a:solidFill>
              <a:effectLst/>
              <a:uFillTx/>
              <a:latin typeface="Tahoma"/>
            </a:endParaRPr>
          </a:p>
          <a:p>
            <a:pPr marL="343080" indent="-343080" algn="l">
              <a:spcBef>
                <a:spcPts val="4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      - Bin 3: 29, 29, 29, 29</a:t>
            </a:r>
            <a:endParaRPr lang="en-US" sz="2000" b="0" u="none" strike="noStrike">
              <a:solidFill>
                <a:srgbClr val="000000"/>
              </a:solidFill>
              <a:effectLst/>
              <a:uFillTx/>
              <a:latin typeface="Tahoma"/>
            </a:endParaRPr>
          </a:p>
          <a:p>
            <a:pPr marL="343080" indent="-343080" algn="l">
              <a:spcBef>
                <a:spcPts val="4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  Smoothing by </a:t>
            </a:r>
            <a:r>
              <a:rPr lang="en-US" sz="2000" b="1" u="none" strike="noStrike">
                <a:solidFill>
                  <a:srgbClr val="000000"/>
                </a:solidFill>
                <a:effectLst/>
                <a:uFillTx/>
                <a:latin typeface="Tahoma"/>
              </a:rPr>
              <a:t>bin boundaries</a:t>
            </a:r>
            <a:r>
              <a:rPr lang="en-US" sz="2000" b="0" u="none" strike="noStrike">
                <a:solidFill>
                  <a:srgbClr val="000000"/>
                </a:solidFill>
                <a:effectLst/>
                <a:uFillTx/>
                <a:latin typeface="Tahoma"/>
              </a:rPr>
              <a:t>:</a:t>
            </a:r>
            <a:endParaRPr lang="en-US" sz="2000" b="0" u="none" strike="noStrike">
              <a:solidFill>
                <a:srgbClr val="000000"/>
              </a:solidFill>
              <a:effectLst/>
              <a:uFillTx/>
              <a:latin typeface="Tahoma"/>
            </a:endParaRPr>
          </a:p>
          <a:p>
            <a:pPr marL="343080" indent="-343080" algn="l">
              <a:spcBef>
                <a:spcPts val="4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      - Bin 1: 4, 4, 4, 15</a:t>
            </a:r>
            <a:endParaRPr lang="en-US" sz="2000" b="0" u="none" strike="noStrike">
              <a:solidFill>
                <a:srgbClr val="000000"/>
              </a:solidFill>
              <a:effectLst/>
              <a:uFillTx/>
              <a:latin typeface="Tahoma"/>
            </a:endParaRPr>
          </a:p>
          <a:p>
            <a:pPr marL="343080" indent="-343080" algn="l">
              <a:spcBef>
                <a:spcPts val="4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      - Bin 2: 21, 21, 25, 25</a:t>
            </a:r>
            <a:endParaRPr lang="en-US" sz="2000" b="0" u="none" strike="noStrike">
              <a:solidFill>
                <a:srgbClr val="000000"/>
              </a:solidFill>
              <a:effectLst/>
              <a:uFillTx/>
              <a:latin typeface="Tahoma"/>
            </a:endParaRPr>
          </a:p>
          <a:p>
            <a:pPr marL="343080" indent="-343080" algn="l">
              <a:spcBef>
                <a:spcPts val="499"/>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      - Bin 3: 26, 26, 26, 34</a:t>
            </a:r>
            <a:endParaRPr lang="en-US" sz="2000" b="0" u="none" strike="noStrike">
              <a:solidFill>
                <a:srgbClr val="000000"/>
              </a:solidFill>
              <a:effectLst/>
              <a:uFillTx/>
              <a:latin typeface="Tahoma"/>
            </a:endParaRPr>
          </a:p>
        </p:txBody>
      </p:sp>
    </p:spTree>
  </p:cSld>
  <p:transition>
    <p:zoom dir="out"/>
  </p:transition>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C12CA1A8-EDBA-4F3D-A9F5-FFD720868205}"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390" name="PlaceHolder 1"/>
          <p:cNvSpPr>
            <a:spLocks noGrp="1"/>
          </p:cNvSpPr>
          <p:nvPr>
            <p:ph type="title"/>
          </p:nvPr>
        </p:nvSpPr>
        <p:spPr>
          <a:xfrm>
            <a:off x="228600" y="-360"/>
            <a:ext cx="8763120" cy="121932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Discretization Without Using Class Labels</a:t>
            </a:r>
            <a:br>
              <a:rPr sz="3600"/>
            </a:br>
            <a:r>
              <a:rPr lang="en-US" sz="3600" b="1" u="none" strike="noStrike">
                <a:solidFill>
                  <a:srgbClr val="333399"/>
                </a:solidFill>
                <a:effectLst/>
                <a:uFillTx/>
                <a:latin typeface="Berlin Sans FB Demi"/>
              </a:rPr>
              <a:t>(Binning vs. Clustering) </a:t>
            </a:r>
            <a:endParaRPr lang="en-US" sz="3600" b="1" u="none" strike="noStrike">
              <a:solidFill>
                <a:srgbClr val="333399"/>
              </a:solidFill>
              <a:effectLst/>
              <a:uFillTx/>
              <a:latin typeface="Berlin Sans FB Demi"/>
            </a:endParaRPr>
          </a:p>
        </p:txBody>
      </p:sp>
      <p:pic>
        <p:nvPicPr>
          <p:cNvPr id="391" name="Picture 3"/>
          <p:cNvPicPr/>
          <p:nvPr/>
        </p:nvPicPr>
        <p:blipFill>
          <a:blip r:embed="rId1"/>
          <a:stretch/>
        </p:blipFill>
        <p:spPr>
          <a:xfrm>
            <a:off x="0" y="1523880"/>
            <a:ext cx="4114800" cy="2059200"/>
          </a:xfrm>
          <a:prstGeom prst="rect">
            <a:avLst/>
          </a:prstGeom>
          <a:noFill/>
          <a:ln w="0">
            <a:noFill/>
          </a:ln>
        </p:spPr>
      </p:pic>
      <p:pic>
        <p:nvPicPr>
          <p:cNvPr id="392" name="Picture 4"/>
          <p:cNvPicPr/>
          <p:nvPr/>
        </p:nvPicPr>
        <p:blipFill>
          <a:blip r:embed="rId2"/>
          <a:stretch/>
        </p:blipFill>
        <p:spPr>
          <a:xfrm>
            <a:off x="4114800" y="1447920"/>
            <a:ext cx="4495680" cy="2160360"/>
          </a:xfrm>
          <a:prstGeom prst="rect">
            <a:avLst/>
          </a:prstGeom>
          <a:noFill/>
          <a:ln w="0">
            <a:noFill/>
          </a:ln>
        </p:spPr>
      </p:pic>
      <p:pic>
        <p:nvPicPr>
          <p:cNvPr id="393" name="Picture 5"/>
          <p:cNvPicPr/>
          <p:nvPr/>
        </p:nvPicPr>
        <p:blipFill>
          <a:blip r:embed="rId3"/>
          <a:stretch/>
        </p:blipFill>
        <p:spPr>
          <a:xfrm>
            <a:off x="0" y="3809880"/>
            <a:ext cx="4191120" cy="2187720"/>
          </a:xfrm>
          <a:prstGeom prst="rect">
            <a:avLst/>
          </a:prstGeom>
          <a:noFill/>
          <a:ln w="0">
            <a:noFill/>
          </a:ln>
        </p:spPr>
      </p:pic>
      <p:sp>
        <p:nvSpPr>
          <p:cNvPr id="394" name="Text Box 6"/>
          <p:cNvSpPr/>
          <p:nvPr/>
        </p:nvSpPr>
        <p:spPr>
          <a:xfrm>
            <a:off x="1676520" y="3657600"/>
            <a:ext cx="1600200" cy="30492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876"/>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395" name="Text Box 7"/>
          <p:cNvSpPr/>
          <p:nvPr/>
        </p:nvSpPr>
        <p:spPr>
          <a:xfrm>
            <a:off x="1447920" y="3809880"/>
            <a:ext cx="1904760" cy="30744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876"/>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Arial"/>
              </a:rPr>
              <a:t>Data</a:t>
            </a:r>
            <a:endParaRPr lang="en-US" sz="1400" b="0" u="none" strike="noStrike">
              <a:solidFill>
                <a:srgbClr val="000000"/>
              </a:solidFill>
              <a:effectLst/>
              <a:uFillTx/>
              <a:latin typeface="Tahoma"/>
            </a:endParaRPr>
          </a:p>
        </p:txBody>
      </p:sp>
      <p:sp>
        <p:nvSpPr>
          <p:cNvPr id="396" name="Text Box 8"/>
          <p:cNvSpPr/>
          <p:nvPr/>
        </p:nvSpPr>
        <p:spPr>
          <a:xfrm>
            <a:off x="4876920" y="3809880"/>
            <a:ext cx="2666880" cy="52092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876"/>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Arial"/>
              </a:rPr>
              <a:t>Equal interval width (binning)</a:t>
            </a:r>
            <a:endParaRPr lang="en-US" sz="1400" b="0" u="none" strike="noStrike">
              <a:solidFill>
                <a:srgbClr val="000000"/>
              </a:solidFill>
              <a:effectLst/>
              <a:uFillTx/>
              <a:latin typeface="Tahoma"/>
            </a:endParaRPr>
          </a:p>
        </p:txBody>
      </p:sp>
      <p:sp>
        <p:nvSpPr>
          <p:cNvPr id="397" name="Text Box 9"/>
          <p:cNvSpPr/>
          <p:nvPr/>
        </p:nvSpPr>
        <p:spPr>
          <a:xfrm>
            <a:off x="1143000" y="6172200"/>
            <a:ext cx="2514600" cy="30744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876"/>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Arial"/>
              </a:rPr>
              <a:t>Equal frequency (binning)</a:t>
            </a:r>
            <a:endParaRPr lang="en-US" sz="1400" b="0" u="none" strike="noStrike">
              <a:solidFill>
                <a:srgbClr val="000000"/>
              </a:solidFill>
              <a:effectLst/>
              <a:uFillTx/>
              <a:latin typeface="Tahoma"/>
            </a:endParaRPr>
          </a:p>
        </p:txBody>
      </p:sp>
      <p:sp>
        <p:nvSpPr>
          <p:cNvPr id="398" name="Text Box 10"/>
          <p:cNvSpPr/>
          <p:nvPr/>
        </p:nvSpPr>
        <p:spPr>
          <a:xfrm>
            <a:off x="4572000" y="6172200"/>
            <a:ext cx="3733920" cy="52092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876"/>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400" b="1" u="none" strike="noStrike">
                <a:solidFill>
                  <a:srgbClr val="000000"/>
                </a:solidFill>
                <a:effectLst/>
                <a:uFillTx/>
                <a:latin typeface="Arial"/>
              </a:rPr>
              <a:t>K-means clustering leads to better results</a:t>
            </a:r>
            <a:endParaRPr lang="en-US" sz="1400" b="0" u="none" strike="noStrike">
              <a:solidFill>
                <a:srgbClr val="000000"/>
              </a:solidFill>
              <a:effectLst/>
              <a:uFillTx/>
              <a:latin typeface="Tahoma"/>
            </a:endParaRPr>
          </a:p>
        </p:txBody>
      </p:sp>
      <p:pic>
        <p:nvPicPr>
          <p:cNvPr id="399" name="Picture 11"/>
          <p:cNvPicPr/>
          <p:nvPr/>
        </p:nvPicPr>
        <p:blipFill>
          <a:blip r:embed="rId4"/>
          <a:stretch/>
        </p:blipFill>
        <p:spPr>
          <a:xfrm>
            <a:off x="4038480" y="3768840"/>
            <a:ext cx="4876920" cy="2252520"/>
          </a:xfrm>
          <a:prstGeom prst="rect">
            <a:avLst/>
          </a:prstGeom>
          <a:noFill/>
          <a:ln w="0">
            <a:noFill/>
          </a:ln>
        </p:spPr>
      </p:pic>
    </p:spTree>
  </p:cSld>
  <p:transition>
    <p:zoom dir="out"/>
  </p:transition>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45007C4C-A608-4D8B-A028-1FCAB9B81584}"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401" name="PlaceHolder 1"/>
          <p:cNvSpPr>
            <a:spLocks noGrp="1"/>
          </p:cNvSpPr>
          <p:nvPr>
            <p:ph type="title"/>
          </p:nvPr>
        </p:nvSpPr>
        <p:spPr>
          <a:xfrm>
            <a:off x="228600" y="-360"/>
            <a:ext cx="8585280" cy="121932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1" u="none" strike="noStrike">
                <a:solidFill>
                  <a:srgbClr val="333399"/>
                </a:solidFill>
                <a:effectLst/>
                <a:uFillTx/>
                <a:latin typeface="Berlin Sans FB Demi"/>
                <a:ea typeface="Times New Roman"/>
              </a:rPr>
              <a:t>Discretization by </a:t>
            </a:r>
            <a:r>
              <a:rPr lang="en-US" sz="4000" b="1" u="none" strike="noStrike">
                <a:solidFill>
                  <a:srgbClr val="333399"/>
                </a:solidFill>
                <a:effectLst/>
                <a:uFillTx/>
                <a:latin typeface="Berlin Sans FB Demi"/>
              </a:rPr>
              <a:t>Classification &amp; Correlation Analysis</a:t>
            </a:r>
            <a:endParaRPr lang="en-US" sz="4000" b="1" u="none" strike="noStrike">
              <a:solidFill>
                <a:srgbClr val="333399"/>
              </a:solidFill>
              <a:effectLst/>
              <a:uFillTx/>
              <a:latin typeface="Berlin Sans FB Demi"/>
            </a:endParaRPr>
          </a:p>
        </p:txBody>
      </p:sp>
      <p:sp>
        <p:nvSpPr>
          <p:cNvPr id="402" name="PlaceHolder 2"/>
          <p:cNvSpPr>
            <a:spLocks noGrp="1"/>
          </p:cNvSpPr>
          <p:nvPr>
            <p:ph/>
          </p:nvPr>
        </p:nvSpPr>
        <p:spPr>
          <a:xfrm>
            <a:off x="456840" y="1295280"/>
            <a:ext cx="8394840" cy="5181840"/>
          </a:xfrm>
          <a:prstGeom prst="rect">
            <a:avLst/>
          </a:prstGeom>
          <a:noFill/>
          <a:ln w="0">
            <a:noFill/>
          </a:ln>
        </p:spPr>
        <p:txBody>
          <a:bodyPr lIns="90360" tIns="44280" rIns="90360" bIns="44280" anchor="t">
            <a:normAutofit/>
          </a:bodyPr>
          <a:p>
            <a:pPr marL="285840" indent="-285840" algn="just">
              <a:lnSpc>
                <a:spcPct val="145000"/>
              </a:lnSpc>
              <a:spcBef>
                <a:spcPts val="499"/>
              </a:spcBef>
              <a:buClr>
                <a:srgbClr val="3333CC"/>
              </a:buClr>
              <a:buSzPct val="60000"/>
              <a:buFont typeface="Wingdings" charset="2"/>
              <a:buChar char=""/>
              <a:tabLst>
                <a:tab pos="119844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ea typeface="Times New Roman"/>
              </a:rPr>
              <a:t>Classification (e.g., decision tree analysis)</a:t>
            </a:r>
            <a:endParaRPr lang="en-US" sz="2000" b="0" u="none" strike="noStrike">
              <a:solidFill>
                <a:srgbClr val="000000"/>
              </a:solidFill>
              <a:effectLst/>
              <a:uFillTx/>
              <a:latin typeface="Tahoma"/>
            </a:endParaRPr>
          </a:p>
          <a:p>
            <a:pPr marL="743040" lvl="1" indent="-285840" algn="just">
              <a:lnSpc>
                <a:spcPct val="145000"/>
              </a:lnSpc>
              <a:spcBef>
                <a:spcPts val="499"/>
              </a:spcBef>
              <a:buClr>
                <a:srgbClr val="FF0000"/>
              </a:buClr>
              <a:buSzPct val="55000"/>
              <a:buFont typeface="Wingdings" charset="2"/>
              <a:buChar char=""/>
              <a:tabLst>
                <a:tab pos="119844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Supervised: Given class labels, e.g., cancerous vs. benign</a:t>
            </a:r>
            <a:endParaRPr lang="en-US" sz="2000" b="0" u="none" strike="noStrike">
              <a:solidFill>
                <a:srgbClr val="000000"/>
              </a:solidFill>
              <a:effectLst/>
              <a:uFillTx/>
              <a:latin typeface="Tahoma"/>
            </a:endParaRPr>
          </a:p>
          <a:p>
            <a:pPr marL="743040" lvl="1" indent="-285840" algn="just">
              <a:lnSpc>
                <a:spcPct val="145000"/>
              </a:lnSpc>
              <a:spcBef>
                <a:spcPts val="499"/>
              </a:spcBef>
              <a:buClr>
                <a:srgbClr val="FF0000"/>
              </a:buClr>
              <a:buSzPct val="55000"/>
              <a:buFont typeface="Wingdings" charset="2"/>
              <a:buChar char=""/>
              <a:tabLst>
                <a:tab pos="119844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ea typeface="Times New Roman"/>
              </a:rPr>
              <a:t>Using </a:t>
            </a:r>
            <a:r>
              <a:rPr lang="en-US" sz="2000" b="0" i="1" u="none" strike="noStrike">
                <a:solidFill>
                  <a:srgbClr val="000000"/>
                </a:solidFill>
                <a:effectLst/>
                <a:uFillTx/>
                <a:latin typeface="Tahoma"/>
                <a:ea typeface="Times New Roman"/>
              </a:rPr>
              <a:t>entropy</a:t>
            </a:r>
            <a:r>
              <a:rPr lang="en-US" sz="2000" b="0" u="none" strike="noStrike">
                <a:solidFill>
                  <a:srgbClr val="000000"/>
                </a:solidFill>
                <a:effectLst/>
                <a:uFillTx/>
                <a:latin typeface="Tahoma"/>
                <a:ea typeface="Times New Roman"/>
              </a:rPr>
              <a:t> to determine split point (discretization point)</a:t>
            </a:r>
            <a:endParaRPr lang="en-US" sz="2000" b="0" u="none" strike="noStrike">
              <a:solidFill>
                <a:srgbClr val="000000"/>
              </a:solidFill>
              <a:effectLst/>
              <a:uFillTx/>
              <a:latin typeface="Tahoma"/>
            </a:endParaRPr>
          </a:p>
          <a:p>
            <a:pPr marL="743040" lvl="1" indent="-285840" algn="just">
              <a:lnSpc>
                <a:spcPct val="145000"/>
              </a:lnSpc>
              <a:spcBef>
                <a:spcPts val="499"/>
              </a:spcBef>
              <a:buClr>
                <a:srgbClr val="FF0000"/>
              </a:buClr>
              <a:buSzPct val="55000"/>
              <a:buFont typeface="Wingdings" charset="2"/>
              <a:buChar char=""/>
              <a:tabLst>
                <a:tab pos="119844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Top-down, recursive split</a:t>
            </a:r>
            <a:endParaRPr lang="en-US" sz="2000" b="0" u="none" strike="noStrike">
              <a:solidFill>
                <a:srgbClr val="000000"/>
              </a:solidFill>
              <a:effectLst/>
              <a:uFillTx/>
              <a:latin typeface="Tahoma"/>
            </a:endParaRPr>
          </a:p>
          <a:p>
            <a:pPr marL="743040" lvl="1" indent="-285840" algn="just">
              <a:lnSpc>
                <a:spcPct val="145000"/>
              </a:lnSpc>
              <a:spcBef>
                <a:spcPts val="499"/>
              </a:spcBef>
              <a:buClr>
                <a:srgbClr val="FF0000"/>
              </a:buClr>
              <a:buSzPct val="55000"/>
              <a:buFont typeface="Wingdings" charset="2"/>
              <a:buChar char=""/>
              <a:tabLst>
                <a:tab pos="119844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Details to be covered in Chapter 7</a:t>
            </a:r>
            <a:endParaRPr lang="en-US" sz="2000" b="0" u="none" strike="noStrike">
              <a:solidFill>
                <a:srgbClr val="000000"/>
              </a:solidFill>
              <a:effectLst/>
              <a:uFillTx/>
              <a:latin typeface="Tahoma"/>
            </a:endParaRPr>
          </a:p>
          <a:p>
            <a:pPr marL="285840" indent="-285840" algn="just">
              <a:lnSpc>
                <a:spcPct val="145000"/>
              </a:lnSpc>
              <a:spcBef>
                <a:spcPts val="499"/>
              </a:spcBef>
              <a:buClr>
                <a:srgbClr val="3333CC"/>
              </a:buClr>
              <a:buSzPct val="60000"/>
              <a:buFont typeface="Wingdings" charset="2"/>
              <a:buChar char=""/>
              <a:tabLst>
                <a:tab pos="119844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ea typeface="Times New Roman"/>
              </a:rPr>
              <a:t>Correlation analysis (e.g., Chi-merge: </a:t>
            </a:r>
            <a:r>
              <a:rPr lang="el-GR" sz="2000" b="0" u="none" strike="noStrike">
                <a:solidFill>
                  <a:srgbClr val="000000"/>
                </a:solidFill>
                <a:effectLst/>
                <a:uFillTx/>
                <a:latin typeface="Tahoma"/>
                <a:ea typeface="Tahoma"/>
              </a:rPr>
              <a:t>χ</a:t>
            </a:r>
            <a:r>
              <a:rPr lang="en-US" sz="2000" b="0" u="none" strike="noStrike" baseline="30000">
                <a:solidFill>
                  <a:srgbClr val="000000"/>
                </a:solidFill>
                <a:effectLst/>
                <a:uFillTx/>
                <a:latin typeface="Tahoma"/>
                <a:ea typeface="Tahoma"/>
              </a:rPr>
              <a:t>2</a:t>
            </a:r>
            <a:r>
              <a:rPr lang="en-US" sz="2000" b="0" u="none" strike="noStrike">
                <a:solidFill>
                  <a:srgbClr val="000000"/>
                </a:solidFill>
                <a:effectLst/>
                <a:uFillTx/>
                <a:latin typeface="Tahoma"/>
                <a:ea typeface="Tahoma"/>
              </a:rPr>
              <a:t>-based discretization</a:t>
            </a:r>
            <a:r>
              <a:rPr lang="en-US" sz="2000" b="0" u="none" strike="noStrike">
                <a:solidFill>
                  <a:srgbClr val="000000"/>
                </a:solidFill>
                <a:effectLst/>
                <a:uFillTx/>
                <a:latin typeface="Tahoma"/>
                <a:ea typeface="Times New Roman"/>
              </a:rPr>
              <a:t>)</a:t>
            </a:r>
            <a:endParaRPr lang="en-US" sz="2000" b="0" u="none" strike="noStrike">
              <a:solidFill>
                <a:srgbClr val="000000"/>
              </a:solidFill>
              <a:effectLst/>
              <a:uFillTx/>
              <a:latin typeface="Tahoma"/>
            </a:endParaRPr>
          </a:p>
          <a:p>
            <a:pPr marL="743040" lvl="1" indent="-285840" algn="just">
              <a:lnSpc>
                <a:spcPct val="145000"/>
              </a:lnSpc>
              <a:spcBef>
                <a:spcPts val="499"/>
              </a:spcBef>
              <a:buClr>
                <a:srgbClr val="FF0000"/>
              </a:buClr>
              <a:buSzPct val="55000"/>
              <a:buFont typeface="Wingdings" charset="2"/>
              <a:buChar char=""/>
              <a:tabLst>
                <a:tab pos="119844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ea typeface="Tahoma"/>
              </a:rPr>
              <a:t>Supervised: use class information</a:t>
            </a:r>
            <a:endParaRPr lang="en-US" sz="2000" b="0" u="none" strike="noStrike">
              <a:solidFill>
                <a:srgbClr val="000000"/>
              </a:solidFill>
              <a:effectLst/>
              <a:uFillTx/>
              <a:latin typeface="Tahoma"/>
            </a:endParaRPr>
          </a:p>
          <a:p>
            <a:pPr marL="743040" lvl="1" indent="-285840" algn="just">
              <a:lnSpc>
                <a:spcPct val="145000"/>
              </a:lnSpc>
              <a:spcBef>
                <a:spcPts val="499"/>
              </a:spcBef>
              <a:buClr>
                <a:srgbClr val="FF0000"/>
              </a:buClr>
              <a:buSzPct val="55000"/>
              <a:buFont typeface="Wingdings" charset="2"/>
              <a:buChar char=""/>
              <a:tabLst>
                <a:tab pos="119844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ea typeface="Tahoma"/>
              </a:rPr>
              <a:t>Bottom-up merge: find the best neighboring intervals (those having similar distributions of classes, i.e., low </a:t>
            </a:r>
            <a:r>
              <a:rPr lang="el-GR" sz="2000" b="0" u="none" strike="noStrike">
                <a:solidFill>
                  <a:srgbClr val="000000"/>
                </a:solidFill>
                <a:effectLst/>
                <a:uFillTx/>
                <a:latin typeface="Tahoma"/>
                <a:ea typeface="Tahoma"/>
              </a:rPr>
              <a:t>χ</a:t>
            </a:r>
            <a:r>
              <a:rPr lang="en-US" sz="2000" b="0" u="none" strike="noStrike" baseline="30000">
                <a:solidFill>
                  <a:srgbClr val="000000"/>
                </a:solidFill>
                <a:effectLst/>
                <a:uFillTx/>
                <a:latin typeface="Tahoma"/>
                <a:ea typeface="Tahoma"/>
              </a:rPr>
              <a:t>2</a:t>
            </a:r>
            <a:r>
              <a:rPr lang="en-US" sz="2000" b="0" u="none" strike="noStrike">
                <a:solidFill>
                  <a:srgbClr val="000000"/>
                </a:solidFill>
                <a:effectLst/>
                <a:uFillTx/>
                <a:latin typeface="Tahoma"/>
                <a:ea typeface="Tahoma"/>
              </a:rPr>
              <a:t> values) to merge</a:t>
            </a:r>
            <a:endParaRPr lang="en-US" sz="2000" b="0" u="none" strike="noStrike">
              <a:solidFill>
                <a:srgbClr val="000000"/>
              </a:solidFill>
              <a:effectLst/>
              <a:uFillTx/>
              <a:latin typeface="Tahoma"/>
            </a:endParaRPr>
          </a:p>
          <a:p>
            <a:pPr marL="743040" lvl="1" indent="-285840" algn="just">
              <a:lnSpc>
                <a:spcPct val="145000"/>
              </a:lnSpc>
              <a:spcBef>
                <a:spcPts val="499"/>
              </a:spcBef>
              <a:buClr>
                <a:srgbClr val="FF0000"/>
              </a:buClr>
              <a:buSzPct val="55000"/>
              <a:buFont typeface="Wingdings" charset="2"/>
              <a:buChar char=""/>
              <a:tabLst>
                <a:tab pos="119844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ea typeface="Tahoma"/>
              </a:rPr>
              <a:t>Merge performed recursively, until a predefined stopping condition</a:t>
            </a:r>
            <a:endParaRPr lang="en-US" sz="2000" b="0" u="none" strike="noStrike">
              <a:solidFill>
                <a:srgbClr val="000000"/>
              </a:solidFill>
              <a:effectLst/>
              <a:uFillTx/>
              <a:latin typeface="Tahoma"/>
            </a:endParaRPr>
          </a:p>
        </p:txBody>
      </p:sp>
      <p:sp>
        <p:nvSpPr>
          <p:cNvPr id="403" name="Text Box 4"/>
          <p:cNvSpPr/>
          <p:nvPr/>
        </p:nvSpPr>
        <p:spPr>
          <a:xfrm>
            <a:off x="1676520" y="3657600"/>
            <a:ext cx="1600200" cy="304920"/>
          </a:xfrm>
          <a:prstGeom prst="rect">
            <a:avLst/>
          </a:prstGeom>
          <a:noFill/>
          <a:ln w="0">
            <a:noFill/>
          </a:ln>
        </p:spPr>
        <p:style>
          <a:lnRef idx="0"/>
          <a:fillRef idx="0"/>
          <a:effectRef idx="0"/>
          <a:fontRef idx="minor"/>
        </p:style>
        <p:txBody>
          <a:bodyPr lIns="90000" tIns="46800" rIns="90000" bIns="46800" anchor="t">
            <a:spAutoFit/>
          </a:bodyPr>
          <a:p>
            <a:pPr>
              <a:lnSpc>
                <a:spcPct val="100000"/>
              </a:lnSpc>
              <a:spcBef>
                <a:spcPts val="876"/>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
        <p:nvSpPr>
          <p:cNvPr id="404" name="Rectangle 7"/>
          <p:cNvSpPr/>
          <p:nvPr/>
        </p:nvSpPr>
        <p:spPr>
          <a:xfrm>
            <a:off x="1717560" y="5985000"/>
            <a:ext cx="184320" cy="304560"/>
          </a:xfrm>
          <a:prstGeom prst="rect">
            <a:avLst/>
          </a:prstGeom>
          <a:noFill/>
          <a:ln w="0">
            <a:noFill/>
          </a:ln>
        </p:spPr>
        <p:style>
          <a:lnRef idx="0"/>
          <a:fillRef idx="0"/>
          <a:effectRef idx="0"/>
          <a:fontRef idx="minor"/>
        </p:style>
        <p:txBody>
          <a:bodyPr wrap="none" lIns="90000" tIns="46800" rIns="90000" bIns="46800" anchor="t">
            <a:spAutoFit/>
          </a:bodyPr>
          <a:p>
            <a:pPr>
              <a:lnSpc>
                <a:spcPct val="100000"/>
              </a:lnSpc>
              <a:spcBef>
                <a:spcPts val="876"/>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Tree>
  </p:cSld>
  <p:transition>
    <p:zoom dir="out"/>
  </p:transition>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A84EDB2B-5F35-4548-A44E-614FBA3EDBA1}"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406" name="PlaceHolder 1"/>
          <p:cNvSpPr>
            <a:spLocks noGrp="1"/>
          </p:cNvSpPr>
          <p:nvPr>
            <p:ph type="title"/>
          </p:nvPr>
        </p:nvSpPr>
        <p:spPr>
          <a:xfrm>
            <a:off x="152280" y="304560"/>
            <a:ext cx="876312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170981"/>
                </a:solidFill>
                <a:effectLst/>
                <a:uFillTx/>
                <a:latin typeface="Berlin Sans FB Demi"/>
              </a:rPr>
              <a:t>Concept Hierarchy Generation</a:t>
            </a:r>
            <a:endParaRPr lang="en-US" sz="3600" b="1" u="none" strike="noStrike">
              <a:solidFill>
                <a:srgbClr val="333399"/>
              </a:solidFill>
              <a:effectLst/>
              <a:uFillTx/>
              <a:latin typeface="Berlin Sans FB Demi"/>
            </a:endParaRPr>
          </a:p>
        </p:txBody>
      </p:sp>
      <p:sp>
        <p:nvSpPr>
          <p:cNvPr id="407" name="PlaceHolder 2"/>
          <p:cNvSpPr>
            <a:spLocks noGrp="1"/>
          </p:cNvSpPr>
          <p:nvPr>
            <p:ph/>
          </p:nvPr>
        </p:nvSpPr>
        <p:spPr>
          <a:xfrm>
            <a:off x="304920" y="1371600"/>
            <a:ext cx="8534160" cy="5105520"/>
          </a:xfrm>
          <a:prstGeom prst="rect">
            <a:avLst/>
          </a:prstGeom>
          <a:noFill/>
          <a:ln w="0">
            <a:noFill/>
          </a:ln>
        </p:spPr>
        <p:txBody>
          <a:bodyPr lIns="91440" tIns="45720" rIns="91440" bIns="45720" anchor="t">
            <a:normAutofit/>
          </a:bodyPr>
          <a:p>
            <a:pPr marL="343080" indent="-343080" algn="l">
              <a:lnSpc>
                <a:spcPct val="12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ahoma"/>
              </a:rPr>
              <a:t>Concept hierarchy</a:t>
            </a:r>
            <a:r>
              <a:rPr lang="en-US" sz="2000" b="0" u="none" strike="noStrike">
                <a:solidFill>
                  <a:srgbClr val="000000"/>
                </a:solidFill>
                <a:effectLst/>
                <a:uFillTx/>
                <a:latin typeface="Tahoma"/>
              </a:rPr>
              <a:t> organizes concepts (i.e., attribute values) hierarchically and is usually associated with each dimension in a data warehouse</a:t>
            </a:r>
            <a:endParaRPr lang="en-US" sz="2000" b="0" u="none" strike="noStrike">
              <a:solidFill>
                <a:srgbClr val="000000"/>
              </a:solidFill>
              <a:effectLst/>
              <a:uFillTx/>
              <a:latin typeface="Tahoma"/>
            </a:endParaRPr>
          </a:p>
          <a:p>
            <a:pPr marL="343080" indent="-343080" algn="l">
              <a:lnSpc>
                <a:spcPct val="12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Concept hierarchies facilitate </a:t>
            </a:r>
            <a:r>
              <a:rPr lang="en-US" sz="2000" b="0" u="sng" strike="noStrike">
                <a:solidFill>
                  <a:srgbClr val="000000"/>
                </a:solidFill>
                <a:effectLst/>
                <a:uFillTx/>
                <a:latin typeface="Tahoma"/>
              </a:rPr>
              <a:t>drilling and rolling</a:t>
            </a:r>
            <a:r>
              <a:rPr lang="en-US" sz="2000" b="0" u="none" strike="noStrike">
                <a:solidFill>
                  <a:srgbClr val="000000"/>
                </a:solidFill>
                <a:effectLst/>
                <a:uFillTx/>
                <a:latin typeface="Tahoma"/>
              </a:rPr>
              <a:t> in data warehouses to view data in multiple granularity</a:t>
            </a:r>
            <a:endParaRPr lang="en-US" sz="2000" b="0" u="none" strike="noStrike">
              <a:solidFill>
                <a:srgbClr val="000000"/>
              </a:solidFill>
              <a:effectLst/>
              <a:uFillTx/>
              <a:latin typeface="Tahoma"/>
            </a:endParaRPr>
          </a:p>
          <a:p>
            <a:pPr marL="343080" indent="-343080" algn="l">
              <a:lnSpc>
                <a:spcPct val="12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Concept hierarchy formation: Recursively reduce the data by collecting and replacing low level concepts (such as numeric values for </a:t>
            </a:r>
            <a:r>
              <a:rPr lang="en-US" sz="2000" b="0" i="1" u="none" strike="noStrike">
                <a:solidFill>
                  <a:srgbClr val="000000"/>
                </a:solidFill>
                <a:effectLst/>
                <a:uFillTx/>
                <a:latin typeface="Tahoma"/>
              </a:rPr>
              <a:t>age</a:t>
            </a:r>
            <a:r>
              <a:rPr lang="en-US" sz="2000" b="0" u="none" strike="noStrike">
                <a:solidFill>
                  <a:srgbClr val="000000"/>
                </a:solidFill>
                <a:effectLst/>
                <a:uFillTx/>
                <a:latin typeface="Tahoma"/>
              </a:rPr>
              <a:t>) by higher level concepts (such as </a:t>
            </a:r>
            <a:r>
              <a:rPr lang="en-US" sz="2000" b="0" i="1" u="none" strike="noStrike">
                <a:solidFill>
                  <a:srgbClr val="000000"/>
                </a:solidFill>
                <a:effectLst/>
                <a:uFillTx/>
                <a:latin typeface="Tahoma"/>
              </a:rPr>
              <a:t>youth, adult</a:t>
            </a:r>
            <a:r>
              <a:rPr lang="en-US" sz="2000" b="0" u="none" strike="noStrike">
                <a:solidFill>
                  <a:srgbClr val="000000"/>
                </a:solidFill>
                <a:effectLst/>
                <a:uFillTx/>
                <a:latin typeface="Tahoma"/>
              </a:rPr>
              <a:t>, or </a:t>
            </a:r>
            <a:r>
              <a:rPr lang="en-US" sz="2000" b="0" i="1" u="none" strike="noStrike">
                <a:solidFill>
                  <a:srgbClr val="000000"/>
                </a:solidFill>
                <a:effectLst/>
                <a:uFillTx/>
                <a:latin typeface="Tahoma"/>
              </a:rPr>
              <a:t>senior</a:t>
            </a:r>
            <a:r>
              <a:rPr lang="en-US" sz="2000" b="0" u="none" strike="noStrike">
                <a:solidFill>
                  <a:srgbClr val="000000"/>
                </a:solidFill>
                <a:effectLst/>
                <a:uFillTx/>
                <a:latin typeface="Tahoma"/>
              </a:rPr>
              <a:t>)</a:t>
            </a:r>
            <a:endParaRPr lang="en-US" sz="2000" b="0" u="none" strike="noStrike">
              <a:solidFill>
                <a:srgbClr val="000000"/>
              </a:solidFill>
              <a:effectLst/>
              <a:uFillTx/>
              <a:latin typeface="Tahoma"/>
            </a:endParaRPr>
          </a:p>
          <a:p>
            <a:pPr marL="343080" indent="-343080" algn="l">
              <a:lnSpc>
                <a:spcPct val="12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Concept hierarchies can be explicitly specified by domain experts and/or data warehouse designers</a:t>
            </a:r>
            <a:endParaRPr lang="en-US" sz="2000" b="0" u="none" strike="noStrike">
              <a:solidFill>
                <a:srgbClr val="000000"/>
              </a:solidFill>
              <a:effectLst/>
              <a:uFillTx/>
              <a:latin typeface="Tahoma"/>
            </a:endParaRPr>
          </a:p>
          <a:p>
            <a:pPr marL="343080" indent="-343080" algn="l">
              <a:lnSpc>
                <a:spcPct val="120000"/>
              </a:lnSpc>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Concept hierarchy can be automatically formed for both numeric and nominal data.  For numeric data, use discretization methods shown.</a:t>
            </a:r>
            <a:endParaRPr lang="en-US" sz="2000" b="0" u="none" strike="noStrike">
              <a:solidFill>
                <a:srgbClr val="000000"/>
              </a:solidFill>
              <a:effectLst/>
              <a:uFillTx/>
              <a:latin typeface="Tahoma"/>
            </a:endParaRPr>
          </a:p>
          <a:p>
            <a:pPr marL="343080" indent="0" algn="l">
              <a:lnSpc>
                <a:spcPct val="120000"/>
              </a:lnSpc>
              <a:spcBef>
                <a:spcPts val="499"/>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000" b="0" u="none" strike="noStrike">
              <a:solidFill>
                <a:srgbClr val="000000"/>
              </a:solidFill>
              <a:effectLst/>
              <a:uFillTx/>
              <a:latin typeface="Tahoma"/>
            </a:endParaRPr>
          </a:p>
        </p:txBody>
      </p:sp>
    </p:spTree>
  </p:cSld>
  <p:transition>
    <p:zoom dir="out"/>
  </p:transition>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D58A7D33-419F-4CD2-B408-8AFC002B30F8}"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409" name="PlaceHolder 1"/>
          <p:cNvSpPr>
            <a:spLocks noGrp="1"/>
          </p:cNvSpPr>
          <p:nvPr>
            <p:ph type="title"/>
          </p:nvPr>
        </p:nvSpPr>
        <p:spPr>
          <a:xfrm>
            <a:off x="-152280" y="228600"/>
            <a:ext cx="9448560" cy="91440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Berlin Sans FB Demi"/>
              </a:rPr>
              <a:t>Concept Hierarchy Generation </a:t>
            </a:r>
            <a:br>
              <a:rPr sz="3200"/>
            </a:br>
            <a:r>
              <a:rPr lang="en-US" sz="3200" b="1" u="none" strike="noStrike">
                <a:solidFill>
                  <a:srgbClr val="333399"/>
                </a:solidFill>
                <a:effectLst/>
                <a:uFillTx/>
                <a:latin typeface="Berlin Sans FB Demi"/>
              </a:rPr>
              <a:t>for Nominal Data</a:t>
            </a:r>
            <a:endParaRPr lang="en-US" sz="3200" b="1" u="none" strike="noStrike">
              <a:solidFill>
                <a:srgbClr val="333399"/>
              </a:solidFill>
              <a:effectLst/>
              <a:uFillTx/>
              <a:latin typeface="Berlin Sans FB Demi"/>
            </a:endParaRPr>
          </a:p>
        </p:txBody>
      </p:sp>
      <p:sp>
        <p:nvSpPr>
          <p:cNvPr id="410" name="PlaceHolder 2"/>
          <p:cNvSpPr>
            <a:spLocks noGrp="1"/>
          </p:cNvSpPr>
          <p:nvPr>
            <p:ph/>
          </p:nvPr>
        </p:nvSpPr>
        <p:spPr>
          <a:xfrm>
            <a:off x="304560" y="1371600"/>
            <a:ext cx="8458200" cy="5105520"/>
          </a:xfrm>
          <a:prstGeom prst="rect">
            <a:avLst/>
          </a:prstGeom>
          <a:noFill/>
          <a:ln w="0">
            <a:noFill/>
          </a:ln>
        </p:spPr>
        <p:txBody>
          <a:bodyPr lIns="91440" tIns="45720" rIns="91440" bIns="45720" anchor="t">
            <a:normAutofit/>
          </a:bodyPr>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Specification of a partial/total ordering of attributes explicitly at the schema level by users or experts</a:t>
            </a:r>
            <a:endParaRPr lang="en-US" sz="2400" b="0" u="none" strike="noStrike">
              <a:solidFill>
                <a:srgbClr val="000000"/>
              </a:solidFill>
              <a:effectLst/>
              <a:uFillTx/>
              <a:latin typeface="Tahoma"/>
            </a:endParaRPr>
          </a:p>
          <a:p>
            <a:pPr marL="743040" lvl="1" indent="-285840" algn="l">
              <a:lnSpc>
                <a:spcPct val="11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i="1" u="none" strike="noStrike">
                <a:solidFill>
                  <a:srgbClr val="000000"/>
                </a:solidFill>
                <a:effectLst/>
                <a:uFillTx/>
                <a:latin typeface="Tahoma"/>
              </a:rPr>
              <a:t>street</a:t>
            </a:r>
            <a:r>
              <a:rPr lang="en-US" sz="2400" b="0" u="none" strike="noStrike">
                <a:solidFill>
                  <a:srgbClr val="000000"/>
                </a:solidFill>
                <a:effectLst/>
                <a:uFillTx/>
                <a:latin typeface="Tahoma"/>
              </a:rPr>
              <a:t> &lt; </a:t>
            </a:r>
            <a:r>
              <a:rPr lang="en-US" sz="2400" b="0" i="1" u="none" strike="noStrike">
                <a:solidFill>
                  <a:srgbClr val="000000"/>
                </a:solidFill>
                <a:effectLst/>
                <a:uFillTx/>
                <a:latin typeface="Tahoma"/>
              </a:rPr>
              <a:t>city</a:t>
            </a:r>
            <a:r>
              <a:rPr lang="en-US" sz="2400" b="0" u="none" strike="noStrike">
                <a:solidFill>
                  <a:srgbClr val="000000"/>
                </a:solidFill>
                <a:effectLst/>
                <a:uFillTx/>
                <a:latin typeface="Tahoma"/>
              </a:rPr>
              <a:t> &lt; </a:t>
            </a:r>
            <a:r>
              <a:rPr lang="en-US" sz="2400" b="0" i="1" u="none" strike="noStrike">
                <a:solidFill>
                  <a:srgbClr val="000000"/>
                </a:solidFill>
                <a:effectLst/>
                <a:uFillTx/>
                <a:latin typeface="Tahoma"/>
              </a:rPr>
              <a:t>state</a:t>
            </a:r>
            <a:r>
              <a:rPr lang="en-US" sz="2400" b="0" u="none" strike="noStrike">
                <a:solidFill>
                  <a:srgbClr val="000000"/>
                </a:solidFill>
                <a:effectLst/>
                <a:uFillTx/>
                <a:latin typeface="Tahoma"/>
              </a:rPr>
              <a:t> &lt; </a:t>
            </a:r>
            <a:r>
              <a:rPr lang="en-US" sz="2400" b="0" i="1" u="none" strike="noStrike">
                <a:solidFill>
                  <a:srgbClr val="000000"/>
                </a:solidFill>
                <a:effectLst/>
                <a:uFillTx/>
                <a:latin typeface="Tahoma"/>
              </a:rPr>
              <a:t>country</a:t>
            </a: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Specification of a hierarchy for a set of values by explicit data grouping</a:t>
            </a:r>
            <a:endParaRPr lang="en-US" sz="2400" b="0" u="none" strike="noStrike">
              <a:solidFill>
                <a:srgbClr val="000000"/>
              </a:solidFill>
              <a:effectLst/>
              <a:uFillTx/>
              <a:latin typeface="Tahoma"/>
            </a:endParaRPr>
          </a:p>
          <a:p>
            <a:pPr marL="743040" lvl="1" indent="-285840" algn="l">
              <a:lnSpc>
                <a:spcPct val="11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{Urbana, Champaign, Chicago} &lt; Illinois</a:t>
            </a: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Specification of only a partial set of attributes</a:t>
            </a:r>
            <a:endParaRPr lang="en-US" sz="2400" b="0" u="none" strike="noStrike">
              <a:solidFill>
                <a:srgbClr val="000000"/>
              </a:solidFill>
              <a:effectLst/>
              <a:uFillTx/>
              <a:latin typeface="Tahoma"/>
            </a:endParaRPr>
          </a:p>
          <a:p>
            <a:pPr marL="743040" lvl="1" indent="-285840" algn="l">
              <a:lnSpc>
                <a:spcPct val="11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E.g., only </a:t>
            </a:r>
            <a:r>
              <a:rPr lang="en-US" sz="2400" b="0" i="1" u="none" strike="noStrike">
                <a:solidFill>
                  <a:srgbClr val="000000"/>
                </a:solidFill>
                <a:effectLst/>
                <a:uFillTx/>
                <a:latin typeface="Tahoma"/>
              </a:rPr>
              <a:t>street</a:t>
            </a:r>
            <a:r>
              <a:rPr lang="en-US" sz="2400" b="0" u="none" strike="noStrike">
                <a:solidFill>
                  <a:srgbClr val="000000"/>
                </a:solidFill>
                <a:effectLst/>
                <a:uFillTx/>
                <a:latin typeface="Tahoma"/>
              </a:rPr>
              <a:t> &lt; </a:t>
            </a:r>
            <a:r>
              <a:rPr lang="en-US" sz="2400" b="0" i="1" u="none" strike="noStrike">
                <a:solidFill>
                  <a:srgbClr val="000000"/>
                </a:solidFill>
                <a:effectLst/>
                <a:uFillTx/>
                <a:latin typeface="Tahoma"/>
              </a:rPr>
              <a:t>city</a:t>
            </a:r>
            <a:r>
              <a:rPr lang="en-US" sz="2400" b="0" u="none" strike="noStrike">
                <a:solidFill>
                  <a:srgbClr val="000000"/>
                </a:solidFill>
                <a:effectLst/>
                <a:uFillTx/>
                <a:latin typeface="Tahoma"/>
              </a:rPr>
              <a:t>, not others</a:t>
            </a:r>
            <a:endParaRPr lang="en-US" sz="2400" b="0" u="none" strike="noStrike">
              <a:solidFill>
                <a:srgbClr val="000000"/>
              </a:solidFill>
              <a:effectLst/>
              <a:uFillTx/>
              <a:latin typeface="Tahoma"/>
            </a:endParaRPr>
          </a:p>
          <a:p>
            <a:pPr marL="343080" indent="-343080" algn="l">
              <a:lnSpc>
                <a:spcPct val="11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Automatic generation of hierarchies (or attribute levels) by the analysis of the number of distinct values</a:t>
            </a:r>
            <a:endParaRPr lang="en-US" sz="2400" b="0" u="none" strike="noStrike">
              <a:solidFill>
                <a:srgbClr val="000000"/>
              </a:solidFill>
              <a:effectLst/>
              <a:uFillTx/>
              <a:latin typeface="Tahoma"/>
            </a:endParaRPr>
          </a:p>
          <a:p>
            <a:pPr marL="743040" lvl="1" indent="-285840" algn="l">
              <a:lnSpc>
                <a:spcPct val="11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E.g., for a set of attributes: {</a:t>
            </a:r>
            <a:r>
              <a:rPr lang="en-US" sz="2400" b="0" i="1" u="none" strike="noStrike">
                <a:solidFill>
                  <a:srgbClr val="000000"/>
                </a:solidFill>
                <a:effectLst/>
                <a:uFillTx/>
                <a:latin typeface="Tahoma"/>
              </a:rPr>
              <a:t>street, city, state, country</a:t>
            </a:r>
            <a:r>
              <a:rPr lang="en-US" sz="2400" b="0" u="none" strike="noStrike">
                <a:solidFill>
                  <a:srgbClr val="000000"/>
                </a:solidFill>
                <a:effectLst/>
                <a:uFillTx/>
                <a:latin typeface="Tahoma"/>
              </a:rPr>
              <a:t>}</a:t>
            </a:r>
            <a:endParaRPr lang="en-US" sz="2400" b="0" u="none" strike="noStrike">
              <a:solidFill>
                <a:srgbClr val="000000"/>
              </a:solidFill>
              <a:effectLst/>
              <a:uFillTx/>
              <a:latin typeface="Tahoma"/>
            </a:endParaRPr>
          </a:p>
        </p:txBody>
      </p:sp>
    </p:spTree>
  </p:cSld>
  <p:transition>
    <p:zoom dir="out"/>
  </p:transition>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149F48E-AD45-4FC1-BB39-AE0D7BC4BBDD}"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412" name="PlaceHolder 1"/>
          <p:cNvSpPr>
            <a:spLocks noGrp="1"/>
          </p:cNvSpPr>
          <p:nvPr>
            <p:ph type="title"/>
          </p:nvPr>
        </p:nvSpPr>
        <p:spPr>
          <a:xfrm>
            <a:off x="0" y="304560"/>
            <a:ext cx="9144000" cy="68580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Berlin Sans FB Demi"/>
              </a:rPr>
              <a:t>Automatic Concept Hierarchy Generation</a:t>
            </a:r>
            <a:endParaRPr lang="en-US" sz="3200" b="1" u="none" strike="noStrike">
              <a:solidFill>
                <a:srgbClr val="333399"/>
              </a:solidFill>
              <a:effectLst/>
              <a:uFillTx/>
              <a:latin typeface="Berlin Sans FB Demi"/>
            </a:endParaRPr>
          </a:p>
        </p:txBody>
      </p:sp>
      <p:sp>
        <p:nvSpPr>
          <p:cNvPr id="413" name="PlaceHolder 2"/>
          <p:cNvSpPr>
            <a:spLocks noGrp="1"/>
          </p:cNvSpPr>
          <p:nvPr>
            <p:ph/>
          </p:nvPr>
        </p:nvSpPr>
        <p:spPr>
          <a:xfrm>
            <a:off x="380520" y="1295280"/>
            <a:ext cx="8077320" cy="2286000"/>
          </a:xfrm>
          <a:prstGeom prst="rect">
            <a:avLst/>
          </a:prstGeom>
          <a:noFill/>
          <a:ln w="0">
            <a:noFill/>
          </a:ln>
        </p:spPr>
        <p:txBody>
          <a:bodyPr lIns="91440" tIns="45720" rIns="91440" bIns="45720" anchor="t">
            <a:normAutofit/>
          </a:bodyPr>
          <a:p>
            <a:pPr marL="343080" indent="-343080" algn="l">
              <a:lnSpc>
                <a:spcPct val="9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Calibri"/>
                <a:ea typeface="Calibri"/>
              </a:rPr>
              <a:t>Some hierarchies can be automatically generated based on the analysis of the number of distinct values per attribute in the data set </a:t>
            </a:r>
            <a:endParaRPr lang="en-US" sz="2400" b="0" u="none" strike="noStrike">
              <a:solidFill>
                <a:srgbClr val="000000"/>
              </a:solidFill>
              <a:effectLst/>
              <a:uFillTx/>
              <a:latin typeface="Tahoma"/>
            </a:endParaRPr>
          </a:p>
          <a:p>
            <a:pPr marL="743040" lvl="1" indent="-285840" algn="l">
              <a:lnSpc>
                <a:spcPct val="9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Calibri"/>
                <a:ea typeface="Calibri"/>
              </a:rPr>
              <a:t>The attribute with the most distinct values is placed at the lowest level of the hierarchy</a:t>
            </a:r>
            <a:endParaRPr lang="en-US" sz="2400" b="0" u="none" strike="noStrike">
              <a:solidFill>
                <a:srgbClr val="000000"/>
              </a:solidFill>
              <a:effectLst/>
              <a:uFillTx/>
              <a:latin typeface="Tahoma"/>
            </a:endParaRPr>
          </a:p>
          <a:p>
            <a:pPr marL="743040" lvl="1" indent="-285840" algn="l">
              <a:lnSpc>
                <a:spcPct val="9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Calibri"/>
                <a:ea typeface="Calibri"/>
              </a:rPr>
              <a:t>Exceptions, e.g., weekday, month, quarter, year</a:t>
            </a:r>
            <a:endParaRPr lang="en-US" sz="2400" b="0" u="none" strike="noStrike">
              <a:solidFill>
                <a:srgbClr val="000000"/>
              </a:solidFill>
              <a:effectLst/>
              <a:uFillTx/>
              <a:latin typeface="Tahoma"/>
            </a:endParaRPr>
          </a:p>
        </p:txBody>
      </p:sp>
      <p:grpSp>
        <p:nvGrpSpPr>
          <p:cNvPr id="414" name="Group 4"/>
          <p:cNvGrpSpPr/>
          <p:nvPr/>
        </p:nvGrpSpPr>
        <p:grpSpPr>
          <a:xfrm>
            <a:off x="914400" y="3733920"/>
            <a:ext cx="7156080" cy="2726640"/>
            <a:chOff x="914400" y="3733920"/>
            <a:chExt cx="7156080" cy="2726640"/>
          </a:xfrm>
        </p:grpSpPr>
        <p:sp>
          <p:nvSpPr>
            <p:cNvPr id="415" name="Oval 5"/>
            <p:cNvSpPr/>
            <p:nvPr/>
          </p:nvSpPr>
          <p:spPr>
            <a:xfrm>
              <a:off x="914400" y="3826080"/>
              <a:ext cx="3581640" cy="342720"/>
            </a:xfrm>
            <a:prstGeom prst="ellipse">
              <a:avLst/>
            </a:prstGeom>
            <a:noFill/>
            <a:ln w="9360">
              <a:solidFill>
                <a:srgbClr val="3333CC"/>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i="1" u="none" strike="noStrike">
                  <a:solidFill>
                    <a:srgbClr val="000000"/>
                  </a:solidFill>
                  <a:effectLst/>
                  <a:uFillTx/>
                  <a:latin typeface="Times New Roman"/>
                </a:rPr>
                <a:t>country</a:t>
              </a:r>
              <a:endParaRPr lang="en-US" sz="2400" b="0" u="none" strike="noStrike">
                <a:solidFill>
                  <a:srgbClr val="000000"/>
                </a:solidFill>
                <a:effectLst/>
                <a:uFillTx/>
                <a:latin typeface="Tahoma"/>
              </a:endParaRPr>
            </a:p>
          </p:txBody>
        </p:sp>
        <p:sp>
          <p:nvSpPr>
            <p:cNvPr id="416" name="Oval 6"/>
            <p:cNvSpPr/>
            <p:nvPr/>
          </p:nvSpPr>
          <p:spPr>
            <a:xfrm>
              <a:off x="971640" y="4550040"/>
              <a:ext cx="3581280" cy="342720"/>
            </a:xfrm>
            <a:prstGeom prst="ellipse">
              <a:avLst/>
            </a:prstGeom>
            <a:noFill/>
            <a:ln w="9360">
              <a:solidFill>
                <a:srgbClr val="3333CC"/>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i="1" u="none" strike="noStrike">
                  <a:solidFill>
                    <a:srgbClr val="000000"/>
                  </a:solidFill>
                  <a:effectLst/>
                  <a:uFillTx/>
                  <a:latin typeface="Times New Roman"/>
                </a:rPr>
                <a:t>province_or_ state</a:t>
              </a:r>
              <a:endParaRPr lang="en-US" sz="2400" b="0" u="none" strike="noStrike">
                <a:solidFill>
                  <a:srgbClr val="000000"/>
                </a:solidFill>
                <a:effectLst/>
                <a:uFillTx/>
                <a:latin typeface="Tahoma"/>
              </a:endParaRPr>
            </a:p>
          </p:txBody>
        </p:sp>
        <p:sp>
          <p:nvSpPr>
            <p:cNvPr id="417" name="Oval 7"/>
            <p:cNvSpPr/>
            <p:nvPr/>
          </p:nvSpPr>
          <p:spPr>
            <a:xfrm>
              <a:off x="1047960" y="5349960"/>
              <a:ext cx="3581280" cy="343080"/>
            </a:xfrm>
            <a:prstGeom prst="ellipse">
              <a:avLst/>
            </a:prstGeom>
            <a:noFill/>
            <a:ln w="9360">
              <a:solidFill>
                <a:srgbClr val="3333CC"/>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i="1" u="none" strike="noStrike">
                  <a:solidFill>
                    <a:srgbClr val="000000"/>
                  </a:solidFill>
                  <a:effectLst/>
                  <a:uFillTx/>
                  <a:latin typeface="Times New Roman"/>
                </a:rPr>
                <a:t>city</a:t>
              </a:r>
              <a:endParaRPr lang="en-US" sz="2400" b="0" u="none" strike="noStrike">
                <a:solidFill>
                  <a:srgbClr val="000000"/>
                </a:solidFill>
                <a:effectLst/>
                <a:uFillTx/>
                <a:latin typeface="Tahoma"/>
              </a:endParaRPr>
            </a:p>
          </p:txBody>
        </p:sp>
        <p:sp>
          <p:nvSpPr>
            <p:cNvPr id="418" name="Oval 8"/>
            <p:cNvSpPr/>
            <p:nvPr/>
          </p:nvSpPr>
          <p:spPr>
            <a:xfrm>
              <a:off x="1028880" y="6112080"/>
              <a:ext cx="3581280" cy="342720"/>
            </a:xfrm>
            <a:prstGeom prst="ellipse">
              <a:avLst/>
            </a:prstGeom>
            <a:noFill/>
            <a:ln w="9360">
              <a:solidFill>
                <a:srgbClr val="3333CC"/>
              </a:solidFill>
              <a:miter/>
            </a:ln>
          </p:spPr>
          <p:style>
            <a:lnRef idx="0"/>
            <a:fillRef idx="0"/>
            <a:effectRef idx="0"/>
            <a:fontRef idx="minor"/>
          </p:style>
          <p:txBody>
            <a:bodyPr wrap="none" lIns="90000" tIns="46800" rIns="90000" bIns="46800" anchor="ctr">
              <a:no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i="1" u="none" strike="noStrike">
                  <a:solidFill>
                    <a:srgbClr val="000000"/>
                  </a:solidFill>
                  <a:effectLst/>
                  <a:uFillTx/>
                  <a:latin typeface="Times New Roman"/>
                </a:rPr>
                <a:t>street</a:t>
              </a:r>
              <a:endParaRPr lang="en-US" sz="2400" b="0" u="none" strike="noStrike">
                <a:solidFill>
                  <a:srgbClr val="000000"/>
                </a:solidFill>
                <a:effectLst/>
                <a:uFillTx/>
                <a:latin typeface="Tahoma"/>
              </a:endParaRPr>
            </a:p>
          </p:txBody>
        </p:sp>
        <p:sp>
          <p:nvSpPr>
            <p:cNvPr id="419" name="Line 9"/>
            <p:cNvSpPr/>
            <p:nvPr/>
          </p:nvSpPr>
          <p:spPr>
            <a:xfrm>
              <a:off x="2762280" y="4206960"/>
              <a:ext cx="0" cy="380880"/>
            </a:xfrm>
            <a:prstGeom prst="line">
              <a:avLst/>
            </a:prstGeom>
            <a:ln w="9360">
              <a:solidFill>
                <a:srgbClr val="333399"/>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ahoma"/>
              </a:endParaRPr>
            </a:p>
          </p:txBody>
        </p:sp>
        <p:sp>
          <p:nvSpPr>
            <p:cNvPr id="420" name="Line 10"/>
            <p:cNvSpPr/>
            <p:nvPr/>
          </p:nvSpPr>
          <p:spPr>
            <a:xfrm>
              <a:off x="2762280" y="4778640"/>
              <a:ext cx="0" cy="533160"/>
            </a:xfrm>
            <a:prstGeom prst="line">
              <a:avLst/>
            </a:prstGeom>
            <a:ln w="9360">
              <a:solidFill>
                <a:srgbClr val="333399"/>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ahoma"/>
              </a:endParaRPr>
            </a:p>
          </p:txBody>
        </p:sp>
        <p:sp>
          <p:nvSpPr>
            <p:cNvPr id="421" name="Line 11"/>
            <p:cNvSpPr/>
            <p:nvPr/>
          </p:nvSpPr>
          <p:spPr>
            <a:xfrm>
              <a:off x="2762280" y="5597640"/>
              <a:ext cx="0" cy="552600"/>
            </a:xfrm>
            <a:prstGeom prst="line">
              <a:avLst/>
            </a:prstGeom>
            <a:ln w="9360">
              <a:solidFill>
                <a:srgbClr val="333399"/>
              </a:solidFill>
              <a:miter/>
            </a:ln>
          </p:spPr>
          <p:style>
            <a:lnRef idx="0"/>
            <a:fillRef idx="0"/>
            <a:effectRef idx="0"/>
            <a:fontRef idx="minor"/>
          </p:style>
          <p:txBody>
            <a:bodyPr lIns="90000" tIns="46800" rIns="90000" bIns="46800" anchor="t">
              <a:noAutofit/>
            </a:bodyPr>
            <a:p>
              <a:endParaRPr lang="en-US" sz="2400" b="0" u="none" strike="noStrike">
                <a:solidFill>
                  <a:srgbClr val="000000"/>
                </a:solidFill>
                <a:effectLst/>
                <a:uFillTx/>
                <a:latin typeface="Tahoma"/>
              </a:endParaRPr>
            </a:p>
          </p:txBody>
        </p:sp>
        <p:sp>
          <p:nvSpPr>
            <p:cNvPr id="422" name="Text Box 12"/>
            <p:cNvSpPr/>
            <p:nvPr/>
          </p:nvSpPr>
          <p:spPr>
            <a:xfrm>
              <a:off x="5470920" y="3733920"/>
              <a:ext cx="2314080" cy="459720"/>
            </a:xfrm>
            <a:prstGeom prst="rect">
              <a:avLst/>
            </a:prstGeom>
            <a:noFill/>
            <a:ln w="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15 distinct values</a:t>
              </a:r>
              <a:endParaRPr lang="en-US" sz="2400" b="0" u="none" strike="noStrike">
                <a:solidFill>
                  <a:srgbClr val="000000"/>
                </a:solidFill>
                <a:effectLst/>
                <a:uFillTx/>
                <a:latin typeface="Tahoma"/>
              </a:endParaRPr>
            </a:p>
          </p:txBody>
        </p:sp>
        <p:sp>
          <p:nvSpPr>
            <p:cNvPr id="423" name="Text Box 13"/>
            <p:cNvSpPr/>
            <p:nvPr/>
          </p:nvSpPr>
          <p:spPr>
            <a:xfrm>
              <a:off x="5486400" y="4533840"/>
              <a:ext cx="2492640" cy="459720"/>
            </a:xfrm>
            <a:prstGeom prst="rect">
              <a:avLst/>
            </a:prstGeom>
            <a:noFill/>
            <a:ln w="0">
              <a:noFill/>
            </a:ln>
          </p:spPr>
          <p:style>
            <a:lnRef idx="0"/>
            <a:fillRef idx="0"/>
            <a:effectRef idx="0"/>
            <a:fontRef idx="minor"/>
          </p:style>
          <p:txBody>
            <a:bodyPr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365 distinct values</a:t>
              </a:r>
              <a:endParaRPr lang="en-US" sz="2400" b="0" u="none" strike="noStrike">
                <a:solidFill>
                  <a:srgbClr val="000000"/>
                </a:solidFill>
                <a:effectLst/>
                <a:uFillTx/>
                <a:latin typeface="Tahoma"/>
              </a:endParaRPr>
            </a:p>
          </p:txBody>
        </p:sp>
        <p:sp>
          <p:nvSpPr>
            <p:cNvPr id="424" name="Text Box 14"/>
            <p:cNvSpPr/>
            <p:nvPr/>
          </p:nvSpPr>
          <p:spPr>
            <a:xfrm>
              <a:off x="5356440" y="5276880"/>
              <a:ext cx="2619000" cy="459720"/>
            </a:xfrm>
            <a:prstGeom prst="rect">
              <a:avLst/>
            </a:prstGeom>
            <a:noFill/>
            <a:ln w="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3567 distinct values</a:t>
              </a:r>
              <a:endParaRPr lang="en-US" sz="2400" b="0" u="none" strike="noStrike">
                <a:solidFill>
                  <a:srgbClr val="000000"/>
                </a:solidFill>
                <a:effectLst/>
                <a:uFillTx/>
                <a:latin typeface="Tahoma"/>
              </a:endParaRPr>
            </a:p>
          </p:txBody>
        </p:sp>
        <p:sp>
          <p:nvSpPr>
            <p:cNvPr id="425" name="Text Box 15"/>
            <p:cNvSpPr/>
            <p:nvPr/>
          </p:nvSpPr>
          <p:spPr>
            <a:xfrm>
              <a:off x="5070600" y="6000840"/>
              <a:ext cx="2999880" cy="459720"/>
            </a:xfrm>
            <a:prstGeom prst="rect">
              <a:avLst/>
            </a:prstGeom>
            <a:noFill/>
            <a:ln w="0">
              <a:noFill/>
            </a:ln>
          </p:spPr>
          <p:style>
            <a:lnRef idx="0"/>
            <a:fillRef idx="0"/>
            <a:effectRef idx="0"/>
            <a:fontRef idx="minor"/>
          </p:style>
          <p:txBody>
            <a:bodyPr wrap="none" lIns="90000" tIns="46800" rIns="90000" bIns="46800" anchor="t">
              <a:spAutoFit/>
            </a:bodyPr>
            <a:p>
              <a:pPr algn="ctr">
                <a:lnSpc>
                  <a:spcPct val="100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imes New Roman"/>
                </a:rPr>
                <a:t>674,339 distinct values</a:t>
              </a:r>
              <a:endParaRPr lang="en-US" sz="2400" b="0" u="none" strike="noStrike">
                <a:solidFill>
                  <a:srgbClr val="000000"/>
                </a:solidFill>
                <a:effectLst/>
                <a:uFillTx/>
                <a:latin typeface="Tahoma"/>
              </a:endParaRPr>
            </a:p>
          </p:txBody>
        </p:sp>
      </p:grpSp>
    </p:spTree>
  </p:cSld>
  <p:transition>
    <p:zoom dir="out"/>
  </p:transition>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52F6FB4-0928-485C-8FCE-5991E320FB73}"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427" name="PlaceHolder 1"/>
          <p:cNvSpPr>
            <a:spLocks noGrp="1"/>
          </p:cNvSpPr>
          <p:nvPr>
            <p:ph type="title"/>
          </p:nvPr>
        </p:nvSpPr>
        <p:spPr>
          <a:xfrm>
            <a:off x="152280" y="304560"/>
            <a:ext cx="8763120" cy="609480"/>
          </a:xfrm>
          <a:prstGeom prst="rect">
            <a:avLst/>
          </a:prstGeom>
          <a:noFill/>
          <a:ln w="0">
            <a:noFill/>
          </a:ln>
        </p:spPr>
        <p:txBody>
          <a:bodyPr lIns="92160" tIns="46080" rIns="92160" bIns="46080" anchor="ctr">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200" b="1" u="none" strike="noStrike">
                <a:solidFill>
                  <a:srgbClr val="333399"/>
                </a:solidFill>
                <a:effectLst/>
                <a:uFillTx/>
                <a:latin typeface="Berlin Sans FB Demi"/>
              </a:rPr>
              <a:t>Chapter 3: Data Preprocessing</a:t>
            </a:r>
            <a:endParaRPr lang="en-US" sz="3200" b="1" u="none" strike="noStrike">
              <a:solidFill>
                <a:srgbClr val="333399"/>
              </a:solidFill>
              <a:effectLst/>
              <a:uFillTx/>
              <a:latin typeface="Berlin Sans FB Demi"/>
            </a:endParaRPr>
          </a:p>
        </p:txBody>
      </p:sp>
      <p:sp>
        <p:nvSpPr>
          <p:cNvPr id="428" name="PlaceHolder 2"/>
          <p:cNvSpPr>
            <a:spLocks noGrp="1"/>
          </p:cNvSpPr>
          <p:nvPr>
            <p:ph/>
          </p:nvPr>
        </p:nvSpPr>
        <p:spPr>
          <a:xfrm>
            <a:off x="380880" y="1371600"/>
            <a:ext cx="8229600" cy="5105520"/>
          </a:xfrm>
          <a:prstGeom prst="rect">
            <a:avLst/>
          </a:prstGeom>
          <a:noFill/>
          <a:ln w="0">
            <a:noFill/>
          </a:ln>
        </p:spPr>
        <p:txBody>
          <a:bodyPr lIns="92160" tIns="46080" rIns="92160" bIns="46080" anchor="t">
            <a:normAutofit/>
          </a:bodyPr>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Preprocessing: An Overview</a:t>
            </a:r>
            <a:endParaRPr lang="en-US" sz="2400" b="0" u="none" strike="noStrike">
              <a:solidFill>
                <a:srgbClr val="000000"/>
              </a:solidFill>
              <a:effectLst/>
              <a:uFillTx/>
              <a:latin typeface="Tahoma"/>
            </a:endParaRPr>
          </a:p>
          <a:p>
            <a:pPr marL="743040" lvl="1" indent="-285840" algn="l">
              <a:lnSpc>
                <a:spcPct val="15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Quality</a:t>
            </a:r>
            <a:endParaRPr lang="en-US" sz="2400" b="0" u="none" strike="noStrike">
              <a:solidFill>
                <a:srgbClr val="000000"/>
              </a:solidFill>
              <a:effectLst/>
              <a:uFillTx/>
              <a:latin typeface="Tahoma"/>
            </a:endParaRPr>
          </a:p>
          <a:p>
            <a:pPr marL="743040" lvl="1" indent="-285840" algn="l">
              <a:lnSpc>
                <a:spcPct val="150000"/>
              </a:lnSpc>
              <a:spcBef>
                <a:spcPts val="601"/>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Major Tasks in Data Preprocessing</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Cleaning</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Integration</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Reduction</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Data Transformation and Data Discretization</a:t>
            </a:r>
            <a:endParaRPr lang="en-US" sz="2400" b="0" u="none" strike="noStrike">
              <a:solidFill>
                <a:srgbClr val="000000"/>
              </a:solidFill>
              <a:effectLst/>
              <a:uFillTx/>
              <a:latin typeface="Tahoma"/>
            </a:endParaRPr>
          </a:p>
          <a:p>
            <a:pPr marL="343080" indent="-343080" algn="l">
              <a:lnSpc>
                <a:spcPct val="150000"/>
              </a:lnSpc>
              <a:spcBef>
                <a:spcPts val="60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400" b="0" u="none" strike="noStrike">
                <a:solidFill>
                  <a:srgbClr val="000000"/>
                </a:solidFill>
                <a:effectLst/>
                <a:uFillTx/>
                <a:latin typeface="Tahoma"/>
              </a:rPr>
              <a:t>Summary</a:t>
            </a:r>
            <a:endParaRPr lang="en-US" sz="2400" b="0" u="none" strike="noStrike">
              <a:solidFill>
                <a:srgbClr val="000000"/>
              </a:solidFill>
              <a:effectLst/>
              <a:uFillTx/>
              <a:latin typeface="Tahoma"/>
            </a:endParaRPr>
          </a:p>
        </p:txBody>
      </p:sp>
      <p:sp>
        <p:nvSpPr>
          <p:cNvPr id="429" name="AutoShape 4"/>
          <p:cNvSpPr/>
          <p:nvPr/>
        </p:nvSpPr>
        <p:spPr>
          <a:xfrm rot="9430200">
            <a:off x="2362320" y="5714640"/>
            <a:ext cx="522000" cy="485640"/>
          </a:xfrm>
          <a:custGeom>
            <a:avLst/>
            <a:gdLst>
              <a:gd name="textAreaLeft" fmla="*/ 65160 w 522000"/>
              <a:gd name="textAreaRight" fmla="*/ 456840 w 522000"/>
              <a:gd name="textAreaTop" fmla="*/ 121320 h 485640"/>
              <a:gd name="textAreaBottom" fmla="*/ 364320 h 485640"/>
            </a:gdLst>
            <a:ahLst/>
            <a:cxnLst/>
            <a:rect l="textAreaLeft" t="textAreaTop" r="textAreaRight" b="textAreaBottom"/>
            <a:pathLst>
              <a:path w="21600" h="21600">
                <a:moveTo>
                  <a:pt x="0" y="5400"/>
                </a:moveTo>
                <a:lnTo>
                  <a:pt x="16200" y="5400"/>
                </a:lnTo>
                <a:lnTo>
                  <a:pt x="16200" y="0"/>
                </a:lnTo>
                <a:lnTo>
                  <a:pt x="21600" y="10800"/>
                </a:lnTo>
                <a:lnTo>
                  <a:pt x="16200" y="21600"/>
                </a:lnTo>
                <a:lnTo>
                  <a:pt x="16200" y="16200"/>
                </a:lnTo>
                <a:lnTo>
                  <a:pt x="0" y="16200"/>
                </a:lnTo>
                <a:lnTo>
                  <a:pt x="2700" y="10800"/>
                </a:lnTo>
                <a:lnTo>
                  <a:pt x="0" y="5400"/>
                </a:lnTo>
                <a:close/>
              </a:path>
            </a:pathLst>
          </a:custGeom>
          <a:solidFill>
            <a:srgbClr val="339966"/>
          </a:solidFill>
          <a:ln w="9360">
            <a:solidFill>
              <a:srgbClr val="000000"/>
            </a:solidFill>
            <a:miter/>
          </a:ln>
        </p:spPr>
        <p:style>
          <a:lnRef idx="0"/>
          <a:fillRef idx="0"/>
          <a:effectRef idx="0"/>
          <a:fontRef idx="minor"/>
        </p:style>
        <p:txBody>
          <a:bodyPr wrap="none" lIns="90000" tIns="46800" rIns="90000" bIns="46800" anchor="ctr" rot="10800000">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u="none" strike="noStrike">
              <a:solidFill>
                <a:srgbClr val="000000"/>
              </a:solidFill>
              <a:effectLst/>
              <a:uFillTx/>
              <a:latin typeface="Tahoma"/>
            </a:endParaRPr>
          </a:p>
        </p:txBody>
      </p:sp>
    </p:spTree>
  </p:cSld>
  <p:transition>
    <p:zoom dir="out"/>
  </p:transition>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6281E38E-E123-44B0-A5A2-3A963082D3DC}"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431" name="PlaceHolder 1"/>
          <p:cNvSpPr>
            <a:spLocks noGrp="1"/>
          </p:cNvSpPr>
          <p:nvPr>
            <p:ph type="title"/>
          </p:nvPr>
        </p:nvSpPr>
        <p:spPr>
          <a:xfrm>
            <a:off x="0" y="456840"/>
            <a:ext cx="914400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000" b="1" u="none" strike="noStrike">
                <a:solidFill>
                  <a:srgbClr val="333399"/>
                </a:solidFill>
                <a:effectLst/>
                <a:uFillTx/>
                <a:latin typeface="Berlin Sans FB Demi"/>
              </a:rPr>
              <a:t>Summary</a:t>
            </a:r>
            <a:endParaRPr lang="en-US" sz="4000" b="1" u="none" strike="noStrike">
              <a:solidFill>
                <a:srgbClr val="333399"/>
              </a:solidFill>
              <a:effectLst/>
              <a:uFillTx/>
              <a:latin typeface="Berlin Sans FB Demi"/>
            </a:endParaRPr>
          </a:p>
        </p:txBody>
      </p:sp>
      <p:sp>
        <p:nvSpPr>
          <p:cNvPr id="432" name="PlaceHolder 2"/>
          <p:cNvSpPr>
            <a:spLocks noGrp="1"/>
          </p:cNvSpPr>
          <p:nvPr>
            <p:ph/>
          </p:nvPr>
        </p:nvSpPr>
        <p:spPr>
          <a:xfrm>
            <a:off x="304920" y="1295280"/>
            <a:ext cx="8610480" cy="5104080"/>
          </a:xfrm>
          <a:prstGeom prst="rect">
            <a:avLst/>
          </a:prstGeom>
          <a:noFill/>
          <a:ln w="0">
            <a:noFill/>
          </a:ln>
        </p:spPr>
        <p:txBody>
          <a:bodyPr lIns="91440" tIns="45720" rIns="91440" bIns="45720" anchor="t">
            <a:normAutofit lnSpcReduction="9999"/>
          </a:bodyPr>
          <a:p>
            <a:pPr marL="343080" indent="-343080" algn="l">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ahoma"/>
              </a:rPr>
              <a:t>Data quality</a:t>
            </a:r>
            <a:r>
              <a:rPr lang="en-US" sz="2000" b="0" u="none" strike="noStrike">
                <a:solidFill>
                  <a:srgbClr val="000000"/>
                </a:solidFill>
                <a:effectLst/>
                <a:uFillTx/>
                <a:latin typeface="Tahoma"/>
              </a:rPr>
              <a:t>: accuracy, completeness, consistency, timeliness, believability, interpretability</a:t>
            </a:r>
            <a:endParaRPr lang="en-US" sz="2000" b="0" u="none" strike="noStrike">
              <a:solidFill>
                <a:srgbClr val="000000"/>
              </a:solidFill>
              <a:effectLst/>
              <a:uFillTx/>
              <a:latin typeface="Tahoma"/>
            </a:endParaRPr>
          </a:p>
          <a:p>
            <a:pPr marL="343080" indent="-343080" algn="l">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ahoma"/>
              </a:rPr>
              <a:t>Data cleaning</a:t>
            </a:r>
            <a:r>
              <a:rPr lang="en-US" sz="2000" b="0" u="none" strike="noStrike">
                <a:solidFill>
                  <a:srgbClr val="000000"/>
                </a:solidFill>
                <a:effectLst/>
                <a:uFillTx/>
                <a:latin typeface="Tahoma"/>
              </a:rPr>
              <a:t>: e.g. missing/noisy values, outliers</a:t>
            </a:r>
            <a:endParaRPr lang="en-US" sz="2000" b="0" u="none" strike="noStrike">
              <a:solidFill>
                <a:srgbClr val="000000"/>
              </a:solidFill>
              <a:effectLst/>
              <a:uFillTx/>
              <a:latin typeface="Tahoma"/>
            </a:endParaRPr>
          </a:p>
          <a:p>
            <a:pPr marL="343080" indent="-343080" algn="l">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ahoma"/>
              </a:rPr>
              <a:t>Data integration</a:t>
            </a:r>
            <a:r>
              <a:rPr lang="en-US" sz="2000" b="0" u="none" strike="noStrike">
                <a:solidFill>
                  <a:srgbClr val="000000"/>
                </a:solidFill>
                <a:effectLst/>
                <a:uFillTx/>
                <a:latin typeface="Tahoma"/>
              </a:rPr>
              <a:t> from multiple sources: </a:t>
            </a:r>
            <a:endParaRPr lang="en-US" sz="2000" b="0" u="none" strike="noStrike">
              <a:solidFill>
                <a:srgbClr val="000000"/>
              </a:solidFill>
              <a:effectLst/>
              <a:uFillTx/>
              <a:latin typeface="Tahoma"/>
            </a:endParaRPr>
          </a:p>
          <a:p>
            <a:pPr marL="743040" lvl="1" indent="-285840" algn="l">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Entity identification problem</a:t>
            </a:r>
            <a:endParaRPr lang="en-US" sz="2000" b="0" u="none" strike="noStrike">
              <a:solidFill>
                <a:srgbClr val="000000"/>
              </a:solidFill>
              <a:effectLst/>
              <a:uFillTx/>
              <a:latin typeface="Tahoma"/>
            </a:endParaRPr>
          </a:p>
          <a:p>
            <a:pPr marL="743040" lvl="1" indent="-285840" algn="l">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Remove redundancies</a:t>
            </a:r>
            <a:endParaRPr lang="en-US" sz="2000" b="0" u="none" strike="noStrike">
              <a:solidFill>
                <a:srgbClr val="000000"/>
              </a:solidFill>
              <a:effectLst/>
              <a:uFillTx/>
              <a:latin typeface="Tahoma"/>
            </a:endParaRPr>
          </a:p>
          <a:p>
            <a:pPr marL="743040" lvl="1" indent="-285840" algn="l">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Detect inconsistencies</a:t>
            </a:r>
            <a:endParaRPr lang="en-US" sz="2000" b="0" u="none" strike="noStrike">
              <a:solidFill>
                <a:srgbClr val="000000"/>
              </a:solidFill>
              <a:effectLst/>
              <a:uFillTx/>
              <a:latin typeface="Tahoma"/>
            </a:endParaRPr>
          </a:p>
          <a:p>
            <a:pPr marL="343080" indent="-343080" algn="l">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ahoma"/>
              </a:rPr>
              <a:t>Data reduction</a:t>
            </a:r>
            <a:endParaRPr lang="en-US" sz="2000" b="0" u="none" strike="noStrike">
              <a:solidFill>
                <a:srgbClr val="000000"/>
              </a:solidFill>
              <a:effectLst/>
              <a:uFillTx/>
              <a:latin typeface="Tahoma"/>
            </a:endParaRPr>
          </a:p>
          <a:p>
            <a:pPr marL="743040" lvl="1" indent="-285840" algn="l">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Dimensionality reduction</a:t>
            </a:r>
            <a:endParaRPr lang="en-US" sz="2000" b="0" u="none" strike="noStrike">
              <a:solidFill>
                <a:srgbClr val="000000"/>
              </a:solidFill>
              <a:effectLst/>
              <a:uFillTx/>
              <a:latin typeface="Tahoma"/>
            </a:endParaRPr>
          </a:p>
          <a:p>
            <a:pPr marL="743040" lvl="1" indent="-285840" algn="l">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Numerosity reduction</a:t>
            </a:r>
            <a:endParaRPr lang="en-US" sz="2000" b="0" u="none" strike="noStrike">
              <a:solidFill>
                <a:srgbClr val="000000"/>
              </a:solidFill>
              <a:effectLst/>
              <a:uFillTx/>
              <a:latin typeface="Tahoma"/>
            </a:endParaRPr>
          </a:p>
          <a:p>
            <a:pPr marL="743040" lvl="1" indent="-285840" algn="l">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Data compression</a:t>
            </a:r>
            <a:endParaRPr lang="en-US" sz="2000" b="0" u="none" strike="noStrike">
              <a:solidFill>
                <a:srgbClr val="000000"/>
              </a:solidFill>
              <a:effectLst/>
              <a:uFillTx/>
              <a:latin typeface="Tahoma"/>
            </a:endParaRPr>
          </a:p>
          <a:p>
            <a:pPr marL="343080" indent="-343080" algn="l">
              <a:spcBef>
                <a:spcPts val="499"/>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1" u="none" strike="noStrike">
                <a:solidFill>
                  <a:srgbClr val="000000"/>
                </a:solidFill>
                <a:effectLst/>
                <a:uFillTx/>
                <a:latin typeface="Tahoma"/>
              </a:rPr>
              <a:t>Data transformation and data discretization</a:t>
            </a:r>
            <a:endParaRPr lang="en-US" sz="2000" b="0" u="none" strike="noStrike">
              <a:solidFill>
                <a:srgbClr val="000000"/>
              </a:solidFill>
              <a:effectLst/>
              <a:uFillTx/>
              <a:latin typeface="Tahoma"/>
            </a:endParaRPr>
          </a:p>
          <a:p>
            <a:pPr marL="743040" lvl="1" indent="-285840" algn="l">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Normalization</a:t>
            </a:r>
            <a:endParaRPr lang="en-US" sz="2000" b="0" u="none" strike="noStrike">
              <a:solidFill>
                <a:srgbClr val="000000"/>
              </a:solidFill>
              <a:effectLst/>
              <a:uFillTx/>
              <a:latin typeface="Tahoma"/>
            </a:endParaRPr>
          </a:p>
          <a:p>
            <a:pPr marL="743040" lvl="1" indent="-285840" algn="l">
              <a:spcBef>
                <a:spcPts val="499"/>
              </a:spcBef>
              <a:buClr>
                <a:srgbClr val="FF0000"/>
              </a:buClr>
              <a:buSzPct val="55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b="0" u="none" strike="noStrike">
                <a:solidFill>
                  <a:srgbClr val="000000"/>
                </a:solidFill>
                <a:effectLst/>
                <a:uFillTx/>
                <a:latin typeface="Tahoma"/>
              </a:rPr>
              <a:t>Concept hierarchy generation</a:t>
            </a:r>
            <a:endParaRPr lang="en-US" sz="2000" b="0" u="none" strike="noStrike">
              <a:solidFill>
                <a:srgbClr val="000000"/>
              </a:solidFill>
              <a:effectLst/>
              <a:uFillTx/>
              <a:latin typeface="Tahoma"/>
            </a:endParaRPr>
          </a:p>
          <a:p>
            <a:pPr marL="743040" lvl="1" indent="0" algn="l">
              <a:lnSpc>
                <a:spcPct val="120000"/>
              </a:lnSpc>
              <a:spcBef>
                <a:spcPts val="400"/>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600" b="0" u="none" strike="noStrike">
              <a:solidFill>
                <a:srgbClr val="000000"/>
              </a:solidFill>
              <a:effectLst/>
              <a:uFillTx/>
              <a:latin typeface="Tahoma"/>
            </a:endParaRPr>
          </a:p>
          <a:p>
            <a:pPr marL="343080" indent="0" algn="l">
              <a:lnSpc>
                <a:spcPct val="120000"/>
              </a:lnSpc>
              <a:spcBef>
                <a:spcPts val="400"/>
              </a:spcBef>
              <a:buNone/>
              <a:tabLst>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600" b="0" u="none" strike="noStrike">
              <a:solidFill>
                <a:srgbClr val="000000"/>
              </a:solidFill>
              <a:effectLst/>
              <a:uFillTx/>
              <a:latin typeface="Tahoma"/>
            </a:endParaRPr>
          </a:p>
          <a:p>
            <a:pPr marL="343080" indent="-343080" algn="l">
              <a:lnSpc>
                <a:spcPct val="120000"/>
              </a:lnSpc>
              <a:spcBef>
                <a:spcPts val="400"/>
              </a:spcBef>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1600" b="0" u="none" strike="noStrike">
              <a:solidFill>
                <a:srgbClr val="000000"/>
              </a:solidFill>
              <a:effectLst/>
              <a:uFillTx/>
              <a:latin typeface="Tahoma"/>
            </a:endParaRPr>
          </a:p>
        </p:txBody>
      </p:sp>
    </p:spTree>
  </p:cSld>
  <p:transition>
    <p:zoom dir="out"/>
  </p:transition>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Rectangle 2061"/>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9679EA8C-3F02-428B-8B18-8E85A4BF16CC}"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sp>
        <p:nvSpPr>
          <p:cNvPr id="434" name="PlaceHolder 1"/>
          <p:cNvSpPr>
            <a:spLocks noGrp="1"/>
          </p:cNvSpPr>
          <p:nvPr>
            <p:ph type="title"/>
          </p:nvPr>
        </p:nvSpPr>
        <p:spPr>
          <a:xfrm>
            <a:off x="152280" y="304560"/>
            <a:ext cx="8763120" cy="609480"/>
          </a:xfrm>
          <a:prstGeom prst="rect">
            <a:avLst/>
          </a:prstGeom>
          <a:noFill/>
          <a:ln w="0">
            <a:noFill/>
          </a:ln>
        </p:spPr>
        <p:txBody>
          <a:bodyPr lIns="91440" tIns="45720" rIns="91440" bIns="45720" anchor="b">
            <a:noAutofit/>
          </a:bodyPr>
          <a:p>
            <a:pPr indent="0" algn="ctr">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3600" b="1" u="none" strike="noStrike">
                <a:solidFill>
                  <a:srgbClr val="333399"/>
                </a:solidFill>
                <a:effectLst/>
                <a:uFillTx/>
                <a:latin typeface="Berlin Sans FB Demi"/>
              </a:rPr>
              <a:t>References</a:t>
            </a:r>
            <a:endParaRPr lang="en-US" sz="3600" b="1" u="none" strike="noStrike">
              <a:solidFill>
                <a:srgbClr val="333399"/>
              </a:solidFill>
              <a:effectLst/>
              <a:uFillTx/>
              <a:latin typeface="Berlin Sans FB Demi"/>
            </a:endParaRPr>
          </a:p>
        </p:txBody>
      </p:sp>
      <p:sp>
        <p:nvSpPr>
          <p:cNvPr id="435" name="PlaceHolder 2"/>
          <p:cNvSpPr>
            <a:spLocks noGrp="1"/>
          </p:cNvSpPr>
          <p:nvPr>
            <p:ph/>
          </p:nvPr>
        </p:nvSpPr>
        <p:spPr>
          <a:xfrm>
            <a:off x="152280" y="1371240"/>
            <a:ext cx="8763120" cy="5334120"/>
          </a:xfrm>
          <a:prstGeom prst="rect">
            <a:avLst/>
          </a:prstGeom>
          <a:noFill/>
          <a:ln w="0">
            <a:noFill/>
          </a:ln>
        </p:spPr>
        <p:txBody>
          <a:bodyPr lIns="91440" tIns="45720" rIns="91440" bIns="45720" anchor="t">
            <a:normAutofit/>
          </a:bodyPr>
          <a:p>
            <a:pPr marL="457200" indent="-457200" algn="l">
              <a:spcBef>
                <a:spcPts val="45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ahoma"/>
              </a:rPr>
              <a:t>D. P. Ballou and G. K. Tayi. Enhancing data quality in data warehouse environments. Comm. of ACM, 42:73-78, 1999</a:t>
            </a:r>
            <a:endParaRPr lang="en-US" sz="1800" b="0" u="none" strike="noStrike">
              <a:solidFill>
                <a:srgbClr val="000000"/>
              </a:solidFill>
              <a:effectLst/>
              <a:uFillTx/>
              <a:latin typeface="Tahoma"/>
            </a:endParaRPr>
          </a:p>
          <a:p>
            <a:pPr marL="457200" indent="-457200" algn="l">
              <a:spcBef>
                <a:spcPts val="45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FF0000"/>
                </a:solidFill>
                <a:effectLst/>
                <a:uFillTx/>
                <a:latin typeface="Tahoma"/>
              </a:rPr>
              <a:t>T. Dasu and T. Johnson.  Exploratory Data Mining and Data Cleaning. John Wiley, 2003</a:t>
            </a:r>
            <a:endParaRPr lang="en-US" sz="1800" b="0" u="none" strike="noStrike">
              <a:solidFill>
                <a:srgbClr val="000000"/>
              </a:solidFill>
              <a:effectLst/>
              <a:uFillTx/>
              <a:latin typeface="Tahoma"/>
            </a:endParaRPr>
          </a:p>
          <a:p>
            <a:pPr marL="457200" indent="-457200" algn="l">
              <a:spcBef>
                <a:spcPts val="45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FF0000"/>
                </a:solidFill>
                <a:effectLst/>
                <a:uFillTx/>
                <a:latin typeface="Tahoma"/>
                <a:ea typeface="Times New Roman"/>
              </a:rPr>
              <a:t>T. Dasu, T. Johnson, S. Muthukrishnan, V. Shkapenyuk. </a:t>
            </a:r>
            <a:r>
              <a:rPr lang="en-US" sz="1800" b="0" u="sng" strike="noStrike">
                <a:solidFill>
                  <a:srgbClr val="FF0000"/>
                </a:solidFill>
                <a:effectLst/>
                <a:uFillTx/>
                <a:latin typeface="Tahoma"/>
                <a:ea typeface="Times New Roman"/>
                <a:hlinkClick r:id="rId1"/>
              </a:rPr>
              <a:t>Mining Database Structure; Or, How to Build a Data Quality Browser</a:t>
            </a:r>
            <a:r>
              <a:rPr lang="en-US" sz="1800" b="0" u="none" strike="noStrike">
                <a:solidFill>
                  <a:srgbClr val="FF0000"/>
                </a:solidFill>
                <a:effectLst/>
                <a:uFillTx/>
                <a:latin typeface="Tahoma"/>
                <a:ea typeface="Times New Roman"/>
              </a:rPr>
              <a:t>. SIGMOD’02</a:t>
            </a:r>
            <a:endParaRPr lang="en-US" sz="1800" b="0" u="none" strike="noStrike">
              <a:solidFill>
                <a:srgbClr val="000000"/>
              </a:solidFill>
              <a:effectLst/>
              <a:uFillTx/>
              <a:latin typeface="Tahoma"/>
            </a:endParaRPr>
          </a:p>
          <a:p>
            <a:pPr marL="457200" indent="-457200" algn="l">
              <a:spcBef>
                <a:spcPts val="45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FF0000"/>
                </a:solidFill>
                <a:effectLst/>
                <a:uFillTx/>
                <a:latin typeface="Tahoma"/>
              </a:rPr>
              <a:t>H. V. Jagadish et al., Special Issue on Data Reduction Techniques.  Bulletin of the Technical Committee on Data Engineering, 20(4), Dec. 1997</a:t>
            </a:r>
            <a:endParaRPr lang="en-US" sz="1800" b="0" u="none" strike="noStrike">
              <a:solidFill>
                <a:srgbClr val="000000"/>
              </a:solidFill>
              <a:effectLst/>
              <a:uFillTx/>
              <a:latin typeface="Tahoma"/>
            </a:endParaRPr>
          </a:p>
          <a:p>
            <a:pPr marL="457200" indent="-457200" algn="l">
              <a:spcBef>
                <a:spcPts val="45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ahoma"/>
              </a:rPr>
              <a:t>D. Pyle. Data Preparation for Data Mining. Morgan Kaufmann, 1999</a:t>
            </a:r>
            <a:endParaRPr lang="en-US" sz="1800" b="0" u="none" strike="noStrike">
              <a:solidFill>
                <a:srgbClr val="000000"/>
              </a:solidFill>
              <a:effectLst/>
              <a:uFillTx/>
              <a:latin typeface="Tahoma"/>
            </a:endParaRPr>
          </a:p>
          <a:p>
            <a:pPr marL="457200" indent="-457200" algn="l">
              <a:spcBef>
                <a:spcPts val="45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ahoma"/>
              </a:rPr>
              <a:t>E. Rahm and H. H. Do. Data Cleaning: Problems and Current Approaches. </a:t>
            </a:r>
            <a:r>
              <a:rPr lang="en-US" sz="1800" b="0" i="1" u="none" strike="noStrike">
                <a:solidFill>
                  <a:srgbClr val="000000"/>
                </a:solidFill>
                <a:effectLst/>
                <a:uFillTx/>
                <a:latin typeface="Tahoma"/>
              </a:rPr>
              <a:t>IEEE Bulletin of the Technical Committee on Data Engineering. Vol.23, No.4</a:t>
            </a:r>
            <a:endParaRPr lang="en-US" sz="1800" b="0" u="none" strike="noStrike">
              <a:solidFill>
                <a:srgbClr val="000000"/>
              </a:solidFill>
              <a:effectLst/>
              <a:uFillTx/>
              <a:latin typeface="Tahoma"/>
            </a:endParaRPr>
          </a:p>
          <a:p>
            <a:pPr marL="457200" indent="-457200" algn="l">
              <a:spcBef>
                <a:spcPts val="45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FF0000"/>
                </a:solidFill>
                <a:effectLst/>
                <a:uFillTx/>
                <a:latin typeface="Tahoma"/>
              </a:rPr>
              <a:t>V. Raman and J. Hellerstein. Potters Wheel: An Interactive Framework for Data Cleaning and Transformation, VLDB’2001</a:t>
            </a:r>
            <a:endParaRPr lang="en-US" sz="1800" b="0" u="none" strike="noStrike">
              <a:solidFill>
                <a:srgbClr val="000000"/>
              </a:solidFill>
              <a:effectLst/>
              <a:uFillTx/>
              <a:latin typeface="Tahoma"/>
            </a:endParaRPr>
          </a:p>
          <a:p>
            <a:pPr marL="457200" indent="-457200" algn="l">
              <a:spcBef>
                <a:spcPts val="45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ahoma"/>
              </a:rPr>
              <a:t>T. Redman. Data Quality: Management and Technology. Bantam Books, 1992</a:t>
            </a:r>
            <a:endParaRPr lang="en-US" sz="1800" b="0" u="none" strike="noStrike">
              <a:solidFill>
                <a:srgbClr val="000000"/>
              </a:solidFill>
              <a:effectLst/>
              <a:uFillTx/>
              <a:latin typeface="Tahoma"/>
            </a:endParaRPr>
          </a:p>
          <a:p>
            <a:pPr marL="457200" indent="-457200" algn="l">
              <a:spcBef>
                <a:spcPts val="451"/>
              </a:spcBef>
              <a:buClr>
                <a:srgbClr val="3333CC"/>
              </a:buClr>
              <a:buSzPct val="60000"/>
              <a:buFont typeface="Wingdings" charset="2"/>
              <a:buChar char=""/>
              <a:tabLst>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b="0" u="none" strike="noStrike">
                <a:solidFill>
                  <a:srgbClr val="000000"/>
                </a:solidFill>
                <a:effectLst/>
                <a:uFillTx/>
                <a:latin typeface="Tahoma"/>
              </a:rPr>
              <a:t>R. Wang, V. Storey, and C. Firth. A framework for analysis of data quality research. IEEE Trans. Knowledge and Data Engineering, 7:623-640, 1995</a:t>
            </a:r>
            <a:endParaRPr lang="en-US" sz="1800" b="0" u="none" strike="noStrike">
              <a:solidFill>
                <a:srgbClr val="000000"/>
              </a:solidFill>
              <a:effectLst/>
              <a:uFillTx/>
              <a:latin typeface="Tahoma"/>
            </a:endParaRPr>
          </a:p>
        </p:txBody>
      </p:sp>
    </p:spTree>
  </p:cSld>
  <p:transition>
    <p:zoom dir="out"/>
  </p:transition>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Date Placeholder 4"/>
          <p:cNvSpPr/>
          <p:nvPr/>
        </p:nvSpPr>
        <p:spPr>
          <a:xfrm>
            <a:off x="152280" y="6477120"/>
            <a:ext cx="1905120" cy="380880"/>
          </a:xfrm>
          <a:prstGeom prst="rect">
            <a:avLst/>
          </a:prstGeom>
          <a:noFill/>
          <a:ln w="0">
            <a:noFill/>
          </a:ln>
        </p:spPr>
        <p:style>
          <a:lnRef idx="0"/>
          <a:fillRef idx="0"/>
          <a:effectRef idx="0"/>
          <a:fontRef idx="minor"/>
        </p:style>
        <p:txBody>
          <a:bodyPr lIns="90000" tIns="46800" rIns="90000" bIns="46800" anchor="b">
            <a:noAutofit/>
          </a:bodyPr>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733977C-B825-41BC-B538-B6A8137EAD46}" type="datetime">
              <a:rPr lang="en-US" sz="1200" b="0" u="none" strike="noStrike">
                <a:solidFill>
                  <a:srgbClr val="000000"/>
                </a:solidFill>
                <a:effectLst/>
                <a:uFillTx/>
                <a:latin typeface="Tahoma"/>
              </a:rPr>
              <a:t>04/27/26</a:t>
            </a:fld>
            <a:endParaRPr lang="en-US" sz="1200" b="0" u="none" strike="noStrike">
              <a:solidFill>
                <a:srgbClr val="000000"/>
              </a:solidFill>
              <a:effectLst/>
              <a:uFillTx/>
              <a:latin typeface="Tahoma"/>
            </a:endParaRPr>
          </a:p>
        </p:txBody>
      </p:sp>
      <p:sp>
        <p:nvSpPr>
          <p:cNvPr id="437" name="Slide Number Placeholder 6"/>
          <p:cNvSpPr/>
          <p:nvPr/>
        </p:nvSpPr>
        <p:spPr>
          <a:xfrm>
            <a:off x="7238880" y="6477120"/>
            <a:ext cx="1905120" cy="380880"/>
          </a:xfrm>
          <a:prstGeom prst="rect">
            <a:avLst/>
          </a:prstGeom>
          <a:noFill/>
          <a:ln w="0">
            <a:noFill/>
          </a:ln>
        </p:spPr>
        <p:style>
          <a:lnRef idx="0"/>
          <a:fillRef idx="0"/>
          <a:effectRef idx="0"/>
          <a:fontRef idx="minor"/>
        </p:style>
        <p:txBody>
          <a:bodyPr lIns="90000" tIns="46800" rIns="90000" bIns="46800" anchor="b">
            <a:noAutofit/>
          </a:bodyPr>
          <a:p>
            <a:pPr algn="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fld id="{34218DBF-5FE8-40C3-96FC-DD33F9543FF0}" type="slidenum">
              <a:rPr lang="en-US" sz="1200" b="0" u="none" strike="noStrike">
                <a:solidFill>
                  <a:srgbClr val="000000"/>
                </a:solidFill>
                <a:effectLst/>
                <a:uFillTx/>
                <a:latin typeface="Tahoma"/>
              </a:rPr>
              <a:t>&lt;number&gt;</a:t>
            </a:fld>
            <a:endParaRPr lang="en-US" sz="1200" b="0" u="none" strike="noStrike">
              <a:solidFill>
                <a:srgbClr val="000000"/>
              </a:solidFill>
              <a:effectLst/>
              <a:uFillTx/>
              <a:latin typeface="Tahoma"/>
            </a:endParaRPr>
          </a:p>
        </p:txBody>
      </p:sp>
      <p:pic>
        <p:nvPicPr>
          <p:cNvPr id="438" name="Picture 2" descr="105-0525_IMG"/>
          <p:cNvPicPr/>
          <p:nvPr/>
        </p:nvPicPr>
        <p:blipFill>
          <a:blip r:embed="rId1"/>
          <a:stretch/>
        </p:blipFill>
        <p:spPr>
          <a:xfrm>
            <a:off x="0" y="95400"/>
            <a:ext cx="9144000" cy="6858000"/>
          </a:xfrm>
          <a:prstGeom prst="rect">
            <a:avLst/>
          </a:prstGeom>
          <a:noFill/>
          <a:ln w="0">
            <a:noFill/>
          </a:ln>
        </p:spPr>
      </p:pic>
    </p:spTree>
  </p:cSld>
  <p:transition>
    <p:zoom dir="out"/>
  </p:transition>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11184</TotalTim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1998-06-19T06:38:52Z</dcterms:created>
  <dc:creator>Jiawei Han</dc:creator>
  <dc:description/>
  <dc:language>en-US</dc:language>
  <cp:lastModifiedBy>Han, Jiawei</cp:lastModifiedBy>
  <cp:lastPrinted>1999-09-10T22:38:56Z</cp:lastPrinted>
  <dcterms:modified xsi:type="dcterms:W3CDTF">2011-10-11T22:58:32Z</dcterms:modified>
  <cp:revision>758</cp:revision>
  <dc:subject/>
  <dc:title>No Slide Title</dc:title>
</cp:coreProperties>
</file>