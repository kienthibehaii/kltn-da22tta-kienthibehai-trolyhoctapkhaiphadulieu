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vml" ContentType="application/vnd.openxmlformats-officedocument.vmlDrawing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649" r:id="rId1"/>
  </p:sldMasterIdLst>
  <p:notesMasterIdLst>
    <p:notesMasterId r:id="rId81"/>
  </p:notesMasterIdLst>
  <p:handoutMasterIdLst>
    <p:handoutMasterId r:id="rId82"/>
  </p:handoutMasterIdLst>
  <p:sldIdLst>
    <p:sldId id="1403" r:id="rId2"/>
    <p:sldId id="1455" r:id="rId3"/>
    <p:sldId id="1404" r:id="rId4"/>
    <p:sldId id="912" r:id="rId5"/>
    <p:sldId id="907" r:id="rId6"/>
    <p:sldId id="908" r:id="rId7"/>
    <p:sldId id="909" r:id="rId8"/>
    <p:sldId id="910" r:id="rId9"/>
    <p:sldId id="1443" r:id="rId10"/>
    <p:sldId id="918" r:id="rId11"/>
    <p:sldId id="1048" r:id="rId12"/>
    <p:sldId id="1125" r:id="rId13"/>
    <p:sldId id="1014" r:id="rId14"/>
    <p:sldId id="1049" r:id="rId15"/>
    <p:sldId id="1223" r:id="rId16"/>
    <p:sldId id="1040" r:id="rId17"/>
    <p:sldId id="1224" r:id="rId18"/>
    <p:sldId id="932" r:id="rId19"/>
    <p:sldId id="1346" r:id="rId20"/>
    <p:sldId id="1345" r:id="rId21"/>
    <p:sldId id="1018" r:id="rId22"/>
    <p:sldId id="939" r:id="rId23"/>
    <p:sldId id="1220" r:id="rId24"/>
    <p:sldId id="1222" r:id="rId25"/>
    <p:sldId id="1451" r:id="rId26"/>
    <p:sldId id="951" r:id="rId27"/>
    <p:sldId id="1193" r:id="rId28"/>
    <p:sldId id="1194" r:id="rId29"/>
    <p:sldId id="1444" r:id="rId30"/>
    <p:sldId id="953" r:id="rId31"/>
    <p:sldId id="1153" r:id="rId32"/>
    <p:sldId id="1154" r:id="rId33"/>
    <p:sldId id="1156" r:id="rId34"/>
    <p:sldId id="1348" r:id="rId35"/>
    <p:sldId id="1157" r:id="rId36"/>
    <p:sldId id="1158" r:id="rId37"/>
    <p:sldId id="1347" r:id="rId38"/>
    <p:sldId id="1159" r:id="rId39"/>
    <p:sldId id="1445" r:id="rId40"/>
    <p:sldId id="1017" r:id="rId41"/>
    <p:sldId id="1349" r:id="rId42"/>
    <p:sldId id="1350" r:id="rId43"/>
    <p:sldId id="1375" r:id="rId44"/>
    <p:sldId id="1376" r:id="rId45"/>
    <p:sldId id="1351" r:id="rId46"/>
    <p:sldId id="1446" r:id="rId47"/>
    <p:sldId id="1423" r:id="rId48"/>
    <p:sldId id="1415" r:id="rId49"/>
    <p:sldId id="1418" r:id="rId50"/>
    <p:sldId id="1419" r:id="rId51"/>
    <p:sldId id="1422" r:id="rId52"/>
    <p:sldId id="1365" r:id="rId53"/>
    <p:sldId id="1366" r:id="rId54"/>
    <p:sldId id="1433" r:id="rId55"/>
    <p:sldId id="1434" r:id="rId56"/>
    <p:sldId id="1435" r:id="rId57"/>
    <p:sldId id="1436" r:id="rId58"/>
    <p:sldId id="1437" r:id="rId59"/>
    <p:sldId id="1412" r:id="rId60"/>
    <p:sldId id="1430" r:id="rId61"/>
    <p:sldId id="1447" r:id="rId62"/>
    <p:sldId id="1368" r:id="rId63"/>
    <p:sldId id="1188" r:id="rId64"/>
    <p:sldId id="1189" r:id="rId65"/>
    <p:sldId id="1370" r:id="rId66"/>
    <p:sldId id="1452" r:id="rId67"/>
    <p:sldId id="1453" r:id="rId68"/>
    <p:sldId id="1448" r:id="rId69"/>
    <p:sldId id="993" r:id="rId70"/>
    <p:sldId id="1372" r:id="rId71"/>
    <p:sldId id="994" r:id="rId72"/>
    <p:sldId id="995" r:id="rId73"/>
    <p:sldId id="1192" r:id="rId74"/>
    <p:sldId id="1374" r:id="rId75"/>
    <p:sldId id="1442" r:id="rId76"/>
    <p:sldId id="1429" r:id="rId77"/>
    <p:sldId id="1414" r:id="rId78"/>
    <p:sldId id="1449" r:id="rId79"/>
    <p:sldId id="1450" r:id="rId80"/>
  </p:sldIdLst>
  <p:sldSz cx="9144000" cy="6858000" type="screen4x3"/>
  <p:notesSz cx="7010400" cy="9236075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910">
          <p15:clr>
            <a:srgbClr val="A4A3A4"/>
          </p15:clr>
        </p15:guide>
        <p15:guide id="2" pos="2209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6E6EA"/>
    <a:srgbClr val="FAE2F6"/>
    <a:srgbClr val="170981"/>
    <a:srgbClr val="121328"/>
    <a:srgbClr val="8FF9EF"/>
    <a:srgbClr val="993300"/>
    <a:srgbClr val="00CE98"/>
    <a:srgbClr val="FFFF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482" autoAdjust="0"/>
    <p:restoredTop sz="96747" autoAdjust="0"/>
  </p:normalViewPr>
  <p:slideViewPr>
    <p:cSldViewPr>
      <p:cViewPr>
        <p:scale>
          <a:sx n="100" d="100"/>
          <a:sy n="100" d="100"/>
        </p:scale>
        <p:origin x="-246" y="-13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  <p:sldLst>
      <p:sld r:id="rId1" collapse="1"/>
    </p:sldLst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1302"/>
    </p:cViewPr>
  </p:sorterViewPr>
  <p:notesViewPr>
    <p:cSldViewPr>
      <p:cViewPr varScale="1">
        <p:scale>
          <a:sx n="38" d="100"/>
          <a:sy n="38" d="100"/>
        </p:scale>
        <p:origin x="-1530" y="-72"/>
      </p:cViewPr>
      <p:guideLst>
        <p:guide orient="horz" pos="2910"/>
        <p:guide pos="2209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viewProps" Target="viewProps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slide" Target="slides/slide76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slide" Target="slides/slide79.xml"/><Relationship Id="rId85" Type="http://schemas.openxmlformats.org/officeDocument/2006/relationships/theme" Target="theme/theme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notesMaster" Target="notesMasters/notesMaster1.xml"/><Relationship Id="rId86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61" Type="http://schemas.openxmlformats.org/officeDocument/2006/relationships/slide" Target="slides/slide60.xml"/><Relationship Id="rId82" Type="http://schemas.openxmlformats.org/officeDocument/2006/relationships/handoutMaster" Target="handoutMasters/handoutMaster1.xml"/></Relationships>
</file>

<file path=ppt/_rels/viewProps.xml.rels><?xml version="1.0" encoding="UTF-8" standalone="yes"?>
<Relationships xmlns="http://schemas.openxmlformats.org/package/2006/relationships"><Relationship Id="rId1" Type="http://schemas.openxmlformats.org/officeDocument/2006/relationships/slide" Target="slides/slide17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2.w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5.w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10.emf"/></Relationships>
</file>

<file path=ppt/drawings/_rels/vmlDrawing4.vml.rels><?xml version="1.0" encoding="UTF-8" standalone="yes"?>
<Relationships xmlns="http://schemas.openxmlformats.org/package/2006/relationships"><Relationship Id="rId3" Type="http://schemas.openxmlformats.org/officeDocument/2006/relationships/image" Target="../media/image13.wmf"/><Relationship Id="rId2" Type="http://schemas.openxmlformats.org/officeDocument/2006/relationships/image" Target="../media/image12.wmf"/><Relationship Id="rId1" Type="http://schemas.openxmlformats.org/officeDocument/2006/relationships/image" Target="../media/image11.wmf"/></Relationships>
</file>

<file path=ppt/drawings/_rels/vmlDrawing5.vml.rels><?xml version="1.0" encoding="UTF-8" standalone="yes"?>
<Relationships xmlns="http://schemas.openxmlformats.org/package/2006/relationships"><Relationship Id="rId3" Type="http://schemas.openxmlformats.org/officeDocument/2006/relationships/image" Target="../media/image16.wmf"/><Relationship Id="rId7" Type="http://schemas.openxmlformats.org/officeDocument/2006/relationships/image" Target="../media/image20.wmf"/><Relationship Id="rId2" Type="http://schemas.openxmlformats.org/officeDocument/2006/relationships/image" Target="../media/image15.wmf"/><Relationship Id="rId1" Type="http://schemas.openxmlformats.org/officeDocument/2006/relationships/image" Target="../media/image14.emf"/><Relationship Id="rId6" Type="http://schemas.openxmlformats.org/officeDocument/2006/relationships/image" Target="../media/image19.wmf"/><Relationship Id="rId5" Type="http://schemas.openxmlformats.org/officeDocument/2006/relationships/image" Target="../media/image18.emf"/><Relationship Id="rId4" Type="http://schemas.openxmlformats.org/officeDocument/2006/relationships/image" Target="../media/image17.wmf"/></Relationships>
</file>

<file path=ppt/drawings/_rels/vmlDrawing6.vml.rels><?xml version="1.0" encoding="UTF-8" standalone="yes"?>
<Relationships xmlns="http://schemas.openxmlformats.org/package/2006/relationships"><Relationship Id="rId1" Type="http://schemas.openxmlformats.org/officeDocument/2006/relationships/image" Target="../media/image21.wmf"/></Relationships>
</file>

<file path=ppt/drawings/_rels/vmlDrawing7.vml.rels><?xml version="1.0" encoding="UTF-8" standalone="yes"?>
<Relationships xmlns="http://schemas.openxmlformats.org/package/2006/relationships"><Relationship Id="rId3" Type="http://schemas.openxmlformats.org/officeDocument/2006/relationships/image" Target="../media/image25.wmf"/><Relationship Id="rId2" Type="http://schemas.openxmlformats.org/officeDocument/2006/relationships/image" Target="../media/image24.wmf"/><Relationship Id="rId1" Type="http://schemas.openxmlformats.org/officeDocument/2006/relationships/image" Target="../media/image23.wmf"/></Relationships>
</file>

<file path=ppt/drawings/_rels/vmlDrawing8.vml.rels><?xml version="1.0" encoding="UTF-8" standalone="yes"?>
<Relationships xmlns="http://schemas.openxmlformats.org/package/2006/relationships"><Relationship Id="rId2" Type="http://schemas.openxmlformats.org/officeDocument/2006/relationships/image" Target="../media/image27.wmf"/><Relationship Id="rId1" Type="http://schemas.openxmlformats.org/officeDocument/2006/relationships/image" Target="../media/image26.wmf"/></Relationships>
</file>

<file path=ppt/drawings/_rels/vmlDrawing9.vml.rels><?xml version="1.0" encoding="UTF-8" standalone="yes"?>
<Relationships xmlns="http://schemas.openxmlformats.org/package/2006/relationships"><Relationship Id="rId1" Type="http://schemas.openxmlformats.org/officeDocument/2006/relationships/image" Target="../media/image29.emf"/></Relationships>
</file>

<file path=ppt/drawings/_rels/vmlDrawing10.vml.rels><?xml version="1.0" encoding="UTF-8" standalone="yes"?>
<Relationships xmlns="http://schemas.openxmlformats.org/package/2006/relationships"><Relationship Id="rId1" Type="http://schemas.openxmlformats.org/officeDocument/2006/relationships/image" Target="../media/image33.wmf"/></Relationships>
</file>

<file path=ppt/drawings/_rels/vmlDrawing11.vml.rels><?xml version="1.0" encoding="UTF-8" standalone="yes"?>
<Relationships xmlns="http://schemas.openxmlformats.org/package/2006/relationships"><Relationship Id="rId2" Type="http://schemas.openxmlformats.org/officeDocument/2006/relationships/image" Target="../media/image35.wmf"/><Relationship Id="rId1" Type="http://schemas.openxmlformats.org/officeDocument/2006/relationships/image" Target="../media/image34.wmf"/></Relationships>
</file>

<file path=ppt/drawings/_rels/vmlDrawing12.vml.rels><?xml version="1.0" encoding="UTF-8" standalone="yes"?>
<Relationships xmlns="http://schemas.openxmlformats.org/package/2006/relationships"><Relationship Id="rId3" Type="http://schemas.openxmlformats.org/officeDocument/2006/relationships/image" Target="../media/image38.wmf"/><Relationship Id="rId2" Type="http://schemas.openxmlformats.org/officeDocument/2006/relationships/image" Target="../media/image37.wmf"/><Relationship Id="rId1" Type="http://schemas.openxmlformats.org/officeDocument/2006/relationships/image" Target="../media/image36.wmf"/></Relationships>
</file>

<file path=ppt/drawings/_rels/vmlDrawing13.vml.rels><?xml version="1.0" encoding="UTF-8" standalone="yes"?>
<Relationships xmlns="http://schemas.openxmlformats.org/package/2006/relationships"><Relationship Id="rId1" Type="http://schemas.openxmlformats.org/officeDocument/2006/relationships/image" Target="../media/image39.emf"/></Relationships>
</file>

<file path=ppt/drawings/_rels/vmlDrawing14.vml.rels><?xml version="1.0" encoding="UTF-8" standalone="yes"?>
<Relationships xmlns="http://schemas.openxmlformats.org/package/2006/relationships"><Relationship Id="rId1" Type="http://schemas.openxmlformats.org/officeDocument/2006/relationships/image" Target="../media/image39.emf"/></Relationships>
</file>

<file path=ppt/drawings/_rels/vmlDrawing15.vml.rels><?xml version="1.0" encoding="UTF-8" standalone="yes"?>
<Relationships xmlns="http://schemas.openxmlformats.org/package/2006/relationships"><Relationship Id="rId1" Type="http://schemas.openxmlformats.org/officeDocument/2006/relationships/image" Target="../media/image40.wmf"/></Relationships>
</file>

<file path=ppt/drawings/_rels/vmlDrawing16.vml.rels><?xml version="1.0" encoding="UTF-8" standalone="yes"?>
<Relationships xmlns="http://schemas.openxmlformats.org/package/2006/relationships"><Relationship Id="rId2" Type="http://schemas.openxmlformats.org/officeDocument/2006/relationships/image" Target="../media/image42.wmf"/><Relationship Id="rId1" Type="http://schemas.openxmlformats.org/officeDocument/2006/relationships/image" Target="../media/image41.wmf"/></Relationships>
</file>

<file path=ppt/drawings/_rels/vmlDrawing17.vml.rels><?xml version="1.0" encoding="UTF-8" standalone="yes"?>
<Relationships xmlns="http://schemas.openxmlformats.org/package/2006/relationships"><Relationship Id="rId2" Type="http://schemas.openxmlformats.org/officeDocument/2006/relationships/image" Target="../media/image58.wmf"/><Relationship Id="rId1" Type="http://schemas.openxmlformats.org/officeDocument/2006/relationships/image" Target="../media/image57.wmf"/></Relationships>
</file>

<file path=ppt/drawings/_rels/vmlDrawing18.vml.rels><?xml version="1.0" encoding="UTF-8" standalone="yes"?>
<Relationships xmlns="http://schemas.openxmlformats.org/package/2006/relationships"><Relationship Id="rId3" Type="http://schemas.openxmlformats.org/officeDocument/2006/relationships/image" Target="../media/image62.wmf"/><Relationship Id="rId2" Type="http://schemas.openxmlformats.org/officeDocument/2006/relationships/image" Target="../media/image61.wmf"/><Relationship Id="rId1" Type="http://schemas.openxmlformats.org/officeDocument/2006/relationships/image" Target="../media/image60.wmf"/><Relationship Id="rId4" Type="http://schemas.openxmlformats.org/officeDocument/2006/relationships/image" Target="../media/image63.w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906" name="Rectangle 2">
            <a:extLst>
              <a:ext uri="{FF2B5EF4-FFF2-40B4-BE49-F238E27FC236}">
                <a16:creationId xmlns:a16="http://schemas.microsoft.com/office/drawing/2014/main" id="{0239740A-F313-4CCC-84DE-5C425739BBA6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475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170" tIns="46586" rIns="93170" bIns="46586" numCol="1" anchor="t" anchorCtr="0" compatLnSpc="1">
            <a:prstTxWarp prst="textNoShape">
              <a:avLst/>
            </a:prstTxWarp>
          </a:bodyPr>
          <a:lstStyle>
            <a:lvl1pPr defTabSz="931863" eaLnBrk="0" hangingPunct="0">
              <a:defRPr sz="120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23907" name="Rectangle 3">
            <a:extLst>
              <a:ext uri="{FF2B5EF4-FFF2-40B4-BE49-F238E27FC236}">
                <a16:creationId xmlns:a16="http://schemas.microsoft.com/office/drawing/2014/main" id="{2670F3F6-2CD6-4641-8039-4CBB38AF5BD1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971925" y="0"/>
            <a:ext cx="3038475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170" tIns="46586" rIns="93170" bIns="46586" numCol="1" anchor="t" anchorCtr="0" compatLnSpc="1">
            <a:prstTxWarp prst="textNoShape">
              <a:avLst/>
            </a:prstTxWarp>
          </a:bodyPr>
          <a:lstStyle>
            <a:lvl1pPr algn="r" defTabSz="931863" eaLnBrk="0" hangingPunct="0">
              <a:defRPr sz="120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23908" name="Rectangle 4">
            <a:extLst>
              <a:ext uri="{FF2B5EF4-FFF2-40B4-BE49-F238E27FC236}">
                <a16:creationId xmlns:a16="http://schemas.microsoft.com/office/drawing/2014/main" id="{585F46EB-4D68-4972-A124-93BD91A9C794}"/>
              </a:ext>
            </a:extLst>
          </p:cNvPr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774113"/>
            <a:ext cx="3038475" cy="4619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170" tIns="46586" rIns="93170" bIns="46586" numCol="1" anchor="b" anchorCtr="0" compatLnSpc="1">
            <a:prstTxWarp prst="textNoShape">
              <a:avLst/>
            </a:prstTxWarp>
          </a:bodyPr>
          <a:lstStyle>
            <a:lvl1pPr defTabSz="931863" eaLnBrk="0" hangingPunct="0">
              <a:defRPr sz="120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23909" name="Rectangle 5">
            <a:extLst>
              <a:ext uri="{FF2B5EF4-FFF2-40B4-BE49-F238E27FC236}">
                <a16:creationId xmlns:a16="http://schemas.microsoft.com/office/drawing/2014/main" id="{951386BD-3E81-4243-B933-616FB228B856}"/>
              </a:ext>
            </a:extLst>
          </p:cNvPr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971925" y="8774113"/>
            <a:ext cx="3038475" cy="4619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170" tIns="46586" rIns="93170" bIns="46586" numCol="1" anchor="b" anchorCtr="0" compatLnSpc="1">
            <a:prstTxWarp prst="textNoShape">
              <a:avLst/>
            </a:prstTxWarp>
          </a:bodyPr>
          <a:lstStyle>
            <a:lvl1pPr algn="r" defTabSz="931863" eaLnBrk="0" hangingPunct="0">
              <a:defRPr sz="1200">
                <a:latin typeface="Times New Roman" panose="02020603050405020304" pitchFamily="18" charset="0"/>
              </a:defRPr>
            </a:lvl1pPr>
          </a:lstStyle>
          <a:p>
            <a:fld id="{E3F883DC-ABC7-44B8-A55A-31931E167182}" type="slidenum">
              <a:rPr lang="en-US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>
            <a:extLst>
              <a:ext uri="{FF2B5EF4-FFF2-40B4-BE49-F238E27FC236}">
                <a16:creationId xmlns:a16="http://schemas.microsoft.com/office/drawing/2014/main" id="{DE14747E-9C11-41E2-9440-4B9559630C36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475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170" tIns="46586" rIns="93170" bIns="46586" numCol="1" anchor="t" anchorCtr="0" compatLnSpc="1">
            <a:prstTxWarp prst="textNoShape">
              <a:avLst/>
            </a:prstTxWarp>
          </a:bodyPr>
          <a:lstStyle>
            <a:lvl1pPr defTabSz="931863" eaLnBrk="0" hangingPunct="0">
              <a:defRPr sz="120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3315" name="Rectangle 3">
            <a:extLst>
              <a:ext uri="{FF2B5EF4-FFF2-40B4-BE49-F238E27FC236}">
                <a16:creationId xmlns:a16="http://schemas.microsoft.com/office/drawing/2014/main" id="{142C07AE-090B-4A30-A561-EEA6137E9647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971925" y="0"/>
            <a:ext cx="3038475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170" tIns="46586" rIns="93170" bIns="46586" numCol="1" anchor="t" anchorCtr="0" compatLnSpc="1">
            <a:prstTxWarp prst="textNoShape">
              <a:avLst/>
            </a:prstTxWarp>
          </a:bodyPr>
          <a:lstStyle>
            <a:lvl1pPr algn="r" defTabSz="931863" eaLnBrk="0" hangingPunct="0">
              <a:defRPr sz="120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3972" name="Rectangle 4">
            <a:extLst>
              <a:ext uri="{FF2B5EF4-FFF2-40B4-BE49-F238E27FC236}">
                <a16:creationId xmlns:a16="http://schemas.microsoft.com/office/drawing/2014/main" id="{22D6C2A6-ADF1-46B2-B17A-91B298D3C870}"/>
              </a:ext>
            </a:extLst>
          </p:cNvPr>
          <p:cNvSpPr>
            <a:spLocks noChangeArrowheads="1" noTextEdit="1"/>
          </p:cNvSpPr>
          <p:nvPr>
            <p:ph type="sldImg" idx="2"/>
          </p:nvPr>
        </p:nvSpPr>
        <p:spPr bwMode="auto">
          <a:xfrm>
            <a:off x="1195388" y="692150"/>
            <a:ext cx="4619625" cy="346392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3317" name="Rectangle 5">
            <a:extLst>
              <a:ext uri="{FF2B5EF4-FFF2-40B4-BE49-F238E27FC236}">
                <a16:creationId xmlns:a16="http://schemas.microsoft.com/office/drawing/2014/main" id="{037B9938-B223-40FE-88D4-4212721E2070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35038" y="4387850"/>
            <a:ext cx="5140325" cy="4156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170" tIns="46586" rIns="93170" bIns="46586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3318" name="Rectangle 6">
            <a:extLst>
              <a:ext uri="{FF2B5EF4-FFF2-40B4-BE49-F238E27FC236}">
                <a16:creationId xmlns:a16="http://schemas.microsoft.com/office/drawing/2014/main" id="{A8056EED-FACE-452D-A265-6B94DCE02CEA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774113"/>
            <a:ext cx="3038475" cy="4619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170" tIns="46586" rIns="93170" bIns="46586" numCol="1" anchor="b" anchorCtr="0" compatLnSpc="1">
            <a:prstTxWarp prst="textNoShape">
              <a:avLst/>
            </a:prstTxWarp>
          </a:bodyPr>
          <a:lstStyle>
            <a:lvl1pPr defTabSz="931863" eaLnBrk="0" hangingPunct="0">
              <a:defRPr sz="120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3319" name="Rectangle 7">
            <a:extLst>
              <a:ext uri="{FF2B5EF4-FFF2-40B4-BE49-F238E27FC236}">
                <a16:creationId xmlns:a16="http://schemas.microsoft.com/office/drawing/2014/main" id="{FE1BCA35-160C-4448-B68C-9BCE2F10C6E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971925" y="8774113"/>
            <a:ext cx="3038475" cy="4619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170" tIns="46586" rIns="93170" bIns="46586" numCol="1" anchor="b" anchorCtr="0" compatLnSpc="1">
            <a:prstTxWarp prst="textNoShape">
              <a:avLst/>
            </a:prstTxWarp>
          </a:bodyPr>
          <a:lstStyle>
            <a:lvl1pPr algn="r" defTabSz="931863" eaLnBrk="0" hangingPunct="0">
              <a:defRPr sz="1200">
                <a:latin typeface="Times New Roman" panose="02020603050405020304" pitchFamily="18" charset="0"/>
              </a:defRPr>
            </a:lvl1pPr>
          </a:lstStyle>
          <a:p>
            <a:fld id="{48AA3ACA-C48E-4FB1-9C07-F4249B07E04A}" type="slidenum">
              <a:rPr lang="en-US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1.xml"/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2.xml"/><Relationship Id="rId1" Type="http://schemas.openxmlformats.org/officeDocument/2006/relationships/notesMaster" Target="../notesMasters/notesMaster1.xml"/></Relationships>
</file>

<file path=ppt/notesSlides/_rels/notesSlide7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3.xml"/><Relationship Id="rId1" Type="http://schemas.openxmlformats.org/officeDocument/2006/relationships/notesMaster" Target="../notesMasters/notesMaster1.xml"/></Relationships>
</file>

<file path=ppt/notesSlides/_rels/notesSlide7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4.xml"/><Relationship Id="rId1" Type="http://schemas.openxmlformats.org/officeDocument/2006/relationships/notesMaster" Target="../notesMasters/notesMaster1.xml"/></Relationships>
</file>

<file path=ppt/notesSlides/_rels/notesSlide7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5.xml"/><Relationship Id="rId1" Type="http://schemas.openxmlformats.org/officeDocument/2006/relationships/notesMaster" Target="../notesMasters/notesMaster1.xml"/></Relationships>
</file>

<file path=ppt/notesSlides/_rels/notesSlide7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6.xml"/><Relationship Id="rId1" Type="http://schemas.openxmlformats.org/officeDocument/2006/relationships/notesMaster" Target="../notesMasters/notesMaster1.xml"/></Relationships>
</file>

<file path=ppt/notesSlides/_rels/notesSlide7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7.xml"/><Relationship Id="rId1" Type="http://schemas.openxmlformats.org/officeDocument/2006/relationships/notesMaster" Target="../notesMasters/notesMaster1.xml"/></Relationships>
</file>

<file path=ppt/notesSlides/_rels/notesSlide7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8.xml"/><Relationship Id="rId1" Type="http://schemas.openxmlformats.org/officeDocument/2006/relationships/notesMaster" Target="../notesMasters/notesMaster1.xml"/></Relationships>
</file>

<file path=ppt/notesSlides/_rels/notesSlide7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Rectangle 7">
            <a:extLst>
              <a:ext uri="{FF2B5EF4-FFF2-40B4-BE49-F238E27FC236}">
                <a16:creationId xmlns:a16="http://schemas.microsoft.com/office/drawing/2014/main" id="{343F03BB-0E1E-423A-AA13-DEB010166EE0}"/>
              </a:ext>
            </a:extLst>
          </p:cNvPr>
          <p:cNvSpPr txBox="1">
            <a:spLocks noGrp="1" noChangeArrowheads="1"/>
          </p:cNvSpPr>
          <p:nvPr/>
        </p:nvSpPr>
        <p:spPr bwMode="auto">
          <a:xfrm>
            <a:off x="3971925" y="8774113"/>
            <a:ext cx="3038475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3170" tIns="46586" rIns="93170" bIns="46586" anchor="b"/>
          <a:lstStyle>
            <a:lvl1pPr defTabSz="931863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defTabSz="931863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defTabSz="931863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defTabSz="931863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defTabSz="931863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r"/>
            <a:fld id="{9B5EE9E8-8E04-4493-8E6C-A65B05A1CF00}" type="slidenum">
              <a:rPr lang="zh-CN" altLang="en-US" sz="1200">
                <a:latin typeface="Times New Roman" panose="02020603050405020304" pitchFamily="18" charset="0"/>
              </a:rPr>
              <a:pPr algn="r"/>
              <a:t>1</a:t>
            </a:fld>
            <a:endParaRPr lang="en-US" altLang="zh-CN" sz="1200">
              <a:latin typeface="Times New Roman" panose="02020603050405020304" pitchFamily="18" charset="0"/>
            </a:endParaRPr>
          </a:p>
        </p:txBody>
      </p:sp>
      <p:sp>
        <p:nvSpPr>
          <p:cNvPr id="84995" name="Rectangle 2">
            <a:extLst>
              <a:ext uri="{FF2B5EF4-FFF2-40B4-BE49-F238E27FC236}">
                <a16:creationId xmlns:a16="http://schemas.microsoft.com/office/drawing/2014/main" id="{9A66F1F5-CFFF-496D-ABF6-35F055E92E27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4996" name="Rectangle 3">
            <a:extLst>
              <a:ext uri="{FF2B5EF4-FFF2-40B4-BE49-F238E27FC236}">
                <a16:creationId xmlns:a16="http://schemas.microsoft.com/office/drawing/2014/main" id="{2096EC11-E67C-49BD-8736-6A8AAD0222A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8" name="Rectangle 7">
            <a:extLst>
              <a:ext uri="{FF2B5EF4-FFF2-40B4-BE49-F238E27FC236}">
                <a16:creationId xmlns:a16="http://schemas.microsoft.com/office/drawing/2014/main" id="{6B021A6F-22BF-4ACE-8F12-A60BACB934B0}"/>
              </a:ext>
            </a:extLst>
          </p:cNvPr>
          <p:cNvSpPr txBox="1">
            <a:spLocks noGrp="1" noChangeArrowheads="1"/>
          </p:cNvSpPr>
          <p:nvPr/>
        </p:nvSpPr>
        <p:spPr bwMode="auto">
          <a:xfrm>
            <a:off x="3971925" y="8774113"/>
            <a:ext cx="3038475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3170" tIns="46586" rIns="93170" bIns="46586" anchor="b"/>
          <a:lstStyle>
            <a:lvl1pPr defTabSz="931863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defTabSz="931863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defTabSz="931863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defTabSz="931863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defTabSz="931863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r"/>
            <a:fld id="{43DE9057-B8FF-438A-9110-AED26D8DAB7A}" type="slidenum">
              <a:rPr lang="en-US" altLang="en-US" sz="1200">
                <a:latin typeface="Times New Roman" panose="02020603050405020304" pitchFamily="18" charset="0"/>
              </a:rPr>
              <a:pPr algn="r"/>
              <a:t>3</a:t>
            </a:fld>
            <a:endParaRPr lang="en-US" altLang="en-US" sz="1200">
              <a:latin typeface="Times New Roman" panose="02020603050405020304" pitchFamily="18" charset="0"/>
            </a:endParaRPr>
          </a:p>
        </p:txBody>
      </p:sp>
      <p:sp>
        <p:nvSpPr>
          <p:cNvPr id="86019" name="Rectangle 2">
            <a:extLst>
              <a:ext uri="{FF2B5EF4-FFF2-40B4-BE49-F238E27FC236}">
                <a16:creationId xmlns:a16="http://schemas.microsoft.com/office/drawing/2014/main" id="{AADCCFCA-A14F-4DEA-9DCD-15A7368D01F4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6020" name="Rectangle 3">
            <a:extLst>
              <a:ext uri="{FF2B5EF4-FFF2-40B4-BE49-F238E27FC236}">
                <a16:creationId xmlns:a16="http://schemas.microsoft.com/office/drawing/2014/main" id="{D0322BC1-64BB-4D92-AB97-9E930A3917B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2" name="Rectangle 7">
            <a:extLst>
              <a:ext uri="{FF2B5EF4-FFF2-40B4-BE49-F238E27FC236}">
                <a16:creationId xmlns:a16="http://schemas.microsoft.com/office/drawing/2014/main" id="{C9885707-3ECD-4B92-8EFE-66BC6567947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1863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defTabSz="931863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defTabSz="931863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defTabSz="931863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defTabSz="931863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fld id="{CF65DF89-443D-48E6-963D-EC796DE3EB80}" type="slidenum">
              <a:rPr lang="en-US" altLang="en-US">
                <a:latin typeface="Times New Roman" panose="02020603050405020304" pitchFamily="18" charset="0"/>
              </a:rPr>
              <a:pPr/>
              <a:t>4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87043" name="Rectangle 2">
            <a:extLst>
              <a:ext uri="{FF2B5EF4-FFF2-40B4-BE49-F238E27FC236}">
                <a16:creationId xmlns:a16="http://schemas.microsoft.com/office/drawing/2014/main" id="{917D6791-DF3E-4726-B971-8D93EFA0104F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xfrm>
            <a:off x="1206500" y="698500"/>
            <a:ext cx="4602163" cy="3451225"/>
          </a:xfrm>
          <a:ln w="12700" cap="flat">
            <a:solidFill>
              <a:schemeClr val="tx1"/>
            </a:solidFill>
          </a:ln>
        </p:spPr>
      </p:sp>
      <p:sp>
        <p:nvSpPr>
          <p:cNvPr id="87044" name="Rectangle 3">
            <a:extLst>
              <a:ext uri="{FF2B5EF4-FFF2-40B4-BE49-F238E27FC236}">
                <a16:creationId xmlns:a16="http://schemas.microsoft.com/office/drawing/2014/main" id="{261EDC80-EA41-4863-BA4D-FC2845EA8280}"/>
              </a:ext>
            </a:extLst>
          </p:cNvPr>
          <p:cNvSpPr>
            <a:spLocks noChangeArrowheads="1"/>
          </p:cNvSpPr>
          <p:nvPr>
            <p:ph type="body" idx="1"/>
          </p:nvPr>
        </p:nvSpPr>
        <p:spPr>
          <a:xfrm>
            <a:off x="935038" y="4387850"/>
            <a:ext cx="5140325" cy="4157663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7348" tIns="43673" rIns="87348" bIns="43673"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6" name="Rectangle 7">
            <a:extLst>
              <a:ext uri="{FF2B5EF4-FFF2-40B4-BE49-F238E27FC236}">
                <a16:creationId xmlns:a16="http://schemas.microsoft.com/office/drawing/2014/main" id="{766B39E0-D043-44D8-B14C-2C7F6083708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1863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defTabSz="931863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defTabSz="931863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defTabSz="931863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defTabSz="931863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fld id="{457EEF24-9370-4D23-91B7-573825FCB54E}" type="slidenum">
              <a:rPr lang="en-US" altLang="en-US">
                <a:latin typeface="Times New Roman" panose="02020603050405020304" pitchFamily="18" charset="0"/>
              </a:rPr>
              <a:pPr/>
              <a:t>5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88067" name="Rectangle 2">
            <a:extLst>
              <a:ext uri="{FF2B5EF4-FFF2-40B4-BE49-F238E27FC236}">
                <a16:creationId xmlns:a16="http://schemas.microsoft.com/office/drawing/2014/main" id="{2931EC5A-5257-44D5-AE31-9C847713C74B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xfrm>
            <a:off x="1206500" y="698500"/>
            <a:ext cx="4602163" cy="3451225"/>
          </a:xfrm>
          <a:ln w="12700" cap="flat">
            <a:solidFill>
              <a:schemeClr val="tx1"/>
            </a:solidFill>
          </a:ln>
        </p:spPr>
      </p:sp>
      <p:sp>
        <p:nvSpPr>
          <p:cNvPr id="88068" name="Rectangle 3">
            <a:extLst>
              <a:ext uri="{FF2B5EF4-FFF2-40B4-BE49-F238E27FC236}">
                <a16:creationId xmlns:a16="http://schemas.microsoft.com/office/drawing/2014/main" id="{34A076F1-5983-4EB9-A599-D8EF424A5A9C}"/>
              </a:ext>
            </a:extLst>
          </p:cNvPr>
          <p:cNvSpPr>
            <a:spLocks noChangeArrowheads="1"/>
          </p:cNvSpPr>
          <p:nvPr>
            <p:ph type="body" idx="1"/>
          </p:nvPr>
        </p:nvSpPr>
        <p:spPr>
          <a:xfrm>
            <a:off x="935038" y="4387850"/>
            <a:ext cx="5140325" cy="4157663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7348" tIns="43673" rIns="87348" bIns="43673"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Rectangle 7">
            <a:extLst>
              <a:ext uri="{FF2B5EF4-FFF2-40B4-BE49-F238E27FC236}">
                <a16:creationId xmlns:a16="http://schemas.microsoft.com/office/drawing/2014/main" id="{EAD69037-2937-47AB-A5D5-062492961B1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1863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defTabSz="931863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defTabSz="931863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defTabSz="931863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defTabSz="931863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fld id="{F02D7ACA-67A5-434F-B03E-A17CA9C7334E}" type="slidenum">
              <a:rPr lang="en-US" altLang="en-US">
                <a:latin typeface="Times New Roman" panose="02020603050405020304" pitchFamily="18" charset="0"/>
              </a:rPr>
              <a:pPr/>
              <a:t>6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89091" name="Rectangle 2">
            <a:extLst>
              <a:ext uri="{FF2B5EF4-FFF2-40B4-BE49-F238E27FC236}">
                <a16:creationId xmlns:a16="http://schemas.microsoft.com/office/drawing/2014/main" id="{0AEA9401-1F9E-4807-9E2D-070EAB7F0F9B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9092" name="Rectangle 3">
            <a:extLst>
              <a:ext uri="{FF2B5EF4-FFF2-40B4-BE49-F238E27FC236}">
                <a16:creationId xmlns:a16="http://schemas.microsoft.com/office/drawing/2014/main" id="{8462B8C1-2BB2-4928-BD3C-56968C47452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14" name="Rectangle 7">
            <a:extLst>
              <a:ext uri="{FF2B5EF4-FFF2-40B4-BE49-F238E27FC236}">
                <a16:creationId xmlns:a16="http://schemas.microsoft.com/office/drawing/2014/main" id="{B83290B6-D5BB-4050-830F-92550420338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1863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defTabSz="931863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defTabSz="931863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defTabSz="931863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defTabSz="931863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fld id="{1AFDEDF4-A549-4EA1-B9EE-97549D77076C}" type="slidenum">
              <a:rPr lang="en-US" altLang="en-US">
                <a:latin typeface="Times New Roman" panose="02020603050405020304" pitchFamily="18" charset="0"/>
              </a:rPr>
              <a:pPr/>
              <a:t>7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90115" name="Rectangle 2">
            <a:extLst>
              <a:ext uri="{FF2B5EF4-FFF2-40B4-BE49-F238E27FC236}">
                <a16:creationId xmlns:a16="http://schemas.microsoft.com/office/drawing/2014/main" id="{4634C728-D10D-4626-9475-AB85FE9BBE98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0116" name="Rectangle 3">
            <a:extLst>
              <a:ext uri="{FF2B5EF4-FFF2-40B4-BE49-F238E27FC236}">
                <a16:creationId xmlns:a16="http://schemas.microsoft.com/office/drawing/2014/main" id="{CFFF25CA-67A1-4925-B524-9BF066E4288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38" name="Rectangle 7">
            <a:extLst>
              <a:ext uri="{FF2B5EF4-FFF2-40B4-BE49-F238E27FC236}">
                <a16:creationId xmlns:a16="http://schemas.microsoft.com/office/drawing/2014/main" id="{F143DDA6-9AA6-479C-A78E-DDF4E345810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1863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defTabSz="931863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defTabSz="931863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defTabSz="931863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defTabSz="931863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fld id="{0C8D2677-6AAF-4DDF-87C6-568B80576994}" type="slidenum">
              <a:rPr lang="en-US" altLang="en-US">
                <a:latin typeface="Times New Roman" panose="02020603050405020304" pitchFamily="18" charset="0"/>
              </a:rPr>
              <a:pPr/>
              <a:t>8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91139" name="Rectangle 2">
            <a:extLst>
              <a:ext uri="{FF2B5EF4-FFF2-40B4-BE49-F238E27FC236}">
                <a16:creationId xmlns:a16="http://schemas.microsoft.com/office/drawing/2014/main" id="{CE0AB513-A3B4-4831-B3E4-9F92B1685849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1140" name="Rectangle 3">
            <a:extLst>
              <a:ext uri="{FF2B5EF4-FFF2-40B4-BE49-F238E27FC236}">
                <a16:creationId xmlns:a16="http://schemas.microsoft.com/office/drawing/2014/main" id="{B9FB420E-3A05-4DB1-B8CE-AB9F06ED261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2" name="Rectangle 7">
            <a:extLst>
              <a:ext uri="{FF2B5EF4-FFF2-40B4-BE49-F238E27FC236}">
                <a16:creationId xmlns:a16="http://schemas.microsoft.com/office/drawing/2014/main" id="{23A04299-6310-4230-848F-C87595E1FE32}"/>
              </a:ext>
            </a:extLst>
          </p:cNvPr>
          <p:cNvSpPr txBox="1">
            <a:spLocks noGrp="1" noChangeArrowheads="1"/>
          </p:cNvSpPr>
          <p:nvPr/>
        </p:nvSpPr>
        <p:spPr bwMode="auto">
          <a:xfrm>
            <a:off x="3971925" y="8774113"/>
            <a:ext cx="3038475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3170" tIns="46586" rIns="93170" bIns="46586" anchor="b"/>
          <a:lstStyle>
            <a:lvl1pPr defTabSz="931863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defTabSz="931863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defTabSz="931863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defTabSz="931863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defTabSz="931863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r"/>
            <a:fld id="{A79FBE79-32E0-40D9-964E-CD89D99A7701}" type="slidenum">
              <a:rPr lang="en-US" altLang="en-US" sz="1200">
                <a:latin typeface="Times New Roman" panose="02020603050405020304" pitchFamily="18" charset="0"/>
              </a:rPr>
              <a:pPr algn="r"/>
              <a:t>9</a:t>
            </a:fld>
            <a:endParaRPr lang="en-US" altLang="en-US" sz="1200">
              <a:latin typeface="Times New Roman" panose="02020603050405020304" pitchFamily="18" charset="0"/>
            </a:endParaRPr>
          </a:p>
        </p:txBody>
      </p:sp>
      <p:sp>
        <p:nvSpPr>
          <p:cNvPr id="92163" name="Rectangle 2">
            <a:extLst>
              <a:ext uri="{FF2B5EF4-FFF2-40B4-BE49-F238E27FC236}">
                <a16:creationId xmlns:a16="http://schemas.microsoft.com/office/drawing/2014/main" id="{7329426E-263A-43B8-A709-4F495D07AE96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2164" name="Rectangle 3">
            <a:extLst>
              <a:ext uri="{FF2B5EF4-FFF2-40B4-BE49-F238E27FC236}">
                <a16:creationId xmlns:a16="http://schemas.microsoft.com/office/drawing/2014/main" id="{C5B65A19-E79E-4DD1-8EF3-7D2EC4A8397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Rectangle 7">
            <a:extLst>
              <a:ext uri="{FF2B5EF4-FFF2-40B4-BE49-F238E27FC236}">
                <a16:creationId xmlns:a16="http://schemas.microsoft.com/office/drawing/2014/main" id="{39BB5718-8A02-4C41-BD54-507EB86FA1A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1863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defTabSz="931863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defTabSz="931863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defTabSz="931863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defTabSz="931863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fld id="{65DBB5DA-C9E8-4166-A7A5-03CE86A51D10}" type="slidenum">
              <a:rPr lang="en-US" altLang="en-US">
                <a:latin typeface="Times New Roman" panose="02020603050405020304" pitchFamily="18" charset="0"/>
              </a:rPr>
              <a:pPr/>
              <a:t>10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93187" name="Rectangle 2">
            <a:extLst>
              <a:ext uri="{FF2B5EF4-FFF2-40B4-BE49-F238E27FC236}">
                <a16:creationId xmlns:a16="http://schemas.microsoft.com/office/drawing/2014/main" id="{36480725-7E3C-475D-A3B1-1ACC70CFA047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3188" name="Rectangle 3">
            <a:extLst>
              <a:ext uri="{FF2B5EF4-FFF2-40B4-BE49-F238E27FC236}">
                <a16:creationId xmlns:a16="http://schemas.microsoft.com/office/drawing/2014/main" id="{F7CC7AE7-FE49-4BB1-85B9-85CD620E3B2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10" name="Rectangle 7">
            <a:extLst>
              <a:ext uri="{FF2B5EF4-FFF2-40B4-BE49-F238E27FC236}">
                <a16:creationId xmlns:a16="http://schemas.microsoft.com/office/drawing/2014/main" id="{238F8CC4-2F13-427D-B0FC-7F73C3957C7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1863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defTabSz="931863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defTabSz="931863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defTabSz="931863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defTabSz="931863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fld id="{0C0922C4-2CDC-47B4-B600-67B93688C57C}" type="slidenum">
              <a:rPr lang="en-US" altLang="en-US">
                <a:latin typeface="Times New Roman" panose="02020603050405020304" pitchFamily="18" charset="0"/>
              </a:rPr>
              <a:pPr/>
              <a:t>11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94211" name="Rectangle 2">
            <a:extLst>
              <a:ext uri="{FF2B5EF4-FFF2-40B4-BE49-F238E27FC236}">
                <a16:creationId xmlns:a16="http://schemas.microsoft.com/office/drawing/2014/main" id="{11E4ACA4-BD07-4A73-9214-F8BF35AF73CC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4212" name="Rectangle 3">
            <a:extLst>
              <a:ext uri="{FF2B5EF4-FFF2-40B4-BE49-F238E27FC236}">
                <a16:creationId xmlns:a16="http://schemas.microsoft.com/office/drawing/2014/main" id="{75E5007E-A11E-4D49-9596-44B00B6B7F2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34" name="Rectangle 7">
            <a:extLst>
              <a:ext uri="{FF2B5EF4-FFF2-40B4-BE49-F238E27FC236}">
                <a16:creationId xmlns:a16="http://schemas.microsoft.com/office/drawing/2014/main" id="{77791C2F-43CD-4579-9D06-E74A5DAECC6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1863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defTabSz="931863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defTabSz="931863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defTabSz="931863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defTabSz="931863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fld id="{EB0E9811-5219-4170-829B-EF6D77C1262B}" type="slidenum">
              <a:rPr lang="en-US" altLang="en-US">
                <a:latin typeface="Times New Roman" panose="02020603050405020304" pitchFamily="18" charset="0"/>
              </a:rPr>
              <a:pPr/>
              <a:t>12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95235" name="Rectangle 2">
            <a:extLst>
              <a:ext uri="{FF2B5EF4-FFF2-40B4-BE49-F238E27FC236}">
                <a16:creationId xmlns:a16="http://schemas.microsoft.com/office/drawing/2014/main" id="{38F9D1B4-C615-4A5B-868B-C86398011104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5236" name="Rectangle 3">
            <a:extLst>
              <a:ext uri="{FF2B5EF4-FFF2-40B4-BE49-F238E27FC236}">
                <a16:creationId xmlns:a16="http://schemas.microsoft.com/office/drawing/2014/main" id="{4CF4B3E5-0C8B-459A-B514-F91A06D5091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en-US"/>
              <a:t>I : the expected information needed to classify a given sample</a:t>
            </a:r>
          </a:p>
          <a:p>
            <a:r>
              <a:rPr lang="en-US" altLang="en-US"/>
              <a:t>E (entropy) : expected information based on the partitioning into subsets by A</a:t>
            </a:r>
          </a:p>
          <a:p>
            <a:r>
              <a:rPr lang="en-US" altLang="en-US"/>
              <a:t> 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58" name="Rectangle 7">
            <a:extLst>
              <a:ext uri="{FF2B5EF4-FFF2-40B4-BE49-F238E27FC236}">
                <a16:creationId xmlns:a16="http://schemas.microsoft.com/office/drawing/2014/main" id="{856DF3E7-9D06-4B04-A311-34851E4F3C7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1863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defTabSz="931863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defTabSz="931863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defTabSz="931863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defTabSz="931863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fld id="{D08D92F2-4E9A-47B1-8B21-5ACC53420A92}" type="slidenum">
              <a:rPr lang="en-US" altLang="en-US">
                <a:latin typeface="Times New Roman" panose="02020603050405020304" pitchFamily="18" charset="0"/>
              </a:rPr>
              <a:pPr/>
              <a:t>13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96259" name="Rectangle 2">
            <a:extLst>
              <a:ext uri="{FF2B5EF4-FFF2-40B4-BE49-F238E27FC236}">
                <a16:creationId xmlns:a16="http://schemas.microsoft.com/office/drawing/2014/main" id="{8938984B-AC8F-45F3-A24A-1A5FCC7C21BC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6260" name="Rectangle 3">
            <a:extLst>
              <a:ext uri="{FF2B5EF4-FFF2-40B4-BE49-F238E27FC236}">
                <a16:creationId xmlns:a16="http://schemas.microsoft.com/office/drawing/2014/main" id="{007A7831-81AD-404D-890D-17EF7C32B58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82" name="Rectangle 7">
            <a:extLst>
              <a:ext uri="{FF2B5EF4-FFF2-40B4-BE49-F238E27FC236}">
                <a16:creationId xmlns:a16="http://schemas.microsoft.com/office/drawing/2014/main" id="{5C82CB57-C182-4102-BD94-3FC253A946E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1863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defTabSz="931863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defTabSz="931863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defTabSz="931863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defTabSz="931863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fld id="{159E8690-1AC2-4664-89C9-5696514124B8}" type="slidenum">
              <a:rPr lang="en-US" altLang="en-US">
                <a:latin typeface="Times New Roman" panose="02020603050405020304" pitchFamily="18" charset="0"/>
              </a:rPr>
              <a:pPr/>
              <a:t>14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97283" name="Rectangle 2">
            <a:extLst>
              <a:ext uri="{FF2B5EF4-FFF2-40B4-BE49-F238E27FC236}">
                <a16:creationId xmlns:a16="http://schemas.microsoft.com/office/drawing/2014/main" id="{84623317-B2EF-4B14-86F5-FF656AFF79CF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7284" name="Rectangle 3">
            <a:extLst>
              <a:ext uri="{FF2B5EF4-FFF2-40B4-BE49-F238E27FC236}">
                <a16:creationId xmlns:a16="http://schemas.microsoft.com/office/drawing/2014/main" id="{05C66F8D-F93D-4D9E-9BFA-1C2FE713590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6" name="Rectangle 7">
            <a:extLst>
              <a:ext uri="{FF2B5EF4-FFF2-40B4-BE49-F238E27FC236}">
                <a16:creationId xmlns:a16="http://schemas.microsoft.com/office/drawing/2014/main" id="{09BDFC18-5898-4C02-8AF2-042AA50F4F4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1863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defTabSz="931863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defTabSz="931863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defTabSz="931863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defTabSz="931863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fld id="{49BD6B36-BC2C-410C-AC22-6060A25B6A63}" type="slidenum">
              <a:rPr lang="en-US" altLang="en-US">
                <a:latin typeface="Times New Roman" panose="02020603050405020304" pitchFamily="18" charset="0"/>
              </a:rPr>
              <a:pPr/>
              <a:t>15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98307" name="Rectangle 2">
            <a:extLst>
              <a:ext uri="{FF2B5EF4-FFF2-40B4-BE49-F238E27FC236}">
                <a16:creationId xmlns:a16="http://schemas.microsoft.com/office/drawing/2014/main" id="{F05CBBA4-F23C-4445-9E25-415C95E2DAC5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8308" name="Rectangle 3">
            <a:extLst>
              <a:ext uri="{FF2B5EF4-FFF2-40B4-BE49-F238E27FC236}">
                <a16:creationId xmlns:a16="http://schemas.microsoft.com/office/drawing/2014/main" id="{56735196-B184-495D-A8B3-5D24BA461AD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30" name="Rectangle 7">
            <a:extLst>
              <a:ext uri="{FF2B5EF4-FFF2-40B4-BE49-F238E27FC236}">
                <a16:creationId xmlns:a16="http://schemas.microsoft.com/office/drawing/2014/main" id="{B5255D4B-98D9-4466-8759-A1EB42A7580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1863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defTabSz="931863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defTabSz="931863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defTabSz="931863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defTabSz="931863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fld id="{88245AA0-5203-4000-85DF-6EF5F62843B2}" type="slidenum">
              <a:rPr lang="en-US" altLang="en-US">
                <a:latin typeface="Times New Roman" panose="02020603050405020304" pitchFamily="18" charset="0"/>
              </a:rPr>
              <a:pPr/>
              <a:t>16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99331" name="Rectangle 2">
            <a:extLst>
              <a:ext uri="{FF2B5EF4-FFF2-40B4-BE49-F238E27FC236}">
                <a16:creationId xmlns:a16="http://schemas.microsoft.com/office/drawing/2014/main" id="{B43D5C2A-4211-49F7-9287-1A5606534456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9332" name="Rectangle 3">
            <a:extLst>
              <a:ext uri="{FF2B5EF4-FFF2-40B4-BE49-F238E27FC236}">
                <a16:creationId xmlns:a16="http://schemas.microsoft.com/office/drawing/2014/main" id="{5C582BDE-CCBA-40A3-A0EB-15DD5567AB9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354" name="Rectangle 7">
            <a:extLst>
              <a:ext uri="{FF2B5EF4-FFF2-40B4-BE49-F238E27FC236}">
                <a16:creationId xmlns:a16="http://schemas.microsoft.com/office/drawing/2014/main" id="{B45EB01A-643D-4F57-9416-4D90D0F6B52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1863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defTabSz="931863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defTabSz="931863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defTabSz="931863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defTabSz="931863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fld id="{3A10FDCF-EA88-4C14-97D7-AF9A32EE7F76}" type="slidenum">
              <a:rPr lang="en-US" altLang="en-US">
                <a:latin typeface="Times New Roman" panose="02020603050405020304" pitchFamily="18" charset="0"/>
              </a:rPr>
              <a:pPr/>
              <a:t>17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00355" name="Rectangle 2">
            <a:extLst>
              <a:ext uri="{FF2B5EF4-FFF2-40B4-BE49-F238E27FC236}">
                <a16:creationId xmlns:a16="http://schemas.microsoft.com/office/drawing/2014/main" id="{2E5BA822-1EB9-418C-B2D2-1D90B84A9156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0356" name="Rectangle 3">
            <a:extLst>
              <a:ext uri="{FF2B5EF4-FFF2-40B4-BE49-F238E27FC236}">
                <a16:creationId xmlns:a16="http://schemas.microsoft.com/office/drawing/2014/main" id="{93CD4147-E9DA-4F2B-A7AB-DDD92AB370E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378" name="Rectangle 7">
            <a:extLst>
              <a:ext uri="{FF2B5EF4-FFF2-40B4-BE49-F238E27FC236}">
                <a16:creationId xmlns:a16="http://schemas.microsoft.com/office/drawing/2014/main" id="{844D7847-66E6-438A-9DE7-79609CB5877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1863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defTabSz="931863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defTabSz="931863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defTabSz="931863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defTabSz="931863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fld id="{6A6E732D-A8E4-4BC4-8232-8B5DFAED0558}" type="slidenum">
              <a:rPr lang="en-US" altLang="en-US">
                <a:latin typeface="Times New Roman" panose="02020603050405020304" pitchFamily="18" charset="0"/>
              </a:rPr>
              <a:pPr/>
              <a:t>18</a:t>
            </a:fld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02" name="Rectangle 7">
            <a:extLst>
              <a:ext uri="{FF2B5EF4-FFF2-40B4-BE49-F238E27FC236}">
                <a16:creationId xmlns:a16="http://schemas.microsoft.com/office/drawing/2014/main" id="{126D3B89-5CF5-4C12-96D3-87ED28FC597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1863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defTabSz="931863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defTabSz="931863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defTabSz="931863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defTabSz="931863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fld id="{F1B0FD10-67DB-4E28-BEC5-B135A0842376}" type="slidenum">
              <a:rPr lang="en-US" altLang="en-US">
                <a:latin typeface="Times New Roman" panose="02020603050405020304" pitchFamily="18" charset="0"/>
              </a:rPr>
              <a:pPr/>
              <a:t>19</a:t>
            </a:fld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426" name="Rectangle 7">
            <a:extLst>
              <a:ext uri="{FF2B5EF4-FFF2-40B4-BE49-F238E27FC236}">
                <a16:creationId xmlns:a16="http://schemas.microsoft.com/office/drawing/2014/main" id="{0737D189-38F4-4722-8118-BB0597E3D56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1863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defTabSz="931863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defTabSz="931863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defTabSz="931863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defTabSz="931863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fld id="{CEA6AE7E-F0F3-4DD2-9BB4-B3CEAE0A3EB7}" type="slidenum">
              <a:rPr lang="en-US" altLang="en-US">
                <a:latin typeface="Times New Roman" panose="02020603050405020304" pitchFamily="18" charset="0"/>
              </a:rPr>
              <a:pPr/>
              <a:t>20</a:t>
            </a:fld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450" name="Rectangle 7">
            <a:extLst>
              <a:ext uri="{FF2B5EF4-FFF2-40B4-BE49-F238E27FC236}">
                <a16:creationId xmlns:a16="http://schemas.microsoft.com/office/drawing/2014/main" id="{9D6609F4-CC24-4B75-9566-104A18EB817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1863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defTabSz="931863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defTabSz="931863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defTabSz="931863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defTabSz="931863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fld id="{B45720FB-7BB1-4F30-90E2-EAB2F15FF1D1}" type="slidenum">
              <a:rPr lang="en-US" altLang="en-US">
                <a:latin typeface="Times New Roman" panose="02020603050405020304" pitchFamily="18" charset="0"/>
              </a:rPr>
              <a:pPr/>
              <a:t>21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04451" name="Rectangle 2">
            <a:extLst>
              <a:ext uri="{FF2B5EF4-FFF2-40B4-BE49-F238E27FC236}">
                <a16:creationId xmlns:a16="http://schemas.microsoft.com/office/drawing/2014/main" id="{50D2A23A-66C2-4720-B65F-D29BC7C9BAF8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4452" name="Rectangle 3">
            <a:extLst>
              <a:ext uri="{FF2B5EF4-FFF2-40B4-BE49-F238E27FC236}">
                <a16:creationId xmlns:a16="http://schemas.microsoft.com/office/drawing/2014/main" id="{9413570B-F017-45FD-AA92-766DC7EDC7F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474" name="Rectangle 7">
            <a:extLst>
              <a:ext uri="{FF2B5EF4-FFF2-40B4-BE49-F238E27FC236}">
                <a16:creationId xmlns:a16="http://schemas.microsoft.com/office/drawing/2014/main" id="{0FB5E1FC-3EC0-4260-88F1-37EE95BA27E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1863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defTabSz="931863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defTabSz="931863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defTabSz="931863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defTabSz="931863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fld id="{9FFCAAFA-243C-47AF-B351-64F868C54AD6}" type="slidenum">
              <a:rPr lang="en-US" altLang="en-US">
                <a:latin typeface="Times New Roman" panose="02020603050405020304" pitchFamily="18" charset="0"/>
              </a:rPr>
              <a:pPr/>
              <a:t>22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05475" name="Rectangle 2">
            <a:extLst>
              <a:ext uri="{FF2B5EF4-FFF2-40B4-BE49-F238E27FC236}">
                <a16:creationId xmlns:a16="http://schemas.microsoft.com/office/drawing/2014/main" id="{EE2C0F20-FC74-4ACA-BFBD-95615146D85D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xfrm>
            <a:off x="1206500" y="698500"/>
            <a:ext cx="4602163" cy="3451225"/>
          </a:xfrm>
          <a:ln w="12700" cap="flat">
            <a:solidFill>
              <a:schemeClr val="tx1"/>
            </a:solidFill>
          </a:ln>
        </p:spPr>
      </p:sp>
      <p:sp>
        <p:nvSpPr>
          <p:cNvPr id="105476" name="Rectangle 3">
            <a:extLst>
              <a:ext uri="{FF2B5EF4-FFF2-40B4-BE49-F238E27FC236}">
                <a16:creationId xmlns:a16="http://schemas.microsoft.com/office/drawing/2014/main" id="{C43E70BA-73E6-48F9-A0AB-8BDBD6341CAC}"/>
              </a:ext>
            </a:extLst>
          </p:cNvPr>
          <p:cNvSpPr>
            <a:spLocks noChangeArrowheads="1"/>
          </p:cNvSpPr>
          <p:nvPr>
            <p:ph type="body" idx="1"/>
          </p:nvPr>
        </p:nvSpPr>
        <p:spPr>
          <a:xfrm>
            <a:off x="935038" y="4387850"/>
            <a:ext cx="5140325" cy="4157663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7348" tIns="43673" rIns="87348" bIns="43673"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498" name="Rectangle 7">
            <a:extLst>
              <a:ext uri="{FF2B5EF4-FFF2-40B4-BE49-F238E27FC236}">
                <a16:creationId xmlns:a16="http://schemas.microsoft.com/office/drawing/2014/main" id="{691ECCF7-3AFF-47C2-ABE6-AFD62FA6E67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1863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defTabSz="931863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defTabSz="931863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defTabSz="931863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defTabSz="931863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fld id="{3DFD59EB-75B5-42DE-9D58-D7BD3C4532FF}" type="slidenum">
              <a:rPr lang="en-US" altLang="en-US">
                <a:latin typeface="Times New Roman" panose="02020603050405020304" pitchFamily="18" charset="0"/>
              </a:rPr>
              <a:pPr/>
              <a:t>23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06499" name="Rectangle 2">
            <a:extLst>
              <a:ext uri="{FF2B5EF4-FFF2-40B4-BE49-F238E27FC236}">
                <a16:creationId xmlns:a16="http://schemas.microsoft.com/office/drawing/2014/main" id="{551EBE14-E611-48E1-B291-43FBFD65F6A1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6500" name="Rectangle 3">
            <a:extLst>
              <a:ext uri="{FF2B5EF4-FFF2-40B4-BE49-F238E27FC236}">
                <a16:creationId xmlns:a16="http://schemas.microsoft.com/office/drawing/2014/main" id="{8A80DB82-CBE7-4CEB-B859-7FBC9549D0F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22" name="Rectangle 7">
            <a:extLst>
              <a:ext uri="{FF2B5EF4-FFF2-40B4-BE49-F238E27FC236}">
                <a16:creationId xmlns:a16="http://schemas.microsoft.com/office/drawing/2014/main" id="{6ED1D461-0151-4720-ACBC-122337E2C1A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1863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defTabSz="931863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defTabSz="931863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defTabSz="931863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defTabSz="931863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fld id="{EF135EB1-291D-4B91-9B41-8750759E7CC7}" type="slidenum">
              <a:rPr lang="en-US" altLang="en-US">
                <a:latin typeface="Times New Roman" panose="02020603050405020304" pitchFamily="18" charset="0"/>
              </a:rPr>
              <a:pPr/>
              <a:t>24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07523" name="Rectangle 2">
            <a:extLst>
              <a:ext uri="{FF2B5EF4-FFF2-40B4-BE49-F238E27FC236}">
                <a16:creationId xmlns:a16="http://schemas.microsoft.com/office/drawing/2014/main" id="{D2A5BC5F-34D5-4EAC-8178-8592814770F1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7524" name="Rectangle 3">
            <a:extLst>
              <a:ext uri="{FF2B5EF4-FFF2-40B4-BE49-F238E27FC236}">
                <a16:creationId xmlns:a16="http://schemas.microsoft.com/office/drawing/2014/main" id="{A073F2EE-4649-41A7-AC96-33B0FEBFDAE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546" name="Rectangle 7">
            <a:extLst>
              <a:ext uri="{FF2B5EF4-FFF2-40B4-BE49-F238E27FC236}">
                <a16:creationId xmlns:a16="http://schemas.microsoft.com/office/drawing/2014/main" id="{4ABFC77F-0E22-42BE-8D02-718C6749003E}"/>
              </a:ext>
            </a:extLst>
          </p:cNvPr>
          <p:cNvSpPr txBox="1">
            <a:spLocks noGrp="1" noChangeArrowheads="1"/>
          </p:cNvSpPr>
          <p:nvPr/>
        </p:nvSpPr>
        <p:spPr bwMode="auto">
          <a:xfrm>
            <a:off x="3971925" y="8774113"/>
            <a:ext cx="3038475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3170" tIns="46586" rIns="93170" bIns="46586" anchor="b"/>
          <a:lstStyle>
            <a:lvl1pPr defTabSz="931863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defTabSz="931863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defTabSz="931863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defTabSz="931863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defTabSz="931863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r"/>
            <a:fld id="{503DB0A1-FE83-453B-B0FC-CE11AA5208D4}" type="slidenum">
              <a:rPr lang="en-US" altLang="en-US" sz="1200">
                <a:latin typeface="Times New Roman" panose="02020603050405020304" pitchFamily="18" charset="0"/>
              </a:rPr>
              <a:pPr algn="r"/>
              <a:t>25</a:t>
            </a:fld>
            <a:endParaRPr lang="en-US" altLang="en-US" sz="1200">
              <a:latin typeface="Times New Roman" panose="02020603050405020304" pitchFamily="18" charset="0"/>
            </a:endParaRPr>
          </a:p>
        </p:txBody>
      </p:sp>
      <p:sp>
        <p:nvSpPr>
          <p:cNvPr id="108547" name="Rectangle 2">
            <a:extLst>
              <a:ext uri="{FF2B5EF4-FFF2-40B4-BE49-F238E27FC236}">
                <a16:creationId xmlns:a16="http://schemas.microsoft.com/office/drawing/2014/main" id="{AE574912-9CFF-4EBD-9B9F-B3BA638FD042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8548" name="Rectangle 3">
            <a:extLst>
              <a:ext uri="{FF2B5EF4-FFF2-40B4-BE49-F238E27FC236}">
                <a16:creationId xmlns:a16="http://schemas.microsoft.com/office/drawing/2014/main" id="{85D6F460-3D35-47C4-9DD8-B8B19627C9C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570" name="Rectangle 7">
            <a:extLst>
              <a:ext uri="{FF2B5EF4-FFF2-40B4-BE49-F238E27FC236}">
                <a16:creationId xmlns:a16="http://schemas.microsoft.com/office/drawing/2014/main" id="{0FCDE52B-B16F-49AD-BF0C-B1E8110AF5E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1863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defTabSz="931863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defTabSz="931863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defTabSz="931863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defTabSz="931863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fld id="{6F22610F-EF12-434E-8FF4-90F00073E4AB}" type="slidenum">
              <a:rPr lang="en-US" altLang="en-US">
                <a:latin typeface="Times New Roman" panose="02020603050405020304" pitchFamily="18" charset="0"/>
              </a:rPr>
              <a:pPr/>
              <a:t>26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09571" name="Rectangle 2">
            <a:extLst>
              <a:ext uri="{FF2B5EF4-FFF2-40B4-BE49-F238E27FC236}">
                <a16:creationId xmlns:a16="http://schemas.microsoft.com/office/drawing/2014/main" id="{2AABFA67-0735-444E-8DC9-24EB380170FC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9572" name="Rectangle 3">
            <a:extLst>
              <a:ext uri="{FF2B5EF4-FFF2-40B4-BE49-F238E27FC236}">
                <a16:creationId xmlns:a16="http://schemas.microsoft.com/office/drawing/2014/main" id="{879E6666-FB42-4ED8-8AE6-D4DD3583545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594" name="Rectangle 7">
            <a:extLst>
              <a:ext uri="{FF2B5EF4-FFF2-40B4-BE49-F238E27FC236}">
                <a16:creationId xmlns:a16="http://schemas.microsoft.com/office/drawing/2014/main" id="{D8E3F81C-D194-4C1A-A8BE-5F719535D80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1863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defTabSz="931863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defTabSz="931863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defTabSz="931863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defTabSz="931863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fld id="{B6962DFA-C7E3-4855-AFC8-3EB6B14A052D}" type="slidenum">
              <a:rPr lang="en-US" altLang="en-US">
                <a:latin typeface="Times New Roman" panose="02020603050405020304" pitchFamily="18" charset="0"/>
              </a:rPr>
              <a:pPr/>
              <a:t>27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10595" name="Rectangle 2">
            <a:extLst>
              <a:ext uri="{FF2B5EF4-FFF2-40B4-BE49-F238E27FC236}">
                <a16:creationId xmlns:a16="http://schemas.microsoft.com/office/drawing/2014/main" id="{A0184E58-07F6-4149-8BF9-09F9E17D05E8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0596" name="Rectangle 3">
            <a:extLst>
              <a:ext uri="{FF2B5EF4-FFF2-40B4-BE49-F238E27FC236}">
                <a16:creationId xmlns:a16="http://schemas.microsoft.com/office/drawing/2014/main" id="{3302F808-F9E1-4F70-8E31-EAA6FCF770A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618" name="Rectangle 7">
            <a:extLst>
              <a:ext uri="{FF2B5EF4-FFF2-40B4-BE49-F238E27FC236}">
                <a16:creationId xmlns:a16="http://schemas.microsoft.com/office/drawing/2014/main" id="{007EC1FF-779A-4A02-BE7D-A97B2D036E7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1863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defTabSz="931863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defTabSz="931863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defTabSz="931863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defTabSz="931863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fld id="{B7A30D49-3197-4CD4-A35C-F1D84062560E}" type="slidenum">
              <a:rPr lang="en-US" altLang="en-US">
                <a:latin typeface="Times New Roman" panose="02020603050405020304" pitchFamily="18" charset="0"/>
              </a:rPr>
              <a:pPr/>
              <a:t>28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11619" name="Rectangle 2">
            <a:extLst>
              <a:ext uri="{FF2B5EF4-FFF2-40B4-BE49-F238E27FC236}">
                <a16:creationId xmlns:a16="http://schemas.microsoft.com/office/drawing/2014/main" id="{3BD7D31B-56C8-4D2E-808F-4AAC9F29BD73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1620" name="Rectangle 3">
            <a:extLst>
              <a:ext uri="{FF2B5EF4-FFF2-40B4-BE49-F238E27FC236}">
                <a16:creationId xmlns:a16="http://schemas.microsoft.com/office/drawing/2014/main" id="{E237C761-DAA8-4308-B1BB-83EF70637C5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42" name="Rectangle 7">
            <a:extLst>
              <a:ext uri="{FF2B5EF4-FFF2-40B4-BE49-F238E27FC236}">
                <a16:creationId xmlns:a16="http://schemas.microsoft.com/office/drawing/2014/main" id="{99D63F97-D6FF-4CE3-9D96-1C11464A7C68}"/>
              </a:ext>
            </a:extLst>
          </p:cNvPr>
          <p:cNvSpPr txBox="1">
            <a:spLocks noGrp="1" noChangeArrowheads="1"/>
          </p:cNvSpPr>
          <p:nvPr/>
        </p:nvSpPr>
        <p:spPr bwMode="auto">
          <a:xfrm>
            <a:off x="3971925" y="8774113"/>
            <a:ext cx="3038475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3170" tIns="46586" rIns="93170" bIns="46586" anchor="b"/>
          <a:lstStyle>
            <a:lvl1pPr defTabSz="931863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defTabSz="931863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defTabSz="931863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defTabSz="931863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defTabSz="931863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r"/>
            <a:fld id="{C8922911-ECD8-4995-A8AC-C844E9496931}" type="slidenum">
              <a:rPr lang="en-US" altLang="en-US" sz="1200">
                <a:latin typeface="Times New Roman" panose="02020603050405020304" pitchFamily="18" charset="0"/>
              </a:rPr>
              <a:pPr algn="r"/>
              <a:t>29</a:t>
            </a:fld>
            <a:endParaRPr lang="en-US" altLang="en-US" sz="1200">
              <a:latin typeface="Times New Roman" panose="02020603050405020304" pitchFamily="18" charset="0"/>
            </a:endParaRPr>
          </a:p>
        </p:txBody>
      </p:sp>
      <p:sp>
        <p:nvSpPr>
          <p:cNvPr id="112643" name="Rectangle 2">
            <a:extLst>
              <a:ext uri="{FF2B5EF4-FFF2-40B4-BE49-F238E27FC236}">
                <a16:creationId xmlns:a16="http://schemas.microsoft.com/office/drawing/2014/main" id="{0D1BFB2E-6769-4B38-A562-E3ECD733FB2D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2644" name="Rectangle 3">
            <a:extLst>
              <a:ext uri="{FF2B5EF4-FFF2-40B4-BE49-F238E27FC236}">
                <a16:creationId xmlns:a16="http://schemas.microsoft.com/office/drawing/2014/main" id="{ABEF1021-7236-4D95-BB81-7FFB5F53434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666" name="Rectangle 7">
            <a:extLst>
              <a:ext uri="{FF2B5EF4-FFF2-40B4-BE49-F238E27FC236}">
                <a16:creationId xmlns:a16="http://schemas.microsoft.com/office/drawing/2014/main" id="{629C7415-53D7-43E7-8F74-6B99C024F70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1863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defTabSz="931863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defTabSz="931863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defTabSz="931863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defTabSz="931863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fld id="{67B7DC49-19B6-4EB1-84C6-C5B51237BDCA}" type="slidenum">
              <a:rPr lang="en-US" altLang="en-US">
                <a:latin typeface="Times New Roman" panose="02020603050405020304" pitchFamily="18" charset="0"/>
              </a:rPr>
              <a:pPr/>
              <a:t>30</a:t>
            </a:fld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690" name="Rectangle 7">
            <a:extLst>
              <a:ext uri="{FF2B5EF4-FFF2-40B4-BE49-F238E27FC236}">
                <a16:creationId xmlns:a16="http://schemas.microsoft.com/office/drawing/2014/main" id="{974FCD3C-AF95-4474-A56A-5AEB862D301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1863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defTabSz="931863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defTabSz="931863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defTabSz="931863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defTabSz="931863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fld id="{C839A0F3-AC29-4015-9D40-3D6C8D8BE3D1}" type="slidenum">
              <a:rPr lang="en-US" altLang="en-US">
                <a:latin typeface="Times New Roman" panose="02020603050405020304" pitchFamily="18" charset="0"/>
              </a:rPr>
              <a:pPr/>
              <a:t>31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14691" name="Rectangle 2">
            <a:extLst>
              <a:ext uri="{FF2B5EF4-FFF2-40B4-BE49-F238E27FC236}">
                <a16:creationId xmlns:a16="http://schemas.microsoft.com/office/drawing/2014/main" id="{F0A70223-414B-40E7-BB49-109EB8A05BAD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4692" name="Rectangle 3">
            <a:extLst>
              <a:ext uri="{FF2B5EF4-FFF2-40B4-BE49-F238E27FC236}">
                <a16:creationId xmlns:a16="http://schemas.microsoft.com/office/drawing/2014/main" id="{3612936B-D43E-40D1-A931-7D8A388039E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714" name="Rectangle 7">
            <a:extLst>
              <a:ext uri="{FF2B5EF4-FFF2-40B4-BE49-F238E27FC236}">
                <a16:creationId xmlns:a16="http://schemas.microsoft.com/office/drawing/2014/main" id="{6DAEE2F2-8B72-4371-8AE2-0EC93C5F2CD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1863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defTabSz="931863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defTabSz="931863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defTabSz="931863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defTabSz="931863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fld id="{0E00158B-36C6-4D22-AC57-B8BE7B9751DD}" type="slidenum">
              <a:rPr lang="en-US" altLang="en-US">
                <a:latin typeface="Times New Roman" panose="02020603050405020304" pitchFamily="18" charset="0"/>
              </a:rPr>
              <a:pPr/>
              <a:t>32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15715" name="Rectangle 2">
            <a:extLst>
              <a:ext uri="{FF2B5EF4-FFF2-40B4-BE49-F238E27FC236}">
                <a16:creationId xmlns:a16="http://schemas.microsoft.com/office/drawing/2014/main" id="{9F9B71AA-E4B1-4CFC-9F7E-9B48CDBEFD8C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5716" name="Rectangle 3">
            <a:extLst>
              <a:ext uri="{FF2B5EF4-FFF2-40B4-BE49-F238E27FC236}">
                <a16:creationId xmlns:a16="http://schemas.microsoft.com/office/drawing/2014/main" id="{86A759D9-3A42-4A99-8DFF-ECBC72DE2F2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738" name="Rectangle 7">
            <a:extLst>
              <a:ext uri="{FF2B5EF4-FFF2-40B4-BE49-F238E27FC236}">
                <a16:creationId xmlns:a16="http://schemas.microsoft.com/office/drawing/2014/main" id="{C9D55A8B-4D03-4B88-A034-21D11473EC1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1863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defTabSz="931863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defTabSz="931863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defTabSz="931863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defTabSz="931863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fld id="{0D547458-EF1A-4AB7-A530-299E0D406608}" type="slidenum">
              <a:rPr lang="en-US" altLang="en-US">
                <a:latin typeface="Times New Roman" panose="02020603050405020304" pitchFamily="18" charset="0"/>
              </a:rPr>
              <a:pPr/>
              <a:t>33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16739" name="Rectangle 2">
            <a:extLst>
              <a:ext uri="{FF2B5EF4-FFF2-40B4-BE49-F238E27FC236}">
                <a16:creationId xmlns:a16="http://schemas.microsoft.com/office/drawing/2014/main" id="{CACBB399-4B37-4D8F-BB44-941F96856169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6740" name="Rectangle 3">
            <a:extLst>
              <a:ext uri="{FF2B5EF4-FFF2-40B4-BE49-F238E27FC236}">
                <a16:creationId xmlns:a16="http://schemas.microsoft.com/office/drawing/2014/main" id="{EE787822-9B47-4209-94BC-7BC4592C673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762" name="Rectangle 7">
            <a:extLst>
              <a:ext uri="{FF2B5EF4-FFF2-40B4-BE49-F238E27FC236}">
                <a16:creationId xmlns:a16="http://schemas.microsoft.com/office/drawing/2014/main" id="{8BB8D38F-C5A0-4DD0-AA46-2F169610D24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1863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defTabSz="931863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defTabSz="931863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defTabSz="931863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defTabSz="931863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fld id="{FA4C818A-EDEA-45FB-B32B-5A088B16FF43}" type="slidenum">
              <a:rPr lang="en-US" altLang="en-US">
                <a:latin typeface="Times New Roman" panose="02020603050405020304" pitchFamily="18" charset="0"/>
              </a:rPr>
              <a:pPr/>
              <a:t>34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17763" name="Rectangle 2">
            <a:extLst>
              <a:ext uri="{FF2B5EF4-FFF2-40B4-BE49-F238E27FC236}">
                <a16:creationId xmlns:a16="http://schemas.microsoft.com/office/drawing/2014/main" id="{BA7509DC-7520-4C72-BB64-FB924486EAD8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7764" name="Rectangle 3">
            <a:extLst>
              <a:ext uri="{FF2B5EF4-FFF2-40B4-BE49-F238E27FC236}">
                <a16:creationId xmlns:a16="http://schemas.microsoft.com/office/drawing/2014/main" id="{F732A780-3424-4866-93B8-0418BB44E4B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786" name="Rectangle 7">
            <a:extLst>
              <a:ext uri="{FF2B5EF4-FFF2-40B4-BE49-F238E27FC236}">
                <a16:creationId xmlns:a16="http://schemas.microsoft.com/office/drawing/2014/main" id="{895AAC97-88A2-436B-95EC-D2FFD60AB81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1863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defTabSz="931863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defTabSz="931863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defTabSz="931863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defTabSz="931863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fld id="{30D2BE4D-EFF3-461F-B6F3-EE9C9B36B362}" type="slidenum">
              <a:rPr lang="en-US" altLang="en-US">
                <a:latin typeface="Times New Roman" panose="02020603050405020304" pitchFamily="18" charset="0"/>
              </a:rPr>
              <a:pPr/>
              <a:t>35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18787" name="Rectangle 2">
            <a:extLst>
              <a:ext uri="{FF2B5EF4-FFF2-40B4-BE49-F238E27FC236}">
                <a16:creationId xmlns:a16="http://schemas.microsoft.com/office/drawing/2014/main" id="{5656F116-604C-4483-9258-7B613A278B47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8788" name="Rectangle 3">
            <a:extLst>
              <a:ext uri="{FF2B5EF4-FFF2-40B4-BE49-F238E27FC236}">
                <a16:creationId xmlns:a16="http://schemas.microsoft.com/office/drawing/2014/main" id="{F2E04DC8-60AE-4492-A12D-79B9F7DE9D8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810" name="Rectangle 7">
            <a:extLst>
              <a:ext uri="{FF2B5EF4-FFF2-40B4-BE49-F238E27FC236}">
                <a16:creationId xmlns:a16="http://schemas.microsoft.com/office/drawing/2014/main" id="{0FF4B321-4396-4FD6-AA73-A604772A6E3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1863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defTabSz="931863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defTabSz="931863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defTabSz="931863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defTabSz="931863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fld id="{9D6D2699-B9EC-460E-9D9C-687979CD4B66}" type="slidenum">
              <a:rPr lang="en-US" altLang="en-US">
                <a:latin typeface="Times New Roman" panose="02020603050405020304" pitchFamily="18" charset="0"/>
              </a:rPr>
              <a:pPr/>
              <a:t>36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19811" name="Rectangle 2">
            <a:extLst>
              <a:ext uri="{FF2B5EF4-FFF2-40B4-BE49-F238E27FC236}">
                <a16:creationId xmlns:a16="http://schemas.microsoft.com/office/drawing/2014/main" id="{04B94AF7-068F-47D9-9881-ED470D59A24D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9812" name="Rectangle 3">
            <a:extLst>
              <a:ext uri="{FF2B5EF4-FFF2-40B4-BE49-F238E27FC236}">
                <a16:creationId xmlns:a16="http://schemas.microsoft.com/office/drawing/2014/main" id="{DC04CFB0-EA4E-4883-9834-8A1064C0BDE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834" name="Rectangle 7">
            <a:extLst>
              <a:ext uri="{FF2B5EF4-FFF2-40B4-BE49-F238E27FC236}">
                <a16:creationId xmlns:a16="http://schemas.microsoft.com/office/drawing/2014/main" id="{85C9BE60-6ECB-457D-BE27-79C8491E74E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1863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defTabSz="931863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defTabSz="931863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defTabSz="931863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defTabSz="931863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fld id="{9C4AAFB2-13FB-4A6E-B32E-794852D35846}" type="slidenum">
              <a:rPr lang="en-US" altLang="en-US">
                <a:latin typeface="Times New Roman" panose="02020603050405020304" pitchFamily="18" charset="0"/>
              </a:rPr>
              <a:pPr/>
              <a:t>37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20835" name="Rectangle 2">
            <a:extLst>
              <a:ext uri="{FF2B5EF4-FFF2-40B4-BE49-F238E27FC236}">
                <a16:creationId xmlns:a16="http://schemas.microsoft.com/office/drawing/2014/main" id="{0F340120-1E6B-416A-894B-2A0779ABF64F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0836" name="Rectangle 3">
            <a:extLst>
              <a:ext uri="{FF2B5EF4-FFF2-40B4-BE49-F238E27FC236}">
                <a16:creationId xmlns:a16="http://schemas.microsoft.com/office/drawing/2014/main" id="{6A0F1927-EF85-4A19-809E-356A30E7826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858" name="Rectangle 7">
            <a:extLst>
              <a:ext uri="{FF2B5EF4-FFF2-40B4-BE49-F238E27FC236}">
                <a16:creationId xmlns:a16="http://schemas.microsoft.com/office/drawing/2014/main" id="{748E5CAD-FC1A-4552-8134-D216FDE79C5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1863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defTabSz="931863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defTabSz="931863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defTabSz="931863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defTabSz="931863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fld id="{7AC00A5B-936E-48BC-9890-97E84C8A8228}" type="slidenum">
              <a:rPr lang="en-US" altLang="en-US">
                <a:latin typeface="Times New Roman" panose="02020603050405020304" pitchFamily="18" charset="0"/>
              </a:rPr>
              <a:pPr/>
              <a:t>38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21859" name="Rectangle 2">
            <a:extLst>
              <a:ext uri="{FF2B5EF4-FFF2-40B4-BE49-F238E27FC236}">
                <a16:creationId xmlns:a16="http://schemas.microsoft.com/office/drawing/2014/main" id="{C45CC538-5778-4BA6-840F-021F07947751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1860" name="Rectangle 3">
            <a:extLst>
              <a:ext uri="{FF2B5EF4-FFF2-40B4-BE49-F238E27FC236}">
                <a16:creationId xmlns:a16="http://schemas.microsoft.com/office/drawing/2014/main" id="{AEF1366B-2915-4989-8112-D868C038E48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882" name="Rectangle 7">
            <a:extLst>
              <a:ext uri="{FF2B5EF4-FFF2-40B4-BE49-F238E27FC236}">
                <a16:creationId xmlns:a16="http://schemas.microsoft.com/office/drawing/2014/main" id="{2DD7DBA3-8F56-404F-846A-C9CB6E84A8B5}"/>
              </a:ext>
            </a:extLst>
          </p:cNvPr>
          <p:cNvSpPr txBox="1">
            <a:spLocks noGrp="1" noChangeArrowheads="1"/>
          </p:cNvSpPr>
          <p:nvPr/>
        </p:nvSpPr>
        <p:spPr bwMode="auto">
          <a:xfrm>
            <a:off x="3971925" y="8774113"/>
            <a:ext cx="3038475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3170" tIns="46586" rIns="93170" bIns="46586" anchor="b"/>
          <a:lstStyle>
            <a:lvl1pPr defTabSz="931863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defTabSz="931863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defTabSz="931863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defTabSz="931863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defTabSz="931863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r"/>
            <a:fld id="{FE47D36F-9C21-48F0-9F4C-85EF500712A8}" type="slidenum">
              <a:rPr lang="en-US" altLang="en-US" sz="1200">
                <a:latin typeface="Times New Roman" panose="02020603050405020304" pitchFamily="18" charset="0"/>
              </a:rPr>
              <a:pPr algn="r"/>
              <a:t>39</a:t>
            </a:fld>
            <a:endParaRPr lang="en-US" altLang="en-US" sz="1200">
              <a:latin typeface="Times New Roman" panose="02020603050405020304" pitchFamily="18" charset="0"/>
            </a:endParaRPr>
          </a:p>
        </p:txBody>
      </p:sp>
      <p:sp>
        <p:nvSpPr>
          <p:cNvPr id="122883" name="Rectangle 2">
            <a:extLst>
              <a:ext uri="{FF2B5EF4-FFF2-40B4-BE49-F238E27FC236}">
                <a16:creationId xmlns:a16="http://schemas.microsoft.com/office/drawing/2014/main" id="{E8F654F1-78B1-4692-8F08-FFE9301BED58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2884" name="Rectangle 3">
            <a:extLst>
              <a:ext uri="{FF2B5EF4-FFF2-40B4-BE49-F238E27FC236}">
                <a16:creationId xmlns:a16="http://schemas.microsoft.com/office/drawing/2014/main" id="{CE9795E0-F035-44B4-8106-FBAF6BB60B6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906" name="Rectangle 7">
            <a:extLst>
              <a:ext uri="{FF2B5EF4-FFF2-40B4-BE49-F238E27FC236}">
                <a16:creationId xmlns:a16="http://schemas.microsoft.com/office/drawing/2014/main" id="{EB8669EB-E397-4643-A1D0-82914CD8FF0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1863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defTabSz="931863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defTabSz="931863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defTabSz="931863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defTabSz="931863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fld id="{BDD75FF2-124F-4D73-BDEF-8701DA5DF98B}" type="slidenum">
              <a:rPr lang="en-US" altLang="en-US">
                <a:latin typeface="Times New Roman" panose="02020603050405020304" pitchFamily="18" charset="0"/>
              </a:rPr>
              <a:pPr/>
              <a:t>40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23907" name="Rectangle 2">
            <a:extLst>
              <a:ext uri="{FF2B5EF4-FFF2-40B4-BE49-F238E27FC236}">
                <a16:creationId xmlns:a16="http://schemas.microsoft.com/office/drawing/2014/main" id="{E6DE0755-CD28-445E-98CC-7F3B527D4641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3908" name="Rectangle 3">
            <a:extLst>
              <a:ext uri="{FF2B5EF4-FFF2-40B4-BE49-F238E27FC236}">
                <a16:creationId xmlns:a16="http://schemas.microsoft.com/office/drawing/2014/main" id="{BCC96ECE-43D4-4602-BC6E-7086FDA0F0C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930" name="Rectangle 7">
            <a:extLst>
              <a:ext uri="{FF2B5EF4-FFF2-40B4-BE49-F238E27FC236}">
                <a16:creationId xmlns:a16="http://schemas.microsoft.com/office/drawing/2014/main" id="{226E0BEF-2E78-4C0A-B64A-8D0C5C1D648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1863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defTabSz="931863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defTabSz="931863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defTabSz="931863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defTabSz="931863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fld id="{6C6FD6C5-609F-4430-BEE4-80A4F11A9DF3}" type="slidenum">
              <a:rPr lang="en-US" altLang="en-US">
                <a:latin typeface="Times New Roman" panose="02020603050405020304" pitchFamily="18" charset="0"/>
              </a:rPr>
              <a:pPr/>
              <a:t>41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24931" name="Rectangle 2">
            <a:extLst>
              <a:ext uri="{FF2B5EF4-FFF2-40B4-BE49-F238E27FC236}">
                <a16:creationId xmlns:a16="http://schemas.microsoft.com/office/drawing/2014/main" id="{55EC0085-ECCC-48CA-BD6B-FCA846219F9F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4932" name="Rectangle 3">
            <a:extLst>
              <a:ext uri="{FF2B5EF4-FFF2-40B4-BE49-F238E27FC236}">
                <a16:creationId xmlns:a16="http://schemas.microsoft.com/office/drawing/2014/main" id="{20807EE0-C098-4BF9-9A18-5293D0111A7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954" name="Rectangle 7">
            <a:extLst>
              <a:ext uri="{FF2B5EF4-FFF2-40B4-BE49-F238E27FC236}">
                <a16:creationId xmlns:a16="http://schemas.microsoft.com/office/drawing/2014/main" id="{47F8C19D-6B8A-45C5-930F-C8FFDFA9A59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1863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defTabSz="931863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defTabSz="931863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defTabSz="931863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defTabSz="931863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fld id="{3C3B43A6-A778-4B5A-AB42-2FD7DD886E67}" type="slidenum">
              <a:rPr lang="en-US" altLang="en-US">
                <a:latin typeface="Times New Roman" panose="02020603050405020304" pitchFamily="18" charset="0"/>
              </a:rPr>
              <a:pPr/>
              <a:t>42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25955" name="Rectangle 2">
            <a:extLst>
              <a:ext uri="{FF2B5EF4-FFF2-40B4-BE49-F238E27FC236}">
                <a16:creationId xmlns:a16="http://schemas.microsoft.com/office/drawing/2014/main" id="{AF21AA1B-12E6-46AC-A3E7-1DD29B6D72CC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5956" name="Rectangle 3">
            <a:extLst>
              <a:ext uri="{FF2B5EF4-FFF2-40B4-BE49-F238E27FC236}">
                <a16:creationId xmlns:a16="http://schemas.microsoft.com/office/drawing/2014/main" id="{8CDF8970-12F9-46AD-A4DD-D175A7312DA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978" name="Rectangle 7">
            <a:extLst>
              <a:ext uri="{FF2B5EF4-FFF2-40B4-BE49-F238E27FC236}">
                <a16:creationId xmlns:a16="http://schemas.microsoft.com/office/drawing/2014/main" id="{48ACFC7B-64C4-469A-A0D7-4B9245B876D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1863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defTabSz="931863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defTabSz="931863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defTabSz="931863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defTabSz="931863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fld id="{5AFBADB5-DDED-4348-90BD-4811F63CDE97}" type="slidenum">
              <a:rPr lang="en-US" altLang="en-US">
                <a:latin typeface="Times New Roman" panose="02020603050405020304" pitchFamily="18" charset="0"/>
              </a:rPr>
              <a:pPr/>
              <a:t>43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26979" name="Rectangle 2">
            <a:extLst>
              <a:ext uri="{FF2B5EF4-FFF2-40B4-BE49-F238E27FC236}">
                <a16:creationId xmlns:a16="http://schemas.microsoft.com/office/drawing/2014/main" id="{63D6D995-A1EF-4F81-A951-868A4BF49139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6980" name="Rectangle 3">
            <a:extLst>
              <a:ext uri="{FF2B5EF4-FFF2-40B4-BE49-F238E27FC236}">
                <a16:creationId xmlns:a16="http://schemas.microsoft.com/office/drawing/2014/main" id="{176C215D-D0AB-4B85-BC37-D7F70CEDB8B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701675" y="4387850"/>
            <a:ext cx="5607050" cy="4156075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002" name="Rectangle 7">
            <a:extLst>
              <a:ext uri="{FF2B5EF4-FFF2-40B4-BE49-F238E27FC236}">
                <a16:creationId xmlns:a16="http://schemas.microsoft.com/office/drawing/2014/main" id="{ABD144FB-31E1-4E17-91C0-BF8DAB501C9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1863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defTabSz="931863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defTabSz="931863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defTabSz="931863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defTabSz="931863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fld id="{3A4E5F8C-3C85-45CA-BA48-037B11B8C2F6}" type="slidenum">
              <a:rPr lang="en-US" altLang="en-US">
                <a:latin typeface="Times New Roman" panose="02020603050405020304" pitchFamily="18" charset="0"/>
              </a:rPr>
              <a:pPr/>
              <a:t>44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28003" name="Rectangle 2">
            <a:extLst>
              <a:ext uri="{FF2B5EF4-FFF2-40B4-BE49-F238E27FC236}">
                <a16:creationId xmlns:a16="http://schemas.microsoft.com/office/drawing/2014/main" id="{CACD9073-6CFA-4DA7-A645-2020A2D774C3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8004" name="Rectangle 3">
            <a:extLst>
              <a:ext uri="{FF2B5EF4-FFF2-40B4-BE49-F238E27FC236}">
                <a16:creationId xmlns:a16="http://schemas.microsoft.com/office/drawing/2014/main" id="{67E61F87-6EF3-4FF7-B6BE-3B079584AAC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701675" y="4387850"/>
            <a:ext cx="5607050" cy="4156075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026" name="Rectangle 7">
            <a:extLst>
              <a:ext uri="{FF2B5EF4-FFF2-40B4-BE49-F238E27FC236}">
                <a16:creationId xmlns:a16="http://schemas.microsoft.com/office/drawing/2014/main" id="{2BC322E7-6648-45BE-B2DA-6400DED5B38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1863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defTabSz="931863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defTabSz="931863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defTabSz="931863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defTabSz="931863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fld id="{8FE34253-B6E7-4A09-94FD-7F40811B5765}" type="slidenum">
              <a:rPr lang="en-US" altLang="en-US">
                <a:latin typeface="Times New Roman" panose="02020603050405020304" pitchFamily="18" charset="0"/>
              </a:rPr>
              <a:pPr/>
              <a:t>45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29027" name="Rectangle 2">
            <a:extLst>
              <a:ext uri="{FF2B5EF4-FFF2-40B4-BE49-F238E27FC236}">
                <a16:creationId xmlns:a16="http://schemas.microsoft.com/office/drawing/2014/main" id="{036D848C-72FA-42BA-9C93-769F2B698E43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9028" name="Rectangle 3">
            <a:extLst>
              <a:ext uri="{FF2B5EF4-FFF2-40B4-BE49-F238E27FC236}">
                <a16:creationId xmlns:a16="http://schemas.microsoft.com/office/drawing/2014/main" id="{A743922E-E347-4C1A-BCEB-DAE4E519A70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050" name="Rectangle 7">
            <a:extLst>
              <a:ext uri="{FF2B5EF4-FFF2-40B4-BE49-F238E27FC236}">
                <a16:creationId xmlns:a16="http://schemas.microsoft.com/office/drawing/2014/main" id="{B285FB89-60F3-44B3-B756-1C842BE8E9CE}"/>
              </a:ext>
            </a:extLst>
          </p:cNvPr>
          <p:cNvSpPr txBox="1">
            <a:spLocks noGrp="1" noChangeArrowheads="1"/>
          </p:cNvSpPr>
          <p:nvPr/>
        </p:nvSpPr>
        <p:spPr bwMode="auto">
          <a:xfrm>
            <a:off x="3971925" y="8774113"/>
            <a:ext cx="3038475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3170" tIns="46586" rIns="93170" bIns="46586" anchor="b"/>
          <a:lstStyle>
            <a:lvl1pPr defTabSz="931863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defTabSz="931863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defTabSz="931863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defTabSz="931863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defTabSz="931863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r"/>
            <a:fld id="{7C9324E5-C94D-4E85-B00F-84D494A161A3}" type="slidenum">
              <a:rPr lang="en-US" altLang="en-US" sz="1200">
                <a:latin typeface="Times New Roman" panose="02020603050405020304" pitchFamily="18" charset="0"/>
              </a:rPr>
              <a:pPr algn="r"/>
              <a:t>46</a:t>
            </a:fld>
            <a:endParaRPr lang="en-US" altLang="en-US" sz="1200">
              <a:latin typeface="Times New Roman" panose="02020603050405020304" pitchFamily="18" charset="0"/>
            </a:endParaRPr>
          </a:p>
        </p:txBody>
      </p:sp>
      <p:sp>
        <p:nvSpPr>
          <p:cNvPr id="130051" name="Rectangle 2">
            <a:extLst>
              <a:ext uri="{FF2B5EF4-FFF2-40B4-BE49-F238E27FC236}">
                <a16:creationId xmlns:a16="http://schemas.microsoft.com/office/drawing/2014/main" id="{5058E2CF-66D3-4EA6-9887-A6435EA2170C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0052" name="Rectangle 3">
            <a:extLst>
              <a:ext uri="{FF2B5EF4-FFF2-40B4-BE49-F238E27FC236}">
                <a16:creationId xmlns:a16="http://schemas.microsoft.com/office/drawing/2014/main" id="{868671F5-1C77-4D77-B6AB-55D763217EB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074" name="Rectangle 2">
            <a:extLst>
              <a:ext uri="{FF2B5EF4-FFF2-40B4-BE49-F238E27FC236}">
                <a16:creationId xmlns:a16="http://schemas.microsoft.com/office/drawing/2014/main" id="{1FB96D46-C4C6-4647-9D89-835DC2DD9CE2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1075" name="Rectangle 3">
            <a:extLst>
              <a:ext uri="{FF2B5EF4-FFF2-40B4-BE49-F238E27FC236}">
                <a16:creationId xmlns:a16="http://schemas.microsoft.com/office/drawing/2014/main" id="{9D63C11D-534F-4072-BDCE-5B4CDF1AC5D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098" name="Rectangle 2">
            <a:extLst>
              <a:ext uri="{FF2B5EF4-FFF2-40B4-BE49-F238E27FC236}">
                <a16:creationId xmlns:a16="http://schemas.microsoft.com/office/drawing/2014/main" id="{AED10D62-4989-4EF9-960B-CFF9B5C23BF6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2099" name="Rectangle 3">
            <a:extLst>
              <a:ext uri="{FF2B5EF4-FFF2-40B4-BE49-F238E27FC236}">
                <a16:creationId xmlns:a16="http://schemas.microsoft.com/office/drawing/2014/main" id="{CAE4E5C3-CA64-4527-94CA-56BF48CF84C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22" name="Rectangle 2">
            <a:extLst>
              <a:ext uri="{FF2B5EF4-FFF2-40B4-BE49-F238E27FC236}">
                <a16:creationId xmlns:a16="http://schemas.microsoft.com/office/drawing/2014/main" id="{EDD0BC56-9D54-4827-9B3D-11EF92B14477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3123" name="Rectangle 3">
            <a:extLst>
              <a:ext uri="{FF2B5EF4-FFF2-40B4-BE49-F238E27FC236}">
                <a16:creationId xmlns:a16="http://schemas.microsoft.com/office/drawing/2014/main" id="{7D90F6DF-F9A2-42DD-9B6F-395C143C172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146" name="Rectangle 2">
            <a:extLst>
              <a:ext uri="{FF2B5EF4-FFF2-40B4-BE49-F238E27FC236}">
                <a16:creationId xmlns:a16="http://schemas.microsoft.com/office/drawing/2014/main" id="{66C00F08-CF74-4AA7-B777-0A01395B837C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4147" name="Rectangle 3">
            <a:extLst>
              <a:ext uri="{FF2B5EF4-FFF2-40B4-BE49-F238E27FC236}">
                <a16:creationId xmlns:a16="http://schemas.microsoft.com/office/drawing/2014/main" id="{A6ED59D1-AEB4-430E-BD09-6BF71A25EBA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170" name="Rectangle 2">
            <a:extLst>
              <a:ext uri="{FF2B5EF4-FFF2-40B4-BE49-F238E27FC236}">
                <a16:creationId xmlns:a16="http://schemas.microsoft.com/office/drawing/2014/main" id="{796DC057-8E04-4F6E-B570-CA3EA76722F1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5171" name="Rectangle 3">
            <a:extLst>
              <a:ext uri="{FF2B5EF4-FFF2-40B4-BE49-F238E27FC236}">
                <a16:creationId xmlns:a16="http://schemas.microsoft.com/office/drawing/2014/main" id="{B8ECC883-DEEC-443E-8B60-577FFE26369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194" name="Rectangle 7">
            <a:extLst>
              <a:ext uri="{FF2B5EF4-FFF2-40B4-BE49-F238E27FC236}">
                <a16:creationId xmlns:a16="http://schemas.microsoft.com/office/drawing/2014/main" id="{E082EFEE-EC46-4412-B576-5E7347A267B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1863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defTabSz="931863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defTabSz="931863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defTabSz="931863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defTabSz="931863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fld id="{CD0CE32E-85F7-490F-9C3A-A543601584CC}" type="slidenum">
              <a:rPr lang="en-US" altLang="en-US">
                <a:latin typeface="Times New Roman" panose="02020603050405020304" pitchFamily="18" charset="0"/>
              </a:rPr>
              <a:pPr/>
              <a:t>52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36195" name="Rectangle 2">
            <a:extLst>
              <a:ext uri="{FF2B5EF4-FFF2-40B4-BE49-F238E27FC236}">
                <a16:creationId xmlns:a16="http://schemas.microsoft.com/office/drawing/2014/main" id="{AE47AC32-6D0F-4B2F-9DC0-1B6D27C0B60E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xfrm>
            <a:off x="1206500" y="698500"/>
            <a:ext cx="4602163" cy="3451225"/>
          </a:xfrm>
          <a:ln w="12700" cap="flat">
            <a:solidFill>
              <a:schemeClr val="tx1"/>
            </a:solidFill>
          </a:ln>
        </p:spPr>
      </p:sp>
      <p:sp>
        <p:nvSpPr>
          <p:cNvPr id="136196" name="Rectangle 3">
            <a:extLst>
              <a:ext uri="{FF2B5EF4-FFF2-40B4-BE49-F238E27FC236}">
                <a16:creationId xmlns:a16="http://schemas.microsoft.com/office/drawing/2014/main" id="{2A7A1B13-BF0D-41C3-8272-95711A76D13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35038" y="4387850"/>
            <a:ext cx="5140325" cy="4157663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7348" tIns="43673" rIns="87348" bIns="43673"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218" name="Rectangle 7">
            <a:extLst>
              <a:ext uri="{FF2B5EF4-FFF2-40B4-BE49-F238E27FC236}">
                <a16:creationId xmlns:a16="http://schemas.microsoft.com/office/drawing/2014/main" id="{6B72033A-B0A8-4E62-889F-B0A4E56D3B3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1863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defTabSz="931863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defTabSz="931863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defTabSz="931863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defTabSz="931863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fld id="{4F6AF7BF-DDD5-438B-845D-51DD2B6538E0}" type="slidenum">
              <a:rPr lang="en-US" altLang="en-US">
                <a:latin typeface="Times New Roman" panose="02020603050405020304" pitchFamily="18" charset="0"/>
              </a:rPr>
              <a:pPr/>
              <a:t>53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37219" name="Rectangle 2">
            <a:extLst>
              <a:ext uri="{FF2B5EF4-FFF2-40B4-BE49-F238E27FC236}">
                <a16:creationId xmlns:a16="http://schemas.microsoft.com/office/drawing/2014/main" id="{45866568-E2E2-40B0-9AED-53F0DCFA5F9E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xfrm>
            <a:off x="1206500" y="698500"/>
            <a:ext cx="4602163" cy="3451225"/>
          </a:xfrm>
          <a:ln w="12700" cap="flat">
            <a:solidFill>
              <a:schemeClr val="tx1"/>
            </a:solidFill>
          </a:ln>
        </p:spPr>
      </p:sp>
      <p:sp>
        <p:nvSpPr>
          <p:cNvPr id="137220" name="Rectangle 3">
            <a:extLst>
              <a:ext uri="{FF2B5EF4-FFF2-40B4-BE49-F238E27FC236}">
                <a16:creationId xmlns:a16="http://schemas.microsoft.com/office/drawing/2014/main" id="{F0229DAF-1140-44C4-B1E0-24C7EA6B20B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35038" y="4387850"/>
            <a:ext cx="5140325" cy="4157663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7348" tIns="43673" rIns="87348" bIns="43673"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242" name="Rectangle 2">
            <a:extLst>
              <a:ext uri="{FF2B5EF4-FFF2-40B4-BE49-F238E27FC236}">
                <a16:creationId xmlns:a16="http://schemas.microsoft.com/office/drawing/2014/main" id="{32C958DB-81A0-4F7B-8091-62AF671F9CC7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8243" name="Rectangle 3">
            <a:extLst>
              <a:ext uri="{FF2B5EF4-FFF2-40B4-BE49-F238E27FC236}">
                <a16:creationId xmlns:a16="http://schemas.microsoft.com/office/drawing/2014/main" id="{D2FF7230-B8F3-47FD-B140-C823E865BAA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266" name="Rectangle 2">
            <a:extLst>
              <a:ext uri="{FF2B5EF4-FFF2-40B4-BE49-F238E27FC236}">
                <a16:creationId xmlns:a16="http://schemas.microsoft.com/office/drawing/2014/main" id="{DF7EA3C5-776E-42C3-8E9F-FD21E9104B61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9267" name="Rectangle 3">
            <a:extLst>
              <a:ext uri="{FF2B5EF4-FFF2-40B4-BE49-F238E27FC236}">
                <a16:creationId xmlns:a16="http://schemas.microsoft.com/office/drawing/2014/main" id="{EFB66707-04DA-47FD-885C-C0956C039AA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290" name="Rectangle 2">
            <a:extLst>
              <a:ext uri="{FF2B5EF4-FFF2-40B4-BE49-F238E27FC236}">
                <a16:creationId xmlns:a16="http://schemas.microsoft.com/office/drawing/2014/main" id="{B72BD5B1-57BB-4E7E-BDDC-49D7FE79352B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40291" name="Rectangle 3">
            <a:extLst>
              <a:ext uri="{FF2B5EF4-FFF2-40B4-BE49-F238E27FC236}">
                <a16:creationId xmlns:a16="http://schemas.microsoft.com/office/drawing/2014/main" id="{27774D13-5565-4798-AD49-9E893E8CAB7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314" name="Rectangle 2">
            <a:extLst>
              <a:ext uri="{FF2B5EF4-FFF2-40B4-BE49-F238E27FC236}">
                <a16:creationId xmlns:a16="http://schemas.microsoft.com/office/drawing/2014/main" id="{46E7D3F8-2FA5-4FBA-80CE-2EBE6A68C450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41315" name="Rectangle 3">
            <a:extLst>
              <a:ext uri="{FF2B5EF4-FFF2-40B4-BE49-F238E27FC236}">
                <a16:creationId xmlns:a16="http://schemas.microsoft.com/office/drawing/2014/main" id="{B1698BA5-DD27-4495-BF58-2A0D5976D68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338" name="Rectangle 2">
            <a:extLst>
              <a:ext uri="{FF2B5EF4-FFF2-40B4-BE49-F238E27FC236}">
                <a16:creationId xmlns:a16="http://schemas.microsoft.com/office/drawing/2014/main" id="{8B8D6690-7F07-444F-863B-F91F735E78CF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42339" name="Rectangle 3">
            <a:extLst>
              <a:ext uri="{FF2B5EF4-FFF2-40B4-BE49-F238E27FC236}">
                <a16:creationId xmlns:a16="http://schemas.microsoft.com/office/drawing/2014/main" id="{89DFBF1D-06B7-4E24-A379-49984969071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62" name="Rectangle 2">
            <a:extLst>
              <a:ext uri="{FF2B5EF4-FFF2-40B4-BE49-F238E27FC236}">
                <a16:creationId xmlns:a16="http://schemas.microsoft.com/office/drawing/2014/main" id="{AF6A54E9-32B7-4634-AA98-4B824611C982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43363" name="Rectangle 3">
            <a:extLst>
              <a:ext uri="{FF2B5EF4-FFF2-40B4-BE49-F238E27FC236}">
                <a16:creationId xmlns:a16="http://schemas.microsoft.com/office/drawing/2014/main" id="{C578F0F4-3281-45F6-88F0-95707BAFFEA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386" name="Rectangle 7">
            <a:extLst>
              <a:ext uri="{FF2B5EF4-FFF2-40B4-BE49-F238E27FC236}">
                <a16:creationId xmlns:a16="http://schemas.microsoft.com/office/drawing/2014/main" id="{7079CA1B-7C8D-4431-B0BF-61A81B6F528E}"/>
              </a:ext>
            </a:extLst>
          </p:cNvPr>
          <p:cNvSpPr txBox="1">
            <a:spLocks noGrp="1" noChangeArrowheads="1"/>
          </p:cNvSpPr>
          <p:nvPr/>
        </p:nvSpPr>
        <p:spPr bwMode="auto">
          <a:xfrm>
            <a:off x="3971925" y="8774113"/>
            <a:ext cx="3038475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3170" tIns="46586" rIns="93170" bIns="46586" anchor="b"/>
          <a:lstStyle>
            <a:lvl1pPr defTabSz="931863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defTabSz="931863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defTabSz="931863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defTabSz="931863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defTabSz="931863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r"/>
            <a:fld id="{833ADBB1-7396-4D73-AD15-853D2FA77903}" type="slidenum">
              <a:rPr lang="en-US" altLang="en-US" sz="1200">
                <a:latin typeface="Times New Roman" panose="02020603050405020304" pitchFamily="18" charset="0"/>
              </a:rPr>
              <a:pPr algn="r"/>
              <a:t>60</a:t>
            </a:fld>
            <a:endParaRPr lang="en-US" altLang="en-US" sz="1200">
              <a:latin typeface="Times New Roman" panose="02020603050405020304" pitchFamily="18" charset="0"/>
            </a:endParaRPr>
          </a:p>
        </p:txBody>
      </p:sp>
      <p:sp>
        <p:nvSpPr>
          <p:cNvPr id="144387" name="Rectangle 2">
            <a:extLst>
              <a:ext uri="{FF2B5EF4-FFF2-40B4-BE49-F238E27FC236}">
                <a16:creationId xmlns:a16="http://schemas.microsoft.com/office/drawing/2014/main" id="{D1C20ABB-6CE1-4595-842D-F75D0CEFA3BD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xfrm>
            <a:off x="1206500" y="698500"/>
            <a:ext cx="4602163" cy="3451225"/>
          </a:xfrm>
          <a:ln w="12700" cap="flat">
            <a:solidFill>
              <a:schemeClr val="tx1"/>
            </a:solidFill>
          </a:ln>
        </p:spPr>
      </p:sp>
      <p:sp>
        <p:nvSpPr>
          <p:cNvPr id="144388" name="Rectangle 3">
            <a:extLst>
              <a:ext uri="{FF2B5EF4-FFF2-40B4-BE49-F238E27FC236}">
                <a16:creationId xmlns:a16="http://schemas.microsoft.com/office/drawing/2014/main" id="{93572D3A-D020-47D8-BC65-FE7A6DABF955}"/>
              </a:ext>
            </a:extLst>
          </p:cNvPr>
          <p:cNvSpPr>
            <a:spLocks noChangeArrowheads="1"/>
          </p:cNvSpPr>
          <p:nvPr>
            <p:ph type="body" idx="1"/>
          </p:nvPr>
        </p:nvSpPr>
        <p:spPr>
          <a:xfrm>
            <a:off x="935038" y="4387850"/>
            <a:ext cx="5140325" cy="4157663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7348" tIns="43673" rIns="87348" bIns="43673"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410" name="Rectangle 7">
            <a:extLst>
              <a:ext uri="{FF2B5EF4-FFF2-40B4-BE49-F238E27FC236}">
                <a16:creationId xmlns:a16="http://schemas.microsoft.com/office/drawing/2014/main" id="{28370BD4-3F4C-413F-8057-DAB26D8FBDBF}"/>
              </a:ext>
            </a:extLst>
          </p:cNvPr>
          <p:cNvSpPr txBox="1">
            <a:spLocks noGrp="1" noChangeArrowheads="1"/>
          </p:cNvSpPr>
          <p:nvPr/>
        </p:nvSpPr>
        <p:spPr bwMode="auto">
          <a:xfrm>
            <a:off x="3971925" y="8774113"/>
            <a:ext cx="3038475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3170" tIns="46586" rIns="93170" bIns="46586" anchor="b"/>
          <a:lstStyle>
            <a:lvl1pPr defTabSz="931863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defTabSz="931863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defTabSz="931863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defTabSz="931863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defTabSz="931863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r"/>
            <a:fld id="{C2A6F2C2-25F5-462C-B8C2-12A112A52B72}" type="slidenum">
              <a:rPr lang="en-US" altLang="en-US" sz="1200">
                <a:latin typeface="Times New Roman" panose="02020603050405020304" pitchFamily="18" charset="0"/>
              </a:rPr>
              <a:pPr algn="r"/>
              <a:t>61</a:t>
            </a:fld>
            <a:endParaRPr lang="en-US" altLang="en-US" sz="1200">
              <a:latin typeface="Times New Roman" panose="02020603050405020304" pitchFamily="18" charset="0"/>
            </a:endParaRPr>
          </a:p>
        </p:txBody>
      </p:sp>
      <p:sp>
        <p:nvSpPr>
          <p:cNvPr id="145411" name="Rectangle 2">
            <a:extLst>
              <a:ext uri="{FF2B5EF4-FFF2-40B4-BE49-F238E27FC236}">
                <a16:creationId xmlns:a16="http://schemas.microsoft.com/office/drawing/2014/main" id="{788EAA59-73F0-4FCF-9598-E5AF451BC471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45412" name="Rectangle 3">
            <a:extLst>
              <a:ext uri="{FF2B5EF4-FFF2-40B4-BE49-F238E27FC236}">
                <a16:creationId xmlns:a16="http://schemas.microsoft.com/office/drawing/2014/main" id="{C2E79749-EF18-41E1-9579-D35942841D4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434" name="Rectangle 2">
            <a:extLst>
              <a:ext uri="{FF2B5EF4-FFF2-40B4-BE49-F238E27FC236}">
                <a16:creationId xmlns:a16="http://schemas.microsoft.com/office/drawing/2014/main" id="{E6B818CD-895B-4BCB-AADE-AF88864FB51E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46435" name="Rectangle 3">
            <a:extLst>
              <a:ext uri="{FF2B5EF4-FFF2-40B4-BE49-F238E27FC236}">
                <a16:creationId xmlns:a16="http://schemas.microsoft.com/office/drawing/2014/main" id="{79A1F9F7-EF47-48A4-A989-4EE91E098E1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458" name="Rectangle 2">
            <a:extLst>
              <a:ext uri="{FF2B5EF4-FFF2-40B4-BE49-F238E27FC236}">
                <a16:creationId xmlns:a16="http://schemas.microsoft.com/office/drawing/2014/main" id="{5C6375C7-701E-4AC7-A251-0DACCCC228B3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47459" name="Rectangle 3">
            <a:extLst>
              <a:ext uri="{FF2B5EF4-FFF2-40B4-BE49-F238E27FC236}">
                <a16:creationId xmlns:a16="http://schemas.microsoft.com/office/drawing/2014/main" id="{63E8DBD8-02F5-4006-B701-77E72A68180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482" name="Rectangle 2">
            <a:extLst>
              <a:ext uri="{FF2B5EF4-FFF2-40B4-BE49-F238E27FC236}">
                <a16:creationId xmlns:a16="http://schemas.microsoft.com/office/drawing/2014/main" id="{2D770250-0A03-4E5E-8609-0BE0C991C889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48483" name="Rectangle 3">
            <a:extLst>
              <a:ext uri="{FF2B5EF4-FFF2-40B4-BE49-F238E27FC236}">
                <a16:creationId xmlns:a16="http://schemas.microsoft.com/office/drawing/2014/main" id="{EFE1C5F6-A4E4-4A43-A1CB-BC567D41708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506" name="Rectangle 2">
            <a:extLst>
              <a:ext uri="{FF2B5EF4-FFF2-40B4-BE49-F238E27FC236}">
                <a16:creationId xmlns:a16="http://schemas.microsoft.com/office/drawing/2014/main" id="{EAEE6DCC-93C6-42AD-AAF9-3A77BE3DA345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49507" name="Rectangle 3">
            <a:extLst>
              <a:ext uri="{FF2B5EF4-FFF2-40B4-BE49-F238E27FC236}">
                <a16:creationId xmlns:a16="http://schemas.microsoft.com/office/drawing/2014/main" id="{DB18E036-3F38-4B76-B581-4B5D2937492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530" name="Rectangle 2">
            <a:extLst>
              <a:ext uri="{FF2B5EF4-FFF2-40B4-BE49-F238E27FC236}">
                <a16:creationId xmlns:a16="http://schemas.microsoft.com/office/drawing/2014/main" id="{D09D99A1-6A49-4CCD-8027-3894DB58072A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50531" name="Rectangle 3">
            <a:extLst>
              <a:ext uri="{FF2B5EF4-FFF2-40B4-BE49-F238E27FC236}">
                <a16:creationId xmlns:a16="http://schemas.microsoft.com/office/drawing/2014/main" id="{EB05D69D-19CD-4CC1-8318-2F6C251C5DD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554" name="Rectangle 2">
            <a:extLst>
              <a:ext uri="{FF2B5EF4-FFF2-40B4-BE49-F238E27FC236}">
                <a16:creationId xmlns:a16="http://schemas.microsoft.com/office/drawing/2014/main" id="{A91AC89F-146B-42CD-861A-413DC53E9953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51555" name="Rectangle 3">
            <a:extLst>
              <a:ext uri="{FF2B5EF4-FFF2-40B4-BE49-F238E27FC236}">
                <a16:creationId xmlns:a16="http://schemas.microsoft.com/office/drawing/2014/main" id="{3F3B19DA-3322-43BF-B25D-2CDBAE73542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578" name="Rectangle 7">
            <a:extLst>
              <a:ext uri="{FF2B5EF4-FFF2-40B4-BE49-F238E27FC236}">
                <a16:creationId xmlns:a16="http://schemas.microsoft.com/office/drawing/2014/main" id="{7A0A51E0-1AB7-4277-89A6-26F1846EBD70}"/>
              </a:ext>
            </a:extLst>
          </p:cNvPr>
          <p:cNvSpPr txBox="1">
            <a:spLocks noGrp="1" noChangeArrowheads="1"/>
          </p:cNvSpPr>
          <p:nvPr/>
        </p:nvSpPr>
        <p:spPr bwMode="auto">
          <a:xfrm>
            <a:off x="3971925" y="8774113"/>
            <a:ext cx="3038475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3170" tIns="46586" rIns="93170" bIns="46586" anchor="b"/>
          <a:lstStyle>
            <a:lvl1pPr defTabSz="931863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defTabSz="931863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defTabSz="931863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defTabSz="931863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defTabSz="931863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r"/>
            <a:fld id="{AD4ECA89-7644-43C5-8A7C-B8B990DE82E2}" type="slidenum">
              <a:rPr lang="en-US" altLang="en-US" sz="1200">
                <a:latin typeface="Times New Roman" panose="02020603050405020304" pitchFamily="18" charset="0"/>
              </a:rPr>
              <a:pPr algn="r"/>
              <a:t>68</a:t>
            </a:fld>
            <a:endParaRPr lang="en-US" altLang="en-US" sz="1200">
              <a:latin typeface="Times New Roman" panose="02020603050405020304" pitchFamily="18" charset="0"/>
            </a:endParaRPr>
          </a:p>
        </p:txBody>
      </p:sp>
      <p:sp>
        <p:nvSpPr>
          <p:cNvPr id="152579" name="Rectangle 2">
            <a:extLst>
              <a:ext uri="{FF2B5EF4-FFF2-40B4-BE49-F238E27FC236}">
                <a16:creationId xmlns:a16="http://schemas.microsoft.com/office/drawing/2014/main" id="{5807ADB4-76A0-46ED-B85D-B654673CF489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52580" name="Rectangle 3">
            <a:extLst>
              <a:ext uri="{FF2B5EF4-FFF2-40B4-BE49-F238E27FC236}">
                <a16:creationId xmlns:a16="http://schemas.microsoft.com/office/drawing/2014/main" id="{D7817089-1892-4433-BEEB-D75F39BC112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02" name="Rectangle 2">
            <a:extLst>
              <a:ext uri="{FF2B5EF4-FFF2-40B4-BE49-F238E27FC236}">
                <a16:creationId xmlns:a16="http://schemas.microsoft.com/office/drawing/2014/main" id="{31E21403-05ED-4D60-ACD5-09A5556EF4A8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53603" name="Rectangle 3">
            <a:extLst>
              <a:ext uri="{FF2B5EF4-FFF2-40B4-BE49-F238E27FC236}">
                <a16:creationId xmlns:a16="http://schemas.microsoft.com/office/drawing/2014/main" id="{6D4941E4-FA47-45AE-BD7A-2565C2BD673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626" name="Rectangle 2">
            <a:extLst>
              <a:ext uri="{FF2B5EF4-FFF2-40B4-BE49-F238E27FC236}">
                <a16:creationId xmlns:a16="http://schemas.microsoft.com/office/drawing/2014/main" id="{A85A09BD-FE05-4E8A-AE05-DFF259CD5B93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54627" name="Rectangle 3">
            <a:extLst>
              <a:ext uri="{FF2B5EF4-FFF2-40B4-BE49-F238E27FC236}">
                <a16:creationId xmlns:a16="http://schemas.microsoft.com/office/drawing/2014/main" id="{7FCE4619-0B90-40C6-9603-4BC9632E114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650" name="Rectangle 2">
            <a:extLst>
              <a:ext uri="{FF2B5EF4-FFF2-40B4-BE49-F238E27FC236}">
                <a16:creationId xmlns:a16="http://schemas.microsoft.com/office/drawing/2014/main" id="{87410DD4-22D0-4C45-809B-40498D310319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55651" name="Rectangle 3">
            <a:extLst>
              <a:ext uri="{FF2B5EF4-FFF2-40B4-BE49-F238E27FC236}">
                <a16:creationId xmlns:a16="http://schemas.microsoft.com/office/drawing/2014/main" id="{A0A44095-B0B2-477A-81D6-85EC3819A44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674" name="Rectangle 2">
            <a:extLst>
              <a:ext uri="{FF2B5EF4-FFF2-40B4-BE49-F238E27FC236}">
                <a16:creationId xmlns:a16="http://schemas.microsoft.com/office/drawing/2014/main" id="{A9545543-0E72-4EF2-8865-4E2FB6F34E96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56675" name="Rectangle 3">
            <a:extLst>
              <a:ext uri="{FF2B5EF4-FFF2-40B4-BE49-F238E27FC236}">
                <a16:creationId xmlns:a16="http://schemas.microsoft.com/office/drawing/2014/main" id="{87D46A96-554E-4F86-A9C4-9149F83181D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698" name="Slide Image Placeholder 1">
            <a:extLst>
              <a:ext uri="{FF2B5EF4-FFF2-40B4-BE49-F238E27FC236}">
                <a16:creationId xmlns:a16="http://schemas.microsoft.com/office/drawing/2014/main" id="{8D974D0A-8815-4BA5-9FE2-C31A2A7B0136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57699" name="Notes Placeholder 2">
            <a:extLst>
              <a:ext uri="{FF2B5EF4-FFF2-40B4-BE49-F238E27FC236}">
                <a16:creationId xmlns:a16="http://schemas.microsoft.com/office/drawing/2014/main" id="{2425CA6C-92A5-4627-93FF-F10456AAE0C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  <p:sp>
        <p:nvSpPr>
          <p:cNvPr id="157700" name="Slide Number Placeholder 3">
            <a:extLst>
              <a:ext uri="{FF2B5EF4-FFF2-40B4-BE49-F238E27FC236}">
                <a16:creationId xmlns:a16="http://schemas.microsoft.com/office/drawing/2014/main" id="{A703F309-EBD3-423C-8EF2-C1A322A6D26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1863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defTabSz="931863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defTabSz="931863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defTabSz="931863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defTabSz="931863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fld id="{44253BA4-B256-45BD-ADA2-5C735FD96579}" type="slidenum">
              <a:rPr lang="en-US" altLang="en-US">
                <a:latin typeface="Times New Roman" panose="02020603050405020304" pitchFamily="18" charset="0"/>
              </a:rPr>
              <a:pPr/>
              <a:t>73</a:t>
            </a:fld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722" name="Rectangle 2">
            <a:extLst>
              <a:ext uri="{FF2B5EF4-FFF2-40B4-BE49-F238E27FC236}">
                <a16:creationId xmlns:a16="http://schemas.microsoft.com/office/drawing/2014/main" id="{33C293E0-AEB5-4433-A70A-EA5E3E7D2492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58723" name="Rectangle 3">
            <a:extLst>
              <a:ext uri="{FF2B5EF4-FFF2-40B4-BE49-F238E27FC236}">
                <a16:creationId xmlns:a16="http://schemas.microsoft.com/office/drawing/2014/main" id="{CD0B27B8-02D9-44B0-98E3-B67815B29B1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746" name="Rectangle 2">
            <a:extLst>
              <a:ext uri="{FF2B5EF4-FFF2-40B4-BE49-F238E27FC236}">
                <a16:creationId xmlns:a16="http://schemas.microsoft.com/office/drawing/2014/main" id="{95ED16BA-6717-4E15-8999-EA5258E660CB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xfrm>
            <a:off x="1196975" y="692150"/>
            <a:ext cx="4618038" cy="3463925"/>
          </a:xfrm>
          <a:ln/>
        </p:spPr>
      </p:sp>
      <p:sp>
        <p:nvSpPr>
          <p:cNvPr id="159747" name="Rectangle 3">
            <a:extLst>
              <a:ext uri="{FF2B5EF4-FFF2-40B4-BE49-F238E27FC236}">
                <a16:creationId xmlns:a16="http://schemas.microsoft.com/office/drawing/2014/main" id="{99305662-96AB-4DE4-9CF9-E3ADBF2CDED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770" name="Rectangle 7">
            <a:extLst>
              <a:ext uri="{FF2B5EF4-FFF2-40B4-BE49-F238E27FC236}">
                <a16:creationId xmlns:a16="http://schemas.microsoft.com/office/drawing/2014/main" id="{1BF7F601-CC84-4B34-976D-846CF029D6F1}"/>
              </a:ext>
            </a:extLst>
          </p:cNvPr>
          <p:cNvSpPr txBox="1">
            <a:spLocks noGrp="1" noChangeArrowheads="1"/>
          </p:cNvSpPr>
          <p:nvPr/>
        </p:nvSpPr>
        <p:spPr bwMode="auto">
          <a:xfrm>
            <a:off x="3971925" y="8774113"/>
            <a:ext cx="3038475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3170" tIns="46586" rIns="93170" bIns="46586" anchor="b"/>
          <a:lstStyle>
            <a:lvl1pPr defTabSz="931863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defTabSz="931863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defTabSz="931863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defTabSz="931863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defTabSz="931863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r"/>
            <a:fld id="{DF674CF2-4943-4545-A0B7-06E84EE97446}" type="slidenum">
              <a:rPr lang="en-US" altLang="en-US" sz="1200">
                <a:latin typeface="Times New Roman" panose="02020603050405020304" pitchFamily="18" charset="0"/>
              </a:rPr>
              <a:pPr algn="r"/>
              <a:t>76</a:t>
            </a:fld>
            <a:endParaRPr lang="en-US" altLang="en-US" sz="1200">
              <a:latin typeface="Times New Roman" panose="02020603050405020304" pitchFamily="18" charset="0"/>
            </a:endParaRPr>
          </a:p>
        </p:txBody>
      </p:sp>
      <p:sp>
        <p:nvSpPr>
          <p:cNvPr id="160771" name="Rectangle 2">
            <a:extLst>
              <a:ext uri="{FF2B5EF4-FFF2-40B4-BE49-F238E27FC236}">
                <a16:creationId xmlns:a16="http://schemas.microsoft.com/office/drawing/2014/main" id="{96750C30-DA6C-4C55-B03E-A4F0EFE01D7F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xfrm>
            <a:off x="1206500" y="698500"/>
            <a:ext cx="4602163" cy="3451225"/>
          </a:xfrm>
          <a:ln w="12700" cap="flat">
            <a:solidFill>
              <a:schemeClr val="tx1"/>
            </a:solidFill>
          </a:ln>
        </p:spPr>
      </p:sp>
      <p:sp>
        <p:nvSpPr>
          <p:cNvPr id="160772" name="Rectangle 3">
            <a:extLst>
              <a:ext uri="{FF2B5EF4-FFF2-40B4-BE49-F238E27FC236}">
                <a16:creationId xmlns:a16="http://schemas.microsoft.com/office/drawing/2014/main" id="{A57EDC43-E92C-4258-9F57-A4031F0BA45E}"/>
              </a:ext>
            </a:extLst>
          </p:cNvPr>
          <p:cNvSpPr>
            <a:spLocks noChangeArrowheads="1"/>
          </p:cNvSpPr>
          <p:nvPr>
            <p:ph type="body" idx="1"/>
          </p:nvPr>
        </p:nvSpPr>
        <p:spPr>
          <a:xfrm>
            <a:off x="935038" y="4387850"/>
            <a:ext cx="5140325" cy="4157663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7348" tIns="43673" rIns="87348" bIns="43673"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794" name="Rectangle 7">
            <a:extLst>
              <a:ext uri="{FF2B5EF4-FFF2-40B4-BE49-F238E27FC236}">
                <a16:creationId xmlns:a16="http://schemas.microsoft.com/office/drawing/2014/main" id="{F1921959-6D8D-4A2D-9431-5ABED8473877}"/>
              </a:ext>
            </a:extLst>
          </p:cNvPr>
          <p:cNvSpPr txBox="1">
            <a:spLocks noGrp="1" noChangeArrowheads="1"/>
          </p:cNvSpPr>
          <p:nvPr/>
        </p:nvSpPr>
        <p:spPr bwMode="auto">
          <a:xfrm>
            <a:off x="3971925" y="8774113"/>
            <a:ext cx="3038475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3170" tIns="46586" rIns="93170" bIns="46586" anchor="b"/>
          <a:lstStyle>
            <a:lvl1pPr defTabSz="931863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defTabSz="931863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defTabSz="931863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defTabSz="931863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defTabSz="931863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r"/>
            <a:fld id="{D5A7E0C2-A785-4328-84AA-CE8A95A7123A}" type="slidenum">
              <a:rPr lang="en-US" altLang="en-US" sz="1200">
                <a:latin typeface="Times New Roman" panose="02020603050405020304" pitchFamily="18" charset="0"/>
              </a:rPr>
              <a:pPr algn="r"/>
              <a:t>77</a:t>
            </a:fld>
            <a:endParaRPr lang="en-US" altLang="en-US" sz="1200">
              <a:latin typeface="Times New Roman" panose="02020603050405020304" pitchFamily="18" charset="0"/>
            </a:endParaRPr>
          </a:p>
        </p:txBody>
      </p:sp>
      <p:sp>
        <p:nvSpPr>
          <p:cNvPr id="161795" name="Rectangle 2">
            <a:extLst>
              <a:ext uri="{FF2B5EF4-FFF2-40B4-BE49-F238E27FC236}">
                <a16:creationId xmlns:a16="http://schemas.microsoft.com/office/drawing/2014/main" id="{8F1F8962-272B-4A1E-9BEB-754083143870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xfrm>
            <a:off x="1206500" y="698500"/>
            <a:ext cx="4602163" cy="3451225"/>
          </a:xfrm>
          <a:ln w="12700" cap="flat">
            <a:solidFill>
              <a:schemeClr val="tx1"/>
            </a:solidFill>
          </a:ln>
        </p:spPr>
      </p:sp>
      <p:sp>
        <p:nvSpPr>
          <p:cNvPr id="161796" name="Rectangle 3">
            <a:extLst>
              <a:ext uri="{FF2B5EF4-FFF2-40B4-BE49-F238E27FC236}">
                <a16:creationId xmlns:a16="http://schemas.microsoft.com/office/drawing/2014/main" id="{7B734EE5-5AFC-485A-AC96-C900E1725BF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35038" y="4387850"/>
            <a:ext cx="5140325" cy="4157663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7348" tIns="43673" rIns="87348" bIns="43673"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818" name="Rectangle 7">
            <a:extLst>
              <a:ext uri="{FF2B5EF4-FFF2-40B4-BE49-F238E27FC236}">
                <a16:creationId xmlns:a16="http://schemas.microsoft.com/office/drawing/2014/main" id="{B4B1EDD5-9DEE-41B6-A3B7-40096416BA29}"/>
              </a:ext>
            </a:extLst>
          </p:cNvPr>
          <p:cNvSpPr txBox="1">
            <a:spLocks noGrp="1" noChangeArrowheads="1"/>
          </p:cNvSpPr>
          <p:nvPr/>
        </p:nvSpPr>
        <p:spPr bwMode="auto">
          <a:xfrm>
            <a:off x="3971925" y="8774113"/>
            <a:ext cx="3038475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3170" tIns="46586" rIns="93170" bIns="46586" anchor="b"/>
          <a:lstStyle>
            <a:lvl1pPr defTabSz="931863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defTabSz="931863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defTabSz="931863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defTabSz="931863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defTabSz="931863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r"/>
            <a:fld id="{0BC626EC-71C9-4B92-81B4-352E80692557}" type="slidenum">
              <a:rPr lang="en-US" altLang="en-US" sz="1200">
                <a:latin typeface="Times New Roman" panose="02020603050405020304" pitchFamily="18" charset="0"/>
              </a:rPr>
              <a:pPr algn="r"/>
              <a:t>78</a:t>
            </a:fld>
            <a:endParaRPr lang="en-US" altLang="en-US" sz="1200">
              <a:latin typeface="Times New Roman" panose="02020603050405020304" pitchFamily="18" charset="0"/>
            </a:endParaRPr>
          </a:p>
        </p:txBody>
      </p:sp>
      <p:sp>
        <p:nvSpPr>
          <p:cNvPr id="162819" name="Rectangle 2">
            <a:extLst>
              <a:ext uri="{FF2B5EF4-FFF2-40B4-BE49-F238E27FC236}">
                <a16:creationId xmlns:a16="http://schemas.microsoft.com/office/drawing/2014/main" id="{D8CC4C80-1F87-42E9-A37A-5994C7255957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62820" name="Rectangle 3">
            <a:extLst>
              <a:ext uri="{FF2B5EF4-FFF2-40B4-BE49-F238E27FC236}">
                <a16:creationId xmlns:a16="http://schemas.microsoft.com/office/drawing/2014/main" id="{0E63A77A-8EC9-4531-A410-6A04DB884F6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42" name="Rectangle 7">
            <a:extLst>
              <a:ext uri="{FF2B5EF4-FFF2-40B4-BE49-F238E27FC236}">
                <a16:creationId xmlns:a16="http://schemas.microsoft.com/office/drawing/2014/main" id="{798AFEA2-8242-484D-B200-919965D77350}"/>
              </a:ext>
            </a:extLst>
          </p:cNvPr>
          <p:cNvSpPr txBox="1">
            <a:spLocks noGrp="1" noChangeArrowheads="1"/>
          </p:cNvSpPr>
          <p:nvPr/>
        </p:nvSpPr>
        <p:spPr bwMode="auto">
          <a:xfrm>
            <a:off x="3971925" y="8774113"/>
            <a:ext cx="3038475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3170" tIns="46586" rIns="93170" bIns="46586" anchor="b"/>
          <a:lstStyle>
            <a:lvl1pPr defTabSz="931863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defTabSz="931863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defTabSz="931863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defTabSz="931863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defTabSz="931863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r"/>
            <a:fld id="{6E453A7D-0133-4E6D-9B27-AFB98BC6E350}" type="slidenum">
              <a:rPr lang="en-US" altLang="en-US" sz="1200">
                <a:latin typeface="Times New Roman" panose="02020603050405020304" pitchFamily="18" charset="0"/>
              </a:rPr>
              <a:pPr algn="r"/>
              <a:t>79</a:t>
            </a:fld>
            <a:endParaRPr lang="en-US" altLang="en-US" sz="120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2">
            <a:extLst>
              <a:ext uri="{FF2B5EF4-FFF2-40B4-BE49-F238E27FC236}">
                <a16:creationId xmlns:a16="http://schemas.microsoft.com/office/drawing/2014/main" id="{BE40DE59-77AA-4F63-9AD7-C7BBEF7D5BC5}"/>
              </a:ext>
            </a:extLst>
          </p:cNvPr>
          <p:cNvGrpSpPr>
            <a:grpSpLocks/>
          </p:cNvGrpSpPr>
          <p:nvPr/>
        </p:nvGrpSpPr>
        <p:grpSpPr bwMode="auto">
          <a:xfrm>
            <a:off x="0" y="2438400"/>
            <a:ext cx="9009063" cy="1052513"/>
            <a:chOff x="0" y="1536"/>
            <a:chExt cx="5675" cy="663"/>
          </a:xfrm>
        </p:grpSpPr>
        <p:grpSp>
          <p:nvGrpSpPr>
            <p:cNvPr id="5" name="Group 3">
              <a:extLst>
                <a:ext uri="{FF2B5EF4-FFF2-40B4-BE49-F238E27FC236}">
                  <a16:creationId xmlns:a16="http://schemas.microsoft.com/office/drawing/2014/main" id="{8BFE891D-0194-4054-90D0-67A024622F2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85" y="1604"/>
              <a:ext cx="449" cy="299"/>
              <a:chOff x="720" y="336"/>
              <a:chExt cx="624" cy="432"/>
            </a:xfrm>
          </p:grpSpPr>
          <p:sp>
            <p:nvSpPr>
              <p:cNvPr id="12" name="Rectangle 4">
                <a:extLst>
                  <a:ext uri="{FF2B5EF4-FFF2-40B4-BE49-F238E27FC236}">
                    <a16:creationId xmlns:a16="http://schemas.microsoft.com/office/drawing/2014/main" id="{C28AAA07-F7DA-4E53-A104-ADC200B16F1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20" y="336"/>
                <a:ext cx="384" cy="432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  <p:sp>
            <p:nvSpPr>
              <p:cNvPr id="13" name="Rectangle 5">
                <a:extLst>
                  <a:ext uri="{FF2B5EF4-FFF2-40B4-BE49-F238E27FC236}">
                    <a16:creationId xmlns:a16="http://schemas.microsoft.com/office/drawing/2014/main" id="{2AD20D00-14A0-4A0F-AD13-C06018C5F2F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56" y="336"/>
                <a:ext cx="288" cy="432"/>
              </a:xfrm>
              <a:prstGeom prst="rect">
                <a:avLst/>
              </a:prstGeom>
              <a:gradFill rotWithShape="0">
                <a:gsLst>
                  <a:gs pos="0">
                    <a:schemeClr val="folHlink"/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</p:grpSp>
        <p:grpSp>
          <p:nvGrpSpPr>
            <p:cNvPr id="6" name="Group 6">
              <a:extLst>
                <a:ext uri="{FF2B5EF4-FFF2-40B4-BE49-F238E27FC236}">
                  <a16:creationId xmlns:a16="http://schemas.microsoft.com/office/drawing/2014/main" id="{844E8543-E99C-41BD-B65E-DFF998C030E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63" y="1870"/>
              <a:ext cx="466" cy="299"/>
              <a:chOff x="912" y="2640"/>
              <a:chExt cx="672" cy="432"/>
            </a:xfrm>
          </p:grpSpPr>
          <p:sp>
            <p:nvSpPr>
              <p:cNvPr id="10" name="Rectangle 7">
                <a:extLst>
                  <a:ext uri="{FF2B5EF4-FFF2-40B4-BE49-F238E27FC236}">
                    <a16:creationId xmlns:a16="http://schemas.microsoft.com/office/drawing/2014/main" id="{A2D65463-F77B-4268-BFB8-0BAE2986EFF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12" y="2640"/>
                <a:ext cx="384" cy="432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  <p:sp>
            <p:nvSpPr>
              <p:cNvPr id="11" name="Rectangle 8">
                <a:extLst>
                  <a:ext uri="{FF2B5EF4-FFF2-40B4-BE49-F238E27FC236}">
                    <a16:creationId xmlns:a16="http://schemas.microsoft.com/office/drawing/2014/main" id="{FADCBDAD-2FCA-4C2D-9FED-50998AA7999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48" y="2640"/>
                <a:ext cx="336" cy="432"/>
              </a:xfrm>
              <a:prstGeom prst="rect">
                <a:avLst/>
              </a:prstGeom>
              <a:gradFill rotWithShape="0">
                <a:gsLst>
                  <a:gs pos="0">
                    <a:schemeClr val="accent2"/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</p:grpSp>
        <p:sp>
          <p:nvSpPr>
            <p:cNvPr id="7" name="Rectangle 9">
              <a:extLst>
                <a:ext uri="{FF2B5EF4-FFF2-40B4-BE49-F238E27FC236}">
                  <a16:creationId xmlns:a16="http://schemas.microsoft.com/office/drawing/2014/main" id="{2350020B-3864-4A8B-AEC3-14A57E39018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1824"/>
              <a:ext cx="353" cy="266"/>
            </a:xfrm>
            <a:prstGeom prst="rect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hlink"/>
                </a:gs>
              </a:gsLst>
              <a:lin ang="189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8" name="Rectangle 10">
              <a:extLst>
                <a:ext uri="{FF2B5EF4-FFF2-40B4-BE49-F238E27FC236}">
                  <a16:creationId xmlns:a16="http://schemas.microsoft.com/office/drawing/2014/main" id="{853781A2-9414-4058-B482-415C1ED31A9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0" y="1536"/>
              <a:ext cx="20" cy="663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9" name="Rectangle 11">
              <a:extLst>
                <a:ext uri="{FF2B5EF4-FFF2-40B4-BE49-F238E27FC236}">
                  <a16:creationId xmlns:a16="http://schemas.microsoft.com/office/drawing/2014/main" id="{33AF71B7-F9AE-4FFB-96B3-A2E8EA8444CE}"/>
                </a:ext>
              </a:extLst>
            </p:cNvPr>
            <p:cNvSpPr>
              <a:spLocks noChangeArrowheads="1"/>
            </p:cNvSpPr>
            <p:nvPr/>
          </p:nvSpPr>
          <p:spPr bwMode="auto">
            <a:xfrm flipV="1">
              <a:off x="199" y="2054"/>
              <a:ext cx="5476" cy="35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</p:grpSp>
      <p:sp>
        <p:nvSpPr>
          <p:cNvPr id="929804" name="Rectangle 12"/>
          <p:cNvSpPr>
            <a:spLocks noGrp="1" noChangeArrowheads="1"/>
          </p:cNvSpPr>
          <p:nvPr>
            <p:ph type="ctrTitle"/>
          </p:nvPr>
        </p:nvSpPr>
        <p:spPr>
          <a:xfrm>
            <a:off x="990600" y="1828800"/>
            <a:ext cx="7772400" cy="1143000"/>
          </a:xfrm>
        </p:spPr>
        <p:txBody>
          <a:bodyPr/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929805" name="Rectangle 13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Font typeface="Wingdings" pitchFamily="2" charset="2"/>
              <a:buNone/>
              <a:defRPr/>
            </a:lvl1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3142466670"/>
      </p:ext>
    </p:extLst>
  </p:cSld>
  <p:clrMapOvr>
    <a:masterClrMapping/>
  </p:clrMapOvr>
  <p:transition>
    <p:zoom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2061">
            <a:extLst>
              <a:ext uri="{FF2B5EF4-FFF2-40B4-BE49-F238E27FC236}">
                <a16:creationId xmlns:a16="http://schemas.microsoft.com/office/drawing/2014/main" id="{C4D3AC9B-C5C3-458A-8A93-7E8C667048B3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71F8971E-0A6F-4F46-9432-12937FB8E382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503448907"/>
      </p:ext>
    </p:extLst>
  </p:cSld>
  <p:clrMapOvr>
    <a:masterClrMapping/>
  </p:clrMapOvr>
  <p:transition>
    <p:zoom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2061">
            <a:extLst>
              <a:ext uri="{FF2B5EF4-FFF2-40B4-BE49-F238E27FC236}">
                <a16:creationId xmlns:a16="http://schemas.microsoft.com/office/drawing/2014/main" id="{70185A53-5D6A-4D7D-A7AB-412A2E3DE710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89CEF6B5-67CB-4D5F-8C8E-2BBE8BE75E3D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279988973"/>
      </p:ext>
    </p:extLst>
  </p:cSld>
  <p:clrMapOvr>
    <a:masterClrMapping/>
  </p:clrMapOvr>
  <p:transition>
    <p:zoom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04800" y="1371600"/>
            <a:ext cx="4152900" cy="51054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10100" y="1371600"/>
            <a:ext cx="4152900" cy="51054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2061">
            <a:extLst>
              <a:ext uri="{FF2B5EF4-FFF2-40B4-BE49-F238E27FC236}">
                <a16:creationId xmlns:a16="http://schemas.microsoft.com/office/drawing/2014/main" id="{A6791639-8892-46DB-AB90-BD68D3A3EC58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8E78C80-2353-4DB1-A6F0-1758121B3985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831808528"/>
      </p:ext>
    </p:extLst>
  </p:cSld>
  <p:clrMapOvr>
    <a:masterClrMapping/>
  </p:clrMapOvr>
  <p:transition>
    <p:zoom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2061">
            <a:extLst>
              <a:ext uri="{FF2B5EF4-FFF2-40B4-BE49-F238E27FC236}">
                <a16:creationId xmlns:a16="http://schemas.microsoft.com/office/drawing/2014/main" id="{F57A128D-19A1-479D-B980-890AD98C747A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0BE2540A-DFD1-4130-A809-3A30A0A41813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845892535"/>
      </p:ext>
    </p:extLst>
  </p:cSld>
  <p:clrMapOvr>
    <a:masterClrMapping/>
  </p:clrMapOvr>
  <p:transition>
    <p:zoom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2061">
            <a:extLst>
              <a:ext uri="{FF2B5EF4-FFF2-40B4-BE49-F238E27FC236}">
                <a16:creationId xmlns:a16="http://schemas.microsoft.com/office/drawing/2014/main" id="{B38B99AD-F48C-43EB-B20C-3C09F0459908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61FD55FA-9120-49AE-B560-F3AE8DD690C0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6013472"/>
      </p:ext>
    </p:extLst>
  </p:cSld>
  <p:clrMapOvr>
    <a:masterClrMapping/>
  </p:clrMapOvr>
  <p:transition>
    <p:zoom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061">
            <a:extLst>
              <a:ext uri="{FF2B5EF4-FFF2-40B4-BE49-F238E27FC236}">
                <a16:creationId xmlns:a16="http://schemas.microsoft.com/office/drawing/2014/main" id="{2EA4542E-2DDB-46E2-B81F-BD8100D8EDAB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9B3D288-7E80-4B78-B5C6-194CA99B8929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786843706"/>
      </p:ext>
    </p:extLst>
  </p:cSld>
  <p:clrMapOvr>
    <a:masterClrMapping/>
  </p:clrMapOvr>
  <p:transition>
    <p:zoom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2061">
            <a:extLst>
              <a:ext uri="{FF2B5EF4-FFF2-40B4-BE49-F238E27FC236}">
                <a16:creationId xmlns:a16="http://schemas.microsoft.com/office/drawing/2014/main" id="{A0142EFC-2BB3-470E-A38F-901A0CA44C0F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08C7E21-861C-4E13-B3DC-BE0AC64F5341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283113201"/>
      </p:ext>
    </p:extLst>
  </p:cSld>
  <p:clrMapOvr>
    <a:masterClrMapping/>
  </p:clrMapOvr>
  <p:transition>
    <p:zoom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2061">
            <a:extLst>
              <a:ext uri="{FF2B5EF4-FFF2-40B4-BE49-F238E27FC236}">
                <a16:creationId xmlns:a16="http://schemas.microsoft.com/office/drawing/2014/main" id="{165FFA64-A655-47DE-8E58-4960E1994DB2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A9674A52-BE9B-4E2D-B446-B8A6C416FEE8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966756527"/>
      </p:ext>
    </p:extLst>
  </p:cSld>
  <p:clrMapOvr>
    <a:masterClrMapping/>
  </p:clrMapOvr>
  <p:transition>
    <p:zoom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2061">
            <a:extLst>
              <a:ext uri="{FF2B5EF4-FFF2-40B4-BE49-F238E27FC236}">
                <a16:creationId xmlns:a16="http://schemas.microsoft.com/office/drawing/2014/main" id="{E8FE8D3C-FF69-4828-A4CE-C5AFE82B2959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8E01DB6D-5DFC-42A5-BCD3-2B98BE96B1B5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08685441"/>
      </p:ext>
    </p:extLst>
  </p:cSld>
  <p:clrMapOvr>
    <a:masterClrMapping/>
  </p:clrMapOvr>
  <p:transition>
    <p:zoom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48450" y="381000"/>
            <a:ext cx="2114550" cy="60960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04800" y="381000"/>
            <a:ext cx="6191250" cy="60960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2061">
            <a:extLst>
              <a:ext uri="{FF2B5EF4-FFF2-40B4-BE49-F238E27FC236}">
                <a16:creationId xmlns:a16="http://schemas.microsoft.com/office/drawing/2014/main" id="{5CB20B99-025E-486A-B142-F5E2588738F5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2E2E896A-BCCA-4DF1-9010-A312AC6076D2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464533016"/>
      </p:ext>
    </p:extLst>
  </p:cSld>
  <p:clrMapOvr>
    <a:masterClrMapping/>
  </p:clrMapOvr>
  <p:transition>
    <p:zoom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 preserve="1">
  <p:cSld name="Title, Text,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381000"/>
            <a:ext cx="8402638" cy="6096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304800" y="1371600"/>
            <a:ext cx="4152900" cy="5105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4610100" y="1371600"/>
            <a:ext cx="4152900" cy="24765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4610100" y="4000500"/>
            <a:ext cx="4152900" cy="24765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Rectangle 2061">
            <a:extLst>
              <a:ext uri="{FF2B5EF4-FFF2-40B4-BE49-F238E27FC236}">
                <a16:creationId xmlns:a16="http://schemas.microsoft.com/office/drawing/2014/main" id="{F26B0B3B-0370-4F45-BA7E-94B5A6A65267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16B9AFA-2892-4E5F-B9B0-704AA7AD84AB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67882720"/>
      </p:ext>
    </p:extLst>
  </p:cSld>
  <p:clrMapOvr>
    <a:masterClrMapping/>
  </p:clrMapOvr>
  <p:transition>
    <p:zoom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381000"/>
            <a:ext cx="8402638" cy="6096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304800" y="1371600"/>
            <a:ext cx="4152900" cy="5105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10100" y="1371600"/>
            <a:ext cx="4152900" cy="5105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2061">
            <a:extLst>
              <a:ext uri="{FF2B5EF4-FFF2-40B4-BE49-F238E27FC236}">
                <a16:creationId xmlns:a16="http://schemas.microsoft.com/office/drawing/2014/main" id="{94055D4E-C66D-429F-9485-B27763292552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578D6A7-C9DA-4225-8F8E-ECF8D8D85B6E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514586387"/>
      </p:ext>
    </p:extLst>
  </p:cSld>
  <p:clrMapOvr>
    <a:masterClrMapping/>
  </p:clrMapOvr>
  <p:transition>
    <p:zoom/>
  </p:transition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 and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sz="quarter"/>
          </p:nvPr>
        </p:nvSpPr>
        <p:spPr>
          <a:xfrm>
            <a:off x="304800" y="381000"/>
            <a:ext cx="8402638" cy="6096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304800" y="1371600"/>
            <a:ext cx="4152900" cy="24765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4610100" y="1371600"/>
            <a:ext cx="4152900" cy="24765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304800" y="4000500"/>
            <a:ext cx="4152900" cy="24765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10100" y="4000500"/>
            <a:ext cx="4152900" cy="24765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2061">
            <a:extLst>
              <a:ext uri="{FF2B5EF4-FFF2-40B4-BE49-F238E27FC236}">
                <a16:creationId xmlns:a16="http://schemas.microsoft.com/office/drawing/2014/main" id="{4A9D5D40-29A3-4AEF-A779-78901215579F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7A9B7C6-44D6-4D7C-8AC1-03161969CC4A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210593551"/>
      </p:ext>
    </p:extLst>
  </p:cSld>
  <p:clrMapOvr>
    <a:masterClrMapping/>
  </p:clrMapOvr>
  <p:transition>
    <p:zoom/>
  </p:transition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clipArtAndTx" preserve="1">
  <p:cSld name="Title, Clip Art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381000"/>
            <a:ext cx="8402638" cy="6096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lipArt Placeholder 2"/>
          <p:cNvSpPr>
            <a:spLocks noGrp="1"/>
          </p:cNvSpPr>
          <p:nvPr>
            <p:ph type="clipArt" sz="half" idx="1"/>
          </p:nvPr>
        </p:nvSpPr>
        <p:spPr>
          <a:xfrm>
            <a:off x="304800" y="1371600"/>
            <a:ext cx="4152900" cy="5105400"/>
          </a:xfrm>
        </p:spPr>
        <p:txBody>
          <a:bodyPr/>
          <a:lstStyle/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610100" y="1371600"/>
            <a:ext cx="4152900" cy="5105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2061">
            <a:extLst>
              <a:ext uri="{FF2B5EF4-FFF2-40B4-BE49-F238E27FC236}">
                <a16:creationId xmlns:a16="http://schemas.microsoft.com/office/drawing/2014/main" id="{65D87122-3DFD-493D-B28A-6F85D5FA0EA2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8A983E8D-F5C7-45FE-8DED-0C5F8C65D072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746381697"/>
      </p:ext>
    </p:extLst>
  </p:cSld>
  <p:clrMapOvr>
    <a:masterClrMapping/>
  </p:clrMapOvr>
  <p:transition>
    <p:zoom/>
  </p:transition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, Content,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381000"/>
            <a:ext cx="8402638" cy="6096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04800" y="1371600"/>
            <a:ext cx="4152900" cy="5105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4610100" y="1371600"/>
            <a:ext cx="4152900" cy="24765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4610100" y="4000500"/>
            <a:ext cx="4152900" cy="24765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Rectangle 2061">
            <a:extLst>
              <a:ext uri="{FF2B5EF4-FFF2-40B4-BE49-F238E27FC236}">
                <a16:creationId xmlns:a16="http://schemas.microsoft.com/office/drawing/2014/main" id="{D2E4AD29-D079-49EF-93B3-8C7B2E8849FE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59C12127-353A-4C67-9AE1-D0183A476214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608117860"/>
      </p:ext>
    </p:extLst>
  </p:cSld>
  <p:clrMapOvr>
    <a:masterClrMapping/>
  </p:clrMapOvr>
  <p:transition>
    <p:zoom/>
  </p:transition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/>
          </p:nvPr>
        </p:nvSpPr>
        <p:spPr>
          <a:xfrm>
            <a:off x="304800" y="381000"/>
            <a:ext cx="8458200" cy="6096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Rectangle 2061">
            <a:extLst>
              <a:ext uri="{FF2B5EF4-FFF2-40B4-BE49-F238E27FC236}">
                <a16:creationId xmlns:a16="http://schemas.microsoft.com/office/drawing/2014/main" id="{02ED7C61-36D6-4072-88BE-D868D17E2F8B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D967D85-3A31-4C12-90E6-4DC2F19BB758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378030362"/>
      </p:ext>
    </p:extLst>
  </p:cSld>
  <p:clrMapOvr>
    <a:masterClrMapping/>
  </p:clrMapOvr>
  <p:transition>
    <p:zoom/>
  </p:transition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 and Content ov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381000"/>
            <a:ext cx="8402638" cy="6096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04800" y="1371600"/>
            <a:ext cx="8458200" cy="24765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04800" y="4000500"/>
            <a:ext cx="8458200" cy="24765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2061">
            <a:extLst>
              <a:ext uri="{FF2B5EF4-FFF2-40B4-BE49-F238E27FC236}">
                <a16:creationId xmlns:a16="http://schemas.microsoft.com/office/drawing/2014/main" id="{C2C097FE-573B-4E11-868B-7B384241816B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515059A6-72BB-4B5F-8C4B-0A30E0148631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684152064"/>
      </p:ext>
    </p:extLst>
  </p:cSld>
  <p:clrMapOvr>
    <a:masterClrMapping/>
  </p:clrMapOvr>
  <p:transition>
    <p:zoom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056">
            <a:extLst>
              <a:ext uri="{FF2B5EF4-FFF2-40B4-BE49-F238E27FC236}">
                <a16:creationId xmlns:a16="http://schemas.microsoft.com/office/drawing/2014/main" id="{400F3B5A-7D3E-4DD7-8D18-E35DD8DB06BC}"/>
              </a:ext>
            </a:extLst>
          </p:cNvPr>
          <p:cNvSpPr>
            <a:spLocks noChangeArrowheads="1"/>
          </p:cNvSpPr>
          <p:nvPr/>
        </p:nvSpPr>
        <p:spPr bwMode="gray">
          <a:xfrm>
            <a:off x="304800" y="1066800"/>
            <a:ext cx="8410575" cy="46038"/>
          </a:xfrm>
          <a:prstGeom prst="rect">
            <a:avLst/>
          </a:prstGeom>
          <a:gradFill rotWithShape="1">
            <a:gsLst>
              <a:gs pos="0">
                <a:srgbClr val="00CE98">
                  <a:alpha val="50000"/>
                </a:srgbClr>
              </a:gs>
              <a:gs pos="100000">
                <a:srgbClr val="8FF9EF">
                  <a:alpha val="51999"/>
                </a:srgbClr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/>
            <a:endParaRPr kumimoji="1" lang="en-US" altLang="en-US" sz="2400"/>
          </a:p>
        </p:txBody>
      </p:sp>
      <p:sp>
        <p:nvSpPr>
          <p:cNvPr id="1027" name="Rectangle 2057">
            <a:extLst>
              <a:ext uri="{FF2B5EF4-FFF2-40B4-BE49-F238E27FC236}">
                <a16:creationId xmlns:a16="http://schemas.microsoft.com/office/drawing/2014/main" id="{C20A8B43-625A-48E0-BE63-363F44E5104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304800" y="304800"/>
            <a:ext cx="8402638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8" name="Rectangle 2058">
            <a:extLst>
              <a:ext uri="{FF2B5EF4-FFF2-40B4-BE49-F238E27FC236}">
                <a16:creationId xmlns:a16="http://schemas.microsoft.com/office/drawing/2014/main" id="{2A57A6CB-BBFB-4526-BDB4-457187FC23E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304800" y="1219200"/>
            <a:ext cx="8458200" cy="5257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928781" name="Rectangle 2061">
            <a:extLst>
              <a:ext uri="{FF2B5EF4-FFF2-40B4-BE49-F238E27FC236}">
                <a16:creationId xmlns:a16="http://schemas.microsoft.com/office/drawing/2014/main" id="{25D6A942-6227-426C-81D5-88987C8D0050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239000" y="6477000"/>
            <a:ext cx="1905000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26E98686-C7CB-4AB2-A9E0-B1FDF74E8129}" type="slidenum">
              <a:rPr lang="en-US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948" r:id="rId1"/>
    <p:sldLayoutId id="2147483931" r:id="rId2"/>
    <p:sldLayoutId id="2147483932" r:id="rId3"/>
    <p:sldLayoutId id="2147483933" r:id="rId4"/>
    <p:sldLayoutId id="2147483934" r:id="rId5"/>
    <p:sldLayoutId id="2147483935" r:id="rId6"/>
    <p:sldLayoutId id="2147483936" r:id="rId7"/>
    <p:sldLayoutId id="2147483937" r:id="rId8"/>
    <p:sldLayoutId id="2147483938" r:id="rId9"/>
    <p:sldLayoutId id="2147483939" r:id="rId10"/>
    <p:sldLayoutId id="2147483940" r:id="rId11"/>
    <p:sldLayoutId id="2147483941" r:id="rId12"/>
    <p:sldLayoutId id="2147483942" r:id="rId13"/>
    <p:sldLayoutId id="2147483943" r:id="rId14"/>
    <p:sldLayoutId id="2147483944" r:id="rId15"/>
    <p:sldLayoutId id="2147483945" r:id="rId16"/>
    <p:sldLayoutId id="2147483946" r:id="rId17"/>
    <p:sldLayoutId id="2147483947" r:id="rId18"/>
  </p:sldLayoutIdLst>
  <p:transition>
    <p:zoom/>
  </p:transition>
  <p:hf hdr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Berlin Sans FB Demi" pitchFamily="34" charset="0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Berlin Sans FB Dem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Berlin Sans FB Dem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Berlin Sans FB Dem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Berlin Sans FB Dem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Tahoma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Tahoma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Tahoma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Tahoma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60000"/>
        <a:buFont typeface="Wingdings" panose="05000000000000000000" pitchFamily="2" charset="2"/>
        <a:buChar char="n"/>
        <a:defRPr sz="2800">
          <a:solidFill>
            <a:schemeClr val="tx1"/>
          </a:solidFill>
          <a:latin typeface="Calibri" pitchFamily="34" charset="0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55000"/>
        <a:buFont typeface="Wingdings" panose="05000000000000000000" pitchFamily="2" charset="2"/>
        <a:buChar char="n"/>
        <a:defRPr sz="2800">
          <a:solidFill>
            <a:schemeClr val="tx1"/>
          </a:solidFill>
          <a:latin typeface="Calibri" pitchFamily="34" charset="0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50000"/>
        <a:buFont typeface="Wingdings" panose="05000000000000000000" pitchFamily="2" charset="2"/>
        <a:buChar char="n"/>
        <a:defRPr sz="2400">
          <a:solidFill>
            <a:schemeClr val="tx1"/>
          </a:solidFill>
          <a:latin typeface="Calibri" pitchFamily="34" charset="0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55000"/>
        <a:buFont typeface="Wingdings" panose="05000000000000000000" pitchFamily="2" charset="2"/>
        <a:buChar char="n"/>
        <a:defRPr sz="2000">
          <a:solidFill>
            <a:schemeClr val="tx1"/>
          </a:solidFill>
          <a:latin typeface="Calibri" pitchFamily="34" charset="0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anose="05000000000000000000" pitchFamily="2" charset="2"/>
        <a:buChar char="n"/>
        <a:defRPr sz="2000">
          <a:solidFill>
            <a:schemeClr val="tx1"/>
          </a:solidFill>
          <a:latin typeface="Calibri" pitchFamily="34" charset="0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7" Type="http://schemas.openxmlformats.org/officeDocument/2006/relationships/image" Target="../media/image4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6" Type="http://schemas.openxmlformats.org/officeDocument/2006/relationships/image" Target="../media/image2.wmf"/><Relationship Id="rId5" Type="http://schemas.openxmlformats.org/officeDocument/2006/relationships/oleObject" Target="../embeddings/oleObject1.bin"/><Relationship Id="rId4" Type="http://schemas.openxmlformats.org/officeDocument/2006/relationships/image" Target="../media/image3.wmf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wmf"/><Relationship Id="rId3" Type="http://schemas.openxmlformats.org/officeDocument/2006/relationships/notesSlide" Target="../notesSlides/notesSlide7.xml"/><Relationship Id="rId7" Type="http://schemas.openxmlformats.org/officeDocument/2006/relationships/image" Target="../media/image5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.vml"/><Relationship Id="rId6" Type="http://schemas.openxmlformats.org/officeDocument/2006/relationships/oleObject" Target="../embeddings/oleObject2.bin"/><Relationship Id="rId5" Type="http://schemas.openxmlformats.org/officeDocument/2006/relationships/image" Target="../media/image7.wmf"/><Relationship Id="rId4" Type="http://schemas.openxmlformats.org/officeDocument/2006/relationships/image" Target="../media/image6.wmf"/><Relationship Id="rId9" Type="http://schemas.openxmlformats.org/officeDocument/2006/relationships/image" Target="../media/image9.wmf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3.vml"/><Relationship Id="rId5" Type="http://schemas.openxmlformats.org/officeDocument/2006/relationships/image" Target="../media/image10.emf"/><Relationship Id="rId4" Type="http://schemas.openxmlformats.org/officeDocument/2006/relationships/oleObject" Target="../embeddings/oleObject3.bin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6.bin"/><Relationship Id="rId3" Type="http://schemas.openxmlformats.org/officeDocument/2006/relationships/notesSlide" Target="../notesSlides/notesSlide11.xml"/><Relationship Id="rId7" Type="http://schemas.openxmlformats.org/officeDocument/2006/relationships/image" Target="../media/image12.w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4.vml"/><Relationship Id="rId6" Type="http://schemas.openxmlformats.org/officeDocument/2006/relationships/oleObject" Target="../embeddings/oleObject5.bin"/><Relationship Id="rId5" Type="http://schemas.openxmlformats.org/officeDocument/2006/relationships/image" Target="../media/image11.wmf"/><Relationship Id="rId4" Type="http://schemas.openxmlformats.org/officeDocument/2006/relationships/oleObject" Target="../embeddings/oleObject4.bin"/><Relationship Id="rId9" Type="http://schemas.openxmlformats.org/officeDocument/2006/relationships/image" Target="../media/image13.wmf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9.bin"/><Relationship Id="rId13" Type="http://schemas.openxmlformats.org/officeDocument/2006/relationships/image" Target="../media/image18.emf"/><Relationship Id="rId3" Type="http://schemas.openxmlformats.org/officeDocument/2006/relationships/notesSlide" Target="../notesSlides/notesSlide12.xml"/><Relationship Id="rId7" Type="http://schemas.openxmlformats.org/officeDocument/2006/relationships/image" Target="../media/image15.wmf"/><Relationship Id="rId12" Type="http://schemas.openxmlformats.org/officeDocument/2006/relationships/oleObject" Target="../embeddings/oleObject11.bin"/><Relationship Id="rId17" Type="http://schemas.openxmlformats.org/officeDocument/2006/relationships/image" Target="../media/image20.wmf"/><Relationship Id="rId2" Type="http://schemas.openxmlformats.org/officeDocument/2006/relationships/slideLayout" Target="../slideLayouts/slideLayout4.xml"/><Relationship Id="rId16" Type="http://schemas.openxmlformats.org/officeDocument/2006/relationships/oleObject" Target="../embeddings/oleObject13.bin"/><Relationship Id="rId1" Type="http://schemas.openxmlformats.org/officeDocument/2006/relationships/vmlDrawing" Target="../drawings/vmlDrawing5.vml"/><Relationship Id="rId6" Type="http://schemas.openxmlformats.org/officeDocument/2006/relationships/oleObject" Target="../embeddings/oleObject8.bin"/><Relationship Id="rId11" Type="http://schemas.openxmlformats.org/officeDocument/2006/relationships/image" Target="../media/image17.wmf"/><Relationship Id="rId5" Type="http://schemas.openxmlformats.org/officeDocument/2006/relationships/image" Target="../media/image14.emf"/><Relationship Id="rId15" Type="http://schemas.openxmlformats.org/officeDocument/2006/relationships/image" Target="../media/image19.wmf"/><Relationship Id="rId10" Type="http://schemas.openxmlformats.org/officeDocument/2006/relationships/oleObject" Target="../embeddings/oleObject10.bin"/><Relationship Id="rId4" Type="http://schemas.openxmlformats.org/officeDocument/2006/relationships/oleObject" Target="../embeddings/oleObject7.bin"/><Relationship Id="rId9" Type="http://schemas.openxmlformats.org/officeDocument/2006/relationships/image" Target="../media/image16.wmf"/><Relationship Id="rId14" Type="http://schemas.openxmlformats.org/officeDocument/2006/relationships/oleObject" Target="../embeddings/oleObject12.bin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4.xml"/><Relationship Id="rId2" Type="http://schemas.openxmlformats.org/officeDocument/2006/relationships/slideLayout" Target="../slideLayouts/slideLayout12.xml"/><Relationship Id="rId1" Type="http://schemas.openxmlformats.org/officeDocument/2006/relationships/vmlDrawing" Target="../drawings/vmlDrawing6.vml"/><Relationship Id="rId6" Type="http://schemas.openxmlformats.org/officeDocument/2006/relationships/image" Target="../media/image22.jpeg"/><Relationship Id="rId5" Type="http://schemas.openxmlformats.org/officeDocument/2006/relationships/image" Target="../media/image21.wmf"/><Relationship Id="rId4" Type="http://schemas.openxmlformats.org/officeDocument/2006/relationships/oleObject" Target="../embeddings/oleObject14.bin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7.bin"/><Relationship Id="rId3" Type="http://schemas.openxmlformats.org/officeDocument/2006/relationships/notesSlide" Target="../notesSlides/notesSlide15.xml"/><Relationship Id="rId7" Type="http://schemas.openxmlformats.org/officeDocument/2006/relationships/image" Target="../media/image24.wmf"/><Relationship Id="rId2" Type="http://schemas.openxmlformats.org/officeDocument/2006/relationships/slideLayout" Target="../slideLayouts/slideLayout13.xml"/><Relationship Id="rId1" Type="http://schemas.openxmlformats.org/officeDocument/2006/relationships/vmlDrawing" Target="../drawings/vmlDrawing7.vml"/><Relationship Id="rId6" Type="http://schemas.openxmlformats.org/officeDocument/2006/relationships/oleObject" Target="../embeddings/oleObject16.bin"/><Relationship Id="rId5" Type="http://schemas.openxmlformats.org/officeDocument/2006/relationships/image" Target="../media/image23.wmf"/><Relationship Id="rId4" Type="http://schemas.openxmlformats.org/officeDocument/2006/relationships/oleObject" Target="../embeddings/oleObject15.bin"/><Relationship Id="rId9" Type="http://schemas.openxmlformats.org/officeDocument/2006/relationships/image" Target="../media/image25.wmf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jpeg"/><Relationship Id="rId3" Type="http://schemas.openxmlformats.org/officeDocument/2006/relationships/notesSlide" Target="../notesSlides/notesSlide16.xml"/><Relationship Id="rId7" Type="http://schemas.openxmlformats.org/officeDocument/2006/relationships/image" Target="../media/image27.wmf"/><Relationship Id="rId2" Type="http://schemas.openxmlformats.org/officeDocument/2006/relationships/slideLayout" Target="../slideLayouts/slideLayout12.xml"/><Relationship Id="rId1" Type="http://schemas.openxmlformats.org/officeDocument/2006/relationships/vmlDrawing" Target="../drawings/vmlDrawing8.vml"/><Relationship Id="rId6" Type="http://schemas.openxmlformats.org/officeDocument/2006/relationships/oleObject" Target="../embeddings/oleObject19.bin"/><Relationship Id="rId5" Type="http://schemas.openxmlformats.org/officeDocument/2006/relationships/image" Target="../media/image26.wmf"/><Relationship Id="rId4" Type="http://schemas.openxmlformats.org/officeDocument/2006/relationships/oleObject" Target="../embeddings/oleObject18.bin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3.xml"/><Relationship Id="rId2" Type="http://schemas.openxmlformats.org/officeDocument/2006/relationships/slideLayout" Target="../slideLayouts/slideLayout14.xml"/><Relationship Id="rId1" Type="http://schemas.openxmlformats.org/officeDocument/2006/relationships/vmlDrawing" Target="../drawings/vmlDrawing9.vml"/><Relationship Id="rId5" Type="http://schemas.openxmlformats.org/officeDocument/2006/relationships/image" Target="../media/image29.emf"/><Relationship Id="rId4" Type="http://schemas.openxmlformats.org/officeDocument/2006/relationships/oleObject" Target="../embeddings/oleObject20.bin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6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1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0.vml"/><Relationship Id="rId5" Type="http://schemas.openxmlformats.org/officeDocument/2006/relationships/image" Target="../media/image33.wmf"/><Relationship Id="rId4" Type="http://schemas.openxmlformats.org/officeDocument/2006/relationships/oleObject" Target="../embeddings/oleObject21.bin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2.xml"/><Relationship Id="rId7" Type="http://schemas.openxmlformats.org/officeDocument/2006/relationships/image" Target="../media/image35.wmf"/><Relationship Id="rId2" Type="http://schemas.openxmlformats.org/officeDocument/2006/relationships/slideLayout" Target="../slideLayouts/slideLayout12.xml"/><Relationship Id="rId1" Type="http://schemas.openxmlformats.org/officeDocument/2006/relationships/vmlDrawing" Target="../drawings/vmlDrawing11.vml"/><Relationship Id="rId6" Type="http://schemas.openxmlformats.org/officeDocument/2006/relationships/oleObject" Target="../embeddings/oleObject23.bin"/><Relationship Id="rId5" Type="http://schemas.openxmlformats.org/officeDocument/2006/relationships/image" Target="../media/image34.wmf"/><Relationship Id="rId4" Type="http://schemas.openxmlformats.org/officeDocument/2006/relationships/oleObject" Target="../embeddings/oleObject22.bin"/></Relationships>
</file>

<file path=ppt/slides/_rels/slide34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6.bin"/><Relationship Id="rId3" Type="http://schemas.openxmlformats.org/officeDocument/2006/relationships/notesSlide" Target="../notesSlides/notesSlide33.xml"/><Relationship Id="rId7" Type="http://schemas.openxmlformats.org/officeDocument/2006/relationships/image" Target="../media/image37.wmf"/><Relationship Id="rId2" Type="http://schemas.openxmlformats.org/officeDocument/2006/relationships/slideLayout" Target="../slideLayouts/slideLayout12.xml"/><Relationship Id="rId1" Type="http://schemas.openxmlformats.org/officeDocument/2006/relationships/vmlDrawing" Target="../drawings/vmlDrawing12.vml"/><Relationship Id="rId6" Type="http://schemas.openxmlformats.org/officeDocument/2006/relationships/oleObject" Target="../embeddings/oleObject25.bin"/><Relationship Id="rId5" Type="http://schemas.openxmlformats.org/officeDocument/2006/relationships/image" Target="../media/image36.wmf"/><Relationship Id="rId4" Type="http://schemas.openxmlformats.org/officeDocument/2006/relationships/oleObject" Target="../embeddings/oleObject24.bin"/><Relationship Id="rId9" Type="http://schemas.openxmlformats.org/officeDocument/2006/relationships/image" Target="../media/image38.wmf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4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3.vml"/><Relationship Id="rId5" Type="http://schemas.openxmlformats.org/officeDocument/2006/relationships/image" Target="../media/image39.emf"/><Relationship Id="rId4" Type="http://schemas.openxmlformats.org/officeDocument/2006/relationships/oleObject" Target="../embeddings/oleObject27.bin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5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4.vml"/><Relationship Id="rId5" Type="http://schemas.openxmlformats.org/officeDocument/2006/relationships/image" Target="../media/image39.emf"/><Relationship Id="rId4" Type="http://schemas.openxmlformats.org/officeDocument/2006/relationships/oleObject" Target="../embeddings/oleObject28.bin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6.xml"/><Relationship Id="rId2" Type="http://schemas.openxmlformats.org/officeDocument/2006/relationships/slideLayout" Target="../slideLayouts/slideLayout13.xml"/><Relationship Id="rId1" Type="http://schemas.openxmlformats.org/officeDocument/2006/relationships/vmlDrawing" Target="../drawings/vmlDrawing15.vml"/><Relationship Id="rId5" Type="http://schemas.openxmlformats.org/officeDocument/2006/relationships/image" Target="../media/image40.wmf"/><Relationship Id="rId4" Type="http://schemas.openxmlformats.org/officeDocument/2006/relationships/oleObject" Target="../embeddings/oleObject29.bin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4.xml"/><Relationship Id="rId7" Type="http://schemas.openxmlformats.org/officeDocument/2006/relationships/image" Target="../media/image42.wmf"/><Relationship Id="rId2" Type="http://schemas.openxmlformats.org/officeDocument/2006/relationships/slideLayout" Target="../slideLayouts/slideLayout12.xml"/><Relationship Id="rId1" Type="http://schemas.openxmlformats.org/officeDocument/2006/relationships/vmlDrawing" Target="../drawings/vmlDrawing16.vml"/><Relationship Id="rId6" Type="http://schemas.openxmlformats.org/officeDocument/2006/relationships/oleObject" Target="../embeddings/oleObject31.bin"/><Relationship Id="rId5" Type="http://schemas.openxmlformats.org/officeDocument/2006/relationships/image" Target="../media/image41.wmf"/><Relationship Id="rId4" Type="http://schemas.openxmlformats.org/officeDocument/2006/relationships/oleObject" Target="../embeddings/oleObject30.bin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18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jpeg"/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6.jpeg"/><Relationship Id="rId5" Type="http://schemas.openxmlformats.org/officeDocument/2006/relationships/image" Target="../media/image45.jpeg"/><Relationship Id="rId4" Type="http://schemas.openxmlformats.org/officeDocument/2006/relationships/image" Target="../media/image44.jpeg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18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13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jpeg"/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9.jpeg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jpeg"/><Relationship Id="rId7" Type="http://schemas.openxmlformats.org/officeDocument/2006/relationships/image" Target="../media/image52.wmf"/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1.png"/><Relationship Id="rId5" Type="http://schemas.openxmlformats.org/officeDocument/2006/relationships/image" Target="../media/image48.jpeg"/><Relationship Id="rId4" Type="http://schemas.openxmlformats.org/officeDocument/2006/relationships/image" Target="../media/image49.jpeg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jpeg"/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54.jpeg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wmf"/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7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7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7.xml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3.xml"/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4.xml"/><Relationship Id="rId7" Type="http://schemas.openxmlformats.org/officeDocument/2006/relationships/image" Target="../media/image58.wmf"/><Relationship Id="rId2" Type="http://schemas.openxmlformats.org/officeDocument/2006/relationships/slideLayout" Target="../slideLayouts/slideLayout12.xml"/><Relationship Id="rId1" Type="http://schemas.openxmlformats.org/officeDocument/2006/relationships/vmlDrawing" Target="../drawings/vmlDrawing17.vml"/><Relationship Id="rId6" Type="http://schemas.openxmlformats.org/officeDocument/2006/relationships/oleObject" Target="../embeddings/oleObject33.bin"/><Relationship Id="rId5" Type="http://schemas.openxmlformats.org/officeDocument/2006/relationships/image" Target="../media/image57.wmf"/><Relationship Id="rId4" Type="http://schemas.openxmlformats.org/officeDocument/2006/relationships/oleObject" Target="../embeddings/oleObject32.bin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5.xml"/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6.xml"/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7.xml"/><Relationship Id="rId1" Type="http://schemas.openxmlformats.org/officeDocument/2006/relationships/slideLayout" Target="../slideLayouts/slideLayout7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8.xml"/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9.xml"/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3" Type="http://schemas.openxmlformats.org/officeDocument/2006/relationships/hyperlink" Target="http://www.cs.uiuc.edu/~hanj/pdf/icde07_hcheng.pdf" TargetMode="External"/><Relationship Id="rId2" Type="http://schemas.openxmlformats.org/officeDocument/2006/relationships/notesSlide" Target="../notesSlides/notesSlide70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://www.cs.uiuc.edu/~hanj/pdf/icde08_hongcheng.pdf" TargetMode="Externa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1.xml"/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2.xml"/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3.xml"/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jpeg"/><Relationship Id="rId2" Type="http://schemas.openxmlformats.org/officeDocument/2006/relationships/notesSlide" Target="../notesSlides/notesSlide74.xml"/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5.xml"/><Relationship Id="rId1" Type="http://schemas.openxmlformats.org/officeDocument/2006/relationships/slideLayout" Target="../slideLayouts/slideLayout7.xml"/></Relationships>
</file>

<file path=ppt/slides/_rels/slide77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6.bin"/><Relationship Id="rId3" Type="http://schemas.openxmlformats.org/officeDocument/2006/relationships/notesSlide" Target="../notesSlides/notesSlide76.xml"/><Relationship Id="rId7" Type="http://schemas.openxmlformats.org/officeDocument/2006/relationships/image" Target="../media/image61.w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8.vml"/><Relationship Id="rId6" Type="http://schemas.openxmlformats.org/officeDocument/2006/relationships/oleObject" Target="../embeddings/oleObject35.bin"/><Relationship Id="rId11" Type="http://schemas.openxmlformats.org/officeDocument/2006/relationships/image" Target="../media/image63.wmf"/><Relationship Id="rId5" Type="http://schemas.openxmlformats.org/officeDocument/2006/relationships/image" Target="../media/image60.wmf"/><Relationship Id="rId10" Type="http://schemas.openxmlformats.org/officeDocument/2006/relationships/oleObject" Target="../embeddings/oleObject37.bin"/><Relationship Id="rId4" Type="http://schemas.openxmlformats.org/officeDocument/2006/relationships/oleObject" Target="../embeddings/oleObject34.bin"/><Relationship Id="rId9" Type="http://schemas.openxmlformats.org/officeDocument/2006/relationships/image" Target="../media/image62.wmf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7.xml"/><Relationship Id="rId1" Type="http://schemas.openxmlformats.org/officeDocument/2006/relationships/slideLayout" Target="../slideLayouts/slideLayout7.xml"/></Relationships>
</file>

<file path=ppt/slides/_rels/slide7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8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Slide Number Placeholder 5">
            <a:extLst>
              <a:ext uri="{FF2B5EF4-FFF2-40B4-BE49-F238E27FC236}">
                <a16:creationId xmlns:a16="http://schemas.microsoft.com/office/drawing/2014/main" id="{68720EFD-AC09-49D7-B455-A9CD7889E071}"/>
              </a:ext>
            </a:extLst>
          </p:cNvPr>
          <p:cNvSpPr txBox="1">
            <a:spLocks noGrp="1"/>
          </p:cNvSpPr>
          <p:nvPr/>
        </p:nvSpPr>
        <p:spPr bwMode="auto">
          <a:xfrm>
            <a:off x="7239000" y="64008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r" eaLnBrk="1" hangingPunct="1"/>
            <a:fld id="{A6F36D7E-DB8A-4130-AE0C-88721C71C064}" type="slidenum">
              <a:rPr lang="zh-CN" altLang="en-US" sz="1200">
                <a:ea typeface="SimSun" panose="02010600030101010101" pitchFamily="2" charset="-122"/>
              </a:rPr>
              <a:pPr algn="r" eaLnBrk="1" hangingPunct="1"/>
              <a:t>1</a:t>
            </a:fld>
            <a:endParaRPr lang="en-US" altLang="zh-CN" sz="1200">
              <a:ea typeface="SimSun" panose="02010600030101010101" pitchFamily="2" charset="-122"/>
            </a:endParaRPr>
          </a:p>
        </p:txBody>
      </p:sp>
      <p:sp>
        <p:nvSpPr>
          <p:cNvPr id="3075" name="Rectangle 2">
            <a:extLst>
              <a:ext uri="{FF2B5EF4-FFF2-40B4-BE49-F238E27FC236}">
                <a16:creationId xmlns:a16="http://schemas.microsoft.com/office/drawing/2014/main" id="{405FF11B-4032-42E9-9949-647D862B9D59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152400" y="152400"/>
            <a:ext cx="8839200" cy="3886200"/>
          </a:xfrm>
        </p:spPr>
        <p:txBody>
          <a:bodyPr/>
          <a:lstStyle/>
          <a:p>
            <a:r>
              <a:rPr lang="en-US" altLang="en-US" sz="6000"/>
              <a:t>Data Mining: </a:t>
            </a:r>
            <a:br>
              <a:rPr lang="en-US" altLang="en-US" sz="6000"/>
            </a:br>
            <a:r>
              <a:rPr lang="en-US" altLang="en-US" sz="6000"/>
              <a:t> </a:t>
            </a:r>
            <a:r>
              <a:rPr lang="en-US" altLang="en-US" sz="4800"/>
              <a:t>Concepts and Techniques</a:t>
            </a:r>
            <a:br>
              <a:rPr lang="en-US" altLang="en-US" sz="4800"/>
            </a:br>
            <a:r>
              <a:rPr lang="en-US" altLang="en-US" sz="4800"/>
              <a:t> </a:t>
            </a:r>
            <a:r>
              <a:rPr lang="en-US" altLang="en-US" sz="2800"/>
              <a:t>(3</a:t>
            </a:r>
            <a:r>
              <a:rPr lang="en-US" altLang="en-US" sz="2800" baseline="30000"/>
              <a:t>rd</a:t>
            </a:r>
            <a:r>
              <a:rPr lang="en-US" altLang="en-US" sz="2800"/>
              <a:t> ed.)</a:t>
            </a:r>
            <a:br>
              <a:rPr lang="en-US" altLang="en-US" sz="4800"/>
            </a:br>
            <a:br>
              <a:rPr lang="en-US" altLang="en-US" sz="4800"/>
            </a:br>
            <a:r>
              <a:rPr lang="en-US" altLang="en-US" sz="3200"/>
              <a:t>— Chapter 8</a:t>
            </a:r>
            <a:r>
              <a:rPr lang="en-US" altLang="en-US" sz="2800"/>
              <a:t> —</a:t>
            </a:r>
          </a:p>
        </p:txBody>
      </p:sp>
      <p:sp>
        <p:nvSpPr>
          <p:cNvPr id="3076" name="Rectangle 3">
            <a:extLst>
              <a:ext uri="{FF2B5EF4-FFF2-40B4-BE49-F238E27FC236}">
                <a16:creationId xmlns:a16="http://schemas.microsoft.com/office/drawing/2014/main" id="{EE9E50E2-945A-4CE5-9D97-E8A5AC06C0A2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304800" y="4419600"/>
            <a:ext cx="8610600" cy="1905000"/>
          </a:xfrm>
        </p:spPr>
        <p:txBody>
          <a:bodyPr/>
          <a:lstStyle/>
          <a:p>
            <a:pPr algn="ctr">
              <a:lnSpc>
                <a:spcPct val="110000"/>
              </a:lnSpc>
              <a:buFont typeface="Wingdings" panose="05000000000000000000" pitchFamily="2" charset="2"/>
              <a:buNone/>
            </a:pPr>
            <a:r>
              <a:rPr lang="en-US" altLang="en-US" sz="2400"/>
              <a:t>Jiawei Han, Micheline Kamber, and Jian Pei</a:t>
            </a:r>
          </a:p>
          <a:p>
            <a:pPr algn="ctr">
              <a:lnSpc>
                <a:spcPct val="110000"/>
              </a:lnSpc>
              <a:buFont typeface="Wingdings" panose="05000000000000000000" pitchFamily="2" charset="2"/>
              <a:buNone/>
            </a:pPr>
            <a:r>
              <a:rPr lang="en-US" altLang="en-US" sz="2400"/>
              <a:t>University of Illinois at Urbana-Champaign &amp;</a:t>
            </a:r>
          </a:p>
          <a:p>
            <a:pPr algn="ctr">
              <a:lnSpc>
                <a:spcPct val="110000"/>
              </a:lnSpc>
              <a:buFont typeface="Wingdings" panose="05000000000000000000" pitchFamily="2" charset="2"/>
              <a:buNone/>
            </a:pPr>
            <a:r>
              <a:rPr lang="en-US" altLang="en-US" sz="2400"/>
              <a:t>Simon Fraser University</a:t>
            </a:r>
          </a:p>
          <a:p>
            <a:pPr algn="ctr">
              <a:lnSpc>
                <a:spcPct val="110000"/>
              </a:lnSpc>
              <a:buFont typeface="Wingdings" panose="05000000000000000000" pitchFamily="2" charset="2"/>
              <a:buNone/>
            </a:pPr>
            <a:r>
              <a:rPr lang="en-US" altLang="en-US" sz="2400"/>
              <a:t>©2011 Han, Kamber &amp; Pei.  All rights reserved.</a:t>
            </a:r>
          </a:p>
        </p:txBody>
      </p:sp>
    </p:spTree>
  </p:cSld>
  <p:clrMapOvr>
    <a:masterClrMapping/>
  </p:clrMapOvr>
  <p:transition>
    <p:zoom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 descr="C:\Users\Han\Pictures\2011\2011_09_Athens\2011_09_05\IMG_2577.JPG">
            <a:extLst>
              <a:ext uri="{FF2B5EF4-FFF2-40B4-BE49-F238E27FC236}">
                <a16:creationId xmlns:a16="http://schemas.microsoft.com/office/drawing/2014/main" id="{72A91408-F583-43F8-8DBB-2FB6490FD95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>
    <p:zoom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Slide Number Placeholder 6">
            <a:extLst>
              <a:ext uri="{FF2B5EF4-FFF2-40B4-BE49-F238E27FC236}">
                <a16:creationId xmlns:a16="http://schemas.microsoft.com/office/drawing/2014/main" id="{26F51AF2-5D6C-46B6-AB1C-1721611564FA}"/>
              </a:ext>
            </a:extLst>
          </p:cNvPr>
          <p:cNvSpPr txBox="1">
            <a:spLocks noGrp="1"/>
          </p:cNvSpPr>
          <p:nvPr/>
        </p:nvSpPr>
        <p:spPr bwMode="auto">
          <a:xfrm>
            <a:off x="7239000" y="6477000"/>
            <a:ext cx="1905000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r" eaLnBrk="1" hangingPunct="1"/>
            <a:fld id="{C196867C-165C-4FAC-AEEE-4F24FB8D89E2}" type="slidenum">
              <a:rPr lang="en-US" altLang="en-US" sz="1400" b="1">
                <a:latin typeface="Calibri" panose="020F0502020204030204" pitchFamily="34" charset="0"/>
              </a:rPr>
              <a:pPr algn="r" eaLnBrk="1" hangingPunct="1"/>
              <a:t>3</a:t>
            </a:fld>
            <a:endParaRPr lang="en-US" altLang="en-US" sz="1400" b="1">
              <a:latin typeface="Calibri" panose="020F0502020204030204" pitchFamily="34" charset="0"/>
            </a:endParaRPr>
          </a:p>
        </p:txBody>
      </p:sp>
      <p:sp>
        <p:nvSpPr>
          <p:cNvPr id="5123" name="Rectangle 2">
            <a:extLst>
              <a:ext uri="{FF2B5EF4-FFF2-40B4-BE49-F238E27FC236}">
                <a16:creationId xmlns:a16="http://schemas.microsoft.com/office/drawing/2014/main" id="{9B34D51E-6BCB-4E24-86AD-4CC88A8B7FB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381000"/>
            <a:ext cx="9144000" cy="609600"/>
          </a:xfrm>
          <a:noFill/>
        </p:spPr>
        <p:txBody>
          <a:bodyPr lIns="92075" tIns="46038" rIns="92075" bIns="46038" anchor="ctr"/>
          <a:lstStyle/>
          <a:p>
            <a:pPr eaLnBrk="1" hangingPunct="1"/>
            <a:r>
              <a:rPr lang="en-US" altLang="en-US"/>
              <a:t>Chapter 8. Classification: Basic Concepts</a:t>
            </a:r>
          </a:p>
        </p:txBody>
      </p:sp>
      <p:sp>
        <p:nvSpPr>
          <p:cNvPr id="5124" name="Rectangle 3">
            <a:extLst>
              <a:ext uri="{FF2B5EF4-FFF2-40B4-BE49-F238E27FC236}">
                <a16:creationId xmlns:a16="http://schemas.microsoft.com/office/drawing/2014/main" id="{3F50A45D-6424-4C63-884E-6B67E81FCA3D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304800" y="1447800"/>
            <a:ext cx="8382000" cy="5105400"/>
          </a:xfrm>
          <a:noFill/>
        </p:spPr>
        <p:txBody>
          <a:bodyPr lIns="92075" tIns="46038" rIns="92075" bIns="46038"/>
          <a:lstStyle/>
          <a:p>
            <a:pPr>
              <a:lnSpc>
                <a:spcPct val="130000"/>
              </a:lnSpc>
            </a:pPr>
            <a:r>
              <a:rPr lang="en-US" altLang="en-US"/>
              <a:t>Classification: Basic Concepts</a:t>
            </a:r>
          </a:p>
          <a:p>
            <a:pPr>
              <a:lnSpc>
                <a:spcPct val="130000"/>
              </a:lnSpc>
            </a:pPr>
            <a:r>
              <a:rPr lang="en-US" altLang="en-US"/>
              <a:t>Decision Tree Induction</a:t>
            </a:r>
          </a:p>
          <a:p>
            <a:pPr>
              <a:lnSpc>
                <a:spcPct val="130000"/>
              </a:lnSpc>
            </a:pPr>
            <a:r>
              <a:rPr lang="en-US" altLang="en-US"/>
              <a:t>Bayes Classification Methods</a:t>
            </a:r>
          </a:p>
          <a:p>
            <a:pPr>
              <a:lnSpc>
                <a:spcPct val="130000"/>
              </a:lnSpc>
            </a:pPr>
            <a:r>
              <a:rPr lang="en-US" altLang="en-US"/>
              <a:t>Rule-Based Classification</a:t>
            </a:r>
          </a:p>
          <a:p>
            <a:pPr>
              <a:lnSpc>
                <a:spcPct val="130000"/>
              </a:lnSpc>
            </a:pPr>
            <a:r>
              <a:rPr lang="en-US" altLang="en-US"/>
              <a:t>Model Evaluation and Selection</a:t>
            </a:r>
          </a:p>
          <a:p>
            <a:pPr>
              <a:lnSpc>
                <a:spcPct val="130000"/>
              </a:lnSpc>
            </a:pPr>
            <a:r>
              <a:rPr lang="en-US" altLang="en-US"/>
              <a:t>Techniques to Improve Classification Accuracy: Ensemble Methods</a:t>
            </a:r>
          </a:p>
          <a:p>
            <a:pPr>
              <a:lnSpc>
                <a:spcPct val="130000"/>
              </a:lnSpc>
            </a:pPr>
            <a:r>
              <a:rPr lang="en-US" altLang="en-US"/>
              <a:t>Summary</a:t>
            </a:r>
          </a:p>
        </p:txBody>
      </p:sp>
      <p:sp>
        <p:nvSpPr>
          <p:cNvPr id="5125" name="AutoShape 8">
            <a:extLst>
              <a:ext uri="{FF2B5EF4-FFF2-40B4-BE49-F238E27FC236}">
                <a16:creationId xmlns:a16="http://schemas.microsoft.com/office/drawing/2014/main" id="{5D9149E9-3403-440D-B41C-F161E46D6FFA}"/>
              </a:ext>
            </a:extLst>
          </p:cNvPr>
          <p:cNvSpPr>
            <a:spLocks noChangeArrowheads="1"/>
          </p:cNvSpPr>
          <p:nvPr/>
        </p:nvSpPr>
        <p:spPr bwMode="auto">
          <a:xfrm rot="9803581">
            <a:off x="5257800" y="1371600"/>
            <a:ext cx="533400" cy="381000"/>
          </a:xfrm>
          <a:prstGeom prst="notchedRightArrow">
            <a:avLst>
              <a:gd name="adj1" fmla="val 50000"/>
              <a:gd name="adj2" fmla="val 35000"/>
            </a:avLst>
          </a:prstGeom>
          <a:solidFill>
            <a:srgbClr val="FF99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rot="10800000" wrap="none" anchor="ctr"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</p:spTree>
  </p:cSld>
  <p:clrMapOvr>
    <a:masterClrMapping/>
  </p:clrMapOvr>
  <p:transition>
    <p:zoom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Slide Number Placeholder 5">
            <a:extLst>
              <a:ext uri="{FF2B5EF4-FFF2-40B4-BE49-F238E27FC236}">
                <a16:creationId xmlns:a16="http://schemas.microsoft.com/office/drawing/2014/main" id="{6805412B-A2A0-4518-B156-6ADACEF9501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fld id="{A342143D-7242-4C5D-AC78-79BD68FC5EF6}" type="slidenum">
              <a:rPr lang="en-US" altLang="en-US"/>
              <a:pPr eaLnBrk="1" hangingPunct="1"/>
              <a:t>4</a:t>
            </a:fld>
            <a:endParaRPr lang="en-US" altLang="en-US"/>
          </a:p>
        </p:txBody>
      </p:sp>
      <p:sp>
        <p:nvSpPr>
          <p:cNvPr id="6147" name="Rectangle 2">
            <a:extLst>
              <a:ext uri="{FF2B5EF4-FFF2-40B4-BE49-F238E27FC236}">
                <a16:creationId xmlns:a16="http://schemas.microsoft.com/office/drawing/2014/main" id="{890658C4-6327-437F-8EE4-199EC485CB1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52400" y="228600"/>
            <a:ext cx="8783638" cy="762000"/>
          </a:xfrm>
          <a:noFill/>
        </p:spPr>
        <p:txBody>
          <a:bodyPr lIns="92075" tIns="46038" rIns="92075" bIns="46038"/>
          <a:lstStyle/>
          <a:p>
            <a:pPr eaLnBrk="1" hangingPunct="1"/>
            <a:r>
              <a:rPr lang="en-US" altLang="en-US"/>
              <a:t>Supervised vs. Unsupervised Learning</a:t>
            </a:r>
          </a:p>
        </p:txBody>
      </p:sp>
      <p:sp>
        <p:nvSpPr>
          <p:cNvPr id="6148" name="Rectangle 3">
            <a:extLst>
              <a:ext uri="{FF2B5EF4-FFF2-40B4-BE49-F238E27FC236}">
                <a16:creationId xmlns:a16="http://schemas.microsoft.com/office/drawing/2014/main" id="{BF6EF122-5FC8-47FD-902E-9E84A680984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81000" y="1371600"/>
            <a:ext cx="8305800" cy="5181600"/>
          </a:xfrm>
          <a:noFill/>
        </p:spPr>
        <p:txBody>
          <a:bodyPr lIns="92075" tIns="46038" rIns="92075" bIns="46038"/>
          <a:lstStyle/>
          <a:p>
            <a:pPr eaLnBrk="1" hangingPunct="1">
              <a:lnSpc>
                <a:spcPct val="130000"/>
              </a:lnSpc>
            </a:pPr>
            <a:r>
              <a:rPr lang="en-US" altLang="en-US" sz="2400">
                <a:solidFill>
                  <a:srgbClr val="F83F24"/>
                </a:solidFill>
              </a:rPr>
              <a:t>Supervised learning (classification)</a:t>
            </a:r>
            <a:endParaRPr lang="en-US" altLang="en-US" sz="2400"/>
          </a:p>
          <a:p>
            <a:pPr lvl="1" eaLnBrk="1" hangingPunct="1">
              <a:lnSpc>
                <a:spcPct val="130000"/>
              </a:lnSpc>
            </a:pPr>
            <a:r>
              <a:rPr lang="en-US" altLang="en-US" sz="2400"/>
              <a:t>Supervision: The training data (observations, measurements, etc.) are accompanied by </a:t>
            </a:r>
            <a:r>
              <a:rPr lang="en-US" altLang="en-US" sz="2400" b="1"/>
              <a:t>labels</a:t>
            </a:r>
            <a:r>
              <a:rPr lang="en-US" altLang="en-US" sz="2400"/>
              <a:t> indicating the class of the observations</a:t>
            </a:r>
          </a:p>
          <a:p>
            <a:pPr lvl="1" eaLnBrk="1" hangingPunct="1">
              <a:lnSpc>
                <a:spcPct val="130000"/>
              </a:lnSpc>
            </a:pPr>
            <a:r>
              <a:rPr lang="en-US" altLang="en-US" sz="2400"/>
              <a:t>New data is classified based on the training set</a:t>
            </a:r>
          </a:p>
          <a:p>
            <a:pPr eaLnBrk="1" hangingPunct="1">
              <a:lnSpc>
                <a:spcPct val="130000"/>
              </a:lnSpc>
            </a:pPr>
            <a:r>
              <a:rPr lang="en-US" altLang="en-US" sz="2400">
                <a:solidFill>
                  <a:srgbClr val="F83F24"/>
                </a:solidFill>
              </a:rPr>
              <a:t>Unsupervised learning</a:t>
            </a:r>
            <a:r>
              <a:rPr lang="en-US" altLang="en-US" sz="2400"/>
              <a:t> </a:t>
            </a:r>
            <a:r>
              <a:rPr lang="en-US" altLang="en-US" sz="2400">
                <a:solidFill>
                  <a:srgbClr val="FF3300"/>
                </a:solidFill>
              </a:rPr>
              <a:t>(clustering)</a:t>
            </a:r>
          </a:p>
          <a:p>
            <a:pPr lvl="1" eaLnBrk="1" hangingPunct="1">
              <a:lnSpc>
                <a:spcPct val="130000"/>
              </a:lnSpc>
            </a:pPr>
            <a:r>
              <a:rPr lang="en-US" altLang="en-US" sz="2400"/>
              <a:t>The class labels of training data is unknown</a:t>
            </a:r>
          </a:p>
          <a:p>
            <a:pPr lvl="1" eaLnBrk="1" hangingPunct="1">
              <a:lnSpc>
                <a:spcPct val="130000"/>
              </a:lnSpc>
            </a:pPr>
            <a:r>
              <a:rPr lang="en-US" altLang="en-US" sz="2400"/>
              <a:t>Given a set of measurements, observations, etc. with the aim of establishing the existence of classes or clusters in the data</a:t>
            </a:r>
          </a:p>
        </p:txBody>
      </p:sp>
    </p:spTree>
  </p:cSld>
  <p:clrMapOvr>
    <a:masterClrMapping/>
  </p:clrMapOvr>
  <p:transition>
    <p:zoom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Slide Number Placeholder 5">
            <a:extLst>
              <a:ext uri="{FF2B5EF4-FFF2-40B4-BE49-F238E27FC236}">
                <a16:creationId xmlns:a16="http://schemas.microsoft.com/office/drawing/2014/main" id="{1CBAF6B8-BCF4-4570-9A12-01C6974A984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fld id="{0810F694-3E10-4CB0-8625-C2A0BE0CF0CB}" type="slidenum">
              <a:rPr lang="en-US" altLang="en-US"/>
              <a:pPr eaLnBrk="1" hangingPunct="1"/>
              <a:t>5</a:t>
            </a:fld>
            <a:endParaRPr lang="en-US" altLang="en-US"/>
          </a:p>
        </p:txBody>
      </p:sp>
      <p:sp>
        <p:nvSpPr>
          <p:cNvPr id="7171" name="Rectangle 2">
            <a:extLst>
              <a:ext uri="{FF2B5EF4-FFF2-40B4-BE49-F238E27FC236}">
                <a16:creationId xmlns:a16="http://schemas.microsoft.com/office/drawing/2014/main" id="{086BB5C2-38AA-45BF-B140-53A195B3C3E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81000" y="1447800"/>
            <a:ext cx="8305800" cy="5029200"/>
          </a:xfrm>
          <a:noFill/>
        </p:spPr>
        <p:txBody>
          <a:bodyPr lIns="92075" tIns="46038" rIns="92075" bIns="46038"/>
          <a:lstStyle/>
          <a:p>
            <a:pPr eaLnBrk="1" hangingPunct="1">
              <a:lnSpc>
                <a:spcPct val="90000"/>
              </a:lnSpc>
            </a:pPr>
            <a:r>
              <a:rPr lang="en-US" altLang="en-US" sz="2400">
                <a:solidFill>
                  <a:schemeClr val="hlink"/>
                </a:solidFill>
              </a:rPr>
              <a:t>Classification</a:t>
            </a:r>
            <a:r>
              <a:rPr lang="en-US" altLang="en-US" sz="2000"/>
              <a:t>  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2400"/>
              <a:t>predicts categorical class labels (discrete or nominal)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2400"/>
              <a:t>classifies data (constructs a model) based on the training set and the values (</a:t>
            </a:r>
            <a:r>
              <a:rPr lang="en-US" altLang="en-US" sz="2400">
                <a:solidFill>
                  <a:schemeClr val="hlink"/>
                </a:solidFill>
              </a:rPr>
              <a:t>class labels</a:t>
            </a:r>
            <a:r>
              <a:rPr lang="en-US" altLang="en-US" sz="2400"/>
              <a:t>) in a classifying attribute and uses it in classifying new data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2400">
                <a:solidFill>
                  <a:schemeClr val="hlink"/>
                </a:solidFill>
              </a:rPr>
              <a:t>Numeric Prediction  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2400"/>
              <a:t>models continuous-valued functions, i.e., predicts unknown or missing values 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2400"/>
              <a:t>Typical applications</a:t>
            </a:r>
          </a:p>
          <a:p>
            <a:pPr lvl="1" eaLnBrk="1" hangingPunct="1">
              <a:lnSpc>
                <a:spcPct val="90000"/>
              </a:lnSpc>
              <a:buClr>
                <a:srgbClr val="0000CC"/>
              </a:buClr>
            </a:pPr>
            <a:r>
              <a:rPr lang="en-US" altLang="en-US" sz="2400"/>
              <a:t>Credit/loan approval:</a:t>
            </a:r>
          </a:p>
          <a:p>
            <a:pPr lvl="1" eaLnBrk="1" hangingPunct="1">
              <a:lnSpc>
                <a:spcPct val="90000"/>
              </a:lnSpc>
              <a:buClr>
                <a:srgbClr val="0000CC"/>
              </a:buClr>
            </a:pPr>
            <a:r>
              <a:rPr lang="en-US" altLang="en-US" sz="2400"/>
              <a:t>Medical diagnosis: if a tumor is cancerous or benign</a:t>
            </a:r>
          </a:p>
          <a:p>
            <a:pPr lvl="1" eaLnBrk="1" hangingPunct="1">
              <a:lnSpc>
                <a:spcPct val="90000"/>
              </a:lnSpc>
              <a:buClr>
                <a:srgbClr val="0000CC"/>
              </a:buClr>
            </a:pPr>
            <a:r>
              <a:rPr lang="en-US" altLang="en-US" sz="2400"/>
              <a:t>Fraud detection: if a transaction is fraudulent</a:t>
            </a:r>
          </a:p>
          <a:p>
            <a:pPr lvl="1" eaLnBrk="1" hangingPunct="1">
              <a:lnSpc>
                <a:spcPct val="90000"/>
              </a:lnSpc>
              <a:buClr>
                <a:srgbClr val="0000CC"/>
              </a:buClr>
            </a:pPr>
            <a:r>
              <a:rPr lang="en-US" altLang="en-US" sz="2400"/>
              <a:t>Web page categorization: which category it is</a:t>
            </a:r>
          </a:p>
        </p:txBody>
      </p:sp>
      <p:sp>
        <p:nvSpPr>
          <p:cNvPr id="7172" name="Rectangle 3">
            <a:extLst>
              <a:ext uri="{FF2B5EF4-FFF2-40B4-BE49-F238E27FC236}">
                <a16:creationId xmlns:a16="http://schemas.microsoft.com/office/drawing/2014/main" id="{ECE0473F-F888-4CC0-90F8-D1F70411EB1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152400"/>
            <a:ext cx="9144000" cy="1047750"/>
          </a:xfrm>
          <a:noFill/>
        </p:spPr>
        <p:txBody>
          <a:bodyPr lIns="92075" tIns="46038" rIns="92075" bIns="46038" anchor="ctr"/>
          <a:lstStyle/>
          <a:p>
            <a:pPr eaLnBrk="1" hangingPunct="1"/>
            <a:r>
              <a:rPr lang="en-US" altLang="en-US"/>
              <a:t>Prediction Problems: Classification vs. Numeric Prediction</a:t>
            </a:r>
          </a:p>
        </p:txBody>
      </p:sp>
    </p:spTree>
  </p:cSld>
  <p:clrMapOvr>
    <a:masterClrMapping/>
  </p:clrMapOvr>
  <p:transition>
    <p:zoom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Slide Number Placeholder 5">
            <a:extLst>
              <a:ext uri="{FF2B5EF4-FFF2-40B4-BE49-F238E27FC236}">
                <a16:creationId xmlns:a16="http://schemas.microsoft.com/office/drawing/2014/main" id="{0721C625-DF05-4562-88C1-C936D12F494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fld id="{7E5FF3EF-E825-47E3-8D1D-CEBF7348AC33}" type="slidenum">
              <a:rPr lang="en-US" altLang="en-US"/>
              <a:pPr eaLnBrk="1" hangingPunct="1"/>
              <a:t>6</a:t>
            </a:fld>
            <a:endParaRPr lang="en-US" altLang="en-US"/>
          </a:p>
        </p:txBody>
      </p:sp>
      <p:sp>
        <p:nvSpPr>
          <p:cNvPr id="8195" name="Rectangle 2">
            <a:extLst>
              <a:ext uri="{FF2B5EF4-FFF2-40B4-BE49-F238E27FC236}">
                <a16:creationId xmlns:a16="http://schemas.microsoft.com/office/drawing/2014/main" id="{3DD56858-F669-418C-B7E1-3B871293646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533400" y="304800"/>
            <a:ext cx="8001000" cy="685800"/>
          </a:xfrm>
        </p:spPr>
        <p:txBody>
          <a:bodyPr/>
          <a:lstStyle/>
          <a:p>
            <a:pPr eaLnBrk="1" hangingPunct="1"/>
            <a:r>
              <a:rPr lang="en-US" altLang="en-US"/>
              <a:t>Classification—A Two-Step Process</a:t>
            </a:r>
            <a:r>
              <a:rPr lang="en-US" altLang="en-US" sz="2800"/>
              <a:t> </a:t>
            </a:r>
            <a:endParaRPr lang="en-US" altLang="en-US" sz="3200"/>
          </a:p>
        </p:txBody>
      </p:sp>
      <p:sp>
        <p:nvSpPr>
          <p:cNvPr id="8196" name="Rectangle 3">
            <a:extLst>
              <a:ext uri="{FF2B5EF4-FFF2-40B4-BE49-F238E27FC236}">
                <a16:creationId xmlns:a16="http://schemas.microsoft.com/office/drawing/2014/main" id="{D95EEDA0-5F4B-462C-89CF-86F1AD3AEAE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1371600"/>
            <a:ext cx="8382000" cy="5257800"/>
          </a:xfrm>
        </p:spPr>
        <p:txBody>
          <a:bodyPr/>
          <a:lstStyle/>
          <a:p>
            <a:pPr eaLnBrk="1" hangingPunct="1"/>
            <a:r>
              <a:rPr lang="en-US" altLang="en-US" sz="2000">
                <a:solidFill>
                  <a:schemeClr val="hlink"/>
                </a:solidFill>
              </a:rPr>
              <a:t>Model construction</a:t>
            </a:r>
            <a:r>
              <a:rPr lang="en-US" altLang="en-US" sz="2000"/>
              <a:t>: describing a set of predetermined classes</a:t>
            </a:r>
          </a:p>
          <a:p>
            <a:pPr lvl="1" eaLnBrk="1" hangingPunct="1"/>
            <a:r>
              <a:rPr lang="en-US" altLang="en-US" sz="2000"/>
              <a:t>Each tuple/sample is assumed to belong to a predefined class, as determined by the </a:t>
            </a:r>
            <a:r>
              <a:rPr lang="en-US" altLang="en-US" sz="2000">
                <a:solidFill>
                  <a:schemeClr val="hlink"/>
                </a:solidFill>
              </a:rPr>
              <a:t>class label attribute</a:t>
            </a:r>
          </a:p>
          <a:p>
            <a:pPr lvl="1" eaLnBrk="1" hangingPunct="1"/>
            <a:r>
              <a:rPr lang="en-US" altLang="en-US" sz="2000"/>
              <a:t>The set of tuples used for model construction is </a:t>
            </a:r>
            <a:r>
              <a:rPr lang="en-US" altLang="en-US" sz="2000">
                <a:solidFill>
                  <a:schemeClr val="hlink"/>
                </a:solidFill>
              </a:rPr>
              <a:t>training set</a:t>
            </a:r>
          </a:p>
          <a:p>
            <a:pPr lvl="1" eaLnBrk="1" hangingPunct="1"/>
            <a:r>
              <a:rPr lang="en-US" altLang="en-US" sz="2000"/>
              <a:t>The model is represented as classification rules, decision trees, or mathematical formulae</a:t>
            </a:r>
          </a:p>
          <a:p>
            <a:pPr eaLnBrk="1" hangingPunct="1"/>
            <a:r>
              <a:rPr lang="en-US" altLang="en-US" sz="2000">
                <a:solidFill>
                  <a:schemeClr val="hlink"/>
                </a:solidFill>
              </a:rPr>
              <a:t>Model usage</a:t>
            </a:r>
            <a:r>
              <a:rPr lang="en-US" altLang="en-US" sz="2000"/>
              <a:t>: for classifying future or unknown objects</a:t>
            </a:r>
          </a:p>
          <a:p>
            <a:pPr lvl="1" eaLnBrk="1" hangingPunct="1"/>
            <a:r>
              <a:rPr lang="en-US" altLang="en-US" sz="2000">
                <a:solidFill>
                  <a:schemeClr val="hlink"/>
                </a:solidFill>
              </a:rPr>
              <a:t>Estimate accuracy</a:t>
            </a:r>
            <a:r>
              <a:rPr lang="en-US" altLang="en-US" sz="2000"/>
              <a:t> of the model</a:t>
            </a:r>
          </a:p>
          <a:p>
            <a:pPr lvl="2" eaLnBrk="1" hangingPunct="1"/>
            <a:r>
              <a:rPr lang="en-US" altLang="en-US" sz="2000"/>
              <a:t>The known label of test sample is compared with the classified result from the model</a:t>
            </a:r>
          </a:p>
          <a:p>
            <a:pPr lvl="2" eaLnBrk="1" hangingPunct="1"/>
            <a:r>
              <a:rPr lang="en-US" altLang="en-US" sz="2000">
                <a:solidFill>
                  <a:schemeClr val="hlink"/>
                </a:solidFill>
              </a:rPr>
              <a:t>Accuracy</a:t>
            </a:r>
            <a:r>
              <a:rPr lang="en-US" altLang="en-US" sz="2000"/>
              <a:t> rate is the percentage of test set samples that are correctly classified by the model</a:t>
            </a:r>
          </a:p>
          <a:p>
            <a:pPr lvl="2" eaLnBrk="1" hangingPunct="1"/>
            <a:r>
              <a:rPr lang="en-US" altLang="en-US" sz="2000">
                <a:solidFill>
                  <a:schemeClr val="hlink"/>
                </a:solidFill>
              </a:rPr>
              <a:t>Test set</a:t>
            </a:r>
            <a:r>
              <a:rPr lang="en-US" altLang="en-US" sz="2000"/>
              <a:t> is independent of training set (otherwise overfitting) </a:t>
            </a:r>
          </a:p>
          <a:p>
            <a:pPr lvl="1" eaLnBrk="1" hangingPunct="1"/>
            <a:r>
              <a:rPr lang="en-US" altLang="en-US" sz="2000"/>
              <a:t>If the accuracy is acceptable, use the model to </a:t>
            </a:r>
            <a:r>
              <a:rPr lang="en-US" altLang="en-US" sz="2000">
                <a:solidFill>
                  <a:schemeClr val="hlink"/>
                </a:solidFill>
              </a:rPr>
              <a:t>classify new data</a:t>
            </a:r>
          </a:p>
          <a:p>
            <a:pPr eaLnBrk="1" hangingPunct="1"/>
            <a:r>
              <a:rPr lang="en-US" altLang="en-US" sz="2000"/>
              <a:t>Note: If </a:t>
            </a:r>
            <a:r>
              <a:rPr lang="en-US" altLang="en-US" sz="2000" i="1"/>
              <a:t>the test set </a:t>
            </a:r>
            <a:r>
              <a:rPr lang="en-US" altLang="en-US" sz="2000"/>
              <a:t>is used to select models, it is called </a:t>
            </a:r>
            <a:r>
              <a:rPr lang="en-US" altLang="en-US" sz="2000">
                <a:solidFill>
                  <a:srgbClr val="C00000"/>
                </a:solidFill>
              </a:rPr>
              <a:t>validation (test) set</a:t>
            </a:r>
          </a:p>
        </p:txBody>
      </p:sp>
    </p:spTree>
  </p:cSld>
  <p:clrMapOvr>
    <a:masterClrMapping/>
  </p:clrMapOvr>
  <p:transition>
    <p:zoom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Slide Number Placeholder 5">
            <a:extLst>
              <a:ext uri="{FF2B5EF4-FFF2-40B4-BE49-F238E27FC236}">
                <a16:creationId xmlns:a16="http://schemas.microsoft.com/office/drawing/2014/main" id="{786427F8-29FC-4624-B478-A910D4DD4EA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fld id="{FE735881-7852-43E1-BE9B-17A1D72571D2}" type="slidenum">
              <a:rPr lang="en-US" altLang="en-US"/>
              <a:pPr eaLnBrk="1" hangingPunct="1"/>
              <a:t>7</a:t>
            </a:fld>
            <a:endParaRPr lang="en-US" altLang="en-US"/>
          </a:p>
        </p:txBody>
      </p:sp>
      <p:sp>
        <p:nvSpPr>
          <p:cNvPr id="9219" name="Rectangle 2">
            <a:extLst>
              <a:ext uri="{FF2B5EF4-FFF2-40B4-BE49-F238E27FC236}">
                <a16:creationId xmlns:a16="http://schemas.microsoft.com/office/drawing/2014/main" id="{35C750AA-0548-400D-8428-DDE214815EB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28600"/>
            <a:ext cx="8077200" cy="762000"/>
          </a:xfrm>
          <a:noFill/>
        </p:spPr>
        <p:txBody>
          <a:bodyPr lIns="92075" tIns="46038" rIns="92075" bIns="46038"/>
          <a:lstStyle/>
          <a:p>
            <a:pPr eaLnBrk="1" hangingPunct="1"/>
            <a:r>
              <a:rPr lang="en-US" altLang="en-US"/>
              <a:t>Process (1): Model Construction</a:t>
            </a:r>
          </a:p>
        </p:txBody>
      </p:sp>
      <p:grpSp>
        <p:nvGrpSpPr>
          <p:cNvPr id="9220" name="Group 3">
            <a:extLst>
              <a:ext uri="{FF2B5EF4-FFF2-40B4-BE49-F238E27FC236}">
                <a16:creationId xmlns:a16="http://schemas.microsoft.com/office/drawing/2014/main" id="{07A8F5CC-AEEB-4D9D-A1FE-BAFE628A013C}"/>
              </a:ext>
            </a:extLst>
          </p:cNvPr>
          <p:cNvGrpSpPr>
            <a:grpSpLocks/>
          </p:cNvGrpSpPr>
          <p:nvPr/>
        </p:nvGrpSpPr>
        <p:grpSpPr bwMode="auto">
          <a:xfrm>
            <a:off x="2036763" y="1774825"/>
            <a:ext cx="1698625" cy="1506538"/>
            <a:chOff x="1283" y="1118"/>
            <a:chExt cx="1070" cy="949"/>
          </a:xfrm>
        </p:grpSpPr>
        <p:pic>
          <p:nvPicPr>
            <p:cNvPr id="9233" name="Picture 4">
              <a:extLst>
                <a:ext uri="{FF2B5EF4-FFF2-40B4-BE49-F238E27FC236}">
                  <a16:creationId xmlns:a16="http://schemas.microsoft.com/office/drawing/2014/main" id="{CEA93184-6DAF-479C-9C3A-A6131A923E65}"/>
                </a:ext>
              </a:extLst>
            </p:cNvPr>
            <p:cNvPicPr>
              <a:picLocks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283" y="1118"/>
              <a:ext cx="1070" cy="94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9234" name="Rectangle 5">
              <a:extLst>
                <a:ext uri="{FF2B5EF4-FFF2-40B4-BE49-F238E27FC236}">
                  <a16:creationId xmlns:a16="http://schemas.microsoft.com/office/drawing/2014/main" id="{E10C8749-4B36-4C35-A685-118754A0D0E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47" y="1427"/>
              <a:ext cx="934" cy="46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2075" tIns="46038" rIns="92075" bIns="46038" anchor="ctr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ctr"/>
              <a:r>
                <a:rPr lang="en-US" altLang="en-US" sz="2400">
                  <a:latin typeface="Times New Roman" panose="02020603050405020304" pitchFamily="18" charset="0"/>
                </a:rPr>
                <a:t>Training</a:t>
              </a:r>
            </a:p>
            <a:p>
              <a:pPr algn="ctr"/>
              <a:r>
                <a:rPr lang="en-US" altLang="en-US" sz="2400">
                  <a:latin typeface="Times New Roman" panose="02020603050405020304" pitchFamily="18" charset="0"/>
                </a:rPr>
                <a:t>Data</a:t>
              </a:r>
            </a:p>
          </p:txBody>
        </p:sp>
      </p:grpSp>
      <p:graphicFrame>
        <p:nvGraphicFramePr>
          <p:cNvPr id="9221" name="Object 0">
            <a:extLst>
              <a:ext uri="{FF2B5EF4-FFF2-40B4-BE49-F238E27FC236}">
                <a16:creationId xmlns:a16="http://schemas.microsoft.com/office/drawing/2014/main" id="{D9BB0ADD-B3AA-4AC5-9594-95B3E769E904}"/>
              </a:ext>
            </a:extLst>
          </p:cNvPr>
          <p:cNvGraphicFramePr>
            <a:graphicFrameLocks/>
          </p:cNvGraphicFramePr>
          <p:nvPr/>
        </p:nvGraphicFramePr>
        <p:xfrm>
          <a:off x="288925" y="3825875"/>
          <a:ext cx="5437188" cy="2495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35" name="Worksheet" r:id="rId5" imgW="5437188" imgH="2495550" progId="Excel.Sheet.8">
                  <p:embed/>
                </p:oleObj>
              </mc:Choice>
              <mc:Fallback>
                <p:oleObj name="Worksheet" r:id="rId5" imgW="5437188" imgH="2495550" progId="Excel.Sheet.8">
                  <p:embed/>
                  <p:pic>
                    <p:nvPicPr>
                      <p:cNvPr id="0" name="Object 0"/>
                      <p:cNvPicPr>
                        <a:picLocks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8925" y="3825875"/>
                        <a:ext cx="5437188" cy="24955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222" name="Line 7">
            <a:extLst>
              <a:ext uri="{FF2B5EF4-FFF2-40B4-BE49-F238E27FC236}">
                <a16:creationId xmlns:a16="http://schemas.microsoft.com/office/drawing/2014/main" id="{E4440429-E18E-4A87-9758-735E91178F9B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06388" y="3111500"/>
            <a:ext cx="1644650" cy="700088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9223" name="Line 8">
            <a:extLst>
              <a:ext uri="{FF2B5EF4-FFF2-40B4-BE49-F238E27FC236}">
                <a16:creationId xmlns:a16="http://schemas.microsoft.com/office/drawing/2014/main" id="{358E2E9E-DF0E-40DD-A5A7-3C1B6CF2B968}"/>
              </a:ext>
            </a:extLst>
          </p:cNvPr>
          <p:cNvSpPr>
            <a:spLocks noChangeShapeType="1"/>
          </p:cNvSpPr>
          <p:nvPr/>
        </p:nvSpPr>
        <p:spPr bwMode="auto">
          <a:xfrm>
            <a:off x="3736975" y="3111500"/>
            <a:ext cx="2025650" cy="700088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9224" name="Rectangle 9">
            <a:extLst>
              <a:ext uri="{FF2B5EF4-FFF2-40B4-BE49-F238E27FC236}">
                <a16:creationId xmlns:a16="http://schemas.microsoft.com/office/drawing/2014/main" id="{FAD8B95D-429C-4B96-AC76-6BB0D26A19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81763" y="1622425"/>
            <a:ext cx="1870075" cy="835025"/>
          </a:xfrm>
          <a:prstGeom prst="rect">
            <a:avLst/>
          </a:prstGeom>
          <a:solidFill>
            <a:srgbClr val="CCFFFF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lIns="92075" tIns="46038" rIns="92075" bIns="46038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/>
            <a:r>
              <a:rPr lang="en-US" altLang="en-US" sz="2400">
                <a:latin typeface="Times New Roman" panose="02020603050405020304" pitchFamily="18" charset="0"/>
              </a:rPr>
              <a:t>Classification</a:t>
            </a:r>
          </a:p>
          <a:p>
            <a:pPr algn="ctr"/>
            <a:r>
              <a:rPr lang="en-US" altLang="en-US" sz="2400">
                <a:latin typeface="Times New Roman" panose="02020603050405020304" pitchFamily="18" charset="0"/>
              </a:rPr>
              <a:t>Algorithms</a:t>
            </a:r>
          </a:p>
        </p:txBody>
      </p:sp>
      <p:sp>
        <p:nvSpPr>
          <p:cNvPr id="9225" name="AutoShape 10">
            <a:extLst>
              <a:ext uri="{FF2B5EF4-FFF2-40B4-BE49-F238E27FC236}">
                <a16:creationId xmlns:a16="http://schemas.microsoft.com/office/drawing/2014/main" id="{16143A95-3464-40A4-BEEC-7C6CB93E9059}"/>
              </a:ext>
            </a:extLst>
          </p:cNvPr>
          <p:cNvSpPr>
            <a:spLocks noChangeArrowheads="1"/>
          </p:cNvSpPr>
          <p:nvPr/>
        </p:nvSpPr>
        <p:spPr bwMode="auto">
          <a:xfrm rot="-1140000">
            <a:off x="4235450" y="2074863"/>
            <a:ext cx="1657350" cy="484187"/>
          </a:xfrm>
          <a:prstGeom prst="rightArrow">
            <a:avLst>
              <a:gd name="adj1" fmla="val 50000"/>
              <a:gd name="adj2" fmla="val 85606"/>
            </a:avLst>
          </a:prstGeom>
          <a:solidFill>
            <a:srgbClr val="2597B8"/>
          </a:solidFill>
          <a:ln w="12700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9226" name="Rectangle 11">
            <a:extLst>
              <a:ext uri="{FF2B5EF4-FFF2-40B4-BE49-F238E27FC236}">
                <a16:creationId xmlns:a16="http://schemas.microsoft.com/office/drawing/2014/main" id="{89B7354C-D80A-4C30-8438-79B44713DCC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48363" y="5311775"/>
            <a:ext cx="3008312" cy="1200150"/>
          </a:xfrm>
          <a:prstGeom prst="rect">
            <a:avLst/>
          </a:prstGeom>
          <a:solidFill>
            <a:srgbClr val="CCFFCC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lIns="92075" tIns="46038" rIns="92075" bIns="46038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r>
              <a:rPr lang="en-US" altLang="en-US" sz="2400">
                <a:latin typeface="Times New Roman" panose="02020603050405020304" pitchFamily="18" charset="0"/>
              </a:rPr>
              <a:t>IF rank = ‘professor’</a:t>
            </a:r>
          </a:p>
          <a:p>
            <a:r>
              <a:rPr lang="en-US" altLang="en-US" sz="2400">
                <a:latin typeface="Times New Roman" panose="02020603050405020304" pitchFamily="18" charset="0"/>
              </a:rPr>
              <a:t>OR years &gt; 6</a:t>
            </a:r>
          </a:p>
          <a:p>
            <a:r>
              <a:rPr lang="en-US" altLang="en-US" sz="2400">
                <a:latin typeface="Times New Roman" panose="02020603050405020304" pitchFamily="18" charset="0"/>
              </a:rPr>
              <a:t>THEN tenured = ‘yes’ </a:t>
            </a:r>
          </a:p>
        </p:txBody>
      </p:sp>
      <p:grpSp>
        <p:nvGrpSpPr>
          <p:cNvPr id="9227" name="Group 12">
            <a:extLst>
              <a:ext uri="{FF2B5EF4-FFF2-40B4-BE49-F238E27FC236}">
                <a16:creationId xmlns:a16="http://schemas.microsoft.com/office/drawing/2014/main" id="{4E270756-B459-4334-9B2E-159C9E323D23}"/>
              </a:ext>
            </a:extLst>
          </p:cNvPr>
          <p:cNvGrpSpPr>
            <a:grpSpLocks/>
          </p:cNvGrpSpPr>
          <p:nvPr/>
        </p:nvGrpSpPr>
        <p:grpSpPr bwMode="auto">
          <a:xfrm>
            <a:off x="6478588" y="3216275"/>
            <a:ext cx="1889125" cy="1506538"/>
            <a:chOff x="4081" y="2026"/>
            <a:chExt cx="1190" cy="949"/>
          </a:xfrm>
        </p:grpSpPr>
        <p:pic>
          <p:nvPicPr>
            <p:cNvPr id="9231" name="Picture 13">
              <a:extLst>
                <a:ext uri="{FF2B5EF4-FFF2-40B4-BE49-F238E27FC236}">
                  <a16:creationId xmlns:a16="http://schemas.microsoft.com/office/drawing/2014/main" id="{5CBE2257-815F-476E-BFE8-2741A0762CF9}"/>
                </a:ext>
              </a:extLst>
            </p:cNvPr>
            <p:cNvPicPr>
              <a:picLocks noChangeArrowheads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081" y="2026"/>
              <a:ext cx="1190" cy="94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9232" name="Rectangle 14">
              <a:extLst>
                <a:ext uri="{FF2B5EF4-FFF2-40B4-BE49-F238E27FC236}">
                  <a16:creationId xmlns:a16="http://schemas.microsoft.com/office/drawing/2014/main" id="{86088733-8B64-4CD7-8D26-952D40D44A1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45" y="2306"/>
              <a:ext cx="851" cy="51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 anchor="ctr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ctr"/>
              <a:r>
                <a:rPr lang="en-US" altLang="en-US" sz="2400">
                  <a:latin typeface="Times New Roman" panose="02020603050405020304" pitchFamily="18" charset="0"/>
                </a:rPr>
                <a:t>Classifier</a:t>
              </a:r>
            </a:p>
            <a:p>
              <a:pPr algn="ctr"/>
              <a:r>
                <a:rPr lang="en-US" altLang="en-US" sz="2400">
                  <a:latin typeface="Times New Roman" panose="02020603050405020304" pitchFamily="18" charset="0"/>
                </a:rPr>
                <a:t>(Model)</a:t>
              </a:r>
            </a:p>
          </p:txBody>
        </p:sp>
      </p:grpSp>
      <p:sp>
        <p:nvSpPr>
          <p:cNvPr id="9228" name="Line 15">
            <a:extLst>
              <a:ext uri="{FF2B5EF4-FFF2-40B4-BE49-F238E27FC236}">
                <a16:creationId xmlns:a16="http://schemas.microsoft.com/office/drawing/2014/main" id="{8BDB783F-5524-4945-BE79-E97D3237C37C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946775" y="4621213"/>
            <a:ext cx="531813" cy="714375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9229" name="Line 16">
            <a:extLst>
              <a:ext uri="{FF2B5EF4-FFF2-40B4-BE49-F238E27FC236}">
                <a16:creationId xmlns:a16="http://schemas.microsoft.com/office/drawing/2014/main" id="{DFDDB517-6044-434D-BB19-E478967F2FDB}"/>
              </a:ext>
            </a:extLst>
          </p:cNvPr>
          <p:cNvSpPr>
            <a:spLocks noChangeShapeType="1"/>
          </p:cNvSpPr>
          <p:nvPr/>
        </p:nvSpPr>
        <p:spPr bwMode="auto">
          <a:xfrm>
            <a:off x="8369300" y="4543425"/>
            <a:ext cx="577850" cy="790575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9230" name="AutoShape 17">
            <a:extLst>
              <a:ext uri="{FF2B5EF4-FFF2-40B4-BE49-F238E27FC236}">
                <a16:creationId xmlns:a16="http://schemas.microsoft.com/office/drawing/2014/main" id="{A4ED38B8-27B6-408A-9DDC-8666930DE02B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43750" y="2576513"/>
            <a:ext cx="546100" cy="592137"/>
          </a:xfrm>
          <a:prstGeom prst="downArrow">
            <a:avLst>
              <a:gd name="adj1" fmla="val 50000"/>
              <a:gd name="adj2" fmla="val 27118"/>
            </a:avLst>
          </a:prstGeom>
          <a:solidFill>
            <a:srgbClr val="2597B8"/>
          </a:solidFill>
          <a:ln w="12700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</p:spTree>
  </p:cSld>
  <p:clrMapOvr>
    <a:masterClrMapping/>
  </p:clrMapOvr>
  <p:transition>
    <p:zoom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Slide Number Placeholder 5">
            <a:extLst>
              <a:ext uri="{FF2B5EF4-FFF2-40B4-BE49-F238E27FC236}">
                <a16:creationId xmlns:a16="http://schemas.microsoft.com/office/drawing/2014/main" id="{3DD1DD91-39B4-489B-910E-D547D28462B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fld id="{ECA681DB-852F-446D-8E14-D4391342B450}" type="slidenum">
              <a:rPr lang="en-US" altLang="en-US"/>
              <a:pPr eaLnBrk="1" hangingPunct="1"/>
              <a:t>8</a:t>
            </a:fld>
            <a:endParaRPr lang="en-US" altLang="en-US"/>
          </a:p>
        </p:txBody>
      </p:sp>
      <p:sp>
        <p:nvSpPr>
          <p:cNvPr id="10243" name="Rectangle 2">
            <a:extLst>
              <a:ext uri="{FF2B5EF4-FFF2-40B4-BE49-F238E27FC236}">
                <a16:creationId xmlns:a16="http://schemas.microsoft.com/office/drawing/2014/main" id="{FB147B2A-A568-4515-B896-0710DDDEFC6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228600"/>
            <a:ext cx="9144000" cy="762000"/>
          </a:xfrm>
          <a:noFill/>
        </p:spPr>
        <p:txBody>
          <a:bodyPr lIns="92075" tIns="46038" rIns="92075" bIns="46038"/>
          <a:lstStyle/>
          <a:p>
            <a:pPr eaLnBrk="1" hangingPunct="1"/>
            <a:r>
              <a:rPr lang="en-US" altLang="en-US"/>
              <a:t>Process (2): Using the Model in Prediction </a:t>
            </a:r>
          </a:p>
        </p:txBody>
      </p:sp>
      <p:grpSp>
        <p:nvGrpSpPr>
          <p:cNvPr id="10244" name="Group 3">
            <a:extLst>
              <a:ext uri="{FF2B5EF4-FFF2-40B4-BE49-F238E27FC236}">
                <a16:creationId xmlns:a16="http://schemas.microsoft.com/office/drawing/2014/main" id="{30C014F8-79C3-4955-B3C4-1B19206EDDD9}"/>
              </a:ext>
            </a:extLst>
          </p:cNvPr>
          <p:cNvGrpSpPr>
            <a:grpSpLocks/>
          </p:cNvGrpSpPr>
          <p:nvPr/>
        </p:nvGrpSpPr>
        <p:grpSpPr bwMode="auto">
          <a:xfrm>
            <a:off x="4445000" y="1570038"/>
            <a:ext cx="1889125" cy="1506537"/>
            <a:chOff x="2800" y="989"/>
            <a:chExt cx="1190" cy="949"/>
          </a:xfrm>
        </p:grpSpPr>
        <p:pic>
          <p:nvPicPr>
            <p:cNvPr id="10262" name="Picture 4">
              <a:extLst>
                <a:ext uri="{FF2B5EF4-FFF2-40B4-BE49-F238E27FC236}">
                  <a16:creationId xmlns:a16="http://schemas.microsoft.com/office/drawing/2014/main" id="{DADD871A-20BD-408A-8C88-20995BBF31C2}"/>
                </a:ext>
              </a:extLst>
            </p:cNvPr>
            <p:cNvPicPr>
              <a:picLocks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800" y="989"/>
              <a:ext cx="1190" cy="94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0263" name="Rectangle 5">
              <a:extLst>
                <a:ext uri="{FF2B5EF4-FFF2-40B4-BE49-F238E27FC236}">
                  <a16:creationId xmlns:a16="http://schemas.microsoft.com/office/drawing/2014/main" id="{7D4ED3BB-BB4E-4F5F-855E-CBF42D3903A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64" y="1384"/>
              <a:ext cx="851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 anchor="ctr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ctr"/>
              <a:r>
                <a:rPr lang="en-US" altLang="en-US" sz="2400">
                  <a:latin typeface="Times New Roman" panose="02020603050405020304" pitchFamily="18" charset="0"/>
                </a:rPr>
                <a:t>Classifier</a:t>
              </a:r>
            </a:p>
          </p:txBody>
        </p:sp>
      </p:grpSp>
      <p:grpSp>
        <p:nvGrpSpPr>
          <p:cNvPr id="10245" name="Group 6">
            <a:extLst>
              <a:ext uri="{FF2B5EF4-FFF2-40B4-BE49-F238E27FC236}">
                <a16:creationId xmlns:a16="http://schemas.microsoft.com/office/drawing/2014/main" id="{BAD3C9F2-F492-49D6-AD66-CE1AEFCBF18D}"/>
              </a:ext>
            </a:extLst>
          </p:cNvPr>
          <p:cNvGrpSpPr>
            <a:grpSpLocks/>
          </p:cNvGrpSpPr>
          <p:nvPr/>
        </p:nvGrpSpPr>
        <p:grpSpPr bwMode="auto">
          <a:xfrm>
            <a:off x="2157413" y="2735263"/>
            <a:ext cx="1698625" cy="1506537"/>
            <a:chOff x="1359" y="1723"/>
            <a:chExt cx="1070" cy="949"/>
          </a:xfrm>
        </p:grpSpPr>
        <p:pic>
          <p:nvPicPr>
            <p:cNvPr id="10260" name="Picture 7">
              <a:extLst>
                <a:ext uri="{FF2B5EF4-FFF2-40B4-BE49-F238E27FC236}">
                  <a16:creationId xmlns:a16="http://schemas.microsoft.com/office/drawing/2014/main" id="{15F640FB-920E-46B2-A501-8BF93518BDDB}"/>
                </a:ext>
              </a:extLst>
            </p:cNvPr>
            <p:cNvPicPr>
              <a:picLocks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359" y="1723"/>
              <a:ext cx="1070" cy="94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0261" name="Rectangle 8">
              <a:extLst>
                <a:ext uri="{FF2B5EF4-FFF2-40B4-BE49-F238E27FC236}">
                  <a16:creationId xmlns:a16="http://schemas.microsoft.com/office/drawing/2014/main" id="{ABBC98C8-3BB2-42D1-8AE2-3EFE1689854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23" y="2032"/>
              <a:ext cx="934" cy="46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2075" tIns="46038" rIns="92075" bIns="46038" anchor="ctr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ctr"/>
              <a:r>
                <a:rPr lang="en-US" altLang="en-US" sz="2400">
                  <a:latin typeface="Times New Roman" panose="02020603050405020304" pitchFamily="18" charset="0"/>
                </a:rPr>
                <a:t>Testing</a:t>
              </a:r>
            </a:p>
            <a:p>
              <a:pPr algn="ctr"/>
              <a:r>
                <a:rPr lang="en-US" altLang="en-US" sz="2400">
                  <a:latin typeface="Times New Roman" panose="02020603050405020304" pitchFamily="18" charset="0"/>
                </a:rPr>
                <a:t>Data</a:t>
              </a:r>
            </a:p>
          </p:txBody>
        </p:sp>
      </p:grpSp>
      <p:graphicFrame>
        <p:nvGraphicFramePr>
          <p:cNvPr id="10246" name="Object 1024">
            <a:extLst>
              <a:ext uri="{FF2B5EF4-FFF2-40B4-BE49-F238E27FC236}">
                <a16:creationId xmlns:a16="http://schemas.microsoft.com/office/drawing/2014/main" id="{871EDE4F-8DD1-4BE4-9AFE-6E9757386484}"/>
              </a:ext>
            </a:extLst>
          </p:cNvPr>
          <p:cNvGraphicFramePr>
            <a:graphicFrameLocks/>
          </p:cNvGraphicFramePr>
          <p:nvPr/>
        </p:nvGraphicFramePr>
        <p:xfrm>
          <a:off x="457200" y="4800600"/>
          <a:ext cx="5438775" cy="1765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64" name="Worksheet" r:id="rId6" imgW="5438775" imgH="1765300" progId="Excel.Sheet.8">
                  <p:embed/>
                </p:oleObj>
              </mc:Choice>
              <mc:Fallback>
                <p:oleObj name="Worksheet" r:id="rId6" imgW="5438775" imgH="1765300" progId="Excel.Sheet.8">
                  <p:embed/>
                  <p:pic>
                    <p:nvPicPr>
                      <p:cNvPr id="0" name="Object 1024"/>
                      <p:cNvPicPr>
                        <a:picLocks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7200" y="4800600"/>
                        <a:ext cx="5438775" cy="1765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247" name="Line 10">
            <a:extLst>
              <a:ext uri="{FF2B5EF4-FFF2-40B4-BE49-F238E27FC236}">
                <a16:creationId xmlns:a16="http://schemas.microsoft.com/office/drawing/2014/main" id="{52C1F5BC-96F0-4D34-942F-4B2BDF3D7839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27038" y="4071938"/>
            <a:ext cx="1644650" cy="700087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0248" name="Line 11">
            <a:extLst>
              <a:ext uri="{FF2B5EF4-FFF2-40B4-BE49-F238E27FC236}">
                <a16:creationId xmlns:a16="http://schemas.microsoft.com/office/drawing/2014/main" id="{C184B340-7EE1-47C1-9B15-440279DEDC35}"/>
              </a:ext>
            </a:extLst>
          </p:cNvPr>
          <p:cNvSpPr>
            <a:spLocks noChangeShapeType="1"/>
          </p:cNvSpPr>
          <p:nvPr/>
        </p:nvSpPr>
        <p:spPr bwMode="auto">
          <a:xfrm>
            <a:off x="3857625" y="4071938"/>
            <a:ext cx="2025650" cy="700087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0249" name="AutoShape 12">
            <a:extLst>
              <a:ext uri="{FF2B5EF4-FFF2-40B4-BE49-F238E27FC236}">
                <a16:creationId xmlns:a16="http://schemas.microsoft.com/office/drawing/2014/main" id="{702BCFB0-6C1C-4507-976C-44D3DE9B43D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93038" y="5000625"/>
            <a:ext cx="546100" cy="592138"/>
          </a:xfrm>
          <a:prstGeom prst="downArrow">
            <a:avLst>
              <a:gd name="adj1" fmla="val 50000"/>
              <a:gd name="adj2" fmla="val 27118"/>
            </a:avLst>
          </a:prstGeom>
          <a:solidFill>
            <a:srgbClr val="2597B8"/>
          </a:solidFill>
          <a:ln w="12700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10250" name="Freeform 13">
            <a:extLst>
              <a:ext uri="{FF2B5EF4-FFF2-40B4-BE49-F238E27FC236}">
                <a16:creationId xmlns:a16="http://schemas.microsoft.com/office/drawing/2014/main" id="{2675EC2A-C2AD-4745-99A3-70D57E1C66D0}"/>
              </a:ext>
            </a:extLst>
          </p:cNvPr>
          <p:cNvSpPr>
            <a:spLocks/>
          </p:cNvSpPr>
          <p:nvPr/>
        </p:nvSpPr>
        <p:spPr bwMode="auto">
          <a:xfrm>
            <a:off x="6523038" y="2173288"/>
            <a:ext cx="941387" cy="766762"/>
          </a:xfrm>
          <a:custGeom>
            <a:avLst/>
            <a:gdLst>
              <a:gd name="T0" fmla="*/ 0 w 593"/>
              <a:gd name="T1" fmla="*/ 2147483647 h 483"/>
              <a:gd name="T2" fmla="*/ 2147483647 w 593"/>
              <a:gd name="T3" fmla="*/ 0 h 483"/>
              <a:gd name="T4" fmla="*/ 2147483647 w 593"/>
              <a:gd name="T5" fmla="*/ 2147483647 h 483"/>
              <a:gd name="T6" fmla="*/ 2147483647 w 593"/>
              <a:gd name="T7" fmla="*/ 2147483647 h 483"/>
              <a:gd name="T8" fmla="*/ 2147483647 w 593"/>
              <a:gd name="T9" fmla="*/ 2147483647 h 483"/>
              <a:gd name="T10" fmla="*/ 2147483647 w 593"/>
              <a:gd name="T11" fmla="*/ 2147483647 h 483"/>
              <a:gd name="T12" fmla="*/ 2147483647 w 593"/>
              <a:gd name="T13" fmla="*/ 2147483647 h 483"/>
              <a:gd name="T14" fmla="*/ 2147483647 w 593"/>
              <a:gd name="T15" fmla="*/ 2147483647 h 483"/>
              <a:gd name="T16" fmla="*/ 2147483647 w 593"/>
              <a:gd name="T17" fmla="*/ 2147483647 h 483"/>
              <a:gd name="T18" fmla="*/ 2147483647 w 593"/>
              <a:gd name="T19" fmla="*/ 2147483647 h 483"/>
              <a:gd name="T20" fmla="*/ 0 w 593"/>
              <a:gd name="T21" fmla="*/ 2147483647 h 483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w 593"/>
              <a:gd name="T34" fmla="*/ 0 h 483"/>
              <a:gd name="T35" fmla="*/ 593 w 593"/>
              <a:gd name="T36" fmla="*/ 483 h 483"/>
            </a:gdLst>
            <a:ahLst/>
            <a:cxnLst>
              <a:cxn ang="T22">
                <a:pos x="T0" y="T1"/>
              </a:cxn>
              <a:cxn ang="T23">
                <a:pos x="T2" y="T3"/>
              </a:cxn>
              <a:cxn ang="T24">
                <a:pos x="T4" y="T5"/>
              </a:cxn>
              <a:cxn ang="T25">
                <a:pos x="T6" y="T7"/>
              </a:cxn>
              <a:cxn ang="T26">
                <a:pos x="T8" y="T9"/>
              </a:cxn>
              <a:cxn ang="T27">
                <a:pos x="T10" y="T11"/>
              </a:cxn>
              <a:cxn ang="T28">
                <a:pos x="T12" y="T13"/>
              </a:cxn>
              <a:cxn ang="T29">
                <a:pos x="T14" y="T15"/>
              </a:cxn>
              <a:cxn ang="T30">
                <a:pos x="T16" y="T17"/>
              </a:cxn>
              <a:cxn ang="T31">
                <a:pos x="T18" y="T19"/>
              </a:cxn>
              <a:cxn ang="T32">
                <a:pos x="T20" y="T21"/>
              </a:cxn>
            </a:cxnLst>
            <a:rect l="T33" t="T34" r="T35" b="T36"/>
            <a:pathLst>
              <a:path w="593" h="483">
                <a:moveTo>
                  <a:pt x="0" y="34"/>
                </a:moveTo>
                <a:lnTo>
                  <a:pt x="200" y="0"/>
                </a:lnTo>
                <a:lnTo>
                  <a:pt x="159" y="58"/>
                </a:lnTo>
                <a:lnTo>
                  <a:pt x="515" y="306"/>
                </a:lnTo>
                <a:lnTo>
                  <a:pt x="555" y="248"/>
                </a:lnTo>
                <a:lnTo>
                  <a:pt x="592" y="448"/>
                </a:lnTo>
                <a:lnTo>
                  <a:pt x="392" y="482"/>
                </a:lnTo>
                <a:lnTo>
                  <a:pt x="433" y="424"/>
                </a:lnTo>
                <a:lnTo>
                  <a:pt x="77" y="176"/>
                </a:lnTo>
                <a:lnTo>
                  <a:pt x="37" y="234"/>
                </a:lnTo>
                <a:lnTo>
                  <a:pt x="0" y="34"/>
                </a:lnTo>
              </a:path>
            </a:pathLst>
          </a:custGeom>
          <a:solidFill>
            <a:srgbClr val="2597B8"/>
          </a:solidFill>
          <a:ln w="12700" cap="rnd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grpSp>
        <p:nvGrpSpPr>
          <p:cNvPr id="10251" name="Group 14">
            <a:extLst>
              <a:ext uri="{FF2B5EF4-FFF2-40B4-BE49-F238E27FC236}">
                <a16:creationId xmlns:a16="http://schemas.microsoft.com/office/drawing/2014/main" id="{50A2B7A2-D04C-4F15-BD45-DECB8D60CD3A}"/>
              </a:ext>
            </a:extLst>
          </p:cNvPr>
          <p:cNvGrpSpPr>
            <a:grpSpLocks/>
          </p:cNvGrpSpPr>
          <p:nvPr/>
        </p:nvGrpSpPr>
        <p:grpSpPr bwMode="auto">
          <a:xfrm>
            <a:off x="6646863" y="3187700"/>
            <a:ext cx="1781175" cy="815975"/>
            <a:chOff x="4187" y="2008"/>
            <a:chExt cx="1122" cy="514"/>
          </a:xfrm>
        </p:grpSpPr>
        <p:pic>
          <p:nvPicPr>
            <p:cNvPr id="10258" name="Picture 15">
              <a:extLst>
                <a:ext uri="{FF2B5EF4-FFF2-40B4-BE49-F238E27FC236}">
                  <a16:creationId xmlns:a16="http://schemas.microsoft.com/office/drawing/2014/main" id="{4325C693-22DB-40D7-B3F0-7EE8CA75846E}"/>
                </a:ext>
              </a:extLst>
            </p:cNvPr>
            <p:cNvPicPr>
              <a:picLocks noChangeArrowheads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187" y="2008"/>
              <a:ext cx="1122" cy="51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0259" name="Rectangle 16">
              <a:extLst>
                <a:ext uri="{FF2B5EF4-FFF2-40B4-BE49-F238E27FC236}">
                  <a16:creationId xmlns:a16="http://schemas.microsoft.com/office/drawing/2014/main" id="{2ADC1B74-EB61-40C9-92FD-2E0D4EE1F4D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51" y="2180"/>
              <a:ext cx="986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 anchor="ctr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ctr"/>
              <a:r>
                <a:rPr lang="en-US" altLang="en-US" sz="2400">
                  <a:latin typeface="Times New Roman" panose="02020603050405020304" pitchFamily="18" charset="0"/>
                </a:rPr>
                <a:t>Unseen Data</a:t>
              </a:r>
            </a:p>
          </p:txBody>
        </p:sp>
      </p:grpSp>
      <p:sp>
        <p:nvSpPr>
          <p:cNvPr id="10252" name="Rectangle 17">
            <a:extLst>
              <a:ext uri="{FF2B5EF4-FFF2-40B4-BE49-F238E27FC236}">
                <a16:creationId xmlns:a16="http://schemas.microsoft.com/office/drawing/2014/main" id="{E455CA9A-BA41-4144-9C93-23B2BDB674D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05550" y="4262438"/>
            <a:ext cx="2454275" cy="457200"/>
          </a:xfrm>
          <a:prstGeom prst="rect">
            <a:avLst/>
          </a:prstGeom>
          <a:solidFill>
            <a:srgbClr val="FFCC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/>
            <a:r>
              <a:rPr lang="en-US" altLang="en-US" sz="2400">
                <a:latin typeface="Times New Roman" panose="02020603050405020304" pitchFamily="18" charset="0"/>
              </a:rPr>
              <a:t>(Jeff, Professor, 4)</a:t>
            </a:r>
          </a:p>
        </p:txBody>
      </p:sp>
      <p:sp>
        <p:nvSpPr>
          <p:cNvPr id="10253" name="Line 18">
            <a:extLst>
              <a:ext uri="{FF2B5EF4-FFF2-40B4-BE49-F238E27FC236}">
                <a16:creationId xmlns:a16="http://schemas.microsoft.com/office/drawing/2014/main" id="{F4CCAA98-8548-4C44-9653-CD413C9450DA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167438" y="3903663"/>
            <a:ext cx="471487" cy="393700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0254" name="Line 19">
            <a:extLst>
              <a:ext uri="{FF2B5EF4-FFF2-40B4-BE49-F238E27FC236}">
                <a16:creationId xmlns:a16="http://schemas.microsoft.com/office/drawing/2014/main" id="{F7D49136-8C92-451E-A37C-00C637CC297D}"/>
              </a:ext>
            </a:extLst>
          </p:cNvPr>
          <p:cNvSpPr>
            <a:spLocks noChangeShapeType="1"/>
          </p:cNvSpPr>
          <p:nvPr/>
        </p:nvSpPr>
        <p:spPr bwMode="auto">
          <a:xfrm>
            <a:off x="8448675" y="3903663"/>
            <a:ext cx="363538" cy="349250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0255" name="Freeform 20">
            <a:extLst>
              <a:ext uri="{FF2B5EF4-FFF2-40B4-BE49-F238E27FC236}">
                <a16:creationId xmlns:a16="http://schemas.microsoft.com/office/drawing/2014/main" id="{EDBA9DFD-9C75-4710-86E4-0F6E8C050C47}"/>
              </a:ext>
            </a:extLst>
          </p:cNvPr>
          <p:cNvSpPr>
            <a:spLocks/>
          </p:cNvSpPr>
          <p:nvPr/>
        </p:nvSpPr>
        <p:spPr bwMode="auto">
          <a:xfrm>
            <a:off x="3360738" y="2032000"/>
            <a:ext cx="901700" cy="593725"/>
          </a:xfrm>
          <a:custGeom>
            <a:avLst/>
            <a:gdLst>
              <a:gd name="T0" fmla="*/ 2147483647 w 568"/>
              <a:gd name="T1" fmla="*/ 2147483647 h 374"/>
              <a:gd name="T2" fmla="*/ 2147483647 w 568"/>
              <a:gd name="T3" fmla="*/ 2147483647 h 374"/>
              <a:gd name="T4" fmla="*/ 2147483647 w 568"/>
              <a:gd name="T5" fmla="*/ 2147483647 h 374"/>
              <a:gd name="T6" fmla="*/ 2147483647 w 568"/>
              <a:gd name="T7" fmla="*/ 2147483647 h 374"/>
              <a:gd name="T8" fmla="*/ 2147483647 w 568"/>
              <a:gd name="T9" fmla="*/ 2147483647 h 374"/>
              <a:gd name="T10" fmla="*/ 0 w 568"/>
              <a:gd name="T11" fmla="*/ 2147483647 h 374"/>
              <a:gd name="T12" fmla="*/ 2147483647 w 568"/>
              <a:gd name="T13" fmla="*/ 2147483647 h 374"/>
              <a:gd name="T14" fmla="*/ 2147483647 w 568"/>
              <a:gd name="T15" fmla="*/ 2147483647 h 374"/>
              <a:gd name="T16" fmla="*/ 2147483647 w 568"/>
              <a:gd name="T17" fmla="*/ 2147483647 h 374"/>
              <a:gd name="T18" fmla="*/ 2147483647 w 568"/>
              <a:gd name="T19" fmla="*/ 0 h 374"/>
              <a:gd name="T20" fmla="*/ 2147483647 w 568"/>
              <a:gd name="T21" fmla="*/ 2147483647 h 374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w 568"/>
              <a:gd name="T34" fmla="*/ 0 h 374"/>
              <a:gd name="T35" fmla="*/ 568 w 568"/>
              <a:gd name="T36" fmla="*/ 374 h 374"/>
            </a:gdLst>
            <a:ahLst/>
            <a:cxnLst>
              <a:cxn ang="T22">
                <a:pos x="T0" y="T1"/>
              </a:cxn>
              <a:cxn ang="T23">
                <a:pos x="T2" y="T3"/>
              </a:cxn>
              <a:cxn ang="T24">
                <a:pos x="T4" y="T5"/>
              </a:cxn>
              <a:cxn ang="T25">
                <a:pos x="T6" y="T7"/>
              </a:cxn>
              <a:cxn ang="T26">
                <a:pos x="T8" y="T9"/>
              </a:cxn>
              <a:cxn ang="T27">
                <a:pos x="T10" y="T11"/>
              </a:cxn>
              <a:cxn ang="T28">
                <a:pos x="T12" y="T13"/>
              </a:cxn>
              <a:cxn ang="T29">
                <a:pos x="T14" y="T15"/>
              </a:cxn>
              <a:cxn ang="T30">
                <a:pos x="T16" y="T17"/>
              </a:cxn>
              <a:cxn ang="T31">
                <a:pos x="T18" y="T19"/>
              </a:cxn>
              <a:cxn ang="T32">
                <a:pos x="T20" y="T21"/>
              </a:cxn>
            </a:cxnLst>
            <a:rect l="T33" t="T34" r="T35" b="T36"/>
            <a:pathLst>
              <a:path w="568" h="374">
                <a:moveTo>
                  <a:pt x="567" y="59"/>
                </a:moveTo>
                <a:lnTo>
                  <a:pt x="503" y="220"/>
                </a:lnTo>
                <a:lnTo>
                  <a:pt x="478" y="165"/>
                </a:lnTo>
                <a:lnTo>
                  <a:pt x="138" y="318"/>
                </a:lnTo>
                <a:lnTo>
                  <a:pt x="163" y="373"/>
                </a:lnTo>
                <a:lnTo>
                  <a:pt x="0" y="314"/>
                </a:lnTo>
                <a:lnTo>
                  <a:pt x="64" y="153"/>
                </a:lnTo>
                <a:lnTo>
                  <a:pt x="89" y="208"/>
                </a:lnTo>
                <a:lnTo>
                  <a:pt x="429" y="55"/>
                </a:lnTo>
                <a:lnTo>
                  <a:pt x="404" y="0"/>
                </a:lnTo>
                <a:lnTo>
                  <a:pt x="567" y="59"/>
                </a:lnTo>
              </a:path>
            </a:pathLst>
          </a:custGeom>
          <a:solidFill>
            <a:srgbClr val="2597B8"/>
          </a:solidFill>
          <a:ln w="12700" cap="rnd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pic>
        <p:nvPicPr>
          <p:cNvPr id="10256" name="Picture 21">
            <a:extLst>
              <a:ext uri="{FF2B5EF4-FFF2-40B4-BE49-F238E27FC236}">
                <a16:creationId xmlns:a16="http://schemas.microsoft.com/office/drawing/2014/main" id="{577DEB89-987A-4557-AC15-7B6449359D67}"/>
              </a:ext>
            </a:extLst>
          </p:cNvPr>
          <p:cNvPicPr>
            <a:picLocks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20013" y="5738813"/>
            <a:ext cx="720725" cy="628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257" name="Rectangle 22">
            <a:extLst>
              <a:ext uri="{FF2B5EF4-FFF2-40B4-BE49-F238E27FC236}">
                <a16:creationId xmlns:a16="http://schemas.microsoft.com/office/drawing/2014/main" id="{6310F5C3-C033-4E5C-A942-D31CA95785A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21413" y="4959350"/>
            <a:ext cx="1525587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/>
            <a:r>
              <a:rPr lang="en-US" altLang="en-US" sz="2800">
                <a:latin typeface="Times New Roman" panose="02020603050405020304" pitchFamily="18" charset="0"/>
              </a:rPr>
              <a:t>Tenured?</a:t>
            </a:r>
          </a:p>
        </p:txBody>
      </p:sp>
    </p:spTree>
  </p:cSld>
  <p:clrMapOvr>
    <a:masterClrMapping/>
  </p:clrMapOvr>
  <p:transition>
    <p:zoom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Slide Number Placeholder 6">
            <a:extLst>
              <a:ext uri="{FF2B5EF4-FFF2-40B4-BE49-F238E27FC236}">
                <a16:creationId xmlns:a16="http://schemas.microsoft.com/office/drawing/2014/main" id="{1532DBE9-8FD0-42F5-A3B4-213E1FB4561D}"/>
              </a:ext>
            </a:extLst>
          </p:cNvPr>
          <p:cNvSpPr txBox="1">
            <a:spLocks noGrp="1"/>
          </p:cNvSpPr>
          <p:nvPr/>
        </p:nvSpPr>
        <p:spPr bwMode="auto">
          <a:xfrm>
            <a:off x="7239000" y="6477000"/>
            <a:ext cx="1905000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r" eaLnBrk="1" hangingPunct="1"/>
            <a:fld id="{A26239F5-5790-4757-BE43-8F4F55398339}" type="slidenum">
              <a:rPr lang="en-US" altLang="en-US" sz="1400" b="1">
                <a:latin typeface="Calibri" panose="020F0502020204030204" pitchFamily="34" charset="0"/>
              </a:rPr>
              <a:pPr algn="r" eaLnBrk="1" hangingPunct="1"/>
              <a:t>9</a:t>
            </a:fld>
            <a:endParaRPr lang="en-US" altLang="en-US" sz="1400" b="1">
              <a:latin typeface="Calibri" panose="020F0502020204030204" pitchFamily="34" charset="0"/>
            </a:endParaRPr>
          </a:p>
        </p:txBody>
      </p:sp>
      <p:sp>
        <p:nvSpPr>
          <p:cNvPr id="11267" name="Rectangle 2">
            <a:extLst>
              <a:ext uri="{FF2B5EF4-FFF2-40B4-BE49-F238E27FC236}">
                <a16:creationId xmlns:a16="http://schemas.microsoft.com/office/drawing/2014/main" id="{2D118093-6F1D-4BAC-945F-694B0224E4CD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0" y="381000"/>
            <a:ext cx="9144000" cy="609600"/>
          </a:xfrm>
          <a:noFill/>
        </p:spPr>
        <p:txBody>
          <a:bodyPr lIns="92075" tIns="46038" rIns="92075" bIns="46038" anchor="ctr"/>
          <a:lstStyle/>
          <a:p>
            <a:pPr eaLnBrk="1" hangingPunct="1"/>
            <a:r>
              <a:rPr lang="en-US" altLang="en-US"/>
              <a:t>Chapter 8. Classification: Basic Concepts</a:t>
            </a:r>
          </a:p>
        </p:txBody>
      </p:sp>
      <p:sp>
        <p:nvSpPr>
          <p:cNvPr id="11268" name="Rectangle 3">
            <a:extLst>
              <a:ext uri="{FF2B5EF4-FFF2-40B4-BE49-F238E27FC236}">
                <a16:creationId xmlns:a16="http://schemas.microsoft.com/office/drawing/2014/main" id="{F5E6EC23-E835-45BB-82E1-E88C04C0E53A}"/>
              </a:ext>
            </a:extLst>
          </p:cNvPr>
          <p:cNvSpPr>
            <a:spLocks noGrp="1" noChangeArrowheads="1"/>
          </p:cNvSpPr>
          <p:nvPr>
            <p:ph type="body" sz="half" idx="4294967295"/>
          </p:nvPr>
        </p:nvSpPr>
        <p:spPr>
          <a:xfrm>
            <a:off x="304800" y="1447800"/>
            <a:ext cx="8382000" cy="5105400"/>
          </a:xfrm>
          <a:noFill/>
        </p:spPr>
        <p:txBody>
          <a:bodyPr lIns="92075" tIns="46038" rIns="92075" bIns="46038"/>
          <a:lstStyle/>
          <a:p>
            <a:pPr>
              <a:lnSpc>
                <a:spcPct val="130000"/>
              </a:lnSpc>
            </a:pPr>
            <a:r>
              <a:rPr lang="en-US" altLang="en-US"/>
              <a:t>Classification: Basic Concepts</a:t>
            </a:r>
          </a:p>
          <a:p>
            <a:pPr>
              <a:lnSpc>
                <a:spcPct val="130000"/>
              </a:lnSpc>
            </a:pPr>
            <a:r>
              <a:rPr lang="en-US" altLang="en-US"/>
              <a:t>Decision Tree Induction</a:t>
            </a:r>
          </a:p>
          <a:p>
            <a:pPr>
              <a:lnSpc>
                <a:spcPct val="130000"/>
              </a:lnSpc>
            </a:pPr>
            <a:r>
              <a:rPr lang="en-US" altLang="en-US"/>
              <a:t>Bayes Classification Methods</a:t>
            </a:r>
          </a:p>
          <a:p>
            <a:pPr>
              <a:lnSpc>
                <a:spcPct val="130000"/>
              </a:lnSpc>
            </a:pPr>
            <a:r>
              <a:rPr lang="en-US" altLang="en-US"/>
              <a:t>Rule-Based Classification</a:t>
            </a:r>
          </a:p>
          <a:p>
            <a:pPr>
              <a:lnSpc>
                <a:spcPct val="130000"/>
              </a:lnSpc>
            </a:pPr>
            <a:r>
              <a:rPr lang="en-US" altLang="en-US"/>
              <a:t>Model Evaluation and Selection</a:t>
            </a:r>
          </a:p>
          <a:p>
            <a:pPr>
              <a:lnSpc>
                <a:spcPct val="130000"/>
              </a:lnSpc>
            </a:pPr>
            <a:r>
              <a:rPr lang="en-US" altLang="en-US"/>
              <a:t>Techniques to Improve Classification Accuracy: Ensemble Methods</a:t>
            </a:r>
          </a:p>
          <a:p>
            <a:pPr>
              <a:lnSpc>
                <a:spcPct val="130000"/>
              </a:lnSpc>
            </a:pPr>
            <a:r>
              <a:rPr lang="en-US" altLang="en-US"/>
              <a:t>Summary</a:t>
            </a:r>
          </a:p>
        </p:txBody>
      </p:sp>
      <p:sp>
        <p:nvSpPr>
          <p:cNvPr id="11269" name="AutoShape 8">
            <a:extLst>
              <a:ext uri="{FF2B5EF4-FFF2-40B4-BE49-F238E27FC236}">
                <a16:creationId xmlns:a16="http://schemas.microsoft.com/office/drawing/2014/main" id="{028B23F4-C9CD-46B2-8D85-E10C54D6F34E}"/>
              </a:ext>
            </a:extLst>
          </p:cNvPr>
          <p:cNvSpPr>
            <a:spLocks noChangeArrowheads="1"/>
          </p:cNvSpPr>
          <p:nvPr/>
        </p:nvSpPr>
        <p:spPr bwMode="auto">
          <a:xfrm rot="9803581">
            <a:off x="4572000" y="2133600"/>
            <a:ext cx="533400" cy="381000"/>
          </a:xfrm>
          <a:prstGeom prst="notchedRightArrow">
            <a:avLst>
              <a:gd name="adj1" fmla="val 50000"/>
              <a:gd name="adj2" fmla="val 35000"/>
            </a:avLst>
          </a:prstGeom>
          <a:solidFill>
            <a:srgbClr val="FF99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rot="10800000" wrap="none" anchor="ctr"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</p:spTree>
  </p:cSld>
  <p:clrMapOvr>
    <a:masterClrMapping/>
  </p:clrMapOvr>
  <p:transition>
    <p:zoom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Slide Number Placeholder 4">
            <a:extLst>
              <a:ext uri="{FF2B5EF4-FFF2-40B4-BE49-F238E27FC236}">
                <a16:creationId xmlns:a16="http://schemas.microsoft.com/office/drawing/2014/main" id="{A376831B-45A6-49FE-B8A8-299DC855404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7248525" y="6477000"/>
            <a:ext cx="1905000" cy="3810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fld id="{89E543E4-96DC-4960-B1B1-C57F19B34D40}" type="slidenum">
              <a:rPr lang="en-US" altLang="en-US"/>
              <a:pPr eaLnBrk="1" hangingPunct="1"/>
              <a:t>10</a:t>
            </a:fld>
            <a:endParaRPr lang="en-US" altLang="en-US"/>
          </a:p>
        </p:txBody>
      </p:sp>
      <p:sp>
        <p:nvSpPr>
          <p:cNvPr id="12291" name="Rectangle 2">
            <a:extLst>
              <a:ext uri="{FF2B5EF4-FFF2-40B4-BE49-F238E27FC236}">
                <a16:creationId xmlns:a16="http://schemas.microsoft.com/office/drawing/2014/main" id="{6978BC4C-0C97-4B3D-B809-8C66B1A93E2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152400"/>
            <a:ext cx="9144000" cy="838200"/>
          </a:xfrm>
          <a:noFill/>
        </p:spPr>
        <p:txBody>
          <a:bodyPr lIns="92075" tIns="46038" rIns="92075" bIns="46038"/>
          <a:lstStyle/>
          <a:p>
            <a:pPr eaLnBrk="1" hangingPunct="1"/>
            <a:r>
              <a:rPr lang="en-US" altLang="en-US">
                <a:solidFill>
                  <a:srgbClr val="170981"/>
                </a:solidFill>
              </a:rPr>
              <a:t>Decision Tree Induction: An Example</a:t>
            </a:r>
            <a:endParaRPr lang="en-US" altLang="en-US" i="1">
              <a:solidFill>
                <a:srgbClr val="170981"/>
              </a:solidFill>
            </a:endParaRPr>
          </a:p>
        </p:txBody>
      </p:sp>
      <p:grpSp>
        <p:nvGrpSpPr>
          <p:cNvPr id="12292" name="Group 63">
            <a:extLst>
              <a:ext uri="{FF2B5EF4-FFF2-40B4-BE49-F238E27FC236}">
                <a16:creationId xmlns:a16="http://schemas.microsoft.com/office/drawing/2014/main" id="{3CC951DE-2E30-4EAA-B020-1CDA7F0C581E}"/>
              </a:ext>
            </a:extLst>
          </p:cNvPr>
          <p:cNvGrpSpPr>
            <a:grpSpLocks/>
          </p:cNvGrpSpPr>
          <p:nvPr/>
        </p:nvGrpSpPr>
        <p:grpSpPr bwMode="auto">
          <a:xfrm>
            <a:off x="95250" y="2819400"/>
            <a:ext cx="6305550" cy="3810000"/>
            <a:chOff x="768" y="1152"/>
            <a:chExt cx="3972" cy="2400"/>
          </a:xfrm>
        </p:grpSpPr>
        <p:sp>
          <p:nvSpPr>
            <p:cNvPr id="12295" name="Rectangle 3">
              <a:extLst>
                <a:ext uri="{FF2B5EF4-FFF2-40B4-BE49-F238E27FC236}">
                  <a16:creationId xmlns:a16="http://schemas.microsoft.com/office/drawing/2014/main" id="{3DB3E4A6-D619-4FBE-9923-C877C5EFA84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87" y="1152"/>
              <a:ext cx="475" cy="296"/>
            </a:xfrm>
            <a:prstGeom prst="rect">
              <a:avLst/>
            </a:prstGeom>
            <a:solidFill>
              <a:srgbClr val="00CCFF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92075" tIns="46038" rIns="92075" bIns="46038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ctr"/>
              <a:r>
                <a:rPr lang="en-US" altLang="en-US" sz="2400">
                  <a:latin typeface="Times New Roman" panose="02020603050405020304" pitchFamily="18" charset="0"/>
                </a:rPr>
                <a:t>age?</a:t>
              </a:r>
            </a:p>
          </p:txBody>
        </p:sp>
        <p:sp>
          <p:nvSpPr>
            <p:cNvPr id="12296" name="Rectangle 4">
              <a:extLst>
                <a:ext uri="{FF2B5EF4-FFF2-40B4-BE49-F238E27FC236}">
                  <a16:creationId xmlns:a16="http://schemas.microsoft.com/office/drawing/2014/main" id="{35AA09C2-A1E8-406D-9096-FE9DF014659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45" y="1766"/>
              <a:ext cx="755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ctr"/>
              <a:r>
                <a:rPr lang="en-US" altLang="en-US" sz="2400">
                  <a:latin typeface="Times New Roman" panose="02020603050405020304" pitchFamily="18" charset="0"/>
                </a:rPr>
                <a:t>overcast</a:t>
              </a:r>
            </a:p>
          </p:txBody>
        </p:sp>
        <p:sp>
          <p:nvSpPr>
            <p:cNvPr id="12297" name="Rectangle 5">
              <a:extLst>
                <a:ext uri="{FF2B5EF4-FFF2-40B4-BE49-F238E27FC236}">
                  <a16:creationId xmlns:a16="http://schemas.microsoft.com/office/drawing/2014/main" id="{17EA50B4-D184-4A74-B694-EBF6ACED145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29" y="2342"/>
              <a:ext cx="763" cy="296"/>
            </a:xfrm>
            <a:prstGeom prst="rect">
              <a:avLst/>
            </a:prstGeom>
            <a:solidFill>
              <a:srgbClr val="00FFCC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92075" tIns="46038" rIns="92075" bIns="46038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ctr"/>
              <a:r>
                <a:rPr lang="en-US" altLang="en-US" sz="2400">
                  <a:latin typeface="Times New Roman" panose="02020603050405020304" pitchFamily="18" charset="0"/>
                </a:rPr>
                <a:t>student?</a:t>
              </a:r>
            </a:p>
          </p:txBody>
        </p:sp>
        <p:sp>
          <p:nvSpPr>
            <p:cNvPr id="12298" name="Rectangle 6">
              <a:extLst>
                <a:ext uri="{FF2B5EF4-FFF2-40B4-BE49-F238E27FC236}">
                  <a16:creationId xmlns:a16="http://schemas.microsoft.com/office/drawing/2014/main" id="{0749D72F-2E05-4C0E-BA5D-87F26B68399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32" y="2342"/>
              <a:ext cx="1140" cy="296"/>
            </a:xfrm>
            <a:prstGeom prst="rect">
              <a:avLst/>
            </a:prstGeom>
            <a:solidFill>
              <a:srgbClr val="99CCFF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92075" tIns="46038" rIns="92075" bIns="46038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ctr"/>
              <a:r>
                <a:rPr lang="en-US" altLang="en-US" sz="2400">
                  <a:latin typeface="Times New Roman" panose="02020603050405020304" pitchFamily="18" charset="0"/>
                </a:rPr>
                <a:t>credit rating?</a:t>
              </a:r>
            </a:p>
          </p:txBody>
        </p:sp>
        <p:sp>
          <p:nvSpPr>
            <p:cNvPr id="12299" name="Line 11">
              <a:extLst>
                <a:ext uri="{FF2B5EF4-FFF2-40B4-BE49-F238E27FC236}">
                  <a16:creationId xmlns:a16="http://schemas.microsoft.com/office/drawing/2014/main" id="{E21C206A-A81D-44D3-9512-15349F2D8673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619" y="1462"/>
              <a:ext cx="625" cy="834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2300" name="Line 12">
              <a:extLst>
                <a:ext uri="{FF2B5EF4-FFF2-40B4-BE49-F238E27FC236}">
                  <a16:creationId xmlns:a16="http://schemas.microsoft.com/office/drawing/2014/main" id="{E1C1ECD1-2403-4302-80C2-300394751D19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622" y="1491"/>
              <a:ext cx="1" cy="344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2301" name="Line 13">
              <a:extLst>
                <a:ext uri="{FF2B5EF4-FFF2-40B4-BE49-F238E27FC236}">
                  <a16:creationId xmlns:a16="http://schemas.microsoft.com/office/drawing/2014/main" id="{6D35A3DF-1C56-4BA9-BA95-E5A5CE88680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928" y="1440"/>
              <a:ext cx="1051" cy="895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2302" name="Rectangle 14">
              <a:extLst>
                <a:ext uri="{FF2B5EF4-FFF2-40B4-BE49-F238E27FC236}">
                  <a16:creationId xmlns:a16="http://schemas.microsoft.com/office/drawing/2014/main" id="{5E49037E-C311-4A02-8D49-6D9E19162BA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13" y="1730"/>
              <a:ext cx="534" cy="296"/>
            </a:xfrm>
            <a:prstGeom prst="rect">
              <a:avLst/>
            </a:prstGeom>
            <a:solidFill>
              <a:srgbClr val="FFFF00"/>
            </a:solidFill>
            <a:ln w="12700">
              <a:solidFill>
                <a:schemeClr val="bg1"/>
              </a:solidFill>
              <a:miter lim="800000"/>
              <a:headEnd/>
              <a:tailEnd/>
            </a:ln>
          </p:spPr>
          <p:txBody>
            <a:bodyPr wrap="none" lIns="92075" tIns="46038" rIns="92075" bIns="46038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ctr"/>
              <a:r>
                <a:rPr lang="en-US" altLang="en-US" sz="2400" b="1">
                  <a:latin typeface="Times New Roman" panose="02020603050405020304" pitchFamily="18" charset="0"/>
                </a:rPr>
                <a:t>&lt;=30</a:t>
              </a:r>
              <a:endParaRPr lang="en-US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12303" name="Rectangle 15">
              <a:extLst>
                <a:ext uri="{FF2B5EF4-FFF2-40B4-BE49-F238E27FC236}">
                  <a16:creationId xmlns:a16="http://schemas.microsoft.com/office/drawing/2014/main" id="{E72FE143-27BD-4884-8DF0-3BD0B5E4C08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64" y="1804"/>
              <a:ext cx="417" cy="288"/>
            </a:xfrm>
            <a:prstGeom prst="rect">
              <a:avLst/>
            </a:prstGeom>
            <a:solidFill>
              <a:srgbClr val="FFFF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ctr"/>
              <a:r>
                <a:rPr lang="en-US" altLang="en-US" sz="2400" b="1">
                  <a:latin typeface="Times New Roman" panose="02020603050405020304" pitchFamily="18" charset="0"/>
                </a:rPr>
                <a:t>&gt;40</a:t>
              </a:r>
              <a:endParaRPr lang="en-US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12304" name="Line 16">
              <a:extLst>
                <a:ext uri="{FF2B5EF4-FFF2-40B4-BE49-F238E27FC236}">
                  <a16:creationId xmlns:a16="http://schemas.microsoft.com/office/drawing/2014/main" id="{D4389E41-E502-4878-AA08-32DB534EC49B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960" y="2640"/>
              <a:ext cx="528" cy="624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2305" name="Line 17">
              <a:extLst>
                <a:ext uri="{FF2B5EF4-FFF2-40B4-BE49-F238E27FC236}">
                  <a16:creationId xmlns:a16="http://schemas.microsoft.com/office/drawing/2014/main" id="{199CF6CB-F7C2-4CDA-99D6-B77F4AB198C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28" y="2640"/>
              <a:ext cx="480" cy="624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2306" name="Line 18">
              <a:extLst>
                <a:ext uri="{FF2B5EF4-FFF2-40B4-BE49-F238E27FC236}">
                  <a16:creationId xmlns:a16="http://schemas.microsoft.com/office/drawing/2014/main" id="{EB09ACC7-DE55-4C41-AB53-0B501CC542A3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360" y="2640"/>
              <a:ext cx="480" cy="576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2307" name="Line 19">
              <a:extLst>
                <a:ext uri="{FF2B5EF4-FFF2-40B4-BE49-F238E27FC236}">
                  <a16:creationId xmlns:a16="http://schemas.microsoft.com/office/drawing/2014/main" id="{DD33D928-5EF9-4CE0-81ED-557A4E7FD03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128" y="2640"/>
              <a:ext cx="432" cy="576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2308" name="Line 24">
              <a:extLst>
                <a:ext uri="{FF2B5EF4-FFF2-40B4-BE49-F238E27FC236}">
                  <a16:creationId xmlns:a16="http://schemas.microsoft.com/office/drawing/2014/main" id="{05F912C1-A026-472D-BD1C-383BDAE0398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623" y="2029"/>
              <a:ext cx="0" cy="277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2309" name="Rectangle 25">
              <a:extLst>
                <a:ext uri="{FF2B5EF4-FFF2-40B4-BE49-F238E27FC236}">
                  <a16:creationId xmlns:a16="http://schemas.microsoft.com/office/drawing/2014/main" id="{5B8973B3-5E77-4180-A82C-4EE42907B19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68" y="3264"/>
              <a:ext cx="308" cy="288"/>
            </a:xfrm>
            <a:prstGeom prst="rect">
              <a:avLst/>
            </a:prstGeom>
            <a:solidFill>
              <a:srgbClr val="FFCC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ctr"/>
              <a:r>
                <a:rPr lang="en-US" altLang="en-US" sz="2400">
                  <a:latin typeface="Times New Roman" panose="02020603050405020304" pitchFamily="18" charset="0"/>
                </a:rPr>
                <a:t>no</a:t>
              </a:r>
            </a:p>
          </p:txBody>
        </p:sp>
        <p:sp>
          <p:nvSpPr>
            <p:cNvPr id="12310" name="Rectangle 27">
              <a:extLst>
                <a:ext uri="{FF2B5EF4-FFF2-40B4-BE49-F238E27FC236}">
                  <a16:creationId xmlns:a16="http://schemas.microsoft.com/office/drawing/2014/main" id="{60DB7A78-AC61-4FED-BD0C-7D3DA54ABF0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28" y="3264"/>
              <a:ext cx="372" cy="288"/>
            </a:xfrm>
            <a:prstGeom prst="rect">
              <a:avLst/>
            </a:prstGeom>
            <a:solidFill>
              <a:srgbClr val="00FF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ctr"/>
              <a:r>
                <a:rPr lang="en-US" altLang="en-US" sz="2400">
                  <a:latin typeface="Times New Roman" panose="02020603050405020304" pitchFamily="18" charset="0"/>
                </a:rPr>
                <a:t>yes</a:t>
              </a:r>
            </a:p>
          </p:txBody>
        </p:sp>
        <p:sp>
          <p:nvSpPr>
            <p:cNvPr id="12311" name="Rectangle 28">
              <a:extLst>
                <a:ext uri="{FF2B5EF4-FFF2-40B4-BE49-F238E27FC236}">
                  <a16:creationId xmlns:a16="http://schemas.microsoft.com/office/drawing/2014/main" id="{F836BC25-47BD-472D-9916-EA20E6FA3AD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68" y="3216"/>
              <a:ext cx="372" cy="288"/>
            </a:xfrm>
            <a:prstGeom prst="rect">
              <a:avLst/>
            </a:prstGeom>
            <a:solidFill>
              <a:srgbClr val="00FF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ctr"/>
              <a:r>
                <a:rPr lang="en-US" altLang="en-US" sz="2400">
                  <a:latin typeface="Times New Roman" panose="02020603050405020304" pitchFamily="18" charset="0"/>
                </a:rPr>
                <a:t>yes</a:t>
              </a:r>
            </a:p>
          </p:txBody>
        </p:sp>
        <p:sp>
          <p:nvSpPr>
            <p:cNvPr id="12312" name="Rectangle 29">
              <a:extLst>
                <a:ext uri="{FF2B5EF4-FFF2-40B4-BE49-F238E27FC236}">
                  <a16:creationId xmlns:a16="http://schemas.microsoft.com/office/drawing/2014/main" id="{CE0C1741-9326-46D5-AC55-9A1655A6DD8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37" y="2344"/>
              <a:ext cx="372" cy="288"/>
            </a:xfrm>
            <a:prstGeom prst="rect">
              <a:avLst/>
            </a:prstGeom>
            <a:solidFill>
              <a:srgbClr val="00FF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ctr"/>
              <a:r>
                <a:rPr lang="en-US" altLang="en-US" sz="2400">
                  <a:latin typeface="Times New Roman" panose="02020603050405020304" pitchFamily="18" charset="0"/>
                </a:rPr>
                <a:t>yes</a:t>
              </a:r>
            </a:p>
          </p:txBody>
        </p:sp>
        <p:sp>
          <p:nvSpPr>
            <p:cNvPr id="12313" name="Rectangle 30">
              <a:extLst>
                <a:ext uri="{FF2B5EF4-FFF2-40B4-BE49-F238E27FC236}">
                  <a16:creationId xmlns:a16="http://schemas.microsoft.com/office/drawing/2014/main" id="{38639B4D-CF73-49CD-A224-7FB1015EA3D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56" y="1824"/>
              <a:ext cx="672" cy="192"/>
            </a:xfrm>
            <a:prstGeom prst="rect">
              <a:avLst/>
            </a:prstGeom>
            <a:solidFill>
              <a:srgbClr val="FFFF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ctr"/>
              <a:r>
                <a:rPr lang="en-US" altLang="en-US" sz="2000" b="1">
                  <a:latin typeface="Times New Roman" panose="02020603050405020304" pitchFamily="18" charset="0"/>
                </a:rPr>
                <a:t>31..40</a:t>
              </a:r>
              <a:endParaRPr lang="en-US" altLang="en-US">
                <a:latin typeface="Times New Roman" panose="02020603050405020304" pitchFamily="18" charset="0"/>
              </a:endParaRPr>
            </a:p>
          </p:txBody>
        </p:sp>
        <p:sp>
          <p:nvSpPr>
            <p:cNvPr id="12314" name="Rectangle 62">
              <a:extLst>
                <a:ext uri="{FF2B5EF4-FFF2-40B4-BE49-F238E27FC236}">
                  <a16:creationId xmlns:a16="http://schemas.microsoft.com/office/drawing/2014/main" id="{18940BB9-FCD9-41D7-9889-30A8ADFD651D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-143156">
              <a:off x="3168" y="3216"/>
              <a:ext cx="308" cy="288"/>
            </a:xfrm>
            <a:prstGeom prst="rect">
              <a:avLst/>
            </a:prstGeom>
            <a:solidFill>
              <a:srgbClr val="FFCC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ctr"/>
              <a:r>
                <a:rPr lang="en-US" altLang="en-US" sz="2400">
                  <a:latin typeface="Times New Roman" panose="02020603050405020304" pitchFamily="18" charset="0"/>
                </a:rPr>
                <a:t>no</a:t>
              </a:r>
            </a:p>
          </p:txBody>
        </p:sp>
        <p:sp>
          <p:nvSpPr>
            <p:cNvPr id="12315" name="Rectangle 9">
              <a:extLst>
                <a:ext uri="{FF2B5EF4-FFF2-40B4-BE49-F238E27FC236}">
                  <a16:creationId xmlns:a16="http://schemas.microsoft.com/office/drawing/2014/main" id="{9A1EDEAB-ACE4-4712-A1DD-9E8E425FD1F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76" y="2784"/>
              <a:ext cx="382" cy="288"/>
            </a:xfrm>
            <a:prstGeom prst="rect">
              <a:avLst/>
            </a:prstGeom>
            <a:solidFill>
              <a:srgbClr val="FFFF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ctr"/>
              <a:r>
                <a:rPr lang="en-US" altLang="en-US" sz="2400">
                  <a:latin typeface="Times New Roman" panose="02020603050405020304" pitchFamily="18" charset="0"/>
                </a:rPr>
                <a:t>fair</a:t>
              </a:r>
            </a:p>
          </p:txBody>
        </p:sp>
        <p:sp>
          <p:nvSpPr>
            <p:cNvPr id="12316" name="Rectangle 10">
              <a:extLst>
                <a:ext uri="{FF2B5EF4-FFF2-40B4-BE49-F238E27FC236}">
                  <a16:creationId xmlns:a16="http://schemas.microsoft.com/office/drawing/2014/main" id="{E87C5DD4-694E-4FAE-9114-73EDB0B23BD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72" y="2784"/>
              <a:ext cx="807" cy="288"/>
            </a:xfrm>
            <a:prstGeom prst="rect">
              <a:avLst/>
            </a:prstGeom>
            <a:solidFill>
              <a:srgbClr val="FFFF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ctr"/>
              <a:r>
                <a:rPr lang="en-US" altLang="en-US" sz="2400">
                  <a:latin typeface="Times New Roman" panose="02020603050405020304" pitchFamily="18" charset="0"/>
                </a:rPr>
                <a:t>excellent</a:t>
              </a:r>
            </a:p>
          </p:txBody>
        </p:sp>
        <p:sp>
          <p:nvSpPr>
            <p:cNvPr id="12317" name="Rectangle 8">
              <a:extLst>
                <a:ext uri="{FF2B5EF4-FFF2-40B4-BE49-F238E27FC236}">
                  <a16:creationId xmlns:a16="http://schemas.microsoft.com/office/drawing/2014/main" id="{B6262445-8069-43E5-B181-C959F15143F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72" y="2832"/>
              <a:ext cx="372" cy="288"/>
            </a:xfrm>
            <a:prstGeom prst="rect">
              <a:avLst/>
            </a:prstGeom>
            <a:solidFill>
              <a:srgbClr val="FFFF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ctr"/>
              <a:r>
                <a:rPr lang="en-US" altLang="en-US" sz="2400">
                  <a:latin typeface="Times New Roman" panose="02020603050405020304" pitchFamily="18" charset="0"/>
                </a:rPr>
                <a:t>yes</a:t>
              </a:r>
            </a:p>
          </p:txBody>
        </p:sp>
        <p:sp>
          <p:nvSpPr>
            <p:cNvPr id="12318" name="Rectangle 7">
              <a:extLst>
                <a:ext uri="{FF2B5EF4-FFF2-40B4-BE49-F238E27FC236}">
                  <a16:creationId xmlns:a16="http://schemas.microsoft.com/office/drawing/2014/main" id="{954F99F0-A30D-45E4-B78D-FD92B040DD5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60" y="2832"/>
              <a:ext cx="432" cy="288"/>
            </a:xfrm>
            <a:prstGeom prst="rect">
              <a:avLst/>
            </a:prstGeom>
            <a:solidFill>
              <a:srgbClr val="FFFF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2075" tIns="46038" rIns="92075" bIns="46038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ctr"/>
              <a:r>
                <a:rPr lang="en-US" altLang="en-US" sz="2400">
                  <a:latin typeface="Times New Roman" panose="02020603050405020304" pitchFamily="18" charset="0"/>
                </a:rPr>
                <a:t>no</a:t>
              </a:r>
            </a:p>
          </p:txBody>
        </p:sp>
      </p:grpSp>
      <p:graphicFrame>
        <p:nvGraphicFramePr>
          <p:cNvPr id="12293" name="Object 1024">
            <a:extLst>
              <a:ext uri="{FF2B5EF4-FFF2-40B4-BE49-F238E27FC236}">
                <a16:creationId xmlns:a16="http://schemas.microsoft.com/office/drawing/2014/main" id="{5EBC2E6D-D9E0-4875-A306-92635AC214C2}"/>
              </a:ext>
            </a:extLst>
          </p:cNvPr>
          <p:cNvGraphicFramePr>
            <a:graphicFrameLocks/>
          </p:cNvGraphicFramePr>
          <p:nvPr/>
        </p:nvGraphicFramePr>
        <p:xfrm>
          <a:off x="5192713" y="1143000"/>
          <a:ext cx="3951287" cy="3429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319" name="Worksheet" r:id="rId4" imgW="5772150" imgH="4457700" progId="Excel.Sheet.8">
                  <p:embed/>
                </p:oleObj>
              </mc:Choice>
              <mc:Fallback>
                <p:oleObj name="Worksheet" r:id="rId4" imgW="5772150" imgH="4457700" progId="Excel.Sheet.8">
                  <p:embed/>
                  <p:pic>
                    <p:nvPicPr>
                      <p:cNvPr id="0" name="Object 1024"/>
                      <p:cNvPicPr>
                        <a:picLocks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92713" y="1143000"/>
                        <a:ext cx="3951287" cy="3429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294" name="Rectangle 1">
            <a:extLst>
              <a:ext uri="{FF2B5EF4-FFF2-40B4-BE49-F238E27FC236}">
                <a16:creationId xmlns:a16="http://schemas.microsoft.com/office/drawing/2014/main" id="{913350D3-C1FF-4E62-B678-56D88267F7B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" y="1371600"/>
            <a:ext cx="5173663" cy="1570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2857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buClr>
                <a:srgbClr val="170981"/>
              </a:buClr>
              <a:buSzPct val="75000"/>
              <a:buFont typeface="Wingdings" panose="05000000000000000000" pitchFamily="2" charset="2"/>
              <a:buChar char="q"/>
            </a:pPr>
            <a:r>
              <a:rPr lang="en-US" altLang="en-US" sz="2400">
                <a:latin typeface="Calibri" panose="020F0502020204030204" pitchFamily="34" charset="0"/>
              </a:rPr>
              <a:t>Training data set: Buys_computer</a:t>
            </a:r>
          </a:p>
          <a:p>
            <a:pPr eaLnBrk="1" hangingPunct="1">
              <a:buClr>
                <a:srgbClr val="170981"/>
              </a:buClr>
              <a:buSzPct val="75000"/>
              <a:buFont typeface="Wingdings" panose="05000000000000000000" pitchFamily="2" charset="2"/>
              <a:buChar char="q"/>
            </a:pPr>
            <a:r>
              <a:rPr lang="en-US" altLang="en-US" sz="2400">
                <a:latin typeface="Calibri" panose="020F0502020204030204" pitchFamily="34" charset="0"/>
              </a:rPr>
              <a:t>The data set follows an example of Quinlan’s ID3 (Playing Tennis)</a:t>
            </a:r>
          </a:p>
          <a:p>
            <a:pPr eaLnBrk="1" hangingPunct="1">
              <a:buClr>
                <a:srgbClr val="170981"/>
              </a:buClr>
              <a:buSzPct val="75000"/>
              <a:buFont typeface="Wingdings" panose="05000000000000000000" pitchFamily="2" charset="2"/>
              <a:buChar char="q"/>
            </a:pPr>
            <a:r>
              <a:rPr lang="en-US" altLang="en-US" sz="2400">
                <a:latin typeface="Calibri" panose="020F0502020204030204" pitchFamily="34" charset="0"/>
              </a:rPr>
              <a:t>Resulting tree:</a:t>
            </a:r>
          </a:p>
        </p:txBody>
      </p:sp>
    </p:spTree>
  </p:cSld>
  <p:clrMapOvr>
    <a:masterClrMapping/>
  </p:clrMapOvr>
  <p:transition>
    <p:zoom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Slide Number Placeholder 5">
            <a:extLst>
              <a:ext uri="{FF2B5EF4-FFF2-40B4-BE49-F238E27FC236}">
                <a16:creationId xmlns:a16="http://schemas.microsoft.com/office/drawing/2014/main" id="{AB4C60E1-FAFF-4192-B85D-0613969F3F9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fld id="{2E5C7570-0620-4FEB-B697-423B15F89568}" type="slidenum">
              <a:rPr lang="en-US" altLang="en-US"/>
              <a:pPr eaLnBrk="1" hangingPunct="1"/>
              <a:t>11</a:t>
            </a:fld>
            <a:endParaRPr lang="en-US" altLang="en-US"/>
          </a:p>
        </p:txBody>
      </p:sp>
      <p:sp>
        <p:nvSpPr>
          <p:cNvPr id="13315" name="Rectangle 1026">
            <a:extLst>
              <a:ext uri="{FF2B5EF4-FFF2-40B4-BE49-F238E27FC236}">
                <a16:creationId xmlns:a16="http://schemas.microsoft.com/office/drawing/2014/main" id="{5F2799B6-874C-4CEA-A8F9-3F30C359F26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304800"/>
            <a:ext cx="9144000" cy="609600"/>
          </a:xfrm>
        </p:spPr>
        <p:txBody>
          <a:bodyPr/>
          <a:lstStyle/>
          <a:p>
            <a:pPr eaLnBrk="1" hangingPunct="1"/>
            <a:r>
              <a:rPr lang="en-US" altLang="en-US"/>
              <a:t>Algorithm for Decision Tree Induction</a:t>
            </a:r>
          </a:p>
        </p:txBody>
      </p:sp>
      <p:sp>
        <p:nvSpPr>
          <p:cNvPr id="13316" name="Rectangle 1027">
            <a:extLst>
              <a:ext uri="{FF2B5EF4-FFF2-40B4-BE49-F238E27FC236}">
                <a16:creationId xmlns:a16="http://schemas.microsoft.com/office/drawing/2014/main" id="{53318EE6-6014-4C61-B4A3-32DDC3908D7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04800" y="1219200"/>
            <a:ext cx="8763000" cy="5562600"/>
          </a:xfrm>
        </p:spPr>
        <p:txBody>
          <a:bodyPr/>
          <a:lstStyle/>
          <a:p>
            <a:pPr eaLnBrk="1" hangingPunct="1">
              <a:spcBef>
                <a:spcPct val="0"/>
              </a:spcBef>
            </a:pPr>
            <a:r>
              <a:rPr lang="en-US" altLang="en-US" sz="2400"/>
              <a:t>Basic algorithm (a greedy algorithm)</a:t>
            </a:r>
          </a:p>
          <a:p>
            <a:pPr lvl="1" eaLnBrk="1" hangingPunct="1">
              <a:spcBef>
                <a:spcPct val="0"/>
              </a:spcBef>
            </a:pPr>
            <a:r>
              <a:rPr lang="en-US" altLang="en-US" sz="2400"/>
              <a:t>Tree is constructed in a </a:t>
            </a:r>
            <a:r>
              <a:rPr lang="en-US" altLang="en-US" sz="2400">
                <a:solidFill>
                  <a:schemeClr val="hlink"/>
                </a:solidFill>
              </a:rPr>
              <a:t>top-down recursive divide-and-conquer manner</a:t>
            </a:r>
          </a:p>
          <a:p>
            <a:pPr lvl="1" eaLnBrk="1" hangingPunct="1">
              <a:spcBef>
                <a:spcPct val="0"/>
              </a:spcBef>
            </a:pPr>
            <a:r>
              <a:rPr lang="en-US" altLang="en-US" sz="2400"/>
              <a:t>At start, all the training examples are at the root</a:t>
            </a:r>
          </a:p>
          <a:p>
            <a:pPr lvl="1" eaLnBrk="1" hangingPunct="1">
              <a:spcBef>
                <a:spcPct val="0"/>
              </a:spcBef>
            </a:pPr>
            <a:r>
              <a:rPr lang="en-US" altLang="en-US" sz="2400"/>
              <a:t>Attributes are categorical (if continuous-valued, they are discretized in advance)</a:t>
            </a:r>
          </a:p>
          <a:p>
            <a:pPr lvl="1" eaLnBrk="1" hangingPunct="1">
              <a:spcBef>
                <a:spcPct val="0"/>
              </a:spcBef>
            </a:pPr>
            <a:r>
              <a:rPr lang="en-US" altLang="en-US" sz="2400"/>
              <a:t>Examples are partitioned recursively based on selected attributes</a:t>
            </a:r>
          </a:p>
          <a:p>
            <a:pPr lvl="1" eaLnBrk="1" hangingPunct="1">
              <a:spcBef>
                <a:spcPct val="0"/>
              </a:spcBef>
            </a:pPr>
            <a:r>
              <a:rPr lang="en-US" altLang="en-US" sz="2400"/>
              <a:t>Test attributes are selected on the basis of a heuristic or statistical measure (e.g., </a:t>
            </a:r>
            <a:r>
              <a:rPr lang="en-US" altLang="en-US" sz="2400">
                <a:solidFill>
                  <a:schemeClr val="hlink"/>
                </a:solidFill>
              </a:rPr>
              <a:t>information gain</a:t>
            </a:r>
            <a:r>
              <a:rPr lang="en-US" altLang="en-US" sz="2400"/>
              <a:t>)</a:t>
            </a:r>
          </a:p>
          <a:p>
            <a:pPr eaLnBrk="1" hangingPunct="1">
              <a:spcBef>
                <a:spcPct val="0"/>
              </a:spcBef>
            </a:pPr>
            <a:r>
              <a:rPr lang="en-US" altLang="en-US" sz="2400"/>
              <a:t>Conditions for stopping partitioning</a:t>
            </a:r>
          </a:p>
          <a:p>
            <a:pPr lvl="1" eaLnBrk="1" hangingPunct="1">
              <a:spcBef>
                <a:spcPct val="0"/>
              </a:spcBef>
            </a:pPr>
            <a:r>
              <a:rPr lang="en-US" altLang="en-US" sz="2400"/>
              <a:t>All samples for a given node belong to the same class</a:t>
            </a:r>
          </a:p>
          <a:p>
            <a:pPr lvl="1" eaLnBrk="1" hangingPunct="1">
              <a:spcBef>
                <a:spcPct val="0"/>
              </a:spcBef>
            </a:pPr>
            <a:r>
              <a:rPr lang="en-US" altLang="en-US" sz="2400"/>
              <a:t>There are no remaining attributes for further partitioning – </a:t>
            </a:r>
            <a:r>
              <a:rPr lang="en-US" altLang="en-US" sz="2400">
                <a:solidFill>
                  <a:schemeClr val="hlink"/>
                </a:solidFill>
              </a:rPr>
              <a:t>majority voting</a:t>
            </a:r>
            <a:r>
              <a:rPr lang="en-US" altLang="en-US" sz="2400"/>
              <a:t> is employed for classifying the leaf</a:t>
            </a:r>
          </a:p>
          <a:p>
            <a:pPr lvl="1" eaLnBrk="1" hangingPunct="1">
              <a:spcBef>
                <a:spcPct val="0"/>
              </a:spcBef>
            </a:pPr>
            <a:r>
              <a:rPr lang="en-US" altLang="en-US" sz="2400"/>
              <a:t>There are no samples left</a:t>
            </a:r>
          </a:p>
        </p:txBody>
      </p:sp>
    </p:spTree>
  </p:cSld>
  <p:clrMapOvr>
    <a:masterClrMapping/>
  </p:clrMapOvr>
  <p:transition>
    <p:zoom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Slide Number Placeholder 3">
            <a:extLst>
              <a:ext uri="{FF2B5EF4-FFF2-40B4-BE49-F238E27FC236}">
                <a16:creationId xmlns:a16="http://schemas.microsoft.com/office/drawing/2014/main" id="{8FE906F0-96A7-478A-9F9D-11F2ECD1441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fld id="{A022DCC8-DAE3-4B83-9D37-0DCCE121109D}" type="slidenum">
              <a:rPr lang="en-US" altLang="en-US"/>
              <a:pPr eaLnBrk="1" hangingPunct="1"/>
              <a:t>12</a:t>
            </a:fld>
            <a:endParaRPr lang="en-US" altLang="en-US"/>
          </a:p>
        </p:txBody>
      </p:sp>
      <p:sp>
        <p:nvSpPr>
          <p:cNvPr id="14339" name="Rectangle 2">
            <a:extLst>
              <a:ext uri="{FF2B5EF4-FFF2-40B4-BE49-F238E27FC236}">
                <a16:creationId xmlns:a16="http://schemas.microsoft.com/office/drawing/2014/main" id="{6E0C1474-E3E2-4FFA-AED0-B9A3D3B23A1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1000" y="76200"/>
            <a:ext cx="8229600" cy="1066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/>
            <a:r>
              <a:rPr lang="en-US" altLang="en-US" sz="3600" b="1">
                <a:solidFill>
                  <a:schemeClr val="tx2"/>
                </a:solidFill>
                <a:latin typeface="Berlin Sans FB Demi" panose="020E0802020502020306" pitchFamily="34" charset="0"/>
              </a:rPr>
              <a:t>Attribute Selection Measure: Information Gain (ID3/C4.5)</a:t>
            </a:r>
          </a:p>
        </p:txBody>
      </p:sp>
      <p:sp>
        <p:nvSpPr>
          <p:cNvPr id="14340" name="Rectangle 3">
            <a:extLst>
              <a:ext uri="{FF2B5EF4-FFF2-40B4-BE49-F238E27FC236}">
                <a16:creationId xmlns:a16="http://schemas.microsoft.com/office/drawing/2014/main" id="{08D2260F-B629-4E1C-BA82-F71B9B53A66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4800" y="1524000"/>
            <a:ext cx="8458200" cy="495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lnSpc>
                <a:spcPct val="110000"/>
              </a:lnSpc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</a:pPr>
            <a:r>
              <a:rPr lang="en-US" altLang="en-US" sz="2400">
                <a:latin typeface="Calibri" panose="020F0502020204030204" pitchFamily="34" charset="0"/>
              </a:rPr>
              <a:t>Select the attribute with the highest information gain</a:t>
            </a:r>
          </a:p>
          <a:p>
            <a:pPr eaLnBrk="1" hangingPunct="1">
              <a:lnSpc>
                <a:spcPct val="110000"/>
              </a:lnSpc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</a:pPr>
            <a:r>
              <a:rPr lang="en-US" altLang="en-US" sz="2400">
                <a:latin typeface="Calibri" panose="020F0502020204030204" pitchFamily="34" charset="0"/>
              </a:rPr>
              <a:t>Let </a:t>
            </a:r>
            <a:r>
              <a:rPr lang="en-US" altLang="en-US" sz="2400" i="1">
                <a:latin typeface="Calibri" panose="020F0502020204030204" pitchFamily="34" charset="0"/>
              </a:rPr>
              <a:t>p</a:t>
            </a:r>
            <a:r>
              <a:rPr lang="en-US" altLang="en-US" sz="2400" i="1" baseline="-25000">
                <a:latin typeface="Calibri" panose="020F0502020204030204" pitchFamily="34" charset="0"/>
              </a:rPr>
              <a:t>i</a:t>
            </a:r>
            <a:r>
              <a:rPr lang="en-US" altLang="en-US" sz="2400">
                <a:latin typeface="Calibri" panose="020F0502020204030204" pitchFamily="34" charset="0"/>
              </a:rPr>
              <a:t> be the probability that an arbitrary tuple in D belongs to class C</a:t>
            </a:r>
            <a:r>
              <a:rPr lang="en-US" altLang="en-US" sz="2400" baseline="-25000">
                <a:latin typeface="Calibri" panose="020F0502020204030204" pitchFamily="34" charset="0"/>
              </a:rPr>
              <a:t>i</a:t>
            </a:r>
            <a:r>
              <a:rPr lang="en-US" altLang="en-US" sz="2400">
                <a:latin typeface="Calibri" panose="020F0502020204030204" pitchFamily="34" charset="0"/>
              </a:rPr>
              <a:t>, estimated by |C</a:t>
            </a:r>
            <a:r>
              <a:rPr lang="en-US" altLang="en-US" sz="2400" i="1" baseline="-25000">
                <a:latin typeface="Calibri" panose="020F0502020204030204" pitchFamily="34" charset="0"/>
              </a:rPr>
              <a:t>i</a:t>
            </a:r>
            <a:r>
              <a:rPr lang="en-US" altLang="en-US" sz="2400" baseline="-25000">
                <a:latin typeface="Calibri" panose="020F0502020204030204" pitchFamily="34" charset="0"/>
              </a:rPr>
              <a:t>, D</a:t>
            </a:r>
            <a:r>
              <a:rPr lang="en-US" altLang="en-US" sz="2400">
                <a:latin typeface="Calibri" panose="020F0502020204030204" pitchFamily="34" charset="0"/>
              </a:rPr>
              <a:t>|/|D|</a:t>
            </a:r>
          </a:p>
          <a:p>
            <a:pPr eaLnBrk="1" hangingPunct="1">
              <a:lnSpc>
                <a:spcPct val="110000"/>
              </a:lnSpc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</a:pPr>
            <a:r>
              <a:rPr lang="en-US" altLang="en-US" sz="2400">
                <a:solidFill>
                  <a:schemeClr val="hlink"/>
                </a:solidFill>
                <a:latin typeface="Calibri" panose="020F0502020204030204" pitchFamily="34" charset="0"/>
              </a:rPr>
              <a:t>Expected information</a:t>
            </a:r>
            <a:r>
              <a:rPr lang="en-US" altLang="en-US" sz="2400">
                <a:latin typeface="Calibri" panose="020F0502020204030204" pitchFamily="34" charset="0"/>
              </a:rPr>
              <a:t> (entropy) needed to classify a tuple in D:</a:t>
            </a:r>
          </a:p>
          <a:p>
            <a:pPr eaLnBrk="1" hangingPunct="1">
              <a:lnSpc>
                <a:spcPct val="110000"/>
              </a:lnSpc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</a:pPr>
            <a:endParaRPr lang="en-US" altLang="en-US" sz="2400">
              <a:latin typeface="Calibri" panose="020F0502020204030204" pitchFamily="34" charset="0"/>
            </a:endParaRPr>
          </a:p>
          <a:p>
            <a:pPr eaLnBrk="1" hangingPunct="1">
              <a:lnSpc>
                <a:spcPct val="110000"/>
              </a:lnSpc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</a:pPr>
            <a:r>
              <a:rPr lang="en-US" altLang="en-US" sz="2400">
                <a:solidFill>
                  <a:schemeClr val="hlink"/>
                </a:solidFill>
                <a:latin typeface="Calibri" panose="020F0502020204030204" pitchFamily="34" charset="0"/>
              </a:rPr>
              <a:t>Information</a:t>
            </a:r>
            <a:r>
              <a:rPr lang="en-US" altLang="en-US" sz="2400">
                <a:latin typeface="Calibri" panose="020F0502020204030204" pitchFamily="34" charset="0"/>
              </a:rPr>
              <a:t> needed (after using A to split D into v partitions) to classify D:</a:t>
            </a:r>
          </a:p>
          <a:p>
            <a:pPr eaLnBrk="1" hangingPunct="1">
              <a:lnSpc>
                <a:spcPct val="110000"/>
              </a:lnSpc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</a:pPr>
            <a:endParaRPr lang="en-US" altLang="en-US" sz="2400">
              <a:latin typeface="Calibri" panose="020F0502020204030204" pitchFamily="34" charset="0"/>
            </a:endParaRPr>
          </a:p>
          <a:p>
            <a:pPr eaLnBrk="1" hangingPunct="1">
              <a:lnSpc>
                <a:spcPct val="110000"/>
              </a:lnSpc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</a:pPr>
            <a:r>
              <a:rPr lang="en-US" altLang="en-US" sz="2400">
                <a:solidFill>
                  <a:schemeClr val="hlink"/>
                </a:solidFill>
                <a:latin typeface="Calibri" panose="020F0502020204030204" pitchFamily="34" charset="0"/>
              </a:rPr>
              <a:t>Information gained</a:t>
            </a:r>
            <a:r>
              <a:rPr lang="en-US" altLang="en-US" sz="2400">
                <a:latin typeface="Calibri" panose="020F0502020204030204" pitchFamily="34" charset="0"/>
              </a:rPr>
              <a:t> by branching on attribute A</a:t>
            </a:r>
          </a:p>
          <a:p>
            <a:pPr eaLnBrk="1" hangingPunct="1">
              <a:lnSpc>
                <a:spcPct val="110000"/>
              </a:lnSpc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</a:pPr>
            <a:endParaRPr lang="en-US" altLang="en-US" sz="2400">
              <a:latin typeface="Calibri" panose="020F0502020204030204" pitchFamily="34" charset="0"/>
            </a:endParaRPr>
          </a:p>
        </p:txBody>
      </p:sp>
      <p:graphicFrame>
        <p:nvGraphicFramePr>
          <p:cNvPr id="14341" name="Object 4">
            <a:extLst>
              <a:ext uri="{FF2B5EF4-FFF2-40B4-BE49-F238E27FC236}">
                <a16:creationId xmlns:a16="http://schemas.microsoft.com/office/drawing/2014/main" id="{3698D75B-9725-45E1-BADE-FE5EC39E3AF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530725" y="3200400"/>
          <a:ext cx="3317875" cy="850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344" name="Equation" r:id="rId4" imgW="1612900" imgH="431800" progId="Equation.3">
                  <p:embed/>
                </p:oleObj>
              </mc:Choice>
              <mc:Fallback>
                <p:oleObj name="Equation" r:id="rId4" imgW="1612900" imgH="43180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30725" y="3200400"/>
                        <a:ext cx="3317875" cy="850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342" name="Object 5">
            <a:extLst>
              <a:ext uri="{FF2B5EF4-FFF2-40B4-BE49-F238E27FC236}">
                <a16:creationId xmlns:a16="http://schemas.microsoft.com/office/drawing/2014/main" id="{D4E36A89-8F62-4447-8731-EE8556F2B99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419600" y="4343400"/>
          <a:ext cx="4495800" cy="949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345" name="Equation" r:id="rId6" imgW="1892300" imgH="457200" progId="Equation.3">
                  <p:embed/>
                </p:oleObj>
              </mc:Choice>
              <mc:Fallback>
                <p:oleObj name="Equation" r:id="rId6" imgW="1892300" imgH="457200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19600" y="4343400"/>
                        <a:ext cx="4495800" cy="9493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343" name="Object 6">
            <a:extLst>
              <a:ext uri="{FF2B5EF4-FFF2-40B4-BE49-F238E27FC236}">
                <a16:creationId xmlns:a16="http://schemas.microsoft.com/office/drawing/2014/main" id="{2DFF8D47-7FC4-435F-9A97-26F75DFA887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868738" y="5822950"/>
          <a:ext cx="4589462" cy="536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346" name="Equation" r:id="rId8" imgW="1790700" imgH="215900" progId="Equation.3">
                  <p:embed/>
                </p:oleObj>
              </mc:Choice>
              <mc:Fallback>
                <p:oleObj name="Equation" r:id="rId8" imgW="1790700" imgH="215900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68738" y="5822950"/>
                        <a:ext cx="4589462" cy="5365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>
    <p:zoom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Slide Number Placeholder 6">
            <a:extLst>
              <a:ext uri="{FF2B5EF4-FFF2-40B4-BE49-F238E27FC236}">
                <a16:creationId xmlns:a16="http://schemas.microsoft.com/office/drawing/2014/main" id="{21993C7F-8D90-4A1F-BED0-68D71E84FE4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fld id="{4E3CB590-ECE0-4FD2-BBC7-80FB5B412652}" type="slidenum">
              <a:rPr lang="en-US" altLang="en-US"/>
              <a:pPr eaLnBrk="1" hangingPunct="1"/>
              <a:t>13</a:t>
            </a:fld>
            <a:endParaRPr lang="en-US" altLang="en-US"/>
          </a:p>
        </p:txBody>
      </p:sp>
      <p:sp>
        <p:nvSpPr>
          <p:cNvPr id="15363" name="Rectangle 2">
            <a:extLst>
              <a:ext uri="{FF2B5EF4-FFF2-40B4-BE49-F238E27FC236}">
                <a16:creationId xmlns:a16="http://schemas.microsoft.com/office/drawing/2014/main" id="{9D405B41-D12B-4345-8BA0-BE786A7DC68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52400" y="304800"/>
            <a:ext cx="8763000" cy="609600"/>
          </a:xfrm>
        </p:spPr>
        <p:txBody>
          <a:bodyPr/>
          <a:lstStyle/>
          <a:p>
            <a:pPr eaLnBrk="1" hangingPunct="1"/>
            <a:r>
              <a:rPr lang="en-US" altLang="en-US"/>
              <a:t>Attribute Selection: Information Gain</a:t>
            </a:r>
          </a:p>
        </p:txBody>
      </p:sp>
      <p:sp>
        <p:nvSpPr>
          <p:cNvPr id="15364" name="Rectangle 3">
            <a:extLst>
              <a:ext uri="{FF2B5EF4-FFF2-40B4-BE49-F238E27FC236}">
                <a16:creationId xmlns:a16="http://schemas.microsoft.com/office/drawing/2014/main" id="{9BBCF96B-9DA2-45F1-A4FD-1C05045E5F28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304800" y="1371600"/>
            <a:ext cx="4152900" cy="1600200"/>
          </a:xfrm>
        </p:spPr>
        <p:txBody>
          <a:bodyPr/>
          <a:lstStyle/>
          <a:p>
            <a:pPr eaLnBrk="1" hangingPunct="1">
              <a:lnSpc>
                <a:spcPct val="80000"/>
              </a:lnSpc>
              <a:spcBef>
                <a:spcPct val="30000"/>
              </a:spcBef>
              <a:buSzPct val="80000"/>
              <a:buFont typeface="Marlett" pitchFamily="2" charset="2"/>
              <a:buChar char="g"/>
            </a:pPr>
            <a:r>
              <a:rPr lang="en-US" altLang="en-US" sz="2000">
                <a:solidFill>
                  <a:srgbClr val="121328"/>
                </a:solidFill>
              </a:rPr>
              <a:t>Class P: buys_computer = “yes”</a:t>
            </a:r>
          </a:p>
          <a:p>
            <a:pPr eaLnBrk="1" hangingPunct="1">
              <a:lnSpc>
                <a:spcPct val="80000"/>
              </a:lnSpc>
              <a:spcBef>
                <a:spcPct val="30000"/>
              </a:spcBef>
              <a:buSzPct val="80000"/>
              <a:buFont typeface="Marlett" pitchFamily="2" charset="2"/>
              <a:buChar char="g"/>
            </a:pPr>
            <a:r>
              <a:rPr lang="en-US" altLang="en-US" sz="2000">
                <a:solidFill>
                  <a:srgbClr val="121328"/>
                </a:solidFill>
              </a:rPr>
              <a:t>Class N: buys_computer = “no”</a:t>
            </a:r>
            <a:endParaRPr lang="en-US" altLang="en-US" sz="2000"/>
          </a:p>
        </p:txBody>
      </p:sp>
      <p:sp>
        <p:nvSpPr>
          <p:cNvPr id="15365" name="Rectangle 4">
            <a:extLst>
              <a:ext uri="{FF2B5EF4-FFF2-40B4-BE49-F238E27FC236}">
                <a16:creationId xmlns:a16="http://schemas.microsoft.com/office/drawing/2014/main" id="{FE44444B-4662-4DDC-B031-C59E845E336D}"/>
              </a:ext>
            </a:extLst>
          </p:cNvPr>
          <p:cNvSpPr>
            <a:spLocks noGrp="1" noChangeArrowheads="1"/>
          </p:cNvSpPr>
          <p:nvPr>
            <p:ph type="body" sz="half" idx="2"/>
          </p:nvPr>
        </p:nvSpPr>
        <p:spPr>
          <a:xfrm>
            <a:off x="4724400" y="2743200"/>
            <a:ext cx="4152900" cy="2209800"/>
          </a:xfrm>
        </p:spPr>
        <p:txBody>
          <a:bodyPr/>
          <a:lstStyle/>
          <a:p>
            <a:pPr eaLnBrk="1" hangingPunct="1">
              <a:lnSpc>
                <a:spcPct val="130000"/>
              </a:lnSpc>
              <a:buFont typeface="Wingdings" panose="05000000000000000000" pitchFamily="2" charset="2"/>
              <a:buNone/>
            </a:pPr>
            <a:r>
              <a:rPr lang="en-US" altLang="en-US" sz="2000">
                <a:solidFill>
                  <a:srgbClr val="121328"/>
                </a:solidFill>
              </a:rPr>
              <a:t>            means “age &lt;=30” has 5 out of 14 samples, with 2 yes’es  and 3 no’s.   Hence</a:t>
            </a:r>
            <a:endParaRPr lang="en-US" altLang="en-US" sz="2000"/>
          </a:p>
          <a:p>
            <a:pPr eaLnBrk="1" hangingPunct="1">
              <a:lnSpc>
                <a:spcPct val="90000"/>
              </a:lnSpc>
              <a:buClr>
                <a:schemeClr val="accent1"/>
              </a:buClr>
              <a:buFont typeface="Wingdings 2" panose="05020102010507070707" pitchFamily="18" charset="2"/>
              <a:buNone/>
            </a:pPr>
            <a:endParaRPr lang="en-US" altLang="en-US" sz="2000"/>
          </a:p>
          <a:p>
            <a:pPr eaLnBrk="1" hangingPunct="1">
              <a:lnSpc>
                <a:spcPct val="90000"/>
              </a:lnSpc>
              <a:buClr>
                <a:schemeClr val="accent1"/>
              </a:buClr>
              <a:buFont typeface="Wingdings 2" panose="05020102010507070707" pitchFamily="18" charset="2"/>
              <a:buNone/>
            </a:pPr>
            <a:endParaRPr lang="en-US" altLang="en-US" sz="2000">
              <a:solidFill>
                <a:srgbClr val="121328"/>
              </a:solidFill>
            </a:endParaRPr>
          </a:p>
          <a:p>
            <a:pPr eaLnBrk="1" hangingPunct="1">
              <a:lnSpc>
                <a:spcPct val="90000"/>
              </a:lnSpc>
              <a:buClr>
                <a:schemeClr val="accent1"/>
              </a:buClr>
              <a:buFont typeface="Wingdings 2" panose="05020102010507070707" pitchFamily="18" charset="2"/>
              <a:buNone/>
            </a:pPr>
            <a:r>
              <a:rPr lang="en-US" altLang="en-US" sz="2000">
                <a:solidFill>
                  <a:srgbClr val="121328"/>
                </a:solidFill>
              </a:rPr>
              <a:t>Similarly,</a:t>
            </a:r>
          </a:p>
        </p:txBody>
      </p:sp>
      <p:graphicFrame>
        <p:nvGraphicFramePr>
          <p:cNvPr id="15366" name="Object 5">
            <a:extLst>
              <a:ext uri="{FF2B5EF4-FFF2-40B4-BE49-F238E27FC236}">
                <a16:creationId xmlns:a16="http://schemas.microsoft.com/office/drawing/2014/main" id="{E3C884EC-7E2B-4E4C-8E98-132046CD7B1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62000" y="2590800"/>
          <a:ext cx="3354388" cy="14398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373" name="Worksheet" r:id="rId4" imgW="3352800" imgH="1438250" progId="Excel.Sheet.8">
                  <p:embed/>
                </p:oleObj>
              </mc:Choice>
              <mc:Fallback>
                <p:oleObj name="Worksheet" r:id="rId4" imgW="3352800" imgH="1438250" progId="Excel.Sheet.8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2000" y="2590800"/>
                        <a:ext cx="3354388" cy="14398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367" name="Object 6">
            <a:extLst>
              <a:ext uri="{FF2B5EF4-FFF2-40B4-BE49-F238E27FC236}">
                <a16:creationId xmlns:a16="http://schemas.microsoft.com/office/drawing/2014/main" id="{17CBCC84-AEAD-476A-A5E3-C5E308DFBDB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876800" y="1295400"/>
          <a:ext cx="3754438" cy="1371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374" name="Equation" r:id="rId6" imgW="2044700" imgH="812800" progId="Equation.3">
                  <p:embed/>
                </p:oleObj>
              </mc:Choice>
              <mc:Fallback>
                <p:oleObj name="Equation" r:id="rId6" imgW="2044700" imgH="812800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76800" y="1295400"/>
                        <a:ext cx="3754438" cy="1371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368" name="Object 7">
            <a:extLst>
              <a:ext uri="{FF2B5EF4-FFF2-40B4-BE49-F238E27FC236}">
                <a16:creationId xmlns:a16="http://schemas.microsoft.com/office/drawing/2014/main" id="{04543CBA-E7B5-4B38-8738-0845F27E716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029200" y="5257800"/>
          <a:ext cx="3594100" cy="1193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375" name="Equation" r:id="rId8" imgW="3594100" imgH="1193800" progId="Equation.3">
                  <p:embed/>
                </p:oleObj>
              </mc:Choice>
              <mc:Fallback>
                <p:oleObj name="Equation" r:id="rId8" imgW="3594100" imgH="1193800" progId="Equation.3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29200" y="5257800"/>
                        <a:ext cx="3594100" cy="1193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369" name="Object 8">
            <a:extLst>
              <a:ext uri="{FF2B5EF4-FFF2-40B4-BE49-F238E27FC236}">
                <a16:creationId xmlns:a16="http://schemas.microsoft.com/office/drawing/2014/main" id="{B1906E55-0599-4EB8-AC23-47C83692A8B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724400" y="4114800"/>
          <a:ext cx="4271963" cy="3889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376" name="Equation" r:id="rId10" imgW="2552700" imgH="241300" progId="Equation.3">
                  <p:embed/>
                </p:oleObj>
              </mc:Choice>
              <mc:Fallback>
                <p:oleObj name="Equation" r:id="rId10" imgW="2552700" imgH="241300" progId="Equation.3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24400" y="4114800"/>
                        <a:ext cx="4271963" cy="3889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370" name="Object 9">
            <a:extLst>
              <a:ext uri="{FF2B5EF4-FFF2-40B4-BE49-F238E27FC236}">
                <a16:creationId xmlns:a16="http://schemas.microsoft.com/office/drawing/2014/main" id="{8A4A6E40-5122-4A1E-8ACE-B05DC420A225}"/>
              </a:ext>
            </a:extLst>
          </p:cNvPr>
          <p:cNvGraphicFramePr>
            <a:graphicFrameLocks/>
          </p:cNvGraphicFramePr>
          <p:nvPr/>
        </p:nvGraphicFramePr>
        <p:xfrm>
          <a:off x="152400" y="4114800"/>
          <a:ext cx="4419600" cy="2667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377" name="Worksheet" r:id="rId12" imgW="6115431" imgH="4458208" progId="Excel.Sheet.8">
                  <p:embed/>
                </p:oleObj>
              </mc:Choice>
              <mc:Fallback>
                <p:oleObj name="Worksheet" r:id="rId12" imgW="6115431" imgH="4458208" progId="Excel.Sheet.8">
                  <p:embed/>
                  <p:pic>
                    <p:nvPicPr>
                      <p:cNvPr id="0" name="Object 9"/>
                      <p:cNvPicPr>
                        <a:picLocks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2400" y="4114800"/>
                        <a:ext cx="4419600" cy="2667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371" name="Object 10">
            <a:extLst>
              <a:ext uri="{FF2B5EF4-FFF2-40B4-BE49-F238E27FC236}">
                <a16:creationId xmlns:a16="http://schemas.microsoft.com/office/drawing/2014/main" id="{3CCFEA0A-7B2E-4489-B031-754D95EF103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495800" y="2743200"/>
          <a:ext cx="1073150" cy="6651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378" name="Equation" r:id="rId14" imgW="583947" imgH="393529" progId="Equation.3">
                  <p:embed/>
                </p:oleObj>
              </mc:Choice>
              <mc:Fallback>
                <p:oleObj name="Equation" r:id="rId14" imgW="583947" imgH="393529" progId="Equation.3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95800" y="2743200"/>
                        <a:ext cx="1073150" cy="6651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372" name="Object 11">
            <a:extLst>
              <a:ext uri="{FF2B5EF4-FFF2-40B4-BE49-F238E27FC236}">
                <a16:creationId xmlns:a16="http://schemas.microsoft.com/office/drawing/2014/main" id="{31E55ABB-7951-4939-8789-311E0B4729A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6200" y="2057400"/>
          <a:ext cx="4800600" cy="523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379" name="Equation" r:id="rId16" imgW="3314700" imgH="393700" progId="Equation.3">
                  <p:embed/>
                </p:oleObj>
              </mc:Choice>
              <mc:Fallback>
                <p:oleObj name="Equation" r:id="rId16" imgW="3314700" imgH="393700" progId="Equation.3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200" y="2057400"/>
                        <a:ext cx="4800600" cy="5238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>
    <p:zoom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Slide Number Placeholder 5">
            <a:extLst>
              <a:ext uri="{FF2B5EF4-FFF2-40B4-BE49-F238E27FC236}">
                <a16:creationId xmlns:a16="http://schemas.microsoft.com/office/drawing/2014/main" id="{F5FDEBDF-3691-43EA-94E9-A6FCE7D0EFC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fld id="{293D3F93-5D24-4BC7-862C-8CDA0586A377}" type="slidenum">
              <a:rPr lang="en-US" altLang="en-US"/>
              <a:pPr eaLnBrk="1" hangingPunct="1"/>
              <a:t>14</a:t>
            </a:fld>
            <a:endParaRPr lang="en-US" altLang="en-US"/>
          </a:p>
        </p:txBody>
      </p:sp>
      <p:sp>
        <p:nvSpPr>
          <p:cNvPr id="16387" name="Rectangle 2">
            <a:extLst>
              <a:ext uri="{FF2B5EF4-FFF2-40B4-BE49-F238E27FC236}">
                <a16:creationId xmlns:a16="http://schemas.microsoft.com/office/drawing/2014/main" id="{E9252B61-72CE-4A80-8669-054C5DF0E54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533400" y="152400"/>
            <a:ext cx="8153400" cy="990600"/>
          </a:xfrm>
        </p:spPr>
        <p:txBody>
          <a:bodyPr/>
          <a:lstStyle/>
          <a:p>
            <a:pPr eaLnBrk="1" hangingPunct="1"/>
            <a:r>
              <a:rPr lang="en-US" altLang="en-US"/>
              <a:t>Computing Information-Gain for Continuous-Valued Attributes</a:t>
            </a:r>
            <a:endParaRPr lang="en-US" altLang="en-US" i="1">
              <a:solidFill>
                <a:srgbClr val="CC0000"/>
              </a:solidFill>
            </a:endParaRPr>
          </a:p>
        </p:txBody>
      </p:sp>
      <p:sp>
        <p:nvSpPr>
          <p:cNvPr id="16388" name="Rectangle 3">
            <a:extLst>
              <a:ext uri="{FF2B5EF4-FFF2-40B4-BE49-F238E27FC236}">
                <a16:creationId xmlns:a16="http://schemas.microsoft.com/office/drawing/2014/main" id="{2775DFE5-5D01-407D-8EA3-BC378578626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04800" y="1295400"/>
            <a:ext cx="8610600" cy="5273675"/>
          </a:xfrm>
        </p:spPr>
        <p:txBody>
          <a:bodyPr/>
          <a:lstStyle/>
          <a:p>
            <a:pPr eaLnBrk="1" hangingPunct="1">
              <a:lnSpc>
                <a:spcPct val="115000"/>
              </a:lnSpc>
              <a:spcBef>
                <a:spcPct val="25000"/>
              </a:spcBef>
            </a:pPr>
            <a:r>
              <a:rPr lang="en-US" altLang="en-US" sz="2400"/>
              <a:t>Let attribute A be a continuous-valued attribute</a:t>
            </a:r>
          </a:p>
          <a:p>
            <a:pPr eaLnBrk="1" hangingPunct="1">
              <a:lnSpc>
                <a:spcPct val="115000"/>
              </a:lnSpc>
              <a:spcBef>
                <a:spcPct val="25000"/>
              </a:spcBef>
            </a:pPr>
            <a:r>
              <a:rPr lang="en-US" altLang="en-US" sz="2400"/>
              <a:t>Must determine the </a:t>
            </a:r>
            <a:r>
              <a:rPr lang="en-US" altLang="en-US" sz="2400" i="1">
                <a:solidFill>
                  <a:schemeClr val="hlink"/>
                </a:solidFill>
              </a:rPr>
              <a:t>best split point</a:t>
            </a:r>
            <a:r>
              <a:rPr lang="en-US" altLang="en-US" sz="2400"/>
              <a:t> for A</a:t>
            </a:r>
          </a:p>
          <a:p>
            <a:pPr lvl="1" eaLnBrk="1" hangingPunct="1">
              <a:lnSpc>
                <a:spcPct val="115000"/>
              </a:lnSpc>
              <a:spcBef>
                <a:spcPct val="25000"/>
              </a:spcBef>
            </a:pPr>
            <a:r>
              <a:rPr lang="en-US" altLang="en-US" sz="2400"/>
              <a:t>Sort the value A in increasing order</a:t>
            </a:r>
          </a:p>
          <a:p>
            <a:pPr lvl="1" eaLnBrk="1" hangingPunct="1">
              <a:lnSpc>
                <a:spcPct val="115000"/>
              </a:lnSpc>
              <a:spcBef>
                <a:spcPct val="25000"/>
              </a:spcBef>
            </a:pPr>
            <a:r>
              <a:rPr lang="en-US" altLang="en-US" sz="2400"/>
              <a:t>Typically, the midpoint between each pair of adjacent values is considered as a possible </a:t>
            </a:r>
            <a:r>
              <a:rPr lang="en-US" altLang="en-US" sz="2400" i="1"/>
              <a:t>split point</a:t>
            </a:r>
          </a:p>
          <a:p>
            <a:pPr lvl="2" eaLnBrk="1" hangingPunct="1">
              <a:lnSpc>
                <a:spcPct val="115000"/>
              </a:lnSpc>
              <a:spcBef>
                <a:spcPct val="25000"/>
              </a:spcBef>
            </a:pPr>
            <a:r>
              <a:rPr lang="en-US" altLang="en-US" sz="2000"/>
              <a:t>(a</a:t>
            </a:r>
            <a:r>
              <a:rPr lang="en-US" altLang="en-US" sz="2000" baseline="-25000"/>
              <a:t>i</a:t>
            </a:r>
            <a:r>
              <a:rPr lang="en-US" altLang="en-US" sz="2000"/>
              <a:t>+a</a:t>
            </a:r>
            <a:r>
              <a:rPr lang="en-US" altLang="en-US" sz="2000" baseline="-25000"/>
              <a:t>i+1</a:t>
            </a:r>
            <a:r>
              <a:rPr lang="en-US" altLang="en-US" sz="2000"/>
              <a:t>)/2 is the midpoint between the values of a</a:t>
            </a:r>
            <a:r>
              <a:rPr lang="en-US" altLang="en-US" sz="2000" baseline="-25000"/>
              <a:t>i</a:t>
            </a:r>
            <a:r>
              <a:rPr lang="en-US" altLang="en-US" sz="2000"/>
              <a:t> and a</a:t>
            </a:r>
            <a:r>
              <a:rPr lang="en-US" altLang="en-US" sz="2000" baseline="-25000"/>
              <a:t>i+1</a:t>
            </a:r>
          </a:p>
          <a:p>
            <a:pPr lvl="1" eaLnBrk="1" hangingPunct="1">
              <a:lnSpc>
                <a:spcPct val="115000"/>
              </a:lnSpc>
              <a:spcBef>
                <a:spcPct val="25000"/>
              </a:spcBef>
            </a:pPr>
            <a:r>
              <a:rPr lang="en-US" altLang="en-US" sz="2400"/>
              <a:t>The point with the </a:t>
            </a:r>
            <a:r>
              <a:rPr lang="en-US" altLang="en-US" sz="2400" i="1"/>
              <a:t>minimum expected information requirement</a:t>
            </a:r>
            <a:r>
              <a:rPr lang="en-US" altLang="en-US" sz="2400"/>
              <a:t> for A is selected as the split-point for A</a:t>
            </a:r>
          </a:p>
          <a:p>
            <a:pPr eaLnBrk="1" hangingPunct="1">
              <a:lnSpc>
                <a:spcPct val="115000"/>
              </a:lnSpc>
            </a:pPr>
            <a:r>
              <a:rPr lang="en-US" altLang="en-US" sz="2400"/>
              <a:t>Split:</a:t>
            </a:r>
          </a:p>
          <a:p>
            <a:pPr lvl="1" eaLnBrk="1" hangingPunct="1">
              <a:lnSpc>
                <a:spcPct val="115000"/>
              </a:lnSpc>
            </a:pPr>
            <a:r>
              <a:rPr lang="en-US" altLang="en-US" sz="2400"/>
              <a:t>D1 is the set of tuples in D satisfying A ≤ split-point, and D2 is the set of tuples in D satisfying A &gt; split-point</a:t>
            </a:r>
          </a:p>
        </p:txBody>
      </p:sp>
    </p:spTree>
  </p:cSld>
  <p:clrMapOvr>
    <a:masterClrMapping/>
  </p:clrMapOvr>
  <p:transition>
    <p:zoom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Slide Number Placeholder 7">
            <a:extLst>
              <a:ext uri="{FF2B5EF4-FFF2-40B4-BE49-F238E27FC236}">
                <a16:creationId xmlns:a16="http://schemas.microsoft.com/office/drawing/2014/main" id="{BF0D003C-2468-47D4-AF3C-E3DE81E309B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fld id="{FDDCF26D-214C-48C9-B9F2-6280944E854D}" type="slidenum">
              <a:rPr lang="en-US" altLang="en-US"/>
              <a:pPr eaLnBrk="1" hangingPunct="1"/>
              <a:t>15</a:t>
            </a:fld>
            <a:endParaRPr lang="en-US" altLang="en-US"/>
          </a:p>
        </p:txBody>
      </p:sp>
      <p:sp>
        <p:nvSpPr>
          <p:cNvPr id="17411" name="Rectangle 2050">
            <a:extLst>
              <a:ext uri="{FF2B5EF4-FFF2-40B4-BE49-F238E27FC236}">
                <a16:creationId xmlns:a16="http://schemas.microsoft.com/office/drawing/2014/main" id="{14037BB3-8FCA-4440-BCD2-B08C2F7727B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04800" y="381000"/>
            <a:ext cx="8534400" cy="609600"/>
          </a:xfrm>
        </p:spPr>
        <p:txBody>
          <a:bodyPr/>
          <a:lstStyle/>
          <a:p>
            <a:pPr eaLnBrk="1" hangingPunct="1"/>
            <a:r>
              <a:rPr lang="en-US" altLang="en-US"/>
              <a:t>Gain Ratio for Attribute Selection (C4.5)</a:t>
            </a:r>
            <a:endParaRPr lang="en-US" altLang="en-US" i="1">
              <a:solidFill>
                <a:srgbClr val="CC0000"/>
              </a:solidFill>
            </a:endParaRPr>
          </a:p>
        </p:txBody>
      </p:sp>
      <p:sp>
        <p:nvSpPr>
          <p:cNvPr id="17412" name="Rectangle 2051">
            <a:extLst>
              <a:ext uri="{FF2B5EF4-FFF2-40B4-BE49-F238E27FC236}">
                <a16:creationId xmlns:a16="http://schemas.microsoft.com/office/drawing/2014/main" id="{9FA6BBF8-4C6E-443C-9285-49BF9BF63759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304800" y="1371600"/>
            <a:ext cx="8458200" cy="5105400"/>
          </a:xfrm>
        </p:spPr>
        <p:txBody>
          <a:bodyPr/>
          <a:lstStyle/>
          <a:p>
            <a:pPr eaLnBrk="1" hangingPunct="1"/>
            <a:r>
              <a:rPr lang="en-US" altLang="en-US" sz="2400"/>
              <a:t>Information gain measure is biased towards attributes with a large number of values</a:t>
            </a:r>
          </a:p>
          <a:p>
            <a:pPr eaLnBrk="1" hangingPunct="1"/>
            <a:r>
              <a:rPr lang="en-US" altLang="en-US" sz="2400"/>
              <a:t>C4.5 (a successor of ID3) uses gain ratio to overcome the problem (normalization to information gain)</a:t>
            </a:r>
          </a:p>
          <a:p>
            <a:pPr eaLnBrk="1" hangingPunct="1"/>
            <a:endParaRPr lang="en-US" altLang="en-US" sz="2400"/>
          </a:p>
          <a:p>
            <a:pPr eaLnBrk="1" hangingPunct="1"/>
            <a:endParaRPr lang="en-US" altLang="en-US" sz="2400"/>
          </a:p>
          <a:p>
            <a:pPr lvl="1" eaLnBrk="1" hangingPunct="1"/>
            <a:r>
              <a:rPr lang="en-US" altLang="en-US" sz="2400"/>
              <a:t>GainRatio(A) = Gain(A)/SplitInfo(A)</a:t>
            </a:r>
          </a:p>
          <a:p>
            <a:pPr eaLnBrk="1" hangingPunct="1"/>
            <a:r>
              <a:rPr lang="en-US" altLang="en-US" sz="2400"/>
              <a:t>Ex.</a:t>
            </a:r>
          </a:p>
          <a:p>
            <a:pPr lvl="1" eaLnBrk="1" hangingPunct="1"/>
            <a:endParaRPr lang="en-US" altLang="en-US" sz="2400"/>
          </a:p>
          <a:p>
            <a:pPr lvl="1" eaLnBrk="1" hangingPunct="1"/>
            <a:r>
              <a:rPr lang="en-US" altLang="en-US" sz="2400"/>
              <a:t>gain_ratio(income) = 0.029/1.557 = 0.019</a:t>
            </a:r>
          </a:p>
          <a:p>
            <a:pPr eaLnBrk="1" hangingPunct="1"/>
            <a:r>
              <a:rPr lang="en-US" altLang="en-US" sz="2400"/>
              <a:t>The attribute with the maximum gain ratio is selected as the splitting attribute</a:t>
            </a:r>
          </a:p>
        </p:txBody>
      </p:sp>
      <p:graphicFrame>
        <p:nvGraphicFramePr>
          <p:cNvPr id="17413" name="Object 2048">
            <a:extLst>
              <a:ext uri="{FF2B5EF4-FFF2-40B4-BE49-F238E27FC236}">
                <a16:creationId xmlns:a16="http://schemas.microsoft.com/office/drawing/2014/main" id="{7AE71A52-8C79-431D-9090-F5A666F4C071}"/>
              </a:ext>
            </a:extLst>
          </p:cNvPr>
          <p:cNvGraphicFramePr>
            <a:graphicFrameLocks noChangeAspect="1"/>
          </p:cNvGraphicFramePr>
          <p:nvPr>
            <p:ph sz="quarter" idx="2"/>
          </p:nvPr>
        </p:nvGraphicFramePr>
        <p:xfrm>
          <a:off x="1981200" y="2971800"/>
          <a:ext cx="4343400" cy="831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415" name="Equation" r:id="rId4" imgW="2387600" imgH="457200" progId="Equation.3">
                  <p:embed/>
                </p:oleObj>
              </mc:Choice>
              <mc:Fallback>
                <p:oleObj name="Equation" r:id="rId4" imgW="2387600" imgH="457200" progId="Equation.3">
                  <p:embed/>
                  <p:pic>
                    <p:nvPicPr>
                      <p:cNvPr id="0" name="Object 204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81200" y="2971800"/>
                        <a:ext cx="4343400" cy="8318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7414" name="Picture 10" descr="8splitinfo">
            <a:extLst>
              <a:ext uri="{FF2B5EF4-FFF2-40B4-BE49-F238E27FC236}">
                <a16:creationId xmlns:a16="http://schemas.microsoft.com/office/drawing/2014/main" id="{9BDC131A-A3B1-4928-99D4-DA31A1160F8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3000" y="4495800"/>
            <a:ext cx="7924800" cy="574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>
    <p:zoom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Slide Number Placeholder 6">
            <a:extLst>
              <a:ext uri="{FF2B5EF4-FFF2-40B4-BE49-F238E27FC236}">
                <a16:creationId xmlns:a16="http://schemas.microsoft.com/office/drawing/2014/main" id="{08981183-6DF4-464A-9ADF-E6D76D2464D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fld id="{767BAFA3-114D-4EEC-902A-005B72F5E7CD}" type="slidenum">
              <a:rPr lang="en-US" altLang="en-US"/>
              <a:pPr eaLnBrk="1" hangingPunct="1"/>
              <a:t>16</a:t>
            </a:fld>
            <a:endParaRPr lang="en-US" altLang="en-US"/>
          </a:p>
        </p:txBody>
      </p:sp>
      <p:sp>
        <p:nvSpPr>
          <p:cNvPr id="18435" name="Rectangle 1026">
            <a:extLst>
              <a:ext uri="{FF2B5EF4-FFF2-40B4-BE49-F238E27FC236}">
                <a16:creationId xmlns:a16="http://schemas.microsoft.com/office/drawing/2014/main" id="{89943ED2-2B93-4FCB-B32E-E50F471A2E2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 lIns="92075" tIns="46038" rIns="92075" bIns="46038"/>
          <a:lstStyle/>
          <a:p>
            <a:pPr eaLnBrk="1" hangingPunct="1"/>
            <a:r>
              <a:rPr lang="en-US" altLang="en-US"/>
              <a:t>Gini Index (CART, IBM IntelligentMiner)</a:t>
            </a:r>
          </a:p>
        </p:txBody>
      </p:sp>
      <p:sp>
        <p:nvSpPr>
          <p:cNvPr id="18436" name="Rectangle 1027">
            <a:extLst>
              <a:ext uri="{FF2B5EF4-FFF2-40B4-BE49-F238E27FC236}">
                <a16:creationId xmlns:a16="http://schemas.microsoft.com/office/drawing/2014/main" id="{3A979524-019B-4429-A97E-4B211F9DBA2A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304800" y="1371600"/>
            <a:ext cx="8534400" cy="5105400"/>
          </a:xfrm>
          <a:noFill/>
        </p:spPr>
        <p:txBody>
          <a:bodyPr lIns="92075" tIns="46038" rIns="92075" bIns="46038"/>
          <a:lstStyle/>
          <a:p>
            <a:pPr eaLnBrk="1" hangingPunct="1">
              <a:lnSpc>
                <a:spcPct val="110000"/>
              </a:lnSpc>
              <a:spcBef>
                <a:spcPct val="0"/>
              </a:spcBef>
            </a:pPr>
            <a:r>
              <a:rPr lang="en-US" altLang="en-US" sz="2400"/>
              <a:t>If a data set </a:t>
            </a:r>
            <a:r>
              <a:rPr lang="en-US" altLang="en-US" sz="2400" i="1"/>
              <a:t>D </a:t>
            </a:r>
            <a:r>
              <a:rPr lang="en-US" altLang="en-US" sz="2400"/>
              <a:t>contains examples from </a:t>
            </a:r>
            <a:r>
              <a:rPr lang="en-US" altLang="en-US" sz="2400" i="1"/>
              <a:t>n</a:t>
            </a:r>
            <a:r>
              <a:rPr lang="en-US" altLang="en-US" sz="2400"/>
              <a:t> classes, gini index, </a:t>
            </a:r>
            <a:r>
              <a:rPr lang="en-US" altLang="en-US" sz="2400" i="1"/>
              <a:t>gini</a:t>
            </a:r>
            <a:r>
              <a:rPr lang="en-US" altLang="en-US" sz="2400"/>
              <a:t>(</a:t>
            </a:r>
            <a:r>
              <a:rPr lang="en-US" altLang="en-US" sz="2400" i="1"/>
              <a:t>D</a:t>
            </a:r>
            <a:r>
              <a:rPr lang="en-US" altLang="en-US" sz="2400"/>
              <a:t>) is defined as</a:t>
            </a:r>
          </a:p>
          <a:p>
            <a:pPr eaLnBrk="1" hangingPunct="1">
              <a:lnSpc>
                <a:spcPct val="110000"/>
              </a:lnSpc>
              <a:spcBef>
                <a:spcPct val="0"/>
              </a:spcBef>
            </a:pPr>
            <a:endParaRPr lang="en-US" altLang="en-US" sz="2400"/>
          </a:p>
          <a:p>
            <a:pPr eaLnBrk="1" hangingPunct="1">
              <a:lnSpc>
                <a:spcPct val="11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en-US" sz="2400"/>
              <a:t>    		where </a:t>
            </a:r>
            <a:r>
              <a:rPr lang="en-US" altLang="en-US" sz="2400" i="1"/>
              <a:t>p</a:t>
            </a:r>
            <a:r>
              <a:rPr lang="en-US" altLang="en-US" sz="2400" i="1" baseline="-25000"/>
              <a:t>j</a:t>
            </a:r>
            <a:r>
              <a:rPr lang="en-US" altLang="en-US" sz="2400"/>
              <a:t> is the relative frequency of class </a:t>
            </a:r>
            <a:r>
              <a:rPr lang="en-US" altLang="en-US" sz="2400" i="1"/>
              <a:t>j</a:t>
            </a:r>
            <a:r>
              <a:rPr lang="en-US" altLang="en-US" sz="2400"/>
              <a:t> in </a:t>
            </a:r>
            <a:r>
              <a:rPr lang="en-US" altLang="en-US" sz="2400" i="1"/>
              <a:t>D</a:t>
            </a:r>
          </a:p>
          <a:p>
            <a:pPr eaLnBrk="1" hangingPunct="1">
              <a:lnSpc>
                <a:spcPct val="110000"/>
              </a:lnSpc>
              <a:spcBef>
                <a:spcPct val="0"/>
              </a:spcBef>
            </a:pPr>
            <a:r>
              <a:rPr lang="en-US" altLang="en-US" sz="2400"/>
              <a:t>If a data set </a:t>
            </a:r>
            <a:r>
              <a:rPr lang="en-US" altLang="en-US" sz="2400" i="1"/>
              <a:t>D</a:t>
            </a:r>
            <a:r>
              <a:rPr lang="en-US" altLang="en-US" sz="2400"/>
              <a:t>  is split on A into two subsets </a:t>
            </a:r>
            <a:r>
              <a:rPr lang="en-US" altLang="en-US" sz="2400" i="1"/>
              <a:t>D</a:t>
            </a:r>
            <a:r>
              <a:rPr lang="en-US" altLang="en-US" sz="2400" i="1" baseline="-25000"/>
              <a:t>1</a:t>
            </a:r>
            <a:r>
              <a:rPr lang="en-US" altLang="en-US" sz="2400"/>
              <a:t> and </a:t>
            </a:r>
            <a:r>
              <a:rPr lang="en-US" altLang="en-US" sz="2400" i="1"/>
              <a:t>D</a:t>
            </a:r>
            <a:r>
              <a:rPr lang="en-US" altLang="en-US" sz="2400" i="1" baseline="-25000"/>
              <a:t>2</a:t>
            </a:r>
            <a:r>
              <a:rPr lang="en-US" altLang="en-US" sz="2400"/>
              <a:t>, the </a:t>
            </a:r>
            <a:r>
              <a:rPr lang="en-US" altLang="en-US" sz="2400" i="1"/>
              <a:t>gini</a:t>
            </a:r>
            <a:r>
              <a:rPr lang="en-US" altLang="en-US" sz="2400"/>
              <a:t> index </a:t>
            </a:r>
            <a:r>
              <a:rPr lang="en-US" altLang="en-US" sz="2400" i="1"/>
              <a:t>gini</a:t>
            </a:r>
            <a:r>
              <a:rPr lang="en-US" altLang="en-US" sz="2400"/>
              <a:t>(</a:t>
            </a:r>
            <a:r>
              <a:rPr lang="en-US" altLang="en-US" sz="2400" i="1"/>
              <a:t>D</a:t>
            </a:r>
            <a:r>
              <a:rPr lang="en-US" altLang="en-US" sz="2400"/>
              <a:t>) is defined as</a:t>
            </a:r>
          </a:p>
          <a:p>
            <a:pPr eaLnBrk="1" hangingPunct="1">
              <a:lnSpc>
                <a:spcPct val="110000"/>
              </a:lnSpc>
              <a:spcBef>
                <a:spcPct val="0"/>
              </a:spcBef>
            </a:pPr>
            <a:endParaRPr lang="en-US" altLang="en-US" sz="2400"/>
          </a:p>
          <a:p>
            <a:pPr eaLnBrk="1" hangingPunct="1">
              <a:lnSpc>
                <a:spcPct val="110000"/>
              </a:lnSpc>
              <a:spcBef>
                <a:spcPct val="0"/>
              </a:spcBef>
            </a:pPr>
            <a:r>
              <a:rPr lang="en-US" altLang="en-US" sz="2400"/>
              <a:t>Reduction in Impurity:</a:t>
            </a:r>
          </a:p>
          <a:p>
            <a:pPr eaLnBrk="1" hangingPunct="1">
              <a:lnSpc>
                <a:spcPct val="110000"/>
              </a:lnSpc>
              <a:spcBef>
                <a:spcPct val="0"/>
              </a:spcBef>
            </a:pPr>
            <a:endParaRPr lang="en-US" altLang="en-US" sz="2400"/>
          </a:p>
          <a:p>
            <a:pPr eaLnBrk="1" hangingPunct="1">
              <a:lnSpc>
                <a:spcPct val="110000"/>
              </a:lnSpc>
              <a:spcBef>
                <a:spcPct val="0"/>
              </a:spcBef>
            </a:pPr>
            <a:r>
              <a:rPr lang="en-US" altLang="en-US" sz="2400"/>
              <a:t>The attribute provides the smallest </a:t>
            </a:r>
            <a:r>
              <a:rPr lang="en-US" altLang="en-US" sz="2400" i="1"/>
              <a:t>gini</a:t>
            </a:r>
            <a:r>
              <a:rPr lang="en-US" altLang="en-US" sz="2400" i="1" baseline="-25000"/>
              <a:t>split</a:t>
            </a:r>
            <a:r>
              <a:rPr lang="en-US" altLang="en-US" sz="2400"/>
              <a:t>(</a:t>
            </a:r>
            <a:r>
              <a:rPr lang="en-US" altLang="en-US" sz="2400" i="1"/>
              <a:t>D</a:t>
            </a:r>
            <a:r>
              <a:rPr lang="en-US" altLang="en-US" sz="2400"/>
              <a:t>) (or the largest reduction in impurity) is chosen to split the node (</a:t>
            </a:r>
            <a:r>
              <a:rPr lang="en-US" altLang="en-US" sz="2400" i="1">
                <a:solidFill>
                  <a:srgbClr val="CC0000"/>
                </a:solidFill>
              </a:rPr>
              <a:t>need to enumerate all the possible splitting points for each attribute</a:t>
            </a:r>
            <a:r>
              <a:rPr lang="en-US" altLang="en-US" sz="2400"/>
              <a:t>)</a:t>
            </a:r>
          </a:p>
        </p:txBody>
      </p:sp>
      <p:graphicFrame>
        <p:nvGraphicFramePr>
          <p:cNvPr id="18437" name="Object 1024">
            <a:extLst>
              <a:ext uri="{FF2B5EF4-FFF2-40B4-BE49-F238E27FC236}">
                <a16:creationId xmlns:a16="http://schemas.microsoft.com/office/drawing/2014/main" id="{DEFDB4A1-D51D-4BB7-8D05-C5724112B8E3}"/>
              </a:ext>
            </a:extLst>
          </p:cNvPr>
          <p:cNvGraphicFramePr>
            <a:graphicFrameLocks/>
          </p:cNvGraphicFramePr>
          <p:nvPr/>
        </p:nvGraphicFramePr>
        <p:xfrm>
          <a:off x="3886200" y="1828800"/>
          <a:ext cx="2895600" cy="838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440" name="Equation" r:id="rId4" imgW="1777229" imgH="761669" progId="Equation.3">
                  <p:embed/>
                </p:oleObj>
              </mc:Choice>
              <mc:Fallback>
                <p:oleObj name="Equation" r:id="rId4" imgW="1777229" imgH="761669" progId="Equation.3">
                  <p:embed/>
                  <p:pic>
                    <p:nvPicPr>
                      <p:cNvPr id="0" name="Object 1024"/>
                      <p:cNvPicPr>
                        <a:picLocks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86200" y="1828800"/>
                        <a:ext cx="2895600" cy="838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438" name="Object 1025">
            <a:extLst>
              <a:ext uri="{FF2B5EF4-FFF2-40B4-BE49-F238E27FC236}">
                <a16:creationId xmlns:a16="http://schemas.microsoft.com/office/drawing/2014/main" id="{34754ECA-9DD2-4AE7-9C34-15EC6A04819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124200" y="3581400"/>
          <a:ext cx="5703888" cy="854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441" name="Equation" r:id="rId6" imgW="3441700" imgH="596900" progId="Equation.3">
                  <p:embed/>
                </p:oleObj>
              </mc:Choice>
              <mc:Fallback>
                <p:oleObj name="Equation" r:id="rId6" imgW="3441700" imgH="596900" progId="Equation.3">
                  <p:embed/>
                  <p:pic>
                    <p:nvPicPr>
                      <p:cNvPr id="0" name="Object 102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24200" y="3581400"/>
                        <a:ext cx="5703888" cy="8540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CC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439" name="Object 1026">
            <a:extLst>
              <a:ext uri="{FF2B5EF4-FFF2-40B4-BE49-F238E27FC236}">
                <a16:creationId xmlns:a16="http://schemas.microsoft.com/office/drawing/2014/main" id="{D976E8E9-00A4-45D7-AC44-05A985BD2E09}"/>
              </a:ext>
            </a:extLst>
          </p:cNvPr>
          <p:cNvGraphicFramePr>
            <a:graphicFrameLocks noChangeAspect="1"/>
          </p:cNvGraphicFramePr>
          <p:nvPr>
            <p:ph sz="half" idx="2"/>
          </p:nvPr>
        </p:nvGraphicFramePr>
        <p:xfrm>
          <a:off x="3657600" y="4506913"/>
          <a:ext cx="4618038" cy="5222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442" name="Equation" r:id="rId8" imgW="2692400" imgH="304800" progId="Equation.3">
                  <p:embed/>
                </p:oleObj>
              </mc:Choice>
              <mc:Fallback>
                <p:oleObj name="Equation" r:id="rId8" imgW="2692400" imgH="304800" progId="Equation.3">
                  <p:embed/>
                  <p:pic>
                    <p:nvPicPr>
                      <p:cNvPr id="0" name="Object 102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57600" y="4506913"/>
                        <a:ext cx="4618038" cy="5222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CC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>
    <p:zoom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Slide Number Placeholder 7">
            <a:extLst>
              <a:ext uri="{FF2B5EF4-FFF2-40B4-BE49-F238E27FC236}">
                <a16:creationId xmlns:a16="http://schemas.microsoft.com/office/drawing/2014/main" id="{271C3C2C-D8C5-467E-8CA7-19A84BB87F3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fld id="{A40F8E1C-02CF-462D-876F-7725E214DA1B}" type="slidenum">
              <a:rPr lang="en-US" altLang="en-US"/>
              <a:pPr eaLnBrk="1" hangingPunct="1"/>
              <a:t>17</a:t>
            </a:fld>
            <a:endParaRPr lang="en-US" altLang="en-US"/>
          </a:p>
        </p:txBody>
      </p:sp>
      <p:sp>
        <p:nvSpPr>
          <p:cNvPr id="19459" name="Rectangle 1026">
            <a:extLst>
              <a:ext uri="{FF2B5EF4-FFF2-40B4-BE49-F238E27FC236}">
                <a16:creationId xmlns:a16="http://schemas.microsoft.com/office/drawing/2014/main" id="{FD92ACB0-8557-4778-A720-DA0FE9285A1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Computation of Gini Index </a:t>
            </a:r>
          </a:p>
        </p:txBody>
      </p:sp>
      <p:sp>
        <p:nvSpPr>
          <p:cNvPr id="19460" name="Rectangle 1027">
            <a:extLst>
              <a:ext uri="{FF2B5EF4-FFF2-40B4-BE49-F238E27FC236}">
                <a16:creationId xmlns:a16="http://schemas.microsoft.com/office/drawing/2014/main" id="{696FB80B-A831-4A6E-AE7A-1F7F1FBD546B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304800" y="1295400"/>
            <a:ext cx="8686800" cy="5486400"/>
          </a:xfrm>
        </p:spPr>
        <p:txBody>
          <a:bodyPr/>
          <a:lstStyle/>
          <a:p>
            <a:pPr eaLnBrk="1" hangingPunct="1"/>
            <a:r>
              <a:rPr lang="en-US" altLang="en-US" sz="2400"/>
              <a:t>Ex.  D has 9 tuples in buys_computer = “yes” and 5 in “no”</a:t>
            </a:r>
          </a:p>
          <a:p>
            <a:pPr eaLnBrk="1" hangingPunct="1"/>
            <a:endParaRPr lang="en-US" altLang="en-US" sz="2400"/>
          </a:p>
          <a:p>
            <a:pPr eaLnBrk="1" hangingPunct="1"/>
            <a:r>
              <a:rPr lang="en-US" altLang="en-US" sz="2400"/>
              <a:t>Suppose the attribute income partitions D into 10 in D</a:t>
            </a:r>
            <a:r>
              <a:rPr lang="en-US" altLang="en-US" sz="2400" baseline="-25000"/>
              <a:t>1</a:t>
            </a:r>
            <a:r>
              <a:rPr lang="en-US" altLang="en-US" sz="2400"/>
              <a:t>: {low, medium} and 4 in D</a:t>
            </a:r>
            <a:r>
              <a:rPr lang="en-US" altLang="en-US" sz="2400" baseline="-25000"/>
              <a:t>2</a:t>
            </a:r>
          </a:p>
          <a:p>
            <a:pPr eaLnBrk="1" hangingPunct="1"/>
            <a:endParaRPr lang="en-US" altLang="en-US" sz="2400"/>
          </a:p>
          <a:p>
            <a:pPr eaLnBrk="1" hangingPunct="1"/>
            <a:endParaRPr lang="en-US" altLang="en-US" sz="2400"/>
          </a:p>
          <a:p>
            <a:pPr eaLnBrk="1" hangingPunct="1"/>
            <a:endParaRPr lang="en-US" altLang="en-US" sz="2400"/>
          </a:p>
          <a:p>
            <a:pPr lvl="1" eaLnBrk="1" hangingPunct="1">
              <a:buFont typeface="Wingdings" panose="05000000000000000000" pitchFamily="2" charset="2"/>
              <a:buNone/>
            </a:pPr>
            <a:r>
              <a:rPr lang="en-US" altLang="en-US" sz="2400"/>
              <a:t> Gini</a:t>
            </a:r>
            <a:r>
              <a:rPr lang="en-US" altLang="en-US" sz="2400" baseline="-25000"/>
              <a:t>{low,high}</a:t>
            </a:r>
            <a:r>
              <a:rPr lang="en-US" altLang="en-US" sz="2400"/>
              <a:t> is 0.458; Gini</a:t>
            </a:r>
            <a:r>
              <a:rPr lang="en-US" altLang="en-US" sz="2400" baseline="-25000"/>
              <a:t>{medium,high}</a:t>
            </a:r>
            <a:r>
              <a:rPr lang="en-US" altLang="en-US" sz="2400"/>
              <a:t> is 0.450.  Thus, split on the {low,medium} (and {high}) since it has the lowest Gini index</a:t>
            </a:r>
          </a:p>
          <a:p>
            <a:pPr eaLnBrk="1" hangingPunct="1"/>
            <a:r>
              <a:rPr lang="en-US" altLang="en-US" sz="2400"/>
              <a:t>All attributes are assumed continuous-valued</a:t>
            </a:r>
          </a:p>
          <a:p>
            <a:pPr eaLnBrk="1" hangingPunct="1"/>
            <a:r>
              <a:rPr lang="en-US" altLang="en-US" sz="2400"/>
              <a:t>May need other tools, e.g., clustering, to get the possible split values</a:t>
            </a:r>
          </a:p>
          <a:p>
            <a:pPr eaLnBrk="1" hangingPunct="1"/>
            <a:r>
              <a:rPr lang="en-US" altLang="en-US" sz="2400"/>
              <a:t>Can be modified for categorical attributes</a:t>
            </a:r>
          </a:p>
        </p:txBody>
      </p:sp>
      <p:graphicFrame>
        <p:nvGraphicFramePr>
          <p:cNvPr id="19461" name="Object 1028">
            <a:extLst>
              <a:ext uri="{FF2B5EF4-FFF2-40B4-BE49-F238E27FC236}">
                <a16:creationId xmlns:a16="http://schemas.microsoft.com/office/drawing/2014/main" id="{1598FB52-D4E5-4415-B904-2529F57E7E19}"/>
              </a:ext>
            </a:extLst>
          </p:cNvPr>
          <p:cNvGraphicFramePr>
            <a:graphicFrameLocks noChangeAspect="1"/>
          </p:cNvGraphicFramePr>
          <p:nvPr>
            <p:ph sz="quarter" idx="2"/>
          </p:nvPr>
        </p:nvGraphicFramePr>
        <p:xfrm>
          <a:off x="3810000" y="1600200"/>
          <a:ext cx="3581400" cy="787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464" name="Equation" r:id="rId4" imgW="2222500" imgH="469900" progId="Equation.3">
                  <p:embed/>
                </p:oleObj>
              </mc:Choice>
              <mc:Fallback>
                <p:oleObj name="Equation" r:id="rId4" imgW="2222500" imgH="469900" progId="Equation.3">
                  <p:embed/>
                  <p:pic>
                    <p:nvPicPr>
                      <p:cNvPr id="0" name="Object 102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10000" y="1600200"/>
                        <a:ext cx="3581400" cy="787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462" name="Object 1032">
            <a:extLst>
              <a:ext uri="{FF2B5EF4-FFF2-40B4-BE49-F238E27FC236}">
                <a16:creationId xmlns:a16="http://schemas.microsoft.com/office/drawing/2014/main" id="{7C20D6D1-6459-4F08-8A05-A3896751E76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581400" y="2514600"/>
          <a:ext cx="5002213" cy="6524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465" name="Equation" r:id="rId6" imgW="3314700" imgH="431800" progId="Equation.3">
                  <p:embed/>
                </p:oleObj>
              </mc:Choice>
              <mc:Fallback>
                <p:oleObj name="Equation" r:id="rId6" imgW="3314700" imgH="431800" progId="Equation.3">
                  <p:embed/>
                  <p:pic>
                    <p:nvPicPr>
                      <p:cNvPr id="0" name="Object 103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81400" y="2514600"/>
                        <a:ext cx="5002213" cy="6524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9463" name="Picture 14" descr="8gini">
            <a:extLst>
              <a:ext uri="{FF2B5EF4-FFF2-40B4-BE49-F238E27FC236}">
                <a16:creationId xmlns:a16="http://schemas.microsoft.com/office/drawing/2014/main" id="{1D676C34-4EF5-4588-A1B0-7B59A6D0799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14800" y="3124200"/>
            <a:ext cx="4419600" cy="1117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>
    <p:zoom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Slide Number Placeholder 5">
            <a:extLst>
              <a:ext uri="{FF2B5EF4-FFF2-40B4-BE49-F238E27FC236}">
                <a16:creationId xmlns:a16="http://schemas.microsoft.com/office/drawing/2014/main" id="{81E4837F-E513-4E42-9851-7C744AAABC0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fld id="{9B9CE14A-5216-43D2-A9DA-625589FEB42F}" type="slidenum">
              <a:rPr lang="en-US" altLang="en-US"/>
              <a:pPr eaLnBrk="1" hangingPunct="1"/>
              <a:t>18</a:t>
            </a:fld>
            <a:endParaRPr lang="en-US" altLang="en-US"/>
          </a:p>
        </p:txBody>
      </p:sp>
      <p:sp>
        <p:nvSpPr>
          <p:cNvPr id="20483" name="Rectangle 2">
            <a:extLst>
              <a:ext uri="{FF2B5EF4-FFF2-40B4-BE49-F238E27FC236}">
                <a16:creationId xmlns:a16="http://schemas.microsoft.com/office/drawing/2014/main" id="{6DAFB271-C651-4EB5-9F02-DF2CFD7DDB3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304800"/>
            <a:ext cx="9144000" cy="685800"/>
          </a:xfrm>
          <a:noFill/>
        </p:spPr>
        <p:txBody>
          <a:bodyPr lIns="92075" tIns="46038" rIns="92075" bIns="46038" anchor="ctr"/>
          <a:lstStyle/>
          <a:p>
            <a:pPr eaLnBrk="1" hangingPunct="1"/>
            <a:r>
              <a:rPr lang="en-US" altLang="en-US" sz="3200"/>
              <a:t>Comparing Attribute Selection Measures</a:t>
            </a:r>
            <a:endParaRPr lang="en-US" altLang="en-US" sz="2800"/>
          </a:p>
        </p:txBody>
      </p:sp>
      <p:sp>
        <p:nvSpPr>
          <p:cNvPr id="20484" name="Rectangle 3">
            <a:extLst>
              <a:ext uri="{FF2B5EF4-FFF2-40B4-BE49-F238E27FC236}">
                <a16:creationId xmlns:a16="http://schemas.microsoft.com/office/drawing/2014/main" id="{BC46E9AD-D4E6-4ABB-903F-07D30C127CF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04800" y="1371600"/>
            <a:ext cx="8458200" cy="5257800"/>
          </a:xfrm>
          <a:noFill/>
        </p:spPr>
        <p:txBody>
          <a:bodyPr lIns="92075" tIns="46038" rIns="92075" bIns="46038"/>
          <a:lstStyle/>
          <a:p>
            <a:pPr eaLnBrk="1" hangingPunct="1">
              <a:lnSpc>
                <a:spcPct val="110000"/>
              </a:lnSpc>
            </a:pPr>
            <a:r>
              <a:rPr lang="en-US" altLang="en-US" sz="2400"/>
              <a:t>The three measures, in general, return good results but</a:t>
            </a:r>
          </a:p>
          <a:p>
            <a:pPr lvl="1" eaLnBrk="1" hangingPunct="1">
              <a:lnSpc>
                <a:spcPct val="110000"/>
              </a:lnSpc>
            </a:pPr>
            <a:r>
              <a:rPr lang="en-US" altLang="en-US" sz="2400" b="1"/>
              <a:t>Information gain</a:t>
            </a:r>
            <a:r>
              <a:rPr lang="en-US" altLang="en-US" sz="2400"/>
              <a:t>: </a:t>
            </a:r>
          </a:p>
          <a:p>
            <a:pPr lvl="2" eaLnBrk="1" hangingPunct="1">
              <a:lnSpc>
                <a:spcPct val="110000"/>
              </a:lnSpc>
            </a:pPr>
            <a:r>
              <a:rPr lang="en-US" altLang="en-US"/>
              <a:t>biased towards multivalued attributes</a:t>
            </a:r>
          </a:p>
          <a:p>
            <a:pPr lvl="1" eaLnBrk="1" hangingPunct="1">
              <a:lnSpc>
                <a:spcPct val="110000"/>
              </a:lnSpc>
            </a:pPr>
            <a:r>
              <a:rPr lang="en-US" altLang="en-US" sz="2400" b="1"/>
              <a:t>Gain ratio</a:t>
            </a:r>
            <a:r>
              <a:rPr lang="en-US" altLang="en-US" sz="2400"/>
              <a:t>: </a:t>
            </a:r>
          </a:p>
          <a:p>
            <a:pPr lvl="2" eaLnBrk="1" hangingPunct="1">
              <a:lnSpc>
                <a:spcPct val="110000"/>
              </a:lnSpc>
            </a:pPr>
            <a:r>
              <a:rPr lang="en-US" altLang="en-US"/>
              <a:t>tends to prefer unbalanced splits in which one partition is much smaller than the others</a:t>
            </a:r>
          </a:p>
          <a:p>
            <a:pPr lvl="1" eaLnBrk="1" hangingPunct="1">
              <a:lnSpc>
                <a:spcPct val="110000"/>
              </a:lnSpc>
            </a:pPr>
            <a:r>
              <a:rPr lang="en-US" altLang="en-US" sz="2400" b="1"/>
              <a:t>Gini index</a:t>
            </a:r>
            <a:r>
              <a:rPr lang="en-US" altLang="en-US" sz="2400"/>
              <a:t>: </a:t>
            </a:r>
          </a:p>
          <a:p>
            <a:pPr lvl="2" eaLnBrk="1" hangingPunct="1">
              <a:lnSpc>
                <a:spcPct val="110000"/>
              </a:lnSpc>
            </a:pPr>
            <a:r>
              <a:rPr lang="en-US" altLang="en-US"/>
              <a:t>biased to multivalued attributes</a:t>
            </a:r>
          </a:p>
          <a:p>
            <a:pPr lvl="2" eaLnBrk="1" hangingPunct="1">
              <a:lnSpc>
                <a:spcPct val="110000"/>
              </a:lnSpc>
            </a:pPr>
            <a:r>
              <a:rPr lang="en-US" altLang="en-US"/>
              <a:t>has difficulty when # of classes is large</a:t>
            </a:r>
          </a:p>
          <a:p>
            <a:pPr lvl="2" eaLnBrk="1" hangingPunct="1">
              <a:lnSpc>
                <a:spcPct val="110000"/>
              </a:lnSpc>
            </a:pPr>
            <a:r>
              <a:rPr lang="en-US" altLang="en-US"/>
              <a:t>tends to favor tests that result in equal-sized partitions and purity in both partitions</a:t>
            </a:r>
          </a:p>
        </p:txBody>
      </p:sp>
    </p:spTree>
  </p:cSld>
  <p:clrMapOvr>
    <a:masterClrMapping/>
  </p:clrMapOvr>
  <p:transition>
    <p:zoom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Slide Number Placeholder 5">
            <a:extLst>
              <a:ext uri="{FF2B5EF4-FFF2-40B4-BE49-F238E27FC236}">
                <a16:creationId xmlns:a16="http://schemas.microsoft.com/office/drawing/2014/main" id="{74F35D7C-8C4E-4DF6-B01A-5430B0A6DED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fld id="{F1C494A8-E055-4A47-8153-2E7E997A1413}" type="slidenum">
              <a:rPr lang="en-US" altLang="en-US"/>
              <a:pPr eaLnBrk="1" hangingPunct="1"/>
              <a:t>19</a:t>
            </a:fld>
            <a:endParaRPr lang="en-US" altLang="en-US"/>
          </a:p>
        </p:txBody>
      </p:sp>
      <p:sp>
        <p:nvSpPr>
          <p:cNvPr id="21507" name="Rectangle 2">
            <a:extLst>
              <a:ext uri="{FF2B5EF4-FFF2-40B4-BE49-F238E27FC236}">
                <a16:creationId xmlns:a16="http://schemas.microsoft.com/office/drawing/2014/main" id="{FAB44ABE-6281-44BF-92BF-E88E3ED7ABB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304800"/>
            <a:ext cx="9144000" cy="685800"/>
          </a:xfrm>
          <a:noFill/>
        </p:spPr>
        <p:txBody>
          <a:bodyPr lIns="92075" tIns="46038" rIns="92075" bIns="46038" anchor="ctr"/>
          <a:lstStyle/>
          <a:p>
            <a:pPr eaLnBrk="1" hangingPunct="1"/>
            <a:r>
              <a:rPr lang="en-US" altLang="en-US"/>
              <a:t>Other Attribute Selection Measures</a:t>
            </a:r>
            <a:endParaRPr lang="en-US" altLang="en-US" sz="3200"/>
          </a:p>
        </p:txBody>
      </p:sp>
      <p:sp>
        <p:nvSpPr>
          <p:cNvPr id="21508" name="Rectangle 3">
            <a:extLst>
              <a:ext uri="{FF2B5EF4-FFF2-40B4-BE49-F238E27FC236}">
                <a16:creationId xmlns:a16="http://schemas.microsoft.com/office/drawing/2014/main" id="{CD8BBBF9-5018-4917-B2A6-1478D6674A6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04800" y="1295400"/>
            <a:ext cx="8458200" cy="5257800"/>
          </a:xfrm>
          <a:noFill/>
        </p:spPr>
        <p:txBody>
          <a:bodyPr lIns="92075" tIns="46038" rIns="92075" bIns="46038"/>
          <a:lstStyle/>
          <a:p>
            <a:pPr eaLnBrk="1" hangingPunct="1">
              <a:lnSpc>
                <a:spcPct val="130000"/>
              </a:lnSpc>
            </a:pPr>
            <a:r>
              <a:rPr lang="en-US" altLang="en-US" sz="2000" u="sng"/>
              <a:t>CHAID</a:t>
            </a:r>
            <a:r>
              <a:rPr lang="en-US" altLang="en-US" sz="2000"/>
              <a:t>: a popular decision tree algorithm, measure based on </a:t>
            </a:r>
            <a:r>
              <a:rPr lang="el-GR" altLang="en-US" sz="2000"/>
              <a:t>χ</a:t>
            </a:r>
            <a:r>
              <a:rPr lang="en-US" altLang="en-US" sz="2000" baseline="30000"/>
              <a:t>2</a:t>
            </a:r>
            <a:r>
              <a:rPr lang="en-US" altLang="en-US" sz="2000"/>
              <a:t> test for independence</a:t>
            </a:r>
          </a:p>
          <a:p>
            <a:pPr eaLnBrk="1" hangingPunct="1">
              <a:lnSpc>
                <a:spcPct val="130000"/>
              </a:lnSpc>
            </a:pPr>
            <a:r>
              <a:rPr lang="en-US" altLang="en-US" sz="2000" u="sng"/>
              <a:t>C-SEP</a:t>
            </a:r>
            <a:r>
              <a:rPr lang="en-US" altLang="en-US" sz="2000"/>
              <a:t>: performs better than info. gain and gini index in certain cases</a:t>
            </a:r>
          </a:p>
          <a:p>
            <a:pPr eaLnBrk="1" hangingPunct="1">
              <a:lnSpc>
                <a:spcPct val="130000"/>
              </a:lnSpc>
            </a:pPr>
            <a:r>
              <a:rPr lang="en-US" altLang="en-US" sz="2000" u="sng"/>
              <a:t>G-statistic</a:t>
            </a:r>
            <a:r>
              <a:rPr lang="en-US" altLang="en-US" sz="2000"/>
              <a:t>: has a close approximation to </a:t>
            </a:r>
            <a:r>
              <a:rPr lang="el-GR" altLang="en-US" sz="2000"/>
              <a:t>χ</a:t>
            </a:r>
            <a:r>
              <a:rPr lang="en-US" altLang="en-US" sz="2000" baseline="30000"/>
              <a:t>2</a:t>
            </a:r>
            <a:r>
              <a:rPr lang="en-US" altLang="en-US" sz="2000"/>
              <a:t> distribution </a:t>
            </a:r>
          </a:p>
          <a:p>
            <a:pPr eaLnBrk="1" hangingPunct="1">
              <a:lnSpc>
                <a:spcPct val="130000"/>
              </a:lnSpc>
            </a:pPr>
            <a:r>
              <a:rPr lang="en-US" altLang="en-US" sz="2000" u="sng"/>
              <a:t>MDL (Minimal Description Length) principle</a:t>
            </a:r>
            <a:r>
              <a:rPr lang="en-US" altLang="en-US" sz="2000"/>
              <a:t> (i.e., the simplest solution is preferred): </a:t>
            </a:r>
          </a:p>
          <a:p>
            <a:pPr lvl="1" eaLnBrk="1" hangingPunct="1">
              <a:lnSpc>
                <a:spcPct val="130000"/>
              </a:lnSpc>
            </a:pPr>
            <a:r>
              <a:rPr lang="en-US" altLang="en-US" sz="2000"/>
              <a:t>The best tree as the one that requires the fewest # of bits to both (1) encode the tree, and (2) encode the exceptions to the tree</a:t>
            </a:r>
          </a:p>
          <a:p>
            <a:pPr eaLnBrk="1" hangingPunct="1">
              <a:lnSpc>
                <a:spcPct val="130000"/>
              </a:lnSpc>
            </a:pPr>
            <a:r>
              <a:rPr lang="en-US" altLang="en-US" sz="2000"/>
              <a:t>Multivariate splits (partition based on multiple variable combinations)</a:t>
            </a:r>
          </a:p>
          <a:p>
            <a:pPr lvl="1" eaLnBrk="1" hangingPunct="1">
              <a:lnSpc>
                <a:spcPct val="130000"/>
              </a:lnSpc>
            </a:pPr>
            <a:r>
              <a:rPr lang="en-US" altLang="en-US" sz="2000" u="sng"/>
              <a:t>CART</a:t>
            </a:r>
            <a:r>
              <a:rPr lang="en-US" altLang="en-US" sz="2000"/>
              <a:t>: finds multivariate splits based on a linear comb. of attrs.</a:t>
            </a:r>
          </a:p>
          <a:p>
            <a:pPr eaLnBrk="1" hangingPunct="1">
              <a:lnSpc>
                <a:spcPct val="130000"/>
              </a:lnSpc>
            </a:pPr>
            <a:r>
              <a:rPr lang="en-US" altLang="en-US" sz="2000"/>
              <a:t>Which attribute selection measure is the best?</a:t>
            </a:r>
          </a:p>
          <a:p>
            <a:pPr lvl="1" eaLnBrk="1" hangingPunct="1">
              <a:lnSpc>
                <a:spcPct val="130000"/>
              </a:lnSpc>
            </a:pPr>
            <a:r>
              <a:rPr lang="en-US" altLang="en-US" sz="2000"/>
              <a:t> Most give good results, none is significantly superior than others</a:t>
            </a:r>
          </a:p>
        </p:txBody>
      </p:sp>
    </p:spTree>
  </p:cSld>
  <p:clrMapOvr>
    <a:masterClrMapping/>
  </p:clrMapOvr>
  <p:transition>
    <p:zoom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Slide Number Placeholder 5">
            <a:extLst>
              <a:ext uri="{FF2B5EF4-FFF2-40B4-BE49-F238E27FC236}">
                <a16:creationId xmlns:a16="http://schemas.microsoft.com/office/drawing/2014/main" id="{1ED089E1-4B5A-4310-BCDF-AFB5728F780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fld id="{B6B8B66D-160A-45A8-91EB-D1D76DCE5433}" type="slidenum">
              <a:rPr lang="en-US" altLang="en-US"/>
              <a:pPr eaLnBrk="1" hangingPunct="1"/>
              <a:t>20</a:t>
            </a:fld>
            <a:endParaRPr lang="en-US" altLang="en-US"/>
          </a:p>
        </p:txBody>
      </p:sp>
      <p:sp>
        <p:nvSpPr>
          <p:cNvPr id="22531" name="Rectangle 2">
            <a:extLst>
              <a:ext uri="{FF2B5EF4-FFF2-40B4-BE49-F238E27FC236}">
                <a16:creationId xmlns:a16="http://schemas.microsoft.com/office/drawing/2014/main" id="{C798A5D9-AF95-4886-86B3-87DE87C17A9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81000" y="304800"/>
            <a:ext cx="8305800" cy="685800"/>
          </a:xfrm>
          <a:noFill/>
        </p:spPr>
        <p:txBody>
          <a:bodyPr lIns="92075" tIns="46038" rIns="92075" bIns="46038" anchor="ctr"/>
          <a:lstStyle/>
          <a:p>
            <a:pPr eaLnBrk="1" hangingPunct="1"/>
            <a:r>
              <a:rPr lang="en-US" altLang="en-US"/>
              <a:t>Overfitting and Tree Pruning</a:t>
            </a:r>
            <a:endParaRPr lang="en-US" altLang="en-US" sz="3200"/>
          </a:p>
        </p:txBody>
      </p:sp>
      <p:sp>
        <p:nvSpPr>
          <p:cNvPr id="22532" name="Rectangle 3">
            <a:extLst>
              <a:ext uri="{FF2B5EF4-FFF2-40B4-BE49-F238E27FC236}">
                <a16:creationId xmlns:a16="http://schemas.microsoft.com/office/drawing/2014/main" id="{4704C0D7-238C-4CCF-8201-6F54B170158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04800" y="1371600"/>
            <a:ext cx="8458200" cy="5257800"/>
          </a:xfrm>
          <a:noFill/>
        </p:spPr>
        <p:txBody>
          <a:bodyPr lIns="92075" tIns="46038" rIns="92075" bIns="46038"/>
          <a:lstStyle/>
          <a:p>
            <a:pPr eaLnBrk="1" hangingPunct="1"/>
            <a:r>
              <a:rPr lang="en-US" altLang="en-US" sz="2400" u="sng"/>
              <a:t>Overfitting</a:t>
            </a:r>
            <a:r>
              <a:rPr lang="en-US" altLang="en-US" sz="2400"/>
              <a:t>:  An induced tree may overfit the training data </a:t>
            </a:r>
          </a:p>
          <a:p>
            <a:pPr lvl="1" eaLnBrk="1" hangingPunct="1"/>
            <a:r>
              <a:rPr lang="en-US" altLang="en-US" sz="2400"/>
              <a:t>Too many branches, some may reflect anomalies due to noise or outliers</a:t>
            </a:r>
          </a:p>
          <a:p>
            <a:pPr lvl="1" eaLnBrk="1" hangingPunct="1"/>
            <a:r>
              <a:rPr lang="en-US" altLang="en-US" sz="2400"/>
              <a:t>Poor accuracy for unseen samples</a:t>
            </a:r>
          </a:p>
          <a:p>
            <a:pPr eaLnBrk="1" hangingPunct="1"/>
            <a:r>
              <a:rPr lang="en-US" altLang="en-US" sz="2400"/>
              <a:t>Two approaches to avoid overfitting </a:t>
            </a:r>
          </a:p>
          <a:p>
            <a:pPr lvl="1" eaLnBrk="1" hangingPunct="1"/>
            <a:r>
              <a:rPr lang="en-US" altLang="en-US" sz="2400" u="sng"/>
              <a:t>Prepruning</a:t>
            </a:r>
            <a:r>
              <a:rPr lang="en-US" altLang="en-US" sz="2400"/>
              <a:t>: </a:t>
            </a:r>
            <a:r>
              <a:rPr lang="en-US" altLang="en-US" sz="2400" i="1"/>
              <a:t>Halt tree construction early</a:t>
            </a:r>
            <a:r>
              <a:rPr lang="en-US" altLang="en-US" sz="2400"/>
              <a:t> </a:t>
            </a:r>
            <a:r>
              <a:rPr lang="en-US" altLang="en-US" sz="2400">
                <a:cs typeface="Tahoma" panose="020B0604030504040204" pitchFamily="34" charset="0"/>
              </a:rPr>
              <a:t>̵</a:t>
            </a:r>
            <a:r>
              <a:rPr lang="en-US" altLang="en-US" sz="2400"/>
              <a:t> do not split a node if this would result in the goodness measure falling below a threshold</a:t>
            </a:r>
          </a:p>
          <a:p>
            <a:pPr lvl="2" eaLnBrk="1" hangingPunct="1"/>
            <a:r>
              <a:rPr lang="en-US" altLang="en-US"/>
              <a:t>Difficult to choose an appropriate threshold</a:t>
            </a:r>
          </a:p>
          <a:p>
            <a:pPr lvl="1" eaLnBrk="1" hangingPunct="1"/>
            <a:r>
              <a:rPr lang="en-US" altLang="en-US" sz="2400" u="sng"/>
              <a:t>Postpruning</a:t>
            </a:r>
            <a:r>
              <a:rPr lang="en-US" altLang="en-US" sz="2400"/>
              <a:t>: </a:t>
            </a:r>
            <a:r>
              <a:rPr lang="en-US" altLang="en-US" sz="2400" i="1"/>
              <a:t>Remove branches</a:t>
            </a:r>
            <a:r>
              <a:rPr lang="en-US" altLang="en-US" sz="2400"/>
              <a:t> from a “fully grown” tree—get a sequence of progressively pruned trees</a:t>
            </a:r>
          </a:p>
          <a:p>
            <a:pPr lvl="2" eaLnBrk="1" hangingPunct="1"/>
            <a:r>
              <a:rPr lang="en-US" altLang="en-US"/>
              <a:t>Use a set of data different from the training data to decide which is the “best pruned tree”</a:t>
            </a:r>
          </a:p>
        </p:txBody>
      </p:sp>
    </p:spTree>
  </p:cSld>
  <p:clrMapOvr>
    <a:masterClrMapping/>
  </p:clrMapOvr>
  <p:transition>
    <p:zoom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Slide Number Placeholder 5">
            <a:extLst>
              <a:ext uri="{FF2B5EF4-FFF2-40B4-BE49-F238E27FC236}">
                <a16:creationId xmlns:a16="http://schemas.microsoft.com/office/drawing/2014/main" id="{48DE2076-709A-41FD-88F5-5B3F446F5A5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fld id="{1550FA66-9A35-455D-9EF8-31C8F2B61A99}" type="slidenum">
              <a:rPr lang="en-US" altLang="en-US"/>
              <a:pPr eaLnBrk="1" hangingPunct="1"/>
              <a:t>21</a:t>
            </a:fld>
            <a:endParaRPr lang="en-US" altLang="en-US"/>
          </a:p>
        </p:txBody>
      </p:sp>
      <p:sp>
        <p:nvSpPr>
          <p:cNvPr id="23555" name="Rectangle 2">
            <a:extLst>
              <a:ext uri="{FF2B5EF4-FFF2-40B4-BE49-F238E27FC236}">
                <a16:creationId xmlns:a16="http://schemas.microsoft.com/office/drawing/2014/main" id="{B2FB98FF-3C1C-488E-8940-4D9520E1607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152400"/>
            <a:ext cx="9144000" cy="1062038"/>
          </a:xfrm>
          <a:noFill/>
        </p:spPr>
        <p:txBody>
          <a:bodyPr lIns="92075" tIns="46038" rIns="92075" bIns="46038" anchor="ctr"/>
          <a:lstStyle/>
          <a:p>
            <a:pPr eaLnBrk="1" hangingPunct="1"/>
            <a:r>
              <a:rPr lang="en-US" altLang="en-US" sz="3200"/>
              <a:t>Enhancements to Basic Decision Tree Induction</a:t>
            </a:r>
          </a:p>
        </p:txBody>
      </p:sp>
      <p:sp>
        <p:nvSpPr>
          <p:cNvPr id="23556" name="AutoShape 3">
            <a:extLst>
              <a:ext uri="{FF2B5EF4-FFF2-40B4-BE49-F238E27FC236}">
                <a16:creationId xmlns:a16="http://schemas.microsoft.com/office/drawing/2014/main" id="{DE92930B-3B19-4026-B419-ADCCAC2F5E81}"/>
              </a:ext>
            </a:extLst>
          </p:cNvPr>
          <p:cNvSpPr>
            <a:spLocks noChangeArrowheads="1"/>
          </p:cNvSpPr>
          <p:nvPr>
            <p:ph type="body" idx="1"/>
          </p:nvPr>
        </p:nvSpPr>
        <p:spPr>
          <a:xfrm>
            <a:off x="228600" y="1371600"/>
            <a:ext cx="8534400" cy="5105400"/>
          </a:xfrm>
          <a:prstGeom prst="flowChartProcess">
            <a:avLst/>
          </a:prstGeom>
          <a:noFill/>
        </p:spPr>
        <p:txBody>
          <a:bodyPr lIns="92075" tIns="46038" rIns="92075" bIns="46038"/>
          <a:lstStyle/>
          <a:p>
            <a:pPr eaLnBrk="1" hangingPunct="1">
              <a:lnSpc>
                <a:spcPct val="105000"/>
              </a:lnSpc>
              <a:spcBef>
                <a:spcPct val="25000"/>
              </a:spcBef>
            </a:pPr>
            <a:r>
              <a:rPr lang="en-US" altLang="en-US" sz="2400"/>
              <a:t>Allow for </a:t>
            </a:r>
            <a:r>
              <a:rPr lang="en-US" altLang="en-US" sz="2400" b="1"/>
              <a:t>continuous-valued attributes</a:t>
            </a:r>
          </a:p>
          <a:p>
            <a:pPr lvl="1" eaLnBrk="1" hangingPunct="1">
              <a:lnSpc>
                <a:spcPct val="105000"/>
              </a:lnSpc>
              <a:spcBef>
                <a:spcPct val="25000"/>
              </a:spcBef>
            </a:pPr>
            <a:r>
              <a:rPr lang="en-US" altLang="en-US" sz="2400"/>
              <a:t>Dynamically define new discrete-valued attributes that partition the continuous attribute value into a discrete set of intervals</a:t>
            </a:r>
          </a:p>
          <a:p>
            <a:pPr eaLnBrk="1" hangingPunct="1">
              <a:lnSpc>
                <a:spcPct val="105000"/>
              </a:lnSpc>
              <a:spcBef>
                <a:spcPct val="25000"/>
              </a:spcBef>
            </a:pPr>
            <a:r>
              <a:rPr lang="en-US" altLang="en-US" sz="2400"/>
              <a:t>Handle </a:t>
            </a:r>
            <a:r>
              <a:rPr lang="en-US" altLang="en-US" sz="2400" b="1"/>
              <a:t>missing attribute values</a:t>
            </a:r>
          </a:p>
          <a:p>
            <a:pPr lvl="1" eaLnBrk="1" hangingPunct="1">
              <a:lnSpc>
                <a:spcPct val="105000"/>
              </a:lnSpc>
              <a:spcBef>
                <a:spcPct val="25000"/>
              </a:spcBef>
            </a:pPr>
            <a:r>
              <a:rPr lang="en-US" altLang="en-US" sz="2400"/>
              <a:t>Assign the most common value of the attribute</a:t>
            </a:r>
          </a:p>
          <a:p>
            <a:pPr lvl="1" eaLnBrk="1" hangingPunct="1">
              <a:lnSpc>
                <a:spcPct val="105000"/>
              </a:lnSpc>
              <a:spcBef>
                <a:spcPct val="25000"/>
              </a:spcBef>
            </a:pPr>
            <a:r>
              <a:rPr lang="en-US" altLang="en-US" sz="2400"/>
              <a:t>Assign probability to each of the possible values</a:t>
            </a:r>
          </a:p>
          <a:p>
            <a:pPr eaLnBrk="1" hangingPunct="1">
              <a:lnSpc>
                <a:spcPct val="105000"/>
              </a:lnSpc>
              <a:spcBef>
                <a:spcPct val="25000"/>
              </a:spcBef>
            </a:pPr>
            <a:r>
              <a:rPr lang="en-US" altLang="en-US" sz="2400" b="1"/>
              <a:t>Attribute construction</a:t>
            </a:r>
          </a:p>
          <a:p>
            <a:pPr lvl="1" eaLnBrk="1" hangingPunct="1">
              <a:lnSpc>
                <a:spcPct val="105000"/>
              </a:lnSpc>
              <a:spcBef>
                <a:spcPct val="25000"/>
              </a:spcBef>
            </a:pPr>
            <a:r>
              <a:rPr lang="en-US" altLang="en-US" sz="2400"/>
              <a:t>Create new attributes based on existing ones that are sparsely represented</a:t>
            </a:r>
          </a:p>
          <a:p>
            <a:pPr lvl="1" eaLnBrk="1" hangingPunct="1">
              <a:lnSpc>
                <a:spcPct val="105000"/>
              </a:lnSpc>
              <a:spcBef>
                <a:spcPct val="25000"/>
              </a:spcBef>
            </a:pPr>
            <a:r>
              <a:rPr lang="en-US" altLang="en-US" sz="2400"/>
              <a:t>This reduces fragmentation, repetition, and replication</a:t>
            </a:r>
          </a:p>
        </p:txBody>
      </p:sp>
      <p:sp>
        <p:nvSpPr>
          <p:cNvPr id="23557" name="AutoShape 4">
            <a:extLst>
              <a:ext uri="{FF2B5EF4-FFF2-40B4-BE49-F238E27FC236}">
                <a16:creationId xmlns:a16="http://schemas.microsoft.com/office/drawing/2014/main" id="{CAF1213D-4BC0-4CC7-9DCC-CB6709AE867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05000" y="3352800"/>
            <a:ext cx="76200" cy="76200"/>
          </a:xfrm>
          <a:prstGeom prst="flowChartInternalStorage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 anchor="ctr"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23558" name="Line 5">
            <a:extLst>
              <a:ext uri="{FF2B5EF4-FFF2-40B4-BE49-F238E27FC236}">
                <a16:creationId xmlns:a16="http://schemas.microsoft.com/office/drawing/2014/main" id="{2C3F6B51-9842-4043-9E65-7845469EFF9D}"/>
              </a:ext>
            </a:extLst>
          </p:cNvPr>
          <p:cNvSpPr>
            <a:spLocks noChangeShapeType="1"/>
          </p:cNvSpPr>
          <p:nvPr/>
        </p:nvSpPr>
        <p:spPr bwMode="auto">
          <a:xfrm>
            <a:off x="990600" y="3581400"/>
            <a:ext cx="7086600" cy="0"/>
          </a:xfrm>
          <a:prstGeom prst="line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92075" tIns="46038" rIns="92075" bIns="46038" anchor="ctr"/>
          <a:lstStyle/>
          <a:p>
            <a:endParaRPr lang="en-US"/>
          </a:p>
        </p:txBody>
      </p:sp>
      <p:sp>
        <p:nvSpPr>
          <p:cNvPr id="23559" name="Line 6">
            <a:extLst>
              <a:ext uri="{FF2B5EF4-FFF2-40B4-BE49-F238E27FC236}">
                <a16:creationId xmlns:a16="http://schemas.microsoft.com/office/drawing/2014/main" id="{E2F4E36F-C8AB-4F45-9022-EC7D379CC6E7}"/>
              </a:ext>
            </a:extLst>
          </p:cNvPr>
          <p:cNvSpPr>
            <a:spLocks noChangeShapeType="1"/>
          </p:cNvSpPr>
          <p:nvPr/>
        </p:nvSpPr>
        <p:spPr bwMode="auto">
          <a:xfrm>
            <a:off x="990600" y="3505200"/>
            <a:ext cx="7162800" cy="0"/>
          </a:xfrm>
          <a:prstGeom prst="line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92075" tIns="46038" rIns="92075" bIns="46038" anchor="ctr"/>
          <a:lstStyle/>
          <a:p>
            <a:endParaRPr lang="en-US"/>
          </a:p>
        </p:txBody>
      </p:sp>
    </p:spTree>
  </p:cSld>
  <p:clrMapOvr>
    <a:masterClrMapping/>
  </p:clrMapOvr>
  <p:transition>
    <p:zoom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Slide Number Placeholder 5">
            <a:extLst>
              <a:ext uri="{FF2B5EF4-FFF2-40B4-BE49-F238E27FC236}">
                <a16:creationId xmlns:a16="http://schemas.microsoft.com/office/drawing/2014/main" id="{7B1F617C-FD7E-4C80-B848-D694A86FBE4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fld id="{BE8EDA69-4507-43B0-B180-F22BC5C32953}" type="slidenum">
              <a:rPr lang="en-US" altLang="en-US"/>
              <a:pPr eaLnBrk="1" hangingPunct="1"/>
              <a:t>22</a:t>
            </a:fld>
            <a:endParaRPr lang="en-US" altLang="en-US"/>
          </a:p>
        </p:txBody>
      </p:sp>
      <p:sp>
        <p:nvSpPr>
          <p:cNvPr id="24579" name="Rectangle 2">
            <a:extLst>
              <a:ext uri="{FF2B5EF4-FFF2-40B4-BE49-F238E27FC236}">
                <a16:creationId xmlns:a16="http://schemas.microsoft.com/office/drawing/2014/main" id="{D0C7D591-B0C7-4602-B28F-FD6FED6D6FB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381000"/>
            <a:ext cx="8936038" cy="609600"/>
          </a:xfrm>
          <a:noFill/>
        </p:spPr>
        <p:txBody>
          <a:bodyPr lIns="92075" tIns="46038" rIns="92075" bIns="46038"/>
          <a:lstStyle/>
          <a:p>
            <a:pPr eaLnBrk="1" hangingPunct="1"/>
            <a:r>
              <a:rPr lang="en-US" altLang="en-US"/>
              <a:t>Classification in Large Databases</a:t>
            </a:r>
          </a:p>
        </p:txBody>
      </p:sp>
      <p:sp>
        <p:nvSpPr>
          <p:cNvPr id="24580" name="Rectangle 3">
            <a:extLst>
              <a:ext uri="{FF2B5EF4-FFF2-40B4-BE49-F238E27FC236}">
                <a16:creationId xmlns:a16="http://schemas.microsoft.com/office/drawing/2014/main" id="{1BCC7502-15B4-4EDA-A9E1-F52BAAA4863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00038" y="1371600"/>
            <a:ext cx="8539162" cy="5151438"/>
          </a:xfrm>
          <a:noFill/>
        </p:spPr>
        <p:txBody>
          <a:bodyPr lIns="92075" tIns="46038" rIns="92075" bIns="46038"/>
          <a:lstStyle/>
          <a:p>
            <a:pPr eaLnBrk="1" hangingPunct="1">
              <a:lnSpc>
                <a:spcPct val="110000"/>
              </a:lnSpc>
            </a:pPr>
            <a:r>
              <a:rPr lang="en-US" altLang="en-US" sz="2400"/>
              <a:t>Classification—a classical problem extensively studied by statisticians and machine learning researchers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en-US" sz="2400"/>
              <a:t>Scalability: Classifying data sets with millions of examples and hundreds of attributes with reasonable speed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en-US" sz="2400"/>
              <a:t>Why is decision tree induction popular?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en-US" sz="2400"/>
              <a:t>relatively faster learning speed (than other classification methods)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en-US" sz="2400"/>
              <a:t>convertible to simple and easy to understand classification rules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en-US" sz="2400"/>
              <a:t>can use SQL queries for accessing databases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en-US" sz="2400"/>
              <a:t>comparable classification accuracy with other methods</a:t>
            </a:r>
          </a:p>
          <a:p>
            <a:pPr eaLnBrk="1" hangingPunct="1">
              <a:lnSpc>
                <a:spcPct val="80000"/>
              </a:lnSpc>
            </a:pPr>
            <a:r>
              <a:rPr lang="en-US" altLang="en-US" sz="2400">
                <a:solidFill>
                  <a:srgbClr val="FF3300"/>
                </a:solidFill>
              </a:rPr>
              <a:t>RainForest </a:t>
            </a:r>
            <a:r>
              <a:rPr lang="en-US" altLang="en-US" sz="2400"/>
              <a:t>(VLDB’98 — Gehrke, Ramakrishnan &amp; Ganti)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en-US" sz="2400"/>
              <a:t>Builds an AVC-list (attribute, value, class label)</a:t>
            </a:r>
          </a:p>
        </p:txBody>
      </p:sp>
    </p:spTree>
  </p:cSld>
  <p:clrMapOvr>
    <a:masterClrMapping/>
  </p:clrMapOvr>
  <p:transition>
    <p:zoom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Slide Number Placeholder 5">
            <a:extLst>
              <a:ext uri="{FF2B5EF4-FFF2-40B4-BE49-F238E27FC236}">
                <a16:creationId xmlns:a16="http://schemas.microsoft.com/office/drawing/2014/main" id="{044221A1-A994-4682-BD64-DAA09283A88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fld id="{2160CE8F-FB74-4A1C-8BFB-1B161D26BD7B}" type="slidenum">
              <a:rPr lang="en-US" altLang="en-US"/>
              <a:pPr eaLnBrk="1" hangingPunct="1"/>
              <a:t>23</a:t>
            </a:fld>
            <a:endParaRPr lang="en-US" altLang="en-US"/>
          </a:p>
        </p:txBody>
      </p:sp>
      <p:sp>
        <p:nvSpPr>
          <p:cNvPr id="25603" name="Rectangle 3074">
            <a:extLst>
              <a:ext uri="{FF2B5EF4-FFF2-40B4-BE49-F238E27FC236}">
                <a16:creationId xmlns:a16="http://schemas.microsoft.com/office/drawing/2014/main" id="{CB6CAD54-2625-4492-88EC-A5BB9DACCC3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533400" y="304800"/>
            <a:ext cx="7772400" cy="609600"/>
          </a:xfrm>
        </p:spPr>
        <p:txBody>
          <a:bodyPr/>
          <a:lstStyle/>
          <a:p>
            <a:pPr eaLnBrk="1" hangingPunct="1"/>
            <a:r>
              <a:rPr lang="en-US" altLang="en-US"/>
              <a:t>Scalability Framework for RainForest</a:t>
            </a:r>
            <a:endParaRPr lang="en-US" altLang="ko-KR" sz="2800" b="0">
              <a:latin typeface="Arial" panose="020B0604020202020204" pitchFamily="34" charset="0"/>
              <a:ea typeface="Gulim" panose="020B0600000101010101" pitchFamily="34" charset="-127"/>
            </a:endParaRPr>
          </a:p>
        </p:txBody>
      </p:sp>
      <p:sp>
        <p:nvSpPr>
          <p:cNvPr id="25604" name="Rectangle 3075">
            <a:extLst>
              <a:ext uri="{FF2B5EF4-FFF2-40B4-BE49-F238E27FC236}">
                <a16:creationId xmlns:a16="http://schemas.microsoft.com/office/drawing/2014/main" id="{2CE38F9A-A083-46F0-A719-EE1B4E22C39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04800" y="1371600"/>
            <a:ext cx="8610600" cy="5005388"/>
          </a:xfrm>
        </p:spPr>
        <p:txBody>
          <a:bodyPr/>
          <a:lstStyle/>
          <a:p>
            <a:pPr eaLnBrk="1" hangingPunct="1">
              <a:lnSpc>
                <a:spcPct val="130000"/>
              </a:lnSpc>
            </a:pPr>
            <a:r>
              <a:rPr lang="en-US" altLang="en-US" sz="2400">
                <a:latin typeface="Arial" panose="020B0604020202020204" pitchFamily="34" charset="0"/>
              </a:rPr>
              <a:t>Separates the scalability aspects from the criteria that determine the quality of the tree </a:t>
            </a:r>
          </a:p>
          <a:p>
            <a:pPr eaLnBrk="1" hangingPunct="1">
              <a:lnSpc>
                <a:spcPct val="130000"/>
              </a:lnSpc>
            </a:pPr>
            <a:r>
              <a:rPr lang="en-US" altLang="en-US" sz="2400">
                <a:latin typeface="Arial" panose="020B0604020202020204" pitchFamily="34" charset="0"/>
              </a:rPr>
              <a:t>Builds an AVC-list</a:t>
            </a:r>
            <a:r>
              <a:rPr lang="en-US" altLang="ko-KR" sz="2400" b="1">
                <a:latin typeface="Arial" panose="020B0604020202020204" pitchFamily="34" charset="0"/>
                <a:ea typeface="Gulim" panose="020B0600000101010101" pitchFamily="34" charset="-127"/>
              </a:rPr>
              <a:t>: AVC (Attribute, Value, Class_label) </a:t>
            </a:r>
          </a:p>
          <a:p>
            <a:pPr eaLnBrk="1" hangingPunct="1">
              <a:lnSpc>
                <a:spcPct val="130000"/>
              </a:lnSpc>
            </a:pPr>
            <a:r>
              <a:rPr lang="en-US" altLang="ko-KR" sz="2400" b="1">
                <a:latin typeface="Arial" panose="020B0604020202020204" pitchFamily="34" charset="0"/>
                <a:ea typeface="Gulim" panose="020B0600000101010101" pitchFamily="34" charset="-127"/>
              </a:rPr>
              <a:t>AVC-set  </a:t>
            </a:r>
            <a:r>
              <a:rPr lang="en-US" altLang="ko-KR" sz="2400">
                <a:latin typeface="Arial" panose="020B0604020202020204" pitchFamily="34" charset="0"/>
                <a:ea typeface="Gulim" panose="020B0600000101010101" pitchFamily="34" charset="-127"/>
              </a:rPr>
              <a:t>(of an attribute </a:t>
            </a:r>
            <a:r>
              <a:rPr lang="en-US" altLang="ko-KR" sz="2400" i="1">
                <a:latin typeface="Arial" panose="020B0604020202020204" pitchFamily="34" charset="0"/>
                <a:ea typeface="Gulim" panose="020B0600000101010101" pitchFamily="34" charset="-127"/>
              </a:rPr>
              <a:t>X</a:t>
            </a:r>
            <a:r>
              <a:rPr lang="en-US" altLang="ko-KR" sz="2400">
                <a:latin typeface="Arial" panose="020B0604020202020204" pitchFamily="34" charset="0"/>
                <a:ea typeface="Gulim" panose="020B0600000101010101" pitchFamily="34" charset="-127"/>
              </a:rPr>
              <a:t> )</a:t>
            </a:r>
          </a:p>
          <a:p>
            <a:pPr lvl="1" eaLnBrk="1" hangingPunct="1">
              <a:lnSpc>
                <a:spcPct val="130000"/>
              </a:lnSpc>
            </a:pPr>
            <a:r>
              <a:rPr lang="en-US" altLang="ko-KR" sz="2400">
                <a:latin typeface="Arial" panose="020B0604020202020204" pitchFamily="34" charset="0"/>
                <a:ea typeface="Gulim" panose="020B0600000101010101" pitchFamily="34" charset="-127"/>
              </a:rPr>
              <a:t>Projection of training dataset onto the attribute </a:t>
            </a:r>
            <a:r>
              <a:rPr lang="en-US" altLang="ko-KR" sz="2400" i="1">
                <a:latin typeface="Arial" panose="020B0604020202020204" pitchFamily="34" charset="0"/>
                <a:ea typeface="Gulim" panose="020B0600000101010101" pitchFamily="34" charset="-127"/>
              </a:rPr>
              <a:t>X</a:t>
            </a:r>
            <a:r>
              <a:rPr lang="en-US" altLang="ko-KR" sz="2400">
                <a:latin typeface="Arial" panose="020B0604020202020204" pitchFamily="34" charset="0"/>
                <a:ea typeface="Gulim" panose="020B0600000101010101" pitchFamily="34" charset="-127"/>
              </a:rPr>
              <a:t> and class label where counts of individual class label are aggregated</a:t>
            </a:r>
          </a:p>
          <a:p>
            <a:pPr eaLnBrk="1" hangingPunct="1">
              <a:lnSpc>
                <a:spcPct val="130000"/>
              </a:lnSpc>
            </a:pPr>
            <a:r>
              <a:rPr lang="en-US" altLang="ko-KR" sz="2400" b="1">
                <a:latin typeface="Arial" panose="020B0604020202020204" pitchFamily="34" charset="0"/>
                <a:ea typeface="Gulim" panose="020B0600000101010101" pitchFamily="34" charset="-127"/>
              </a:rPr>
              <a:t>AVC-group  </a:t>
            </a:r>
            <a:r>
              <a:rPr lang="en-US" altLang="ko-KR" sz="2400">
                <a:latin typeface="Arial" panose="020B0604020202020204" pitchFamily="34" charset="0"/>
                <a:ea typeface="Gulim" panose="020B0600000101010101" pitchFamily="34" charset="-127"/>
              </a:rPr>
              <a:t>(of a node </a:t>
            </a:r>
            <a:r>
              <a:rPr lang="en-US" altLang="ko-KR" sz="2400" i="1">
                <a:latin typeface="Arial" panose="020B0604020202020204" pitchFamily="34" charset="0"/>
                <a:ea typeface="Gulim" panose="020B0600000101010101" pitchFamily="34" charset="-127"/>
              </a:rPr>
              <a:t>n</a:t>
            </a:r>
            <a:r>
              <a:rPr lang="en-US" altLang="ko-KR" sz="2400">
                <a:latin typeface="Arial" panose="020B0604020202020204" pitchFamily="34" charset="0"/>
                <a:ea typeface="Gulim" panose="020B0600000101010101" pitchFamily="34" charset="-127"/>
              </a:rPr>
              <a:t> )</a:t>
            </a:r>
          </a:p>
          <a:p>
            <a:pPr lvl="1" eaLnBrk="1" hangingPunct="1">
              <a:lnSpc>
                <a:spcPct val="130000"/>
              </a:lnSpc>
            </a:pPr>
            <a:r>
              <a:rPr lang="en-US" altLang="ko-KR" sz="2400">
                <a:latin typeface="Arial" panose="020B0604020202020204" pitchFamily="34" charset="0"/>
                <a:ea typeface="Gulim" panose="020B0600000101010101" pitchFamily="34" charset="-127"/>
              </a:rPr>
              <a:t>Set of AVC-sets of all predictor attributes at the node </a:t>
            </a:r>
            <a:r>
              <a:rPr lang="en-US" altLang="ko-KR" sz="2400" i="1">
                <a:latin typeface="Arial" panose="020B0604020202020204" pitchFamily="34" charset="0"/>
                <a:ea typeface="Gulim" panose="020B0600000101010101" pitchFamily="34" charset="-127"/>
              </a:rPr>
              <a:t>n</a:t>
            </a:r>
            <a:r>
              <a:rPr lang="en-US" altLang="ko-KR" sz="2400" b="1">
                <a:latin typeface="Arial" panose="020B0604020202020204" pitchFamily="34" charset="0"/>
                <a:ea typeface="Gulim" panose="020B0600000101010101" pitchFamily="34" charset="-127"/>
              </a:rPr>
              <a:t> </a:t>
            </a:r>
          </a:p>
        </p:txBody>
      </p:sp>
    </p:spTree>
  </p:cSld>
  <p:clrMapOvr>
    <a:masterClrMapping/>
  </p:clrMapOvr>
  <p:transition>
    <p:zoom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Slide Number Placeholder 8">
            <a:extLst>
              <a:ext uri="{FF2B5EF4-FFF2-40B4-BE49-F238E27FC236}">
                <a16:creationId xmlns:a16="http://schemas.microsoft.com/office/drawing/2014/main" id="{73E013CC-3C64-42C1-B11B-61DD400EED2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fld id="{9A08E098-DFC3-4183-9A88-7989F55FF823}" type="slidenum">
              <a:rPr lang="en-US" altLang="en-US"/>
              <a:pPr eaLnBrk="1" hangingPunct="1"/>
              <a:t>24</a:t>
            </a:fld>
            <a:endParaRPr lang="en-US" altLang="en-US"/>
          </a:p>
        </p:txBody>
      </p:sp>
      <p:sp>
        <p:nvSpPr>
          <p:cNvPr id="26627" name="Rectangle 2">
            <a:extLst>
              <a:ext uri="{FF2B5EF4-FFF2-40B4-BE49-F238E27FC236}">
                <a16:creationId xmlns:a16="http://schemas.microsoft.com/office/drawing/2014/main" id="{29677CC7-032A-46CC-A03B-4D337A37AEEA}"/>
              </a:ext>
            </a:extLst>
          </p:cNvPr>
          <p:cNvSpPr>
            <a:spLocks noGrp="1" noChangeArrowheads="1"/>
          </p:cNvSpPr>
          <p:nvPr>
            <p:ph type="title" sz="quarter"/>
          </p:nvPr>
        </p:nvSpPr>
        <p:spPr>
          <a:xfrm>
            <a:off x="0" y="381000"/>
            <a:ext cx="9144000" cy="609600"/>
          </a:xfrm>
        </p:spPr>
        <p:txBody>
          <a:bodyPr/>
          <a:lstStyle/>
          <a:p>
            <a:pPr eaLnBrk="1" hangingPunct="1"/>
            <a:r>
              <a:rPr lang="en-US" altLang="en-US"/>
              <a:t>Rainforest:  Training Set and Its AVC Sets </a:t>
            </a:r>
          </a:p>
        </p:txBody>
      </p:sp>
      <p:graphicFrame>
        <p:nvGraphicFramePr>
          <p:cNvPr id="1678460" name="Group 124">
            <a:extLst>
              <a:ext uri="{FF2B5EF4-FFF2-40B4-BE49-F238E27FC236}">
                <a16:creationId xmlns:a16="http://schemas.microsoft.com/office/drawing/2014/main" id="{51DFD00B-9725-4890-A729-5C575D404BFB}"/>
              </a:ext>
            </a:extLst>
          </p:cNvPr>
          <p:cNvGraphicFramePr>
            <a:graphicFrameLocks noGrp="1"/>
          </p:cNvGraphicFramePr>
          <p:nvPr>
            <p:ph sz="quarter" idx="1"/>
          </p:nvPr>
        </p:nvGraphicFramePr>
        <p:xfrm>
          <a:off x="4343400" y="4800600"/>
          <a:ext cx="2400300" cy="1485900"/>
        </p:xfrm>
        <a:graphic>
          <a:graphicData uri="http://schemas.openxmlformats.org/drawingml/2006/table">
            <a:tbl>
              <a:tblPr/>
              <a:tblGrid>
                <a:gridCol w="9461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21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620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1475"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60000"/>
                        <a:buFontTx/>
                        <a:buNone/>
                        <a:tabLst/>
                      </a:pPr>
                      <a:r>
                        <a:rPr kumimoji="0" lang="en-US" altLang="ko-KR" sz="13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굴림" pitchFamily="50" charset="-127"/>
                          <a:cs typeface="Arial" charset="0"/>
                        </a:rPr>
                        <a:t>student</a:t>
                      </a:r>
                      <a:endParaRPr kumimoji="0" lang="en-US" sz="13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굴림" pitchFamily="50" charset="-127"/>
                        <a:cs typeface="Arial" charset="0"/>
                      </a:endParaRPr>
                    </a:p>
                  </a:txBody>
                  <a:tcPr anchor="b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60000"/>
                        <a:buFontTx/>
                        <a:buNone/>
                        <a:tabLst/>
                      </a:pPr>
                      <a:r>
                        <a:rPr kumimoji="0" lang="en-US" sz="13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Buy_Computer</a:t>
                      </a: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9888"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60000"/>
                        <a:buFontTx/>
                        <a:buNone/>
                        <a:tabLst/>
                      </a:pPr>
                      <a:endParaRPr kumimoji="0" lang="en-US" sz="13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b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60000"/>
                        <a:buFontTx/>
                        <a:buNone/>
                        <a:tabLst/>
                      </a:pPr>
                      <a:r>
                        <a:rPr kumimoji="0" lang="en-US" altLang="ko-KR" sz="13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굴림" pitchFamily="50" charset="-127"/>
                          <a:cs typeface="Arial" charset="0"/>
                        </a:rPr>
                        <a:t>yes</a:t>
                      </a:r>
                      <a:endParaRPr kumimoji="0" lang="en-US" sz="13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굴림" pitchFamily="50" charset="-127"/>
                        <a:cs typeface="Arial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60000"/>
                        <a:buFontTx/>
                        <a:buNone/>
                        <a:tabLst/>
                      </a:pPr>
                      <a:r>
                        <a:rPr kumimoji="0" lang="en-US" altLang="ko-KR" sz="13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굴림" pitchFamily="50" charset="-127"/>
                          <a:cs typeface="Arial" charset="0"/>
                        </a:rPr>
                        <a:t>no</a:t>
                      </a:r>
                      <a:endParaRPr kumimoji="0" lang="en-US" sz="13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굴림" pitchFamily="50" charset="-127"/>
                        <a:cs typeface="Arial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3063"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60000"/>
                        <a:buFontTx/>
                        <a:buNone/>
                        <a:tabLst/>
                      </a:pPr>
                      <a:r>
                        <a:rPr kumimoji="0" lang="en-US" altLang="ko-KR" sz="13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굴림" pitchFamily="50" charset="-127"/>
                          <a:cs typeface="Arial" charset="0"/>
                        </a:rPr>
                        <a:t>yes</a:t>
                      </a:r>
                      <a:endParaRPr kumimoji="0" lang="en-US" sz="13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굴림" pitchFamily="50" charset="-127"/>
                        <a:cs typeface="Arial" charset="0"/>
                      </a:endParaRPr>
                    </a:p>
                  </a:txBody>
                  <a:tcPr anchor="b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60000"/>
                        <a:buFontTx/>
                        <a:buNone/>
                        <a:tabLst/>
                      </a:pPr>
                      <a:r>
                        <a:rPr kumimoji="0" lang="en-US" altLang="ko-KR" sz="13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굴림" pitchFamily="50" charset="-127"/>
                          <a:cs typeface="Arial" charset="0"/>
                        </a:rPr>
                        <a:t>6</a:t>
                      </a:r>
                      <a:endParaRPr kumimoji="0" lang="en-US" sz="13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굴림" pitchFamily="50" charset="-127"/>
                        <a:cs typeface="Arial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60000"/>
                        <a:buFontTx/>
                        <a:buNone/>
                        <a:tabLst/>
                      </a:pPr>
                      <a:r>
                        <a:rPr kumimoji="0" lang="en-US" altLang="ko-KR" sz="13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굴림" pitchFamily="50" charset="-127"/>
                          <a:cs typeface="Arial" charset="0"/>
                        </a:rPr>
                        <a:t>1</a:t>
                      </a:r>
                      <a:endParaRPr kumimoji="0" lang="en-US" sz="13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굴림" pitchFamily="50" charset="-127"/>
                        <a:cs typeface="Arial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1475"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60000"/>
                        <a:buFontTx/>
                        <a:buNone/>
                        <a:tabLst/>
                      </a:pPr>
                      <a:r>
                        <a:rPr kumimoji="0" lang="en-US" altLang="ko-KR" sz="13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굴림" pitchFamily="50" charset="-127"/>
                          <a:cs typeface="Arial" charset="0"/>
                        </a:rPr>
                        <a:t>no</a:t>
                      </a:r>
                      <a:endParaRPr kumimoji="0" lang="en-US" sz="13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굴림" pitchFamily="50" charset="-127"/>
                        <a:cs typeface="Arial" charset="0"/>
                      </a:endParaRPr>
                    </a:p>
                  </a:txBody>
                  <a:tcPr anchor="b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60000"/>
                        <a:buFontTx/>
                        <a:buNone/>
                        <a:tabLst/>
                      </a:pPr>
                      <a:r>
                        <a:rPr kumimoji="0" lang="en-US" altLang="ko-KR" sz="13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굴림" pitchFamily="50" charset="-127"/>
                          <a:cs typeface="Arial" charset="0"/>
                        </a:rPr>
                        <a:t>3</a:t>
                      </a:r>
                      <a:endParaRPr kumimoji="0" lang="en-US" sz="13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굴림" pitchFamily="50" charset="-127"/>
                        <a:cs typeface="Arial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60000"/>
                        <a:buFontTx/>
                        <a:buNone/>
                        <a:tabLst/>
                      </a:pPr>
                      <a:r>
                        <a:rPr kumimoji="0" lang="en-US" altLang="ko-KR" sz="13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굴림" pitchFamily="50" charset="-127"/>
                          <a:cs typeface="Arial" charset="0"/>
                        </a:rPr>
                        <a:t>4</a:t>
                      </a:r>
                      <a:endParaRPr kumimoji="0" lang="en-US" sz="13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굴림" pitchFamily="50" charset="-127"/>
                        <a:cs typeface="Arial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1678471" name="Group 135">
            <a:extLst>
              <a:ext uri="{FF2B5EF4-FFF2-40B4-BE49-F238E27FC236}">
                <a16:creationId xmlns:a16="http://schemas.microsoft.com/office/drawing/2014/main" id="{F9873D18-4174-4EE3-A5F5-8DD65973239B}"/>
              </a:ext>
            </a:extLst>
          </p:cNvPr>
          <p:cNvGraphicFramePr>
            <a:graphicFrameLocks noGrp="1"/>
          </p:cNvGraphicFramePr>
          <p:nvPr>
            <p:ph sz="quarter" idx="2"/>
          </p:nvPr>
        </p:nvGraphicFramePr>
        <p:xfrm>
          <a:off x="4495800" y="1981200"/>
          <a:ext cx="1981200" cy="1714500"/>
        </p:xfrm>
        <a:graphic>
          <a:graphicData uri="http://schemas.openxmlformats.org/drawingml/2006/table">
            <a:tbl>
              <a:tblPr/>
              <a:tblGrid>
                <a:gridCol w="6572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223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016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09563"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60000"/>
                        <a:buFontTx/>
                        <a:buNone/>
                        <a:tabLst/>
                      </a:pPr>
                      <a:r>
                        <a:rPr kumimoji="0" lang="en-US" altLang="ko-KR" sz="13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Gulim" pitchFamily="34" charset="-127"/>
                          <a:cs typeface="Arial" charset="0"/>
                        </a:rPr>
                        <a:t>Age</a:t>
                      </a:r>
                      <a:endParaRPr kumimoji="0" lang="en-US" sz="13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Gulim" pitchFamily="34" charset="-127"/>
                        <a:cs typeface="Arial" charset="0"/>
                      </a:endParaRPr>
                    </a:p>
                  </a:txBody>
                  <a:tcPr anchor="b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60000"/>
                        <a:buFontTx/>
                        <a:buNone/>
                        <a:tabLst/>
                      </a:pPr>
                      <a:r>
                        <a:rPr kumimoji="0" lang="en-US" sz="13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Buy_Computer</a:t>
                      </a: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7837"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60000"/>
                        <a:buFontTx/>
                        <a:buNone/>
                        <a:tabLst/>
                      </a:pPr>
                      <a:endParaRPr kumimoji="0" lang="en-US" sz="13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b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60000"/>
                        <a:buFontTx/>
                        <a:buNone/>
                        <a:tabLst/>
                      </a:pPr>
                      <a:r>
                        <a:rPr kumimoji="0" lang="en-US" altLang="ko-KR" sz="13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Gulim" pitchFamily="34" charset="-127"/>
                          <a:cs typeface="Arial" charset="0"/>
                        </a:rPr>
                        <a:t>yes</a:t>
                      </a:r>
                      <a:endParaRPr kumimoji="0" lang="en-US" sz="13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Gulim" pitchFamily="34" charset="-127"/>
                        <a:cs typeface="Arial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60000"/>
                        <a:buFontTx/>
                        <a:buNone/>
                        <a:tabLst/>
                      </a:pPr>
                      <a:r>
                        <a:rPr kumimoji="0" lang="en-US" altLang="ko-KR" sz="13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Gulim" pitchFamily="34" charset="-127"/>
                          <a:cs typeface="Arial" charset="0"/>
                        </a:rPr>
                        <a:t>no</a:t>
                      </a:r>
                      <a:endParaRPr kumimoji="0" lang="en-US" sz="13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Gulim" pitchFamily="34" charset="-127"/>
                        <a:cs typeface="Arial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7975"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60000"/>
                        <a:buFontTx/>
                        <a:buNone/>
                        <a:tabLst/>
                      </a:pPr>
                      <a:r>
                        <a:rPr kumimoji="0" lang="en-US" altLang="ko-KR" sz="13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Gulim" pitchFamily="34" charset="-127"/>
                          <a:cs typeface="Arial" charset="0"/>
                        </a:rPr>
                        <a:t>&lt;=30</a:t>
                      </a:r>
                      <a:endParaRPr kumimoji="0" lang="en-US" sz="13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Gulim" pitchFamily="34" charset="-127"/>
                        <a:cs typeface="Arial" charset="0"/>
                      </a:endParaRPr>
                    </a:p>
                  </a:txBody>
                  <a:tcPr anchor="b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60000"/>
                        <a:buFontTx/>
                        <a:buNone/>
                        <a:tabLst/>
                      </a:pPr>
                      <a:r>
                        <a:rPr kumimoji="0" lang="en-US" altLang="ko-KR" sz="13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Gulim" pitchFamily="34" charset="-127"/>
                          <a:cs typeface="Arial" charset="0"/>
                        </a:rPr>
                        <a:t>2</a:t>
                      </a:r>
                      <a:endParaRPr kumimoji="0" lang="en-US" sz="13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Gulim" pitchFamily="34" charset="-127"/>
                        <a:cs typeface="Arial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60000"/>
                        <a:buFontTx/>
                        <a:buNone/>
                        <a:tabLst/>
                      </a:pPr>
                      <a:r>
                        <a:rPr kumimoji="0" lang="en-US" altLang="ko-KR" sz="13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Gulim" pitchFamily="34" charset="-127"/>
                          <a:cs typeface="Arial" charset="0"/>
                        </a:rPr>
                        <a:t>3</a:t>
                      </a:r>
                      <a:endParaRPr kumimoji="0" lang="en-US" sz="13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Gulim" pitchFamily="34" charset="-127"/>
                        <a:cs typeface="Arial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9563"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60000"/>
                        <a:buFontTx/>
                        <a:buNone/>
                        <a:tabLst/>
                      </a:pPr>
                      <a:r>
                        <a:rPr kumimoji="0" lang="en-US" altLang="ko-KR" sz="13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Gulim" pitchFamily="34" charset="-127"/>
                          <a:cs typeface="Arial" charset="0"/>
                        </a:rPr>
                        <a:t>31..40</a:t>
                      </a:r>
                      <a:endParaRPr kumimoji="0" lang="en-US" sz="13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Gulim" pitchFamily="34" charset="-127"/>
                        <a:cs typeface="Arial" charset="0"/>
                      </a:endParaRPr>
                    </a:p>
                  </a:txBody>
                  <a:tcPr anchor="b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60000"/>
                        <a:buFontTx/>
                        <a:buNone/>
                        <a:tabLst/>
                      </a:pPr>
                      <a:r>
                        <a:rPr kumimoji="0" lang="en-US" altLang="ko-KR" sz="13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Gulim" pitchFamily="34" charset="-127"/>
                          <a:cs typeface="Arial" charset="0"/>
                        </a:rPr>
                        <a:t>4</a:t>
                      </a:r>
                      <a:endParaRPr kumimoji="0" lang="en-US" sz="13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Gulim" pitchFamily="34" charset="-127"/>
                        <a:cs typeface="Arial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60000"/>
                        <a:buFontTx/>
                        <a:buNone/>
                        <a:tabLst/>
                      </a:pPr>
                      <a:r>
                        <a:rPr kumimoji="0" lang="en-US" altLang="ko-KR" sz="13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Gulim" pitchFamily="34" charset="-127"/>
                          <a:cs typeface="Arial" charset="0"/>
                        </a:rPr>
                        <a:t>0</a:t>
                      </a:r>
                      <a:endParaRPr kumimoji="0" lang="en-US" sz="13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Gulim" pitchFamily="34" charset="-127"/>
                        <a:cs typeface="Arial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9563"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60000"/>
                        <a:buFontTx/>
                        <a:buNone/>
                        <a:tabLst/>
                      </a:pPr>
                      <a:r>
                        <a:rPr kumimoji="0" lang="en-US" altLang="ko-KR" sz="13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Gulim" pitchFamily="34" charset="-127"/>
                          <a:cs typeface="Arial" charset="0"/>
                        </a:rPr>
                        <a:t>&gt;40</a:t>
                      </a:r>
                      <a:endParaRPr kumimoji="0" lang="en-US" sz="13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Gulim" pitchFamily="34" charset="-127"/>
                        <a:cs typeface="Arial" charset="0"/>
                      </a:endParaRPr>
                    </a:p>
                  </a:txBody>
                  <a:tcPr anchor="b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60000"/>
                        <a:buFontTx/>
                        <a:buNone/>
                        <a:tabLst/>
                      </a:pPr>
                      <a:r>
                        <a:rPr kumimoji="0" lang="en-US" altLang="ko-KR" sz="13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Gulim" pitchFamily="34" charset="-127"/>
                          <a:cs typeface="Arial" charset="0"/>
                        </a:rPr>
                        <a:t>3</a:t>
                      </a:r>
                      <a:endParaRPr kumimoji="0" lang="en-US" sz="13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Gulim" pitchFamily="34" charset="-127"/>
                        <a:cs typeface="Arial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60000"/>
                        <a:buFontTx/>
                        <a:buNone/>
                        <a:tabLst/>
                      </a:pPr>
                      <a:r>
                        <a:rPr kumimoji="0" lang="en-US" altLang="ko-KR" sz="13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Gulim" pitchFamily="34" charset="-127"/>
                          <a:cs typeface="Arial" charset="0"/>
                        </a:rPr>
                        <a:t>2</a:t>
                      </a:r>
                      <a:endParaRPr kumimoji="0" lang="en-US" sz="13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Gulim" pitchFamily="34" charset="-127"/>
                        <a:cs typeface="Arial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1678511" name="Group 175">
            <a:extLst>
              <a:ext uri="{FF2B5EF4-FFF2-40B4-BE49-F238E27FC236}">
                <a16:creationId xmlns:a16="http://schemas.microsoft.com/office/drawing/2014/main" id="{E7C3998F-AA39-4944-A96E-C2DB891BCE59}"/>
              </a:ext>
            </a:extLst>
          </p:cNvPr>
          <p:cNvGraphicFramePr>
            <a:graphicFrameLocks noGrp="1"/>
          </p:cNvGraphicFramePr>
          <p:nvPr>
            <p:ph sz="quarter" idx="3"/>
          </p:nvPr>
        </p:nvGraphicFramePr>
        <p:xfrm>
          <a:off x="6743700" y="4876800"/>
          <a:ext cx="2400300" cy="1401763"/>
        </p:xfrm>
        <a:graphic>
          <a:graphicData uri="http://schemas.openxmlformats.org/drawingml/2006/table">
            <a:tbl>
              <a:tblPr/>
              <a:tblGrid>
                <a:gridCol w="99536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873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1756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50838"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60000"/>
                        <a:buFontTx/>
                        <a:buNone/>
                        <a:tabLst/>
                      </a:pPr>
                      <a:r>
                        <a:rPr kumimoji="0" lang="en-US" altLang="ko-KR" sz="13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굴림" pitchFamily="50" charset="-127"/>
                          <a:cs typeface="Arial" charset="0"/>
                        </a:rPr>
                        <a:t>Credit</a:t>
                      </a:r>
                    </a:p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60000"/>
                        <a:buFontTx/>
                        <a:buNone/>
                        <a:tabLst/>
                      </a:pPr>
                      <a:r>
                        <a:rPr kumimoji="0" lang="en-US" altLang="ko-KR" sz="13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굴림" pitchFamily="50" charset="-127"/>
                          <a:cs typeface="Arial" charset="0"/>
                        </a:rPr>
                        <a:t>rating</a:t>
                      </a:r>
                      <a:endParaRPr kumimoji="0" lang="en-US" sz="13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굴림" pitchFamily="50" charset="-127"/>
                        <a:cs typeface="Arial" charset="0"/>
                      </a:endParaRPr>
                    </a:p>
                  </a:txBody>
                  <a:tcPr anchor="b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60000"/>
                        <a:buFontTx/>
                        <a:buNone/>
                        <a:tabLst/>
                      </a:pPr>
                      <a:r>
                        <a:rPr kumimoji="0" lang="en-US" sz="13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Buy_Computer</a:t>
                      </a: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0838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60000"/>
                        <a:buFontTx/>
                        <a:buNone/>
                        <a:tabLst/>
                      </a:pPr>
                      <a:r>
                        <a:rPr kumimoji="0" lang="en-US" altLang="ko-KR" sz="13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굴림" pitchFamily="50" charset="-127"/>
                          <a:cs typeface="Arial" charset="0"/>
                        </a:rPr>
                        <a:t>yes</a:t>
                      </a:r>
                      <a:endParaRPr kumimoji="0" lang="en-US" sz="13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굴림" pitchFamily="50" charset="-127"/>
                        <a:cs typeface="Arial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60000"/>
                        <a:buFontTx/>
                        <a:buNone/>
                        <a:tabLst/>
                      </a:pPr>
                      <a:r>
                        <a:rPr kumimoji="0" lang="en-US" altLang="ko-KR" sz="13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굴림" pitchFamily="50" charset="-127"/>
                          <a:cs typeface="Arial" charset="0"/>
                        </a:rPr>
                        <a:t>no</a:t>
                      </a:r>
                      <a:endParaRPr kumimoji="0" lang="en-US" sz="13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굴림" pitchFamily="50" charset="-127"/>
                        <a:cs typeface="Arial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9250"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60000"/>
                        <a:buFontTx/>
                        <a:buNone/>
                        <a:tabLst/>
                      </a:pPr>
                      <a:r>
                        <a:rPr kumimoji="0" lang="en-US" altLang="ko-KR" sz="13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굴림" pitchFamily="50" charset="-127"/>
                          <a:cs typeface="Arial" charset="0"/>
                        </a:rPr>
                        <a:t>fair</a:t>
                      </a:r>
                      <a:endParaRPr kumimoji="0" lang="en-US" sz="13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굴림" pitchFamily="50" charset="-127"/>
                        <a:cs typeface="Arial" charset="0"/>
                      </a:endParaRPr>
                    </a:p>
                  </a:txBody>
                  <a:tcPr anchor="b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60000"/>
                        <a:buFontTx/>
                        <a:buNone/>
                        <a:tabLst/>
                      </a:pPr>
                      <a:r>
                        <a:rPr kumimoji="0" lang="en-US" altLang="ko-KR" sz="13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굴림" pitchFamily="50" charset="-127"/>
                          <a:cs typeface="Arial" charset="0"/>
                        </a:rPr>
                        <a:t>6</a:t>
                      </a:r>
                      <a:endParaRPr kumimoji="0" lang="en-US" sz="13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굴림" pitchFamily="50" charset="-127"/>
                        <a:cs typeface="Arial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60000"/>
                        <a:buFontTx/>
                        <a:buNone/>
                        <a:tabLst/>
                      </a:pPr>
                      <a:r>
                        <a:rPr kumimoji="0" lang="en-US" altLang="ko-KR" sz="13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굴림" pitchFamily="50" charset="-127"/>
                          <a:cs typeface="Arial" charset="0"/>
                        </a:rPr>
                        <a:t>2</a:t>
                      </a:r>
                      <a:endParaRPr kumimoji="0" lang="en-US" sz="13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굴림" pitchFamily="50" charset="-127"/>
                        <a:cs typeface="Arial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0838"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60000"/>
                        <a:buFontTx/>
                        <a:buNone/>
                        <a:tabLst/>
                      </a:pPr>
                      <a:r>
                        <a:rPr kumimoji="0" lang="en-US" altLang="ko-KR" sz="13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굴림" pitchFamily="50" charset="-127"/>
                          <a:cs typeface="Arial" charset="0"/>
                        </a:rPr>
                        <a:t>excellent</a:t>
                      </a:r>
                      <a:endParaRPr kumimoji="0" lang="en-US" sz="13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굴림" pitchFamily="50" charset="-127"/>
                        <a:cs typeface="Arial" charset="0"/>
                      </a:endParaRPr>
                    </a:p>
                  </a:txBody>
                  <a:tcPr anchor="b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60000"/>
                        <a:buFontTx/>
                        <a:buNone/>
                        <a:tabLst/>
                      </a:pPr>
                      <a:r>
                        <a:rPr kumimoji="0" lang="en-US" altLang="ko-KR" sz="13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굴림" pitchFamily="50" charset="-127"/>
                          <a:cs typeface="Arial" charset="0"/>
                        </a:rPr>
                        <a:t>3</a:t>
                      </a:r>
                      <a:endParaRPr kumimoji="0" lang="en-US" sz="13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굴림" pitchFamily="50" charset="-127"/>
                        <a:cs typeface="Arial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60000"/>
                        <a:buFontTx/>
                        <a:buNone/>
                        <a:tabLst/>
                      </a:pPr>
                      <a:r>
                        <a:rPr kumimoji="0" lang="en-US" altLang="ko-KR" sz="13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굴림" pitchFamily="50" charset="-127"/>
                          <a:cs typeface="Arial" charset="0"/>
                        </a:rPr>
                        <a:t>3</a:t>
                      </a:r>
                      <a:endParaRPr kumimoji="0" lang="en-US" sz="13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굴림" pitchFamily="50" charset="-127"/>
                        <a:cs typeface="Arial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26694" name="Object 3">
            <a:extLst>
              <a:ext uri="{FF2B5EF4-FFF2-40B4-BE49-F238E27FC236}">
                <a16:creationId xmlns:a16="http://schemas.microsoft.com/office/drawing/2014/main" id="{23C2C4CA-6C4E-4793-8135-93B2928AB075}"/>
              </a:ext>
            </a:extLst>
          </p:cNvPr>
          <p:cNvGraphicFramePr>
            <a:graphicFrameLocks/>
          </p:cNvGraphicFramePr>
          <p:nvPr>
            <p:ph type="body" idx="4294967295"/>
          </p:nvPr>
        </p:nvGraphicFramePr>
        <p:xfrm>
          <a:off x="0" y="1905000"/>
          <a:ext cx="4216400" cy="4572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725" name="Worksheet" r:id="rId4" imgW="4457700" imgH="4457700" progId="Excel.Sheet.8">
                  <p:embed/>
                </p:oleObj>
              </mc:Choice>
              <mc:Fallback>
                <p:oleObj name="Worksheet" r:id="rId4" imgW="4457700" imgH="4457700" progId="Excel.Sheet.8">
                  <p:embed/>
                  <p:pic>
                    <p:nvPicPr>
                      <p:cNvPr id="0" name="Object 3"/>
                      <p:cNvPicPr>
                        <a:picLocks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1905000"/>
                        <a:ext cx="4216400" cy="4572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6695" name="Rectangle 128">
            <a:extLst>
              <a:ext uri="{FF2B5EF4-FFF2-40B4-BE49-F238E27FC236}">
                <a16:creationId xmlns:a16="http://schemas.microsoft.com/office/drawing/2014/main" id="{A1113D5E-AEB8-48A5-A9E7-3BC86CF0039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05600" y="1524000"/>
            <a:ext cx="2303463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r>
              <a:rPr lang="en-US" altLang="en-US" sz="2000"/>
              <a:t>AVC-set on </a:t>
            </a:r>
            <a:r>
              <a:rPr lang="en-US" altLang="ko-KR" sz="2000" i="1">
                <a:ea typeface="Gulim" panose="020B0600000101010101" pitchFamily="34" charset="-127"/>
              </a:rPr>
              <a:t>income</a:t>
            </a:r>
            <a:endParaRPr lang="en-US" altLang="en-US" sz="2000" i="1"/>
          </a:p>
        </p:txBody>
      </p:sp>
      <p:sp>
        <p:nvSpPr>
          <p:cNvPr id="26696" name="Rectangle 129">
            <a:extLst>
              <a:ext uri="{FF2B5EF4-FFF2-40B4-BE49-F238E27FC236}">
                <a16:creationId xmlns:a16="http://schemas.microsoft.com/office/drawing/2014/main" id="{7C2F7BE1-79A4-46E3-9643-2624059E08D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19600" y="1524000"/>
            <a:ext cx="192722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r>
              <a:rPr lang="en-US" altLang="en-US" sz="2000"/>
              <a:t>AVC-set on </a:t>
            </a:r>
            <a:r>
              <a:rPr lang="en-US" altLang="ko-KR" sz="2000" i="1">
                <a:ea typeface="Gulim" panose="020B0600000101010101" pitchFamily="34" charset="-127"/>
              </a:rPr>
              <a:t>Age</a:t>
            </a:r>
            <a:endParaRPr lang="en-US" altLang="en-US" sz="2000" i="1"/>
          </a:p>
        </p:txBody>
      </p:sp>
      <p:sp>
        <p:nvSpPr>
          <p:cNvPr id="26697" name="Rectangle 130">
            <a:extLst>
              <a:ext uri="{FF2B5EF4-FFF2-40B4-BE49-F238E27FC236}">
                <a16:creationId xmlns:a16="http://schemas.microsoft.com/office/drawing/2014/main" id="{72AC8C40-756C-486B-A600-2A0A9964DCE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19600" y="4267200"/>
            <a:ext cx="2370138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r>
              <a:rPr lang="en-US" altLang="en-US" sz="2000"/>
              <a:t>AVC-set on </a:t>
            </a:r>
            <a:r>
              <a:rPr lang="en-US" altLang="ko-KR" sz="2000" i="1">
                <a:ea typeface="Gulim" panose="020B0600000101010101" pitchFamily="34" charset="-127"/>
              </a:rPr>
              <a:t>Student</a:t>
            </a:r>
            <a:endParaRPr lang="en-US" altLang="en-US" sz="2000" i="1"/>
          </a:p>
        </p:txBody>
      </p:sp>
      <p:sp>
        <p:nvSpPr>
          <p:cNvPr id="26698" name="Rectangle 132">
            <a:extLst>
              <a:ext uri="{FF2B5EF4-FFF2-40B4-BE49-F238E27FC236}">
                <a16:creationId xmlns:a16="http://schemas.microsoft.com/office/drawing/2014/main" id="{0CF156F6-8A61-4F0D-BE1D-226B86EBF32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3400" y="1447800"/>
            <a:ext cx="3657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/>
            <a:r>
              <a:rPr lang="en-US" altLang="en-US" sz="2400"/>
              <a:t>Training Examples</a:t>
            </a:r>
            <a:endParaRPr lang="en-US" altLang="en-US" sz="2400" i="1"/>
          </a:p>
        </p:txBody>
      </p:sp>
      <p:graphicFrame>
        <p:nvGraphicFramePr>
          <p:cNvPr id="1678504" name="Group 168">
            <a:extLst>
              <a:ext uri="{FF2B5EF4-FFF2-40B4-BE49-F238E27FC236}">
                <a16:creationId xmlns:a16="http://schemas.microsoft.com/office/drawing/2014/main" id="{438B1A94-9215-4AFE-B199-E3990B2E72FA}"/>
              </a:ext>
            </a:extLst>
          </p:cNvPr>
          <p:cNvGraphicFramePr>
            <a:graphicFrameLocks noGrp="1"/>
          </p:cNvGraphicFramePr>
          <p:nvPr>
            <p:ph sz="quarter" idx="4"/>
          </p:nvPr>
        </p:nvGraphicFramePr>
        <p:xfrm>
          <a:off x="6781800" y="1905000"/>
          <a:ext cx="2209800" cy="1828800"/>
        </p:xfrm>
        <a:graphic>
          <a:graphicData uri="http://schemas.openxmlformats.org/drawingml/2006/table">
            <a:tbl>
              <a:tblPr/>
              <a:tblGrid>
                <a:gridCol w="8286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778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032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04800"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60000"/>
                        <a:buFontTx/>
                        <a:buNone/>
                        <a:tabLst/>
                      </a:pPr>
                      <a:r>
                        <a:rPr kumimoji="0" lang="en-US" altLang="ko-KR" sz="13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굴림" pitchFamily="50" charset="-127"/>
                          <a:cs typeface="Arial" charset="0"/>
                        </a:rPr>
                        <a:t>income</a:t>
                      </a:r>
                      <a:endParaRPr kumimoji="0" lang="en-US" sz="13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굴림" pitchFamily="50" charset="-127"/>
                        <a:cs typeface="Arial" charset="0"/>
                      </a:endParaRPr>
                    </a:p>
                  </a:txBody>
                  <a:tcPr anchor="b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60000"/>
                        <a:buFontTx/>
                        <a:buNone/>
                        <a:tabLst/>
                      </a:pPr>
                      <a:r>
                        <a:rPr kumimoji="0" lang="en-US" sz="13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Buy_Computer</a:t>
                      </a: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60000"/>
                        <a:buFontTx/>
                        <a:buNone/>
                        <a:tabLst/>
                      </a:pPr>
                      <a:endParaRPr kumimoji="0" lang="en-US" sz="13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b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60000"/>
                        <a:buFontTx/>
                        <a:buNone/>
                        <a:tabLst/>
                      </a:pPr>
                      <a:r>
                        <a:rPr kumimoji="0" lang="en-US" altLang="ko-KR" sz="13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굴림" pitchFamily="50" charset="-127"/>
                          <a:cs typeface="Arial" charset="0"/>
                        </a:rPr>
                        <a:t>yes</a:t>
                      </a:r>
                      <a:endParaRPr kumimoji="0" lang="en-US" sz="13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굴림" pitchFamily="50" charset="-127"/>
                        <a:cs typeface="Arial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60000"/>
                        <a:buFontTx/>
                        <a:buNone/>
                        <a:tabLst/>
                      </a:pPr>
                      <a:r>
                        <a:rPr kumimoji="0" lang="en-US" altLang="ko-KR" sz="13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굴림" pitchFamily="50" charset="-127"/>
                          <a:cs typeface="Arial" charset="0"/>
                        </a:rPr>
                        <a:t>no</a:t>
                      </a:r>
                      <a:endParaRPr kumimoji="0" lang="en-US" sz="13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굴림" pitchFamily="50" charset="-127"/>
                        <a:cs typeface="Arial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60000"/>
                        <a:buFontTx/>
                        <a:buNone/>
                        <a:tabLst/>
                      </a:pPr>
                      <a:r>
                        <a:rPr kumimoji="0" lang="en-US" altLang="ko-KR" sz="13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굴림" pitchFamily="50" charset="-127"/>
                          <a:cs typeface="Arial" charset="0"/>
                        </a:rPr>
                        <a:t>high</a:t>
                      </a:r>
                      <a:endParaRPr kumimoji="0" lang="en-US" sz="13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굴림" pitchFamily="50" charset="-127"/>
                        <a:cs typeface="Arial" charset="0"/>
                      </a:endParaRPr>
                    </a:p>
                  </a:txBody>
                  <a:tcPr anchor="b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60000"/>
                        <a:buFontTx/>
                        <a:buNone/>
                        <a:tabLst/>
                      </a:pPr>
                      <a:r>
                        <a:rPr kumimoji="0" lang="en-US" altLang="ko-KR" sz="13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굴림" pitchFamily="50" charset="-127"/>
                          <a:cs typeface="Arial" charset="0"/>
                        </a:rPr>
                        <a:t>2</a:t>
                      </a:r>
                      <a:endParaRPr kumimoji="0" lang="en-US" sz="13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굴림" pitchFamily="50" charset="-127"/>
                        <a:cs typeface="Arial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60000"/>
                        <a:buFontTx/>
                        <a:buNone/>
                        <a:tabLst/>
                      </a:pPr>
                      <a:r>
                        <a:rPr kumimoji="0" lang="en-US" altLang="ko-KR" sz="13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굴림" pitchFamily="50" charset="-127"/>
                          <a:cs typeface="Arial" charset="0"/>
                        </a:rPr>
                        <a:t>2</a:t>
                      </a:r>
                      <a:endParaRPr kumimoji="0" lang="en-US" sz="13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굴림" pitchFamily="50" charset="-127"/>
                        <a:cs typeface="Arial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60000"/>
                        <a:buFontTx/>
                        <a:buNone/>
                        <a:tabLst/>
                      </a:pPr>
                      <a:r>
                        <a:rPr kumimoji="0" lang="en-US" altLang="ko-KR" sz="13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굴림" pitchFamily="50" charset="-127"/>
                          <a:cs typeface="Arial" charset="0"/>
                        </a:rPr>
                        <a:t>medium</a:t>
                      </a:r>
                      <a:endParaRPr kumimoji="0" lang="en-US" sz="13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굴림" pitchFamily="50" charset="-127"/>
                        <a:cs typeface="Arial" charset="0"/>
                      </a:endParaRPr>
                    </a:p>
                  </a:txBody>
                  <a:tcPr anchor="b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60000"/>
                        <a:buFontTx/>
                        <a:buNone/>
                        <a:tabLst/>
                      </a:pPr>
                      <a:r>
                        <a:rPr kumimoji="0" lang="en-US" altLang="ko-KR" sz="13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굴림" pitchFamily="50" charset="-127"/>
                          <a:cs typeface="Arial" charset="0"/>
                        </a:rPr>
                        <a:t>4</a:t>
                      </a:r>
                      <a:endParaRPr kumimoji="0" lang="en-US" sz="13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굴림" pitchFamily="50" charset="-127"/>
                        <a:cs typeface="Arial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60000"/>
                        <a:buFontTx/>
                        <a:buNone/>
                        <a:tabLst/>
                      </a:pPr>
                      <a:r>
                        <a:rPr kumimoji="0" lang="en-US" altLang="ko-KR" sz="13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굴림" pitchFamily="50" charset="-127"/>
                          <a:cs typeface="Arial" charset="0"/>
                        </a:rPr>
                        <a:t>2</a:t>
                      </a:r>
                      <a:endParaRPr kumimoji="0" lang="en-US" sz="13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굴림" pitchFamily="50" charset="-127"/>
                        <a:cs typeface="Arial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60000"/>
                        <a:buFontTx/>
                        <a:buNone/>
                        <a:tabLst/>
                      </a:pPr>
                      <a:r>
                        <a:rPr kumimoji="0" lang="en-US" altLang="ko-KR" sz="13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굴림" pitchFamily="50" charset="-127"/>
                          <a:cs typeface="Arial" charset="0"/>
                        </a:rPr>
                        <a:t>low</a:t>
                      </a:r>
                      <a:endParaRPr kumimoji="0" lang="en-US" sz="13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굴림" pitchFamily="50" charset="-127"/>
                        <a:cs typeface="Arial" charset="0"/>
                      </a:endParaRPr>
                    </a:p>
                  </a:txBody>
                  <a:tcPr anchor="b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60000"/>
                        <a:buFontTx/>
                        <a:buNone/>
                        <a:tabLst/>
                      </a:pPr>
                      <a:r>
                        <a:rPr kumimoji="0" lang="en-US" altLang="ko-KR" sz="13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굴림" pitchFamily="50" charset="-127"/>
                          <a:cs typeface="Arial" charset="0"/>
                        </a:rPr>
                        <a:t>3</a:t>
                      </a:r>
                      <a:endParaRPr kumimoji="0" lang="en-US" sz="13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굴림" pitchFamily="50" charset="-127"/>
                        <a:cs typeface="Arial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60000"/>
                        <a:buFontTx/>
                        <a:buNone/>
                        <a:tabLst/>
                      </a:pPr>
                      <a:r>
                        <a:rPr kumimoji="0" lang="en-US" altLang="ko-KR" sz="13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굴림" pitchFamily="50" charset="-127"/>
                          <a:cs typeface="Arial" charset="0"/>
                        </a:rPr>
                        <a:t>1</a:t>
                      </a:r>
                      <a:endParaRPr kumimoji="0" lang="en-US" sz="13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굴림" pitchFamily="50" charset="-127"/>
                        <a:cs typeface="Arial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6724" name="Rectangle 167">
            <a:extLst>
              <a:ext uri="{FF2B5EF4-FFF2-40B4-BE49-F238E27FC236}">
                <a16:creationId xmlns:a16="http://schemas.microsoft.com/office/drawing/2014/main" id="{6749D367-7BA6-48C5-86FD-373C847B9FD9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62800" y="4114800"/>
            <a:ext cx="1600200" cy="70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/>
            <a:r>
              <a:rPr lang="en-US" altLang="en-US" sz="2000"/>
              <a:t>AVC-set on </a:t>
            </a:r>
          </a:p>
          <a:p>
            <a:pPr algn="ctr" eaLnBrk="1" hangingPunct="1"/>
            <a:r>
              <a:rPr lang="en-US" altLang="ko-KR" sz="2000" i="1">
                <a:ea typeface="Gulim" panose="020B0600000101010101" pitchFamily="34" charset="-127"/>
              </a:rPr>
              <a:t>credit_rating</a:t>
            </a:r>
            <a:endParaRPr lang="en-US" altLang="en-US" sz="2000" i="1"/>
          </a:p>
        </p:txBody>
      </p:sp>
    </p:spTree>
  </p:cSld>
  <p:clrMapOvr>
    <a:masterClrMapping/>
  </p:clrMapOvr>
  <p:transition>
    <p:zoom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Slide Number Placeholder 5">
            <a:extLst>
              <a:ext uri="{FF2B5EF4-FFF2-40B4-BE49-F238E27FC236}">
                <a16:creationId xmlns:a16="http://schemas.microsoft.com/office/drawing/2014/main" id="{CBA7142C-B261-4B6E-8A3C-15621E8A031D}"/>
              </a:ext>
            </a:extLst>
          </p:cNvPr>
          <p:cNvSpPr txBox="1">
            <a:spLocks noGrp="1"/>
          </p:cNvSpPr>
          <p:nvPr/>
        </p:nvSpPr>
        <p:spPr bwMode="auto">
          <a:xfrm>
            <a:off x="7239000" y="6477000"/>
            <a:ext cx="1905000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r" eaLnBrk="1" hangingPunct="1"/>
            <a:fld id="{4398A2D6-6490-4270-A240-82AF996C2B39}" type="slidenum">
              <a:rPr lang="en-US" altLang="en-US" sz="1200"/>
              <a:pPr algn="r" eaLnBrk="1" hangingPunct="1"/>
              <a:t>25</a:t>
            </a:fld>
            <a:endParaRPr lang="en-US" altLang="en-US" sz="1200"/>
          </a:p>
        </p:txBody>
      </p:sp>
      <p:sp>
        <p:nvSpPr>
          <p:cNvPr id="27651" name="Rectangle 2">
            <a:extLst>
              <a:ext uri="{FF2B5EF4-FFF2-40B4-BE49-F238E27FC236}">
                <a16:creationId xmlns:a16="http://schemas.microsoft.com/office/drawing/2014/main" id="{32276A96-89EE-41A2-ADA9-9E13D7AD343D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381000" y="304800"/>
            <a:ext cx="8229600" cy="838200"/>
          </a:xfrm>
        </p:spPr>
        <p:txBody>
          <a:bodyPr/>
          <a:lstStyle/>
          <a:p>
            <a:pPr eaLnBrk="1" hangingPunct="1"/>
            <a:r>
              <a:rPr lang="en-US" altLang="en-US"/>
              <a:t>BOAT (Bootstrapped Optimistic Algorithm for Tree Construction)</a:t>
            </a:r>
            <a:endParaRPr lang="en-US" altLang="ko-KR" b="0">
              <a:latin typeface="Arial" panose="020B0604020202020204" pitchFamily="34" charset="0"/>
              <a:ea typeface="Gulim" panose="020B0600000101010101" pitchFamily="34" charset="-127"/>
            </a:endParaRPr>
          </a:p>
        </p:txBody>
      </p:sp>
      <p:sp>
        <p:nvSpPr>
          <p:cNvPr id="27652" name="Rectangle 3">
            <a:extLst>
              <a:ext uri="{FF2B5EF4-FFF2-40B4-BE49-F238E27FC236}">
                <a16:creationId xmlns:a16="http://schemas.microsoft.com/office/drawing/2014/main" id="{B60C7AF8-D677-47C0-BBB7-9A1E92FFC318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381000" y="1447800"/>
            <a:ext cx="8229600" cy="5005388"/>
          </a:xfrm>
        </p:spPr>
        <p:txBody>
          <a:bodyPr/>
          <a:lstStyle/>
          <a:p>
            <a:pPr eaLnBrk="1" hangingPunct="1">
              <a:lnSpc>
                <a:spcPct val="130000"/>
              </a:lnSpc>
            </a:pPr>
            <a:r>
              <a:rPr lang="en-US" altLang="en-US" sz="2400">
                <a:latin typeface="Arial" panose="020B0604020202020204" pitchFamily="34" charset="0"/>
              </a:rPr>
              <a:t>Use a statistical technique called </a:t>
            </a:r>
            <a:r>
              <a:rPr lang="en-US" altLang="en-US" sz="2400" i="1">
                <a:latin typeface="Arial" panose="020B0604020202020204" pitchFamily="34" charset="0"/>
              </a:rPr>
              <a:t>bootstrapping</a:t>
            </a:r>
            <a:r>
              <a:rPr lang="en-US" altLang="en-US" sz="2400">
                <a:latin typeface="Arial" panose="020B0604020202020204" pitchFamily="34" charset="0"/>
              </a:rPr>
              <a:t> to create several smaller samples (subsets), each fits in memory</a:t>
            </a:r>
          </a:p>
          <a:p>
            <a:pPr eaLnBrk="1" hangingPunct="1">
              <a:lnSpc>
                <a:spcPct val="130000"/>
              </a:lnSpc>
            </a:pPr>
            <a:r>
              <a:rPr lang="en-US" altLang="ko-KR" sz="2400">
                <a:latin typeface="Arial" panose="020B0604020202020204" pitchFamily="34" charset="0"/>
                <a:ea typeface="Gulim" panose="020B0600000101010101" pitchFamily="34" charset="-127"/>
              </a:rPr>
              <a:t>Each subset is used to create a tree, resulting in several trees </a:t>
            </a:r>
          </a:p>
          <a:p>
            <a:pPr eaLnBrk="1" hangingPunct="1">
              <a:lnSpc>
                <a:spcPct val="130000"/>
              </a:lnSpc>
            </a:pPr>
            <a:r>
              <a:rPr lang="en-US" altLang="ko-KR" sz="2400">
                <a:latin typeface="Arial" panose="020B0604020202020204" pitchFamily="34" charset="0"/>
                <a:ea typeface="Gulim" panose="020B0600000101010101" pitchFamily="34" charset="-127"/>
              </a:rPr>
              <a:t>These trees are examined and used to construct a new tree </a:t>
            </a:r>
            <a:r>
              <a:rPr lang="en-US" altLang="ko-KR" sz="2400" i="1">
                <a:latin typeface="Arial" panose="020B0604020202020204" pitchFamily="34" charset="0"/>
                <a:ea typeface="Gulim" panose="020B0600000101010101" pitchFamily="34" charset="-127"/>
              </a:rPr>
              <a:t>T’</a:t>
            </a:r>
          </a:p>
          <a:p>
            <a:pPr lvl="1" eaLnBrk="1" hangingPunct="1">
              <a:lnSpc>
                <a:spcPct val="130000"/>
              </a:lnSpc>
            </a:pPr>
            <a:r>
              <a:rPr lang="en-US" altLang="ko-KR" sz="2400">
                <a:latin typeface="Arial" panose="020B0604020202020204" pitchFamily="34" charset="0"/>
                <a:ea typeface="Gulim" panose="020B0600000101010101" pitchFamily="34" charset="-127"/>
              </a:rPr>
              <a:t>It turns out that</a:t>
            </a:r>
            <a:r>
              <a:rPr lang="en-US" altLang="ko-KR" sz="2400" i="1">
                <a:latin typeface="Arial" panose="020B0604020202020204" pitchFamily="34" charset="0"/>
                <a:ea typeface="Gulim" panose="020B0600000101010101" pitchFamily="34" charset="-127"/>
              </a:rPr>
              <a:t> T’</a:t>
            </a:r>
            <a:r>
              <a:rPr lang="en-US" altLang="ko-KR" sz="2400">
                <a:latin typeface="Arial" panose="020B0604020202020204" pitchFamily="34" charset="0"/>
                <a:ea typeface="Gulim" panose="020B0600000101010101" pitchFamily="34" charset="-127"/>
              </a:rPr>
              <a:t> is very close to the tree that would be generated using the whole data set together</a:t>
            </a:r>
          </a:p>
          <a:p>
            <a:pPr eaLnBrk="1" hangingPunct="1">
              <a:lnSpc>
                <a:spcPct val="130000"/>
              </a:lnSpc>
            </a:pPr>
            <a:r>
              <a:rPr lang="en-US" altLang="ko-KR" sz="2400">
                <a:latin typeface="Arial" panose="020B0604020202020204" pitchFamily="34" charset="0"/>
                <a:ea typeface="Gulim" panose="020B0600000101010101" pitchFamily="34" charset="-127"/>
              </a:rPr>
              <a:t>Adv: requires only two scans of DB, an incremental alg.</a:t>
            </a:r>
          </a:p>
          <a:p>
            <a:pPr eaLnBrk="1" hangingPunct="1">
              <a:lnSpc>
                <a:spcPct val="130000"/>
              </a:lnSpc>
            </a:pPr>
            <a:endParaRPr lang="en-US" altLang="ko-KR" sz="2400">
              <a:latin typeface="Arial" panose="020B0604020202020204" pitchFamily="34" charset="0"/>
              <a:ea typeface="Gulim" panose="020B0600000101010101" pitchFamily="34" charset="-127"/>
            </a:endParaRPr>
          </a:p>
        </p:txBody>
      </p:sp>
    </p:spTree>
  </p:cSld>
  <p:clrMapOvr>
    <a:masterClrMapping/>
  </p:clrMapOvr>
  <p:transition>
    <p:zoom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Date Placeholder 3">
            <a:extLst>
              <a:ext uri="{FF2B5EF4-FFF2-40B4-BE49-F238E27FC236}">
                <a16:creationId xmlns:a16="http://schemas.microsoft.com/office/drawing/2014/main" id="{7A46BBC3-7338-4B91-B01E-F38F590DD970}"/>
              </a:ext>
            </a:extLst>
          </p:cNvPr>
          <p:cNvSpPr>
            <a:spLocks noGrp="1"/>
          </p:cNvSpPr>
          <p:nvPr>
            <p:ph type="dt" sz="quarter" idx="4294967295"/>
          </p:nvPr>
        </p:nvSpPr>
        <p:spPr bwMode="auto">
          <a:xfrm>
            <a:off x="304800" y="6477000"/>
            <a:ext cx="1905000" cy="381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fld id="{92B6EAA3-25F8-44FF-A719-FFFC84FF8AF5}" type="datetime4">
              <a:rPr lang="en-US" altLang="en-US" sz="1200"/>
              <a:pPr eaLnBrk="1" hangingPunct="1"/>
              <a:t>April 27, 2026</a:t>
            </a:fld>
            <a:endParaRPr lang="en-US" altLang="en-US" sz="1200"/>
          </a:p>
        </p:txBody>
      </p:sp>
      <p:sp>
        <p:nvSpPr>
          <p:cNvPr id="28675" name="Footer Placeholder 4">
            <a:extLst>
              <a:ext uri="{FF2B5EF4-FFF2-40B4-BE49-F238E27FC236}">
                <a16:creationId xmlns:a16="http://schemas.microsoft.com/office/drawing/2014/main" id="{0BD4656A-AEDE-4867-8385-4609C5134D55}"/>
              </a:ext>
            </a:extLst>
          </p:cNvPr>
          <p:cNvSpPr>
            <a:spLocks noGrp="1"/>
          </p:cNvSpPr>
          <p:nvPr>
            <p:ph type="ftr" sz="quarter" idx="4294967295"/>
          </p:nvPr>
        </p:nvSpPr>
        <p:spPr bwMode="auto">
          <a:xfrm>
            <a:off x="3352800" y="6477000"/>
            <a:ext cx="2895600" cy="381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/>
            <a:r>
              <a:rPr lang="en-US" altLang="en-US" sz="1200"/>
              <a:t>Data Mining: Concepts and Techniques</a:t>
            </a:r>
          </a:p>
        </p:txBody>
      </p:sp>
      <p:sp>
        <p:nvSpPr>
          <p:cNvPr id="28676" name="Slide Number Placeholder 5">
            <a:extLst>
              <a:ext uri="{FF2B5EF4-FFF2-40B4-BE49-F238E27FC236}">
                <a16:creationId xmlns:a16="http://schemas.microsoft.com/office/drawing/2014/main" id="{16EE127F-8311-4187-8143-279E768140F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fld id="{2F29AD42-D8C3-44AF-95DB-30573526F783}" type="slidenum">
              <a:rPr lang="en-US" altLang="en-US"/>
              <a:pPr eaLnBrk="1" hangingPunct="1"/>
              <a:t>26</a:t>
            </a:fld>
            <a:endParaRPr lang="en-US" altLang="en-US"/>
          </a:p>
        </p:txBody>
      </p:sp>
      <p:sp>
        <p:nvSpPr>
          <p:cNvPr id="28677" name="Rectangle 2">
            <a:extLst>
              <a:ext uri="{FF2B5EF4-FFF2-40B4-BE49-F238E27FC236}">
                <a16:creationId xmlns:a16="http://schemas.microsoft.com/office/drawing/2014/main" id="{49EA9135-8FC5-4830-8F8A-24334E5D4FF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152400"/>
            <a:ext cx="9144000" cy="406400"/>
          </a:xfrm>
          <a:noFill/>
        </p:spPr>
        <p:txBody>
          <a:bodyPr lIns="92075" tIns="46038" rIns="92075" bIns="46038" anchor="ctr"/>
          <a:lstStyle/>
          <a:p>
            <a:pPr eaLnBrk="1" hangingPunct="1"/>
            <a:r>
              <a:rPr lang="en-US" altLang="en-US"/>
              <a:t>Presentation of Classification Results</a:t>
            </a:r>
            <a:endParaRPr lang="en-US" altLang="en-US" sz="2400"/>
          </a:p>
        </p:txBody>
      </p:sp>
      <p:pic>
        <p:nvPicPr>
          <p:cNvPr id="28678" name="Picture 3" descr="class2">
            <a:extLst>
              <a:ext uri="{FF2B5EF4-FFF2-40B4-BE49-F238E27FC236}">
                <a16:creationId xmlns:a16="http://schemas.microsoft.com/office/drawing/2014/main" id="{065D0F45-165C-4F8C-85FA-5651F2DCA6D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" y="685800"/>
            <a:ext cx="8763000" cy="6172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>
    <p:zoom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Date Placeholder 3">
            <a:extLst>
              <a:ext uri="{FF2B5EF4-FFF2-40B4-BE49-F238E27FC236}">
                <a16:creationId xmlns:a16="http://schemas.microsoft.com/office/drawing/2014/main" id="{48A1E6E3-DB4F-430B-B3E3-6003B1444B8F}"/>
              </a:ext>
            </a:extLst>
          </p:cNvPr>
          <p:cNvSpPr>
            <a:spLocks noGrp="1"/>
          </p:cNvSpPr>
          <p:nvPr>
            <p:ph type="dt" sz="quarter" idx="4294967295"/>
          </p:nvPr>
        </p:nvSpPr>
        <p:spPr bwMode="auto">
          <a:xfrm>
            <a:off x="304800" y="6477000"/>
            <a:ext cx="1905000" cy="381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fld id="{2916CD22-F0C0-4045-829E-CEEFADEBBD97}" type="datetime4">
              <a:rPr lang="en-US" altLang="en-US" sz="1200"/>
              <a:pPr eaLnBrk="1" hangingPunct="1"/>
              <a:t>April 27, 2026</a:t>
            </a:fld>
            <a:endParaRPr lang="en-US" altLang="en-US" sz="1200"/>
          </a:p>
        </p:txBody>
      </p:sp>
      <p:sp>
        <p:nvSpPr>
          <p:cNvPr id="29699" name="Footer Placeholder 4">
            <a:extLst>
              <a:ext uri="{FF2B5EF4-FFF2-40B4-BE49-F238E27FC236}">
                <a16:creationId xmlns:a16="http://schemas.microsoft.com/office/drawing/2014/main" id="{781ECE0B-4B51-430C-9023-C866E5E9A15F}"/>
              </a:ext>
            </a:extLst>
          </p:cNvPr>
          <p:cNvSpPr>
            <a:spLocks noGrp="1"/>
          </p:cNvSpPr>
          <p:nvPr>
            <p:ph type="ftr" sz="quarter" idx="4294967295"/>
          </p:nvPr>
        </p:nvSpPr>
        <p:spPr bwMode="auto">
          <a:xfrm>
            <a:off x="3352800" y="6477000"/>
            <a:ext cx="2895600" cy="381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/>
            <a:r>
              <a:rPr lang="en-US" altLang="en-US" sz="1200"/>
              <a:t>Data Mining: Concepts and Techniques</a:t>
            </a:r>
          </a:p>
        </p:txBody>
      </p:sp>
      <p:sp>
        <p:nvSpPr>
          <p:cNvPr id="29700" name="Slide Number Placeholder 5">
            <a:extLst>
              <a:ext uri="{FF2B5EF4-FFF2-40B4-BE49-F238E27FC236}">
                <a16:creationId xmlns:a16="http://schemas.microsoft.com/office/drawing/2014/main" id="{11A96134-DDD3-4A5D-9138-DED573EA0F9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fld id="{3A95EB64-342F-45AE-A701-5E7FFF751B1D}" type="slidenum">
              <a:rPr lang="en-US" altLang="en-US"/>
              <a:pPr eaLnBrk="1" hangingPunct="1"/>
              <a:t>27</a:t>
            </a:fld>
            <a:endParaRPr lang="en-US" altLang="en-US"/>
          </a:p>
        </p:txBody>
      </p:sp>
      <p:sp>
        <p:nvSpPr>
          <p:cNvPr id="29701" name="Rectangle 2050">
            <a:extLst>
              <a:ext uri="{FF2B5EF4-FFF2-40B4-BE49-F238E27FC236}">
                <a16:creationId xmlns:a16="http://schemas.microsoft.com/office/drawing/2014/main" id="{44C675A0-0131-410A-A7B4-9F831E4B242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76200"/>
            <a:ext cx="9144000" cy="533400"/>
          </a:xfrm>
        </p:spPr>
        <p:txBody>
          <a:bodyPr/>
          <a:lstStyle/>
          <a:p>
            <a:pPr eaLnBrk="1" hangingPunct="1"/>
            <a:r>
              <a:rPr lang="en-US" altLang="en-US" sz="3200">
                <a:solidFill>
                  <a:srgbClr val="170981"/>
                </a:solidFill>
              </a:rPr>
              <a:t>Visualization of a Decision Tree in SGI/MineSet 3.0</a:t>
            </a:r>
          </a:p>
        </p:txBody>
      </p:sp>
      <p:pic>
        <p:nvPicPr>
          <p:cNvPr id="29702" name="Picture 2051">
            <a:extLst>
              <a:ext uri="{FF2B5EF4-FFF2-40B4-BE49-F238E27FC236}">
                <a16:creationId xmlns:a16="http://schemas.microsoft.com/office/drawing/2014/main" id="{D9680B52-F8BE-4474-9A53-0409419CE8E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85800"/>
            <a:ext cx="9144000" cy="6172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>
    <p:zoom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Footer Placeholder 3">
            <a:extLst>
              <a:ext uri="{FF2B5EF4-FFF2-40B4-BE49-F238E27FC236}">
                <a16:creationId xmlns:a16="http://schemas.microsoft.com/office/drawing/2014/main" id="{1BF43584-B53C-4C14-96FE-F9AA7678A765}"/>
              </a:ext>
            </a:extLst>
          </p:cNvPr>
          <p:cNvSpPr>
            <a:spLocks noGrp="1"/>
          </p:cNvSpPr>
          <p:nvPr>
            <p:ph type="ftr" sz="quarter" idx="4294967295"/>
          </p:nvPr>
        </p:nvSpPr>
        <p:spPr bwMode="auto">
          <a:xfrm>
            <a:off x="3352800" y="6477000"/>
            <a:ext cx="2895600" cy="381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/>
            <a:r>
              <a:rPr lang="en-US" altLang="en-US" sz="1200"/>
              <a:t>Data Mining: Concepts and Techniques</a:t>
            </a:r>
          </a:p>
        </p:txBody>
      </p:sp>
      <p:sp>
        <p:nvSpPr>
          <p:cNvPr id="30723" name="Slide Number Placeholder 4">
            <a:extLst>
              <a:ext uri="{FF2B5EF4-FFF2-40B4-BE49-F238E27FC236}">
                <a16:creationId xmlns:a16="http://schemas.microsoft.com/office/drawing/2014/main" id="{0E6BF509-CE4D-49A7-8FC8-55A05E6A156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fld id="{6FFB3DAE-38B4-4FA5-AFFA-E5F39AA4D847}" type="slidenum">
              <a:rPr lang="en-US" altLang="en-US"/>
              <a:pPr eaLnBrk="1" hangingPunct="1"/>
              <a:t>28</a:t>
            </a:fld>
            <a:endParaRPr lang="en-US" altLang="en-US"/>
          </a:p>
        </p:txBody>
      </p:sp>
      <p:sp>
        <p:nvSpPr>
          <p:cNvPr id="30724" name="Rectangle 2">
            <a:extLst>
              <a:ext uri="{FF2B5EF4-FFF2-40B4-BE49-F238E27FC236}">
                <a16:creationId xmlns:a16="http://schemas.microsoft.com/office/drawing/2014/main" id="{3A99B4C1-361E-49B1-B376-B0C29E456A0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28600" y="152400"/>
            <a:ext cx="8686800" cy="990600"/>
          </a:xfrm>
        </p:spPr>
        <p:txBody>
          <a:bodyPr/>
          <a:lstStyle/>
          <a:p>
            <a:pPr eaLnBrk="1" hangingPunct="1"/>
            <a:r>
              <a:rPr lang="en-US" altLang="en-US">
                <a:solidFill>
                  <a:schemeClr val="hlink"/>
                </a:solidFill>
              </a:rPr>
              <a:t>Interactive Visual Mining</a:t>
            </a:r>
            <a:r>
              <a:rPr lang="en-US" altLang="en-US"/>
              <a:t> by Perception-Based Classification (PBC)</a:t>
            </a:r>
          </a:p>
        </p:txBody>
      </p:sp>
      <p:pic>
        <p:nvPicPr>
          <p:cNvPr id="30725" name="Picture 3">
            <a:extLst>
              <a:ext uri="{FF2B5EF4-FFF2-40B4-BE49-F238E27FC236}">
                <a16:creationId xmlns:a16="http://schemas.microsoft.com/office/drawing/2014/main" id="{7353F849-010E-4174-8EE8-DB95D8558D2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5800" y="1066800"/>
            <a:ext cx="7696200" cy="5791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>
    <p:zoom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Slide Number Placeholder 6">
            <a:extLst>
              <a:ext uri="{FF2B5EF4-FFF2-40B4-BE49-F238E27FC236}">
                <a16:creationId xmlns:a16="http://schemas.microsoft.com/office/drawing/2014/main" id="{80118F01-C444-4D77-AC40-8F71AA51CD86}"/>
              </a:ext>
            </a:extLst>
          </p:cNvPr>
          <p:cNvSpPr txBox="1">
            <a:spLocks noGrp="1"/>
          </p:cNvSpPr>
          <p:nvPr/>
        </p:nvSpPr>
        <p:spPr bwMode="auto">
          <a:xfrm>
            <a:off x="7239000" y="6477000"/>
            <a:ext cx="1905000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r" eaLnBrk="1" hangingPunct="1"/>
            <a:fld id="{3E4069DB-6CB2-44EF-AD87-9880A8722D9D}" type="slidenum">
              <a:rPr lang="en-US" altLang="en-US" sz="1400" b="1">
                <a:latin typeface="Calibri" panose="020F0502020204030204" pitchFamily="34" charset="0"/>
              </a:rPr>
              <a:pPr algn="r" eaLnBrk="1" hangingPunct="1"/>
              <a:t>29</a:t>
            </a:fld>
            <a:endParaRPr lang="en-US" altLang="en-US" sz="1400" b="1">
              <a:latin typeface="Calibri" panose="020F0502020204030204" pitchFamily="34" charset="0"/>
            </a:endParaRPr>
          </a:p>
        </p:txBody>
      </p:sp>
      <p:sp>
        <p:nvSpPr>
          <p:cNvPr id="31747" name="Rectangle 2">
            <a:extLst>
              <a:ext uri="{FF2B5EF4-FFF2-40B4-BE49-F238E27FC236}">
                <a16:creationId xmlns:a16="http://schemas.microsoft.com/office/drawing/2014/main" id="{07C5BEB6-B770-4905-A778-3CDC51C4183C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0" y="304800"/>
            <a:ext cx="9144000" cy="609600"/>
          </a:xfrm>
          <a:noFill/>
        </p:spPr>
        <p:txBody>
          <a:bodyPr lIns="92075" tIns="46038" rIns="92075" bIns="46038" anchor="ctr"/>
          <a:lstStyle/>
          <a:p>
            <a:pPr eaLnBrk="1" hangingPunct="1"/>
            <a:r>
              <a:rPr lang="en-US" altLang="en-US"/>
              <a:t>Chapter 8. Classification: Basic Concepts</a:t>
            </a:r>
          </a:p>
        </p:txBody>
      </p:sp>
      <p:sp>
        <p:nvSpPr>
          <p:cNvPr id="31748" name="Rectangle 3">
            <a:extLst>
              <a:ext uri="{FF2B5EF4-FFF2-40B4-BE49-F238E27FC236}">
                <a16:creationId xmlns:a16="http://schemas.microsoft.com/office/drawing/2014/main" id="{6A79E82E-BAD7-45C2-B9DB-D391376F3523}"/>
              </a:ext>
            </a:extLst>
          </p:cNvPr>
          <p:cNvSpPr>
            <a:spLocks noGrp="1" noChangeArrowheads="1"/>
          </p:cNvSpPr>
          <p:nvPr>
            <p:ph type="body" sz="half" idx="4294967295"/>
          </p:nvPr>
        </p:nvSpPr>
        <p:spPr>
          <a:xfrm>
            <a:off x="304800" y="1447800"/>
            <a:ext cx="8382000" cy="5105400"/>
          </a:xfrm>
          <a:noFill/>
        </p:spPr>
        <p:txBody>
          <a:bodyPr lIns="92075" tIns="46038" rIns="92075" bIns="46038"/>
          <a:lstStyle/>
          <a:p>
            <a:pPr>
              <a:lnSpc>
                <a:spcPct val="130000"/>
              </a:lnSpc>
            </a:pPr>
            <a:r>
              <a:rPr lang="en-US" altLang="en-US"/>
              <a:t>Classification: Basic Concepts</a:t>
            </a:r>
          </a:p>
          <a:p>
            <a:pPr>
              <a:lnSpc>
                <a:spcPct val="130000"/>
              </a:lnSpc>
            </a:pPr>
            <a:r>
              <a:rPr lang="en-US" altLang="en-US"/>
              <a:t>Decision Tree Induction</a:t>
            </a:r>
          </a:p>
          <a:p>
            <a:pPr>
              <a:lnSpc>
                <a:spcPct val="130000"/>
              </a:lnSpc>
            </a:pPr>
            <a:r>
              <a:rPr lang="en-US" altLang="en-US"/>
              <a:t>Bayes Classification Methods</a:t>
            </a:r>
          </a:p>
          <a:p>
            <a:pPr>
              <a:lnSpc>
                <a:spcPct val="130000"/>
              </a:lnSpc>
            </a:pPr>
            <a:r>
              <a:rPr lang="en-US" altLang="en-US"/>
              <a:t>Rule-Based Classification</a:t>
            </a:r>
          </a:p>
          <a:p>
            <a:pPr>
              <a:lnSpc>
                <a:spcPct val="130000"/>
              </a:lnSpc>
            </a:pPr>
            <a:r>
              <a:rPr lang="en-US" altLang="en-US"/>
              <a:t>Model Evaluation and Selection</a:t>
            </a:r>
          </a:p>
          <a:p>
            <a:pPr>
              <a:lnSpc>
                <a:spcPct val="130000"/>
              </a:lnSpc>
            </a:pPr>
            <a:r>
              <a:rPr lang="en-US" altLang="en-US"/>
              <a:t>Techniques to Improve Classification Accuracy: Ensemble Methods</a:t>
            </a:r>
          </a:p>
          <a:p>
            <a:pPr>
              <a:lnSpc>
                <a:spcPct val="130000"/>
              </a:lnSpc>
            </a:pPr>
            <a:r>
              <a:rPr lang="en-US" altLang="en-US"/>
              <a:t>Summary</a:t>
            </a:r>
          </a:p>
        </p:txBody>
      </p:sp>
      <p:sp>
        <p:nvSpPr>
          <p:cNvPr id="31749" name="AutoShape 8">
            <a:extLst>
              <a:ext uri="{FF2B5EF4-FFF2-40B4-BE49-F238E27FC236}">
                <a16:creationId xmlns:a16="http://schemas.microsoft.com/office/drawing/2014/main" id="{0E47EE0D-1838-4A92-A7F4-5852353E631C}"/>
              </a:ext>
            </a:extLst>
          </p:cNvPr>
          <p:cNvSpPr>
            <a:spLocks noChangeArrowheads="1"/>
          </p:cNvSpPr>
          <p:nvPr/>
        </p:nvSpPr>
        <p:spPr bwMode="auto">
          <a:xfrm rot="9803581">
            <a:off x="5334000" y="2743200"/>
            <a:ext cx="533400" cy="381000"/>
          </a:xfrm>
          <a:prstGeom prst="notchedRightArrow">
            <a:avLst>
              <a:gd name="adj1" fmla="val 50000"/>
              <a:gd name="adj2" fmla="val 35000"/>
            </a:avLst>
          </a:prstGeom>
          <a:solidFill>
            <a:srgbClr val="FF99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rot="10800000" wrap="none" anchor="ctr"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</p:spTree>
  </p:cSld>
  <p:clrMapOvr>
    <a:masterClrMapping/>
  </p:clrMapOvr>
  <p:transition>
    <p:zoom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Slide Number Placeholder 5">
            <a:extLst>
              <a:ext uri="{FF2B5EF4-FFF2-40B4-BE49-F238E27FC236}">
                <a16:creationId xmlns:a16="http://schemas.microsoft.com/office/drawing/2014/main" id="{B1F0A693-E4AF-49A1-893C-3B6A1BFFD6D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fld id="{1EDD5537-6665-4EE8-A1AB-6E366D2E29C6}" type="slidenum">
              <a:rPr lang="en-US" altLang="en-US"/>
              <a:pPr eaLnBrk="1" hangingPunct="1"/>
              <a:t>30</a:t>
            </a:fld>
            <a:endParaRPr lang="en-US" altLang="en-US"/>
          </a:p>
        </p:txBody>
      </p:sp>
      <p:sp>
        <p:nvSpPr>
          <p:cNvPr id="32771" name="Rectangle 2">
            <a:extLst>
              <a:ext uri="{FF2B5EF4-FFF2-40B4-BE49-F238E27FC236}">
                <a16:creationId xmlns:a16="http://schemas.microsoft.com/office/drawing/2014/main" id="{79400BB6-4DB7-42F0-8739-6C7F738FA28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09600" y="228600"/>
            <a:ext cx="7696200" cy="685800"/>
          </a:xfrm>
          <a:noFill/>
        </p:spPr>
        <p:txBody>
          <a:bodyPr lIns="92075" tIns="46038" rIns="92075" bIns="46038" anchor="ctr"/>
          <a:lstStyle/>
          <a:p>
            <a:pPr eaLnBrk="1" hangingPunct="1"/>
            <a:r>
              <a:rPr lang="en-US" altLang="en-US"/>
              <a:t>Bayesian Classification: Why?</a:t>
            </a:r>
            <a:endParaRPr lang="en-US" altLang="en-US" sz="2400"/>
          </a:p>
        </p:txBody>
      </p:sp>
      <p:sp>
        <p:nvSpPr>
          <p:cNvPr id="32772" name="Rectangle 3">
            <a:extLst>
              <a:ext uri="{FF2B5EF4-FFF2-40B4-BE49-F238E27FC236}">
                <a16:creationId xmlns:a16="http://schemas.microsoft.com/office/drawing/2014/main" id="{E1880AB9-D294-4072-B1CF-2560D1C662E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81000" y="1371600"/>
            <a:ext cx="8458200" cy="5105400"/>
          </a:xfrm>
          <a:noFill/>
        </p:spPr>
        <p:txBody>
          <a:bodyPr lIns="92075" tIns="46038" rIns="92075" bIns="46038"/>
          <a:lstStyle/>
          <a:p>
            <a:pPr eaLnBrk="1" hangingPunct="1">
              <a:lnSpc>
                <a:spcPct val="110000"/>
              </a:lnSpc>
            </a:pPr>
            <a:r>
              <a:rPr lang="en-US" altLang="en-US" sz="2400" u="sng"/>
              <a:t>A statistical classifier</a:t>
            </a:r>
            <a:r>
              <a:rPr lang="en-US" altLang="en-US" sz="2400"/>
              <a:t>: performs </a:t>
            </a:r>
            <a:r>
              <a:rPr lang="en-US" altLang="en-US" sz="2400" i="1"/>
              <a:t>probabilistic prediction, i.e.,</a:t>
            </a:r>
            <a:r>
              <a:rPr lang="en-US" altLang="en-US" sz="2400"/>
              <a:t> predicts class membership probabilities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en-US" sz="2400" u="sng"/>
              <a:t>Foundation:</a:t>
            </a:r>
            <a:r>
              <a:rPr lang="en-US" altLang="en-US" sz="2400"/>
              <a:t> Based on Bayes’ Theorem. 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en-US" sz="2400" u="sng"/>
              <a:t>Performance:</a:t>
            </a:r>
            <a:r>
              <a:rPr lang="en-US" altLang="en-US" sz="2400"/>
              <a:t> A simple Bayesian classifier, </a:t>
            </a:r>
            <a:r>
              <a:rPr lang="en-US" altLang="en-US" sz="2400" i="1"/>
              <a:t>naïve Bayesian classifier</a:t>
            </a:r>
            <a:r>
              <a:rPr lang="en-US" altLang="en-US" sz="2400"/>
              <a:t>, has comparable performance with decision tree and selected neural network classifiers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en-US" sz="2400" u="sng"/>
              <a:t>Incremental</a:t>
            </a:r>
            <a:r>
              <a:rPr lang="en-US" altLang="en-US" sz="2400"/>
              <a:t>: Each training example can incrementally increase/decrease the probability that a hypothesis is correct — prior knowledge can be combined with observed data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en-US" sz="2400" u="sng"/>
              <a:t>Standard</a:t>
            </a:r>
            <a:r>
              <a:rPr lang="en-US" altLang="en-US" sz="2400"/>
              <a:t>: Even when Bayesian methods are computationally intractable, they can provide a standard of optimal decision making against which other methods can be measured</a:t>
            </a:r>
          </a:p>
        </p:txBody>
      </p:sp>
    </p:spTree>
  </p:cSld>
  <p:clrMapOvr>
    <a:masterClrMapping/>
  </p:clrMapOvr>
  <p:transition>
    <p:zoom/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Slide Number Placeholder 5">
            <a:extLst>
              <a:ext uri="{FF2B5EF4-FFF2-40B4-BE49-F238E27FC236}">
                <a16:creationId xmlns:a16="http://schemas.microsoft.com/office/drawing/2014/main" id="{57DC7E88-649D-4C5C-B46B-1892C18ACAF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fld id="{D60356D1-FE0D-4A5D-B455-FA46F0A06364}" type="slidenum">
              <a:rPr lang="en-US" altLang="en-US"/>
              <a:pPr eaLnBrk="1" hangingPunct="1"/>
              <a:t>31</a:t>
            </a:fld>
            <a:endParaRPr lang="en-US" altLang="en-US"/>
          </a:p>
        </p:txBody>
      </p:sp>
      <p:sp>
        <p:nvSpPr>
          <p:cNvPr id="33795" name="Rectangle 2">
            <a:extLst>
              <a:ext uri="{FF2B5EF4-FFF2-40B4-BE49-F238E27FC236}">
                <a16:creationId xmlns:a16="http://schemas.microsoft.com/office/drawing/2014/main" id="{357AF24E-ED82-47F8-9EC4-87DC9669A6C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09600" y="152400"/>
            <a:ext cx="7620000" cy="762000"/>
          </a:xfrm>
        </p:spPr>
        <p:txBody>
          <a:bodyPr/>
          <a:lstStyle/>
          <a:p>
            <a:pPr eaLnBrk="1" hangingPunct="1"/>
            <a:r>
              <a:rPr lang="en-US" altLang="en-US"/>
              <a:t>Bayes’ Theorem: Basics</a:t>
            </a:r>
          </a:p>
        </p:txBody>
      </p:sp>
      <p:sp>
        <p:nvSpPr>
          <p:cNvPr id="33796" name="Rectangle 3">
            <a:extLst>
              <a:ext uri="{FF2B5EF4-FFF2-40B4-BE49-F238E27FC236}">
                <a16:creationId xmlns:a16="http://schemas.microsoft.com/office/drawing/2014/main" id="{7AE3FF97-7B9E-4A5C-8A5A-304B31AC494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04800" y="1447800"/>
            <a:ext cx="8610600" cy="5029200"/>
          </a:xfrm>
        </p:spPr>
        <p:txBody>
          <a:bodyPr/>
          <a:lstStyle/>
          <a:p>
            <a:pPr eaLnBrk="1" hangingPunct="1"/>
            <a:r>
              <a:rPr lang="en-US" altLang="en-US" sz="2400"/>
              <a:t>Let </a:t>
            </a:r>
            <a:r>
              <a:rPr lang="en-US" altLang="en-US" sz="2400" b="1"/>
              <a:t>X</a:t>
            </a:r>
            <a:r>
              <a:rPr lang="en-US" altLang="en-US" sz="2400"/>
              <a:t> be a data sample (“</a:t>
            </a:r>
            <a:r>
              <a:rPr lang="en-US" altLang="en-US" sz="2400" i="1"/>
              <a:t>evidence</a:t>
            </a:r>
            <a:r>
              <a:rPr lang="en-US" altLang="en-US" sz="2400"/>
              <a:t>”): class label is unknown</a:t>
            </a:r>
          </a:p>
          <a:p>
            <a:pPr eaLnBrk="1" hangingPunct="1"/>
            <a:r>
              <a:rPr lang="en-US" altLang="en-US" sz="2400"/>
              <a:t>Let H be a </a:t>
            </a:r>
            <a:r>
              <a:rPr lang="en-US" altLang="en-US" sz="2400" i="1"/>
              <a:t>hypothesis</a:t>
            </a:r>
            <a:r>
              <a:rPr lang="en-US" altLang="en-US" sz="2400"/>
              <a:t> that X belongs to class C </a:t>
            </a:r>
          </a:p>
          <a:p>
            <a:pPr eaLnBrk="1" hangingPunct="1"/>
            <a:r>
              <a:rPr lang="en-US" altLang="en-US" sz="2400"/>
              <a:t>Classification is to determine P(H|</a:t>
            </a:r>
            <a:r>
              <a:rPr lang="en-US" altLang="en-US" sz="2400" b="1"/>
              <a:t>X</a:t>
            </a:r>
            <a:r>
              <a:rPr lang="en-US" altLang="en-US" sz="2400"/>
              <a:t>), (</a:t>
            </a:r>
            <a:r>
              <a:rPr lang="en-US" altLang="en-US" sz="2400" i="1"/>
              <a:t>posteriori probability), </a:t>
            </a:r>
            <a:r>
              <a:rPr lang="en-US" altLang="en-US" sz="2400"/>
              <a:t> the probability that the hypothesis holds given the observed data sample </a:t>
            </a:r>
            <a:r>
              <a:rPr lang="en-US" altLang="en-US" sz="2400" b="1"/>
              <a:t>X</a:t>
            </a:r>
          </a:p>
          <a:p>
            <a:pPr eaLnBrk="1" hangingPunct="1"/>
            <a:r>
              <a:rPr lang="en-US" altLang="en-US" sz="2400"/>
              <a:t>P(H) (</a:t>
            </a:r>
            <a:r>
              <a:rPr lang="en-US" altLang="en-US" sz="2400" i="1"/>
              <a:t>prior probability</a:t>
            </a:r>
            <a:r>
              <a:rPr lang="en-US" altLang="en-US" sz="2400"/>
              <a:t>), the initial probability</a:t>
            </a:r>
          </a:p>
          <a:p>
            <a:pPr lvl="1" eaLnBrk="1" hangingPunct="1"/>
            <a:r>
              <a:rPr lang="en-US" altLang="en-US" sz="2400"/>
              <a:t>E.g.,</a:t>
            </a:r>
            <a:r>
              <a:rPr lang="en-US" altLang="en-US" sz="2400" b="1"/>
              <a:t> X</a:t>
            </a:r>
            <a:r>
              <a:rPr lang="en-US" altLang="en-US" sz="2400"/>
              <a:t> will buy computer, regardless of age, income, …</a:t>
            </a:r>
          </a:p>
          <a:p>
            <a:pPr eaLnBrk="1" hangingPunct="1"/>
            <a:r>
              <a:rPr lang="en-US" altLang="en-US" sz="2400"/>
              <a:t>P(</a:t>
            </a:r>
            <a:r>
              <a:rPr lang="en-US" altLang="en-US" sz="2400" b="1"/>
              <a:t>X</a:t>
            </a:r>
            <a:r>
              <a:rPr lang="en-US" altLang="en-US" sz="2400"/>
              <a:t>): probability that sample data is observed</a:t>
            </a:r>
          </a:p>
          <a:p>
            <a:pPr eaLnBrk="1" hangingPunct="1"/>
            <a:r>
              <a:rPr lang="en-US" altLang="en-US" sz="2400"/>
              <a:t>P(</a:t>
            </a:r>
            <a:r>
              <a:rPr lang="en-US" altLang="en-US" sz="2400" b="1"/>
              <a:t>X</a:t>
            </a:r>
            <a:r>
              <a:rPr lang="en-US" altLang="en-US" sz="2400"/>
              <a:t>|H) (likelyhood), the probability of observing the sample </a:t>
            </a:r>
            <a:r>
              <a:rPr lang="en-US" altLang="en-US" sz="2400" b="1"/>
              <a:t>X</a:t>
            </a:r>
            <a:r>
              <a:rPr lang="en-US" altLang="en-US" sz="2400"/>
              <a:t>, given that the hypothesis holds</a:t>
            </a:r>
          </a:p>
          <a:p>
            <a:pPr lvl="1" eaLnBrk="1" hangingPunct="1"/>
            <a:r>
              <a:rPr lang="en-US" altLang="en-US" sz="2400"/>
              <a:t>E.g.,</a:t>
            </a:r>
            <a:r>
              <a:rPr lang="en-US" altLang="en-US" sz="2400" b="1"/>
              <a:t> </a:t>
            </a:r>
            <a:r>
              <a:rPr lang="en-US" altLang="en-US" sz="2400"/>
              <a:t>Given that</a:t>
            </a:r>
            <a:r>
              <a:rPr lang="en-US" altLang="en-US" sz="2400" b="1"/>
              <a:t> X</a:t>
            </a:r>
            <a:r>
              <a:rPr lang="en-US" altLang="en-US" sz="2400"/>
              <a:t> will buy computer, the prob. that X is 31..40, medium income</a:t>
            </a:r>
          </a:p>
        </p:txBody>
      </p:sp>
    </p:spTree>
  </p:cSld>
  <p:clrMapOvr>
    <a:masterClrMapping/>
  </p:clrMapOvr>
  <p:transition>
    <p:zoom/>
  </p:transition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Slide Number Placeholder 5">
            <a:extLst>
              <a:ext uri="{FF2B5EF4-FFF2-40B4-BE49-F238E27FC236}">
                <a16:creationId xmlns:a16="http://schemas.microsoft.com/office/drawing/2014/main" id="{0E666B21-5B4C-4C96-9C9E-45E4CAF0B59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fld id="{EB4944CA-1499-4F13-8A1C-BF758053876A}" type="slidenum">
              <a:rPr lang="en-US" altLang="en-US"/>
              <a:pPr eaLnBrk="1" hangingPunct="1"/>
              <a:t>32</a:t>
            </a:fld>
            <a:endParaRPr lang="en-US" altLang="en-US"/>
          </a:p>
        </p:txBody>
      </p:sp>
      <p:sp>
        <p:nvSpPr>
          <p:cNvPr id="34819" name="Rectangle 2">
            <a:extLst>
              <a:ext uri="{FF2B5EF4-FFF2-40B4-BE49-F238E27FC236}">
                <a16:creationId xmlns:a16="http://schemas.microsoft.com/office/drawing/2014/main" id="{462C8CB2-6046-40AB-84C3-1E1763FC32A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524000" y="304800"/>
            <a:ext cx="5867400" cy="609600"/>
          </a:xfrm>
        </p:spPr>
        <p:txBody>
          <a:bodyPr/>
          <a:lstStyle/>
          <a:p>
            <a:pPr eaLnBrk="1" hangingPunct="1"/>
            <a:r>
              <a:rPr lang="en-US" altLang="en-US"/>
              <a:t>Bayes’ Theorem</a:t>
            </a:r>
          </a:p>
        </p:txBody>
      </p:sp>
      <p:sp>
        <p:nvSpPr>
          <p:cNvPr id="34820" name="Rectangle 3">
            <a:extLst>
              <a:ext uri="{FF2B5EF4-FFF2-40B4-BE49-F238E27FC236}">
                <a16:creationId xmlns:a16="http://schemas.microsoft.com/office/drawing/2014/main" id="{A4191325-E937-4761-8B85-639012C974E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04800" y="1447800"/>
            <a:ext cx="8458200" cy="5029200"/>
          </a:xfrm>
        </p:spPr>
        <p:txBody>
          <a:bodyPr/>
          <a:lstStyle/>
          <a:p>
            <a:pPr eaLnBrk="1" hangingPunct="1">
              <a:lnSpc>
                <a:spcPct val="120000"/>
              </a:lnSpc>
            </a:pPr>
            <a:r>
              <a:rPr lang="en-US" altLang="en-US" sz="2400"/>
              <a:t>Given training data</a:t>
            </a:r>
            <a:r>
              <a:rPr lang="en-US" altLang="en-US" sz="2400" i="1"/>
              <a:t> </a:t>
            </a:r>
            <a:r>
              <a:rPr lang="en-US" altLang="en-US" sz="2400" b="1"/>
              <a:t>X</a:t>
            </a:r>
            <a:r>
              <a:rPr lang="en-US" altLang="en-US" sz="2400" i="1"/>
              <a:t>, posteriori probability of a hypothesis </a:t>
            </a:r>
            <a:r>
              <a:rPr lang="en-US" altLang="en-US" sz="2400"/>
              <a:t>H</a:t>
            </a:r>
            <a:r>
              <a:rPr lang="en-US" altLang="en-US" sz="2400" i="1"/>
              <a:t>, </a:t>
            </a:r>
            <a:r>
              <a:rPr lang="en-US" altLang="en-US" sz="2400"/>
              <a:t>P(H|</a:t>
            </a:r>
            <a:r>
              <a:rPr lang="en-US" altLang="en-US" sz="2400" b="1"/>
              <a:t>X</a:t>
            </a:r>
            <a:r>
              <a:rPr lang="en-US" altLang="en-US" sz="2400"/>
              <a:t>)</a:t>
            </a:r>
            <a:r>
              <a:rPr lang="en-US" altLang="en-US" sz="2400" i="1"/>
              <a:t>, </a:t>
            </a:r>
            <a:r>
              <a:rPr lang="en-US" altLang="en-US" sz="2400"/>
              <a:t>follows the Bayes’ theorem</a:t>
            </a:r>
          </a:p>
          <a:p>
            <a:pPr eaLnBrk="1" hangingPunct="1">
              <a:lnSpc>
                <a:spcPct val="120000"/>
              </a:lnSpc>
              <a:buFont typeface="Wingdings" panose="05000000000000000000" pitchFamily="2" charset="2"/>
              <a:buNone/>
            </a:pPr>
            <a:r>
              <a:rPr lang="en-US" altLang="en-US" sz="2400"/>
              <a:t>			</a:t>
            </a:r>
          </a:p>
          <a:p>
            <a:pPr eaLnBrk="1" hangingPunct="1">
              <a:lnSpc>
                <a:spcPct val="120000"/>
              </a:lnSpc>
            </a:pPr>
            <a:endParaRPr lang="en-US" altLang="en-US" sz="2400"/>
          </a:p>
          <a:p>
            <a:pPr eaLnBrk="1" hangingPunct="1">
              <a:lnSpc>
                <a:spcPct val="120000"/>
              </a:lnSpc>
            </a:pPr>
            <a:r>
              <a:rPr lang="en-US" altLang="en-US" sz="2400"/>
              <a:t>Informally, this can be written as </a:t>
            </a:r>
          </a:p>
          <a:p>
            <a:pPr lvl="1" eaLnBrk="1" hangingPunct="1">
              <a:lnSpc>
                <a:spcPct val="120000"/>
              </a:lnSpc>
              <a:buFont typeface="Wingdings" panose="05000000000000000000" pitchFamily="2" charset="2"/>
              <a:buNone/>
            </a:pPr>
            <a:r>
              <a:rPr lang="en-US" altLang="en-US" sz="2400"/>
              <a:t>		posteriori = likelihood x prior/evidence</a:t>
            </a:r>
          </a:p>
          <a:p>
            <a:pPr eaLnBrk="1" hangingPunct="1">
              <a:lnSpc>
                <a:spcPct val="120000"/>
              </a:lnSpc>
            </a:pPr>
            <a:r>
              <a:rPr lang="en-US" altLang="en-US" sz="2400"/>
              <a:t>Predicts </a:t>
            </a:r>
            <a:r>
              <a:rPr lang="en-US" altLang="en-US" sz="2400" b="1"/>
              <a:t>X</a:t>
            </a:r>
            <a:r>
              <a:rPr lang="en-US" altLang="en-US" sz="2400"/>
              <a:t> belongs to C</a:t>
            </a:r>
            <a:r>
              <a:rPr lang="en-US" altLang="en-US" sz="2400" baseline="-25000"/>
              <a:t>2</a:t>
            </a:r>
            <a:r>
              <a:rPr lang="en-US" altLang="en-US" sz="2400"/>
              <a:t> iff the probability P(C</a:t>
            </a:r>
            <a:r>
              <a:rPr lang="en-US" altLang="en-US" sz="2400" baseline="-25000"/>
              <a:t>i</a:t>
            </a:r>
            <a:r>
              <a:rPr lang="en-US" altLang="en-US" sz="2400"/>
              <a:t>|</a:t>
            </a:r>
            <a:r>
              <a:rPr lang="en-US" altLang="en-US" sz="2400" b="1"/>
              <a:t>X</a:t>
            </a:r>
            <a:r>
              <a:rPr lang="en-US" altLang="en-US" sz="2400"/>
              <a:t>) is the highest among all the P(C</a:t>
            </a:r>
            <a:r>
              <a:rPr lang="en-US" altLang="en-US" sz="2400" baseline="-25000"/>
              <a:t>k</a:t>
            </a:r>
            <a:r>
              <a:rPr lang="en-US" altLang="en-US" sz="2400"/>
              <a:t>|X) for all the </a:t>
            </a:r>
            <a:r>
              <a:rPr lang="en-US" altLang="en-US" sz="2400" i="1"/>
              <a:t>k</a:t>
            </a:r>
            <a:r>
              <a:rPr lang="en-US" altLang="en-US" sz="2400"/>
              <a:t> classes</a:t>
            </a:r>
          </a:p>
          <a:p>
            <a:pPr eaLnBrk="1" hangingPunct="1">
              <a:lnSpc>
                <a:spcPct val="120000"/>
              </a:lnSpc>
            </a:pPr>
            <a:r>
              <a:rPr lang="en-US" altLang="en-US" sz="2400"/>
              <a:t>Practical difficulty: require initial knowledge of many probabilities, significant computational cost</a:t>
            </a:r>
          </a:p>
        </p:txBody>
      </p:sp>
      <p:graphicFrame>
        <p:nvGraphicFramePr>
          <p:cNvPr id="34821" name="Object 4">
            <a:extLst>
              <a:ext uri="{FF2B5EF4-FFF2-40B4-BE49-F238E27FC236}">
                <a16:creationId xmlns:a16="http://schemas.microsoft.com/office/drawing/2014/main" id="{86A4EF31-2EEF-4AD0-84D9-58AD14B1AC8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949325" y="2514600"/>
          <a:ext cx="7585075" cy="768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822" name="Equation" r:id="rId4" imgW="4813300" imgH="558800" progId="Equation.3">
                  <p:embed/>
                </p:oleObj>
              </mc:Choice>
              <mc:Fallback>
                <p:oleObj name="Equation" r:id="rId4" imgW="4813300" imgH="55880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49325" y="2514600"/>
                        <a:ext cx="7585075" cy="7683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>
    <p:zoom/>
  </p:transition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Slide Number Placeholder 7">
            <a:extLst>
              <a:ext uri="{FF2B5EF4-FFF2-40B4-BE49-F238E27FC236}">
                <a16:creationId xmlns:a16="http://schemas.microsoft.com/office/drawing/2014/main" id="{16AE5AF4-C379-497E-B47F-F64BF638A62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fld id="{2B629589-BEDA-4F15-876C-356D6A0FE159}" type="slidenum">
              <a:rPr lang="en-US" altLang="en-US"/>
              <a:pPr eaLnBrk="1" hangingPunct="1"/>
              <a:t>33</a:t>
            </a:fld>
            <a:endParaRPr lang="en-US" altLang="en-US"/>
          </a:p>
        </p:txBody>
      </p:sp>
      <p:sp>
        <p:nvSpPr>
          <p:cNvPr id="35843" name="Rectangle 2">
            <a:extLst>
              <a:ext uri="{FF2B5EF4-FFF2-40B4-BE49-F238E27FC236}">
                <a16:creationId xmlns:a16="http://schemas.microsoft.com/office/drawing/2014/main" id="{FC670C00-8814-4D25-A6E4-6B56B9D98A3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304800"/>
            <a:ext cx="8229600" cy="609600"/>
          </a:xfrm>
        </p:spPr>
        <p:txBody>
          <a:bodyPr/>
          <a:lstStyle/>
          <a:p>
            <a:pPr eaLnBrk="1" hangingPunct="1"/>
            <a:r>
              <a:rPr lang="en-US" altLang="en-US"/>
              <a:t>Towards Naïve Bayes Classifier</a:t>
            </a:r>
          </a:p>
        </p:txBody>
      </p:sp>
      <p:sp>
        <p:nvSpPr>
          <p:cNvPr id="35844" name="Rectangle 3">
            <a:extLst>
              <a:ext uri="{FF2B5EF4-FFF2-40B4-BE49-F238E27FC236}">
                <a16:creationId xmlns:a16="http://schemas.microsoft.com/office/drawing/2014/main" id="{555BF83B-2434-4B4A-A652-63325DD35D41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304800" y="1371600"/>
            <a:ext cx="8458200" cy="5105400"/>
          </a:xfrm>
        </p:spPr>
        <p:txBody>
          <a:bodyPr/>
          <a:lstStyle/>
          <a:p>
            <a:pPr eaLnBrk="1" hangingPunct="1"/>
            <a:r>
              <a:rPr lang="en-US" altLang="en-US" sz="2400"/>
              <a:t>Let D be a training set of tuples and their associated class labels, and each tuple is represented by an n-D attribute vector </a:t>
            </a:r>
            <a:r>
              <a:rPr lang="en-US" altLang="en-US" sz="2400" b="1"/>
              <a:t>X</a:t>
            </a:r>
            <a:r>
              <a:rPr lang="en-US" altLang="en-US" sz="2400"/>
              <a:t> = (x</a:t>
            </a:r>
            <a:r>
              <a:rPr lang="en-US" altLang="en-US" sz="2400" baseline="-25000"/>
              <a:t>1</a:t>
            </a:r>
            <a:r>
              <a:rPr lang="en-US" altLang="en-US" sz="2400"/>
              <a:t>, x</a:t>
            </a:r>
            <a:r>
              <a:rPr lang="en-US" altLang="en-US" sz="2400" baseline="-25000"/>
              <a:t>2</a:t>
            </a:r>
            <a:r>
              <a:rPr lang="en-US" altLang="en-US" sz="2400"/>
              <a:t>, …, x</a:t>
            </a:r>
            <a:r>
              <a:rPr lang="en-US" altLang="en-US" sz="2400" baseline="-25000"/>
              <a:t>n</a:t>
            </a:r>
            <a:r>
              <a:rPr lang="en-US" altLang="en-US" sz="2400"/>
              <a:t>)</a:t>
            </a:r>
          </a:p>
          <a:p>
            <a:pPr eaLnBrk="1" hangingPunct="1"/>
            <a:r>
              <a:rPr lang="en-US" altLang="en-US" sz="2400"/>
              <a:t>Suppose there are </a:t>
            </a:r>
            <a:r>
              <a:rPr lang="en-US" altLang="en-US" sz="2400" i="1"/>
              <a:t>m</a:t>
            </a:r>
            <a:r>
              <a:rPr lang="en-US" altLang="en-US" sz="2400"/>
              <a:t> classes C</a:t>
            </a:r>
            <a:r>
              <a:rPr lang="en-US" altLang="en-US" sz="2400" baseline="-25000"/>
              <a:t>1</a:t>
            </a:r>
            <a:r>
              <a:rPr lang="en-US" altLang="en-US" sz="2400"/>
              <a:t>, C</a:t>
            </a:r>
            <a:r>
              <a:rPr lang="en-US" altLang="en-US" sz="2400" baseline="-25000"/>
              <a:t>2</a:t>
            </a:r>
            <a:r>
              <a:rPr lang="en-US" altLang="en-US" sz="2400"/>
              <a:t>, …, C</a:t>
            </a:r>
            <a:r>
              <a:rPr lang="en-US" altLang="en-US" sz="2400" baseline="-25000"/>
              <a:t>m</a:t>
            </a:r>
            <a:r>
              <a:rPr lang="en-US" altLang="en-US" sz="2400"/>
              <a:t>.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2400"/>
              <a:t>Classification is to derive the maximum posteriori, i.e., the maximal P(C</a:t>
            </a:r>
            <a:r>
              <a:rPr lang="en-US" altLang="en-US" sz="2400" baseline="-25000"/>
              <a:t>i</a:t>
            </a:r>
            <a:r>
              <a:rPr lang="en-US" altLang="en-US" sz="2400"/>
              <a:t>|</a:t>
            </a:r>
            <a:r>
              <a:rPr lang="en-US" altLang="en-US" sz="2400" b="1"/>
              <a:t>X</a:t>
            </a:r>
            <a:r>
              <a:rPr lang="en-US" altLang="en-US" sz="2400"/>
              <a:t>)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2400"/>
              <a:t>This can be derived from Bayes’ theorem</a:t>
            </a:r>
          </a:p>
          <a:p>
            <a:pPr eaLnBrk="1" hangingPunct="1">
              <a:lnSpc>
                <a:spcPct val="90000"/>
              </a:lnSpc>
            </a:pPr>
            <a:endParaRPr lang="en-US" altLang="en-US" sz="2400"/>
          </a:p>
          <a:p>
            <a:pPr eaLnBrk="1" hangingPunct="1">
              <a:lnSpc>
                <a:spcPct val="90000"/>
              </a:lnSpc>
            </a:pPr>
            <a:endParaRPr lang="en-US" altLang="en-US" sz="2400"/>
          </a:p>
          <a:p>
            <a:pPr eaLnBrk="1" hangingPunct="1">
              <a:lnSpc>
                <a:spcPct val="90000"/>
              </a:lnSpc>
            </a:pPr>
            <a:r>
              <a:rPr lang="en-US" altLang="en-US" sz="2400"/>
              <a:t>Since P(X) is constant for all classes, only                                        </a:t>
            </a:r>
          </a:p>
          <a:p>
            <a:pPr eaLnBrk="1" hangingPunct="1">
              <a:lnSpc>
                <a:spcPct val="90000"/>
              </a:lnSpc>
            </a:pPr>
            <a:endParaRPr lang="en-US" altLang="en-US" sz="2400"/>
          </a:p>
          <a:p>
            <a:pPr lvl="1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en-US" sz="2400"/>
              <a:t>needs to be maximized</a:t>
            </a:r>
          </a:p>
        </p:txBody>
      </p:sp>
      <p:graphicFrame>
        <p:nvGraphicFramePr>
          <p:cNvPr id="35845" name="Object 5">
            <a:extLst>
              <a:ext uri="{FF2B5EF4-FFF2-40B4-BE49-F238E27FC236}">
                <a16:creationId xmlns:a16="http://schemas.microsoft.com/office/drawing/2014/main" id="{B5BA02BC-C774-4C97-8C3F-BFC18D87F5C7}"/>
              </a:ext>
            </a:extLst>
          </p:cNvPr>
          <p:cNvGraphicFramePr>
            <a:graphicFrameLocks noChangeAspect="1"/>
          </p:cNvGraphicFramePr>
          <p:nvPr>
            <p:ph sz="quarter" idx="2"/>
          </p:nvPr>
        </p:nvGraphicFramePr>
        <p:xfrm>
          <a:off x="4648200" y="4114800"/>
          <a:ext cx="2743200" cy="7096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847" name="Equation" r:id="rId4" imgW="2501900" imgH="647700" progId="Equation.3">
                  <p:embed/>
                </p:oleObj>
              </mc:Choice>
              <mc:Fallback>
                <p:oleObj name="Equation" r:id="rId4" imgW="2501900" imgH="647700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48200" y="4114800"/>
                        <a:ext cx="2743200" cy="7096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5846" name="Object 7">
            <a:extLst>
              <a:ext uri="{FF2B5EF4-FFF2-40B4-BE49-F238E27FC236}">
                <a16:creationId xmlns:a16="http://schemas.microsoft.com/office/drawing/2014/main" id="{289EFD96-C072-4F30-BE16-19C294CDC6AD}"/>
              </a:ext>
            </a:extLst>
          </p:cNvPr>
          <p:cNvGraphicFramePr>
            <a:graphicFrameLocks noChangeAspect="1"/>
          </p:cNvGraphicFramePr>
          <p:nvPr>
            <p:ph sz="quarter" idx="3"/>
          </p:nvPr>
        </p:nvGraphicFramePr>
        <p:xfrm>
          <a:off x="4572000" y="5802313"/>
          <a:ext cx="2895600" cy="4460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848" name="Equation" r:id="rId6" imgW="2476500" imgH="381000" progId="Equation.3">
                  <p:embed/>
                </p:oleObj>
              </mc:Choice>
              <mc:Fallback>
                <p:oleObj name="Equation" r:id="rId6" imgW="2476500" imgH="381000" progId="Equation.3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72000" y="5802313"/>
                        <a:ext cx="2895600" cy="4460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>
    <p:zoom/>
  </p:transition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Slide Number Placeholder 7">
            <a:extLst>
              <a:ext uri="{FF2B5EF4-FFF2-40B4-BE49-F238E27FC236}">
                <a16:creationId xmlns:a16="http://schemas.microsoft.com/office/drawing/2014/main" id="{447C91A7-44D6-48CB-A0F2-3DA3BFA7CA1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fld id="{4C112075-0635-41A9-89DB-4E07933F717F}" type="slidenum">
              <a:rPr lang="en-US" altLang="en-US"/>
              <a:pPr eaLnBrk="1" hangingPunct="1"/>
              <a:t>34</a:t>
            </a:fld>
            <a:endParaRPr lang="en-US" altLang="en-US"/>
          </a:p>
        </p:txBody>
      </p:sp>
      <p:sp>
        <p:nvSpPr>
          <p:cNvPr id="36867" name="Rectangle 2">
            <a:extLst>
              <a:ext uri="{FF2B5EF4-FFF2-40B4-BE49-F238E27FC236}">
                <a16:creationId xmlns:a16="http://schemas.microsoft.com/office/drawing/2014/main" id="{B07EFFC9-DE90-4F99-A71F-CCE75028DC7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04800" y="381000"/>
            <a:ext cx="8402638" cy="533400"/>
          </a:xfrm>
        </p:spPr>
        <p:txBody>
          <a:bodyPr/>
          <a:lstStyle/>
          <a:p>
            <a:pPr eaLnBrk="1" hangingPunct="1"/>
            <a:r>
              <a:rPr lang="en-US" altLang="en-US"/>
              <a:t>Derivation of Naïve Bayes Classifier </a:t>
            </a:r>
          </a:p>
        </p:txBody>
      </p:sp>
      <p:sp>
        <p:nvSpPr>
          <p:cNvPr id="36868" name="Rectangle 3">
            <a:extLst>
              <a:ext uri="{FF2B5EF4-FFF2-40B4-BE49-F238E27FC236}">
                <a16:creationId xmlns:a16="http://schemas.microsoft.com/office/drawing/2014/main" id="{8E22E08F-168A-480B-886C-1621F4E0EAF5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304800" y="1295400"/>
            <a:ext cx="8382000" cy="5105400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en-US" sz="2400"/>
              <a:t>A simplified assumption: attributes are conditionally independent (i.e., no dependence relation between attributes):</a:t>
            </a:r>
          </a:p>
          <a:p>
            <a:pPr eaLnBrk="1" hangingPunct="1">
              <a:lnSpc>
                <a:spcPct val="90000"/>
              </a:lnSpc>
            </a:pPr>
            <a:endParaRPr lang="en-US" altLang="en-US" sz="2400"/>
          </a:p>
          <a:p>
            <a:pPr eaLnBrk="1" hangingPunct="1">
              <a:lnSpc>
                <a:spcPct val="90000"/>
              </a:lnSpc>
            </a:pPr>
            <a:r>
              <a:rPr lang="en-US" altLang="en-US" sz="2400"/>
              <a:t>This greatly reduces the computation cost: Only counts the class distribution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2400"/>
              <a:t>If A</a:t>
            </a:r>
            <a:r>
              <a:rPr lang="en-US" altLang="en-US" sz="2400" baseline="-25000"/>
              <a:t>k</a:t>
            </a:r>
            <a:r>
              <a:rPr lang="en-US" altLang="en-US" sz="2400"/>
              <a:t> is categorical, P(x</a:t>
            </a:r>
            <a:r>
              <a:rPr lang="en-US" altLang="en-US" sz="2400" baseline="-25000"/>
              <a:t>k</a:t>
            </a:r>
            <a:r>
              <a:rPr lang="en-US" altLang="en-US" sz="2400"/>
              <a:t>|C</a:t>
            </a:r>
            <a:r>
              <a:rPr lang="en-US" altLang="en-US" sz="2400" baseline="-25000"/>
              <a:t>i</a:t>
            </a:r>
            <a:r>
              <a:rPr lang="en-US" altLang="en-US" sz="2400"/>
              <a:t>) is the # of tuples in C</a:t>
            </a:r>
            <a:r>
              <a:rPr lang="en-US" altLang="en-US" sz="2400" baseline="-25000"/>
              <a:t>i</a:t>
            </a:r>
            <a:r>
              <a:rPr lang="en-US" altLang="en-US" sz="2400"/>
              <a:t> having value x</a:t>
            </a:r>
            <a:r>
              <a:rPr lang="en-US" altLang="en-US" sz="2400" baseline="-25000"/>
              <a:t>k</a:t>
            </a:r>
            <a:r>
              <a:rPr lang="en-US" altLang="en-US" sz="2400"/>
              <a:t> for A</a:t>
            </a:r>
            <a:r>
              <a:rPr lang="en-US" altLang="en-US" sz="2400" baseline="-25000"/>
              <a:t>k</a:t>
            </a:r>
            <a:r>
              <a:rPr lang="en-US" altLang="en-US" sz="2400"/>
              <a:t> divided by |C</a:t>
            </a:r>
            <a:r>
              <a:rPr lang="en-US" altLang="en-US" sz="2400" baseline="-25000"/>
              <a:t>i, D</a:t>
            </a:r>
            <a:r>
              <a:rPr lang="en-US" altLang="en-US" sz="2400"/>
              <a:t>| (# of tuples of C</a:t>
            </a:r>
            <a:r>
              <a:rPr lang="en-US" altLang="en-US" sz="2400" baseline="-25000"/>
              <a:t>i</a:t>
            </a:r>
            <a:r>
              <a:rPr lang="en-US" altLang="en-US" sz="2400"/>
              <a:t> in D)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2400"/>
              <a:t>If A</a:t>
            </a:r>
            <a:r>
              <a:rPr lang="en-US" altLang="en-US" sz="2400" baseline="-25000"/>
              <a:t>k</a:t>
            </a:r>
            <a:r>
              <a:rPr lang="en-US" altLang="en-US" sz="2400"/>
              <a:t> is continous-valued, P(x</a:t>
            </a:r>
            <a:r>
              <a:rPr lang="en-US" altLang="en-US" sz="2400" baseline="-25000"/>
              <a:t>k</a:t>
            </a:r>
            <a:r>
              <a:rPr lang="en-US" altLang="en-US" sz="2400"/>
              <a:t>|C</a:t>
            </a:r>
            <a:r>
              <a:rPr lang="en-US" altLang="en-US" sz="2400" baseline="-25000"/>
              <a:t>i</a:t>
            </a:r>
            <a:r>
              <a:rPr lang="en-US" altLang="en-US" sz="2400"/>
              <a:t>) is usually computed based on Gaussian distribution with a mean </a:t>
            </a:r>
            <a:r>
              <a:rPr lang="el-GR" altLang="en-US" sz="2400"/>
              <a:t>μ</a:t>
            </a:r>
            <a:r>
              <a:rPr lang="en-US" altLang="en-US" sz="2400"/>
              <a:t> and standard deviation </a:t>
            </a:r>
            <a:r>
              <a:rPr lang="el-GR" altLang="en-US" sz="2400"/>
              <a:t>σ</a:t>
            </a:r>
          </a:p>
          <a:p>
            <a:pPr eaLnBrk="1" hangingPunct="1">
              <a:lnSpc>
                <a:spcPct val="90000"/>
              </a:lnSpc>
            </a:pPr>
            <a:endParaRPr lang="en-US" altLang="en-US" sz="2400"/>
          </a:p>
          <a:p>
            <a:pPr lvl="1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en-US" sz="2400"/>
              <a:t>and P(x</a:t>
            </a:r>
            <a:r>
              <a:rPr lang="en-US" altLang="en-US" sz="2400" baseline="-25000"/>
              <a:t>k</a:t>
            </a:r>
            <a:r>
              <a:rPr lang="en-US" altLang="en-US" sz="2400"/>
              <a:t>|C</a:t>
            </a:r>
            <a:r>
              <a:rPr lang="en-US" altLang="en-US" sz="2400" baseline="-25000"/>
              <a:t>i</a:t>
            </a:r>
            <a:r>
              <a:rPr lang="en-US" altLang="en-US" sz="2400"/>
              <a:t>) is </a:t>
            </a:r>
          </a:p>
          <a:p>
            <a:pPr eaLnBrk="1" hangingPunct="1">
              <a:lnSpc>
                <a:spcPct val="90000"/>
              </a:lnSpc>
            </a:pPr>
            <a:endParaRPr lang="en-US" altLang="en-US" sz="2400"/>
          </a:p>
        </p:txBody>
      </p:sp>
      <p:graphicFrame>
        <p:nvGraphicFramePr>
          <p:cNvPr id="36869" name="Object 10">
            <a:extLst>
              <a:ext uri="{FF2B5EF4-FFF2-40B4-BE49-F238E27FC236}">
                <a16:creationId xmlns:a16="http://schemas.microsoft.com/office/drawing/2014/main" id="{3EED3601-EFB5-472B-B8EA-5AF79662BACB}"/>
              </a:ext>
            </a:extLst>
          </p:cNvPr>
          <p:cNvGraphicFramePr>
            <a:graphicFrameLocks noGrp="1"/>
          </p:cNvGraphicFramePr>
          <p:nvPr>
            <p:ph sz="quarter" idx="2"/>
          </p:nvPr>
        </p:nvGraphicFramePr>
        <p:xfrm>
          <a:off x="2438400" y="1905000"/>
          <a:ext cx="6172200" cy="898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872" name="Equation" r:id="rId4" imgW="4089400" imgH="508000" progId="Equation.3">
                  <p:embed/>
                </p:oleObj>
              </mc:Choice>
              <mc:Fallback>
                <p:oleObj name="Equation" r:id="rId4" imgW="4089400" imgH="508000" progId="Equation.3">
                  <p:embed/>
                  <p:pic>
                    <p:nvPicPr>
                      <p:cNvPr id="0" name="Object 10"/>
                      <p:cNvPicPr>
                        <a:picLocks noGrp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38400" y="1905000"/>
                        <a:ext cx="6172200" cy="8985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6870" name="Object 12">
            <a:extLst>
              <a:ext uri="{FF2B5EF4-FFF2-40B4-BE49-F238E27FC236}">
                <a16:creationId xmlns:a16="http://schemas.microsoft.com/office/drawing/2014/main" id="{A7B10749-AAC4-481D-A075-DB33628B69AA}"/>
              </a:ext>
            </a:extLst>
          </p:cNvPr>
          <p:cNvGraphicFramePr>
            <a:graphicFrameLocks/>
          </p:cNvGraphicFramePr>
          <p:nvPr>
            <p:ph sz="quarter" idx="3"/>
          </p:nvPr>
        </p:nvGraphicFramePr>
        <p:xfrm>
          <a:off x="4191000" y="4953000"/>
          <a:ext cx="3276600" cy="838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873" name="Equation" r:id="rId6" imgW="1663700" imgH="482600" progId="Equation.3">
                  <p:embed/>
                </p:oleObj>
              </mc:Choice>
              <mc:Fallback>
                <p:oleObj name="Equation" r:id="rId6" imgW="1663700" imgH="482600" progId="Equation.3">
                  <p:embed/>
                  <p:pic>
                    <p:nvPicPr>
                      <p:cNvPr id="0" name="Object 12"/>
                      <p:cNvPicPr>
                        <a:picLocks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91000" y="4953000"/>
                        <a:ext cx="3276600" cy="838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6871" name="Object 14">
            <a:extLst>
              <a:ext uri="{FF2B5EF4-FFF2-40B4-BE49-F238E27FC236}">
                <a16:creationId xmlns:a16="http://schemas.microsoft.com/office/drawing/2014/main" id="{B044D801-66FB-42A6-A08E-68A4147E197B}"/>
              </a:ext>
            </a:extLst>
          </p:cNvPr>
          <p:cNvGraphicFramePr>
            <a:graphicFrameLocks/>
          </p:cNvGraphicFramePr>
          <p:nvPr/>
        </p:nvGraphicFramePr>
        <p:xfrm>
          <a:off x="4191000" y="5943600"/>
          <a:ext cx="2819400" cy="533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874" name="Equation" r:id="rId8" imgW="1625600" imgH="241300" progId="Equation.3">
                  <p:embed/>
                </p:oleObj>
              </mc:Choice>
              <mc:Fallback>
                <p:oleObj name="Equation" r:id="rId8" imgW="1625600" imgH="241300" progId="Equation.3">
                  <p:embed/>
                  <p:pic>
                    <p:nvPicPr>
                      <p:cNvPr id="0" name="Object 14"/>
                      <p:cNvPicPr>
                        <a:picLocks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91000" y="5943600"/>
                        <a:ext cx="2819400" cy="533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>
    <p:zoom/>
  </p:transition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Slide Number Placeholder 5">
            <a:extLst>
              <a:ext uri="{FF2B5EF4-FFF2-40B4-BE49-F238E27FC236}">
                <a16:creationId xmlns:a16="http://schemas.microsoft.com/office/drawing/2014/main" id="{CBCB17CA-5B8E-4745-8740-8C2941ECE99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fld id="{FFA8C68D-B9FA-40A5-AC54-8D25DBE98E00}" type="slidenum">
              <a:rPr lang="en-US" altLang="en-US"/>
              <a:pPr eaLnBrk="1" hangingPunct="1"/>
              <a:t>35</a:t>
            </a:fld>
            <a:endParaRPr lang="en-US" altLang="en-US"/>
          </a:p>
        </p:txBody>
      </p:sp>
      <p:sp>
        <p:nvSpPr>
          <p:cNvPr id="37891" name="Rectangle 2">
            <a:extLst>
              <a:ext uri="{FF2B5EF4-FFF2-40B4-BE49-F238E27FC236}">
                <a16:creationId xmlns:a16="http://schemas.microsoft.com/office/drawing/2014/main" id="{2A487362-E2EC-4A53-A29B-21068096B8D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304800"/>
            <a:ext cx="9144000" cy="609600"/>
          </a:xfrm>
        </p:spPr>
        <p:txBody>
          <a:bodyPr/>
          <a:lstStyle/>
          <a:p>
            <a:pPr eaLnBrk="1" hangingPunct="1"/>
            <a:r>
              <a:rPr lang="en-US" altLang="en-US"/>
              <a:t>Naïve Bayes Classifier: Training Dataset</a:t>
            </a:r>
          </a:p>
        </p:txBody>
      </p:sp>
      <p:sp>
        <p:nvSpPr>
          <p:cNvPr id="37892" name="Text Box 4">
            <a:extLst>
              <a:ext uri="{FF2B5EF4-FFF2-40B4-BE49-F238E27FC236}">
                <a16:creationId xmlns:a16="http://schemas.microsoft.com/office/drawing/2014/main" id="{9E53766B-A4C8-44EB-9026-707D6125415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2400" y="1828800"/>
            <a:ext cx="3429000" cy="37480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lnSpc>
                <a:spcPct val="110000"/>
              </a:lnSpc>
            </a:pPr>
            <a:r>
              <a:rPr lang="en-US" altLang="en-US" sz="2400">
                <a:latin typeface="Calibri" panose="020F0502020204030204" pitchFamily="34" charset="0"/>
              </a:rPr>
              <a:t>Class: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en-US" sz="2400">
                <a:latin typeface="Calibri" panose="020F0502020204030204" pitchFamily="34" charset="0"/>
              </a:rPr>
              <a:t>C1:buys_computer = ‘yes’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en-US" sz="2400">
                <a:latin typeface="Calibri" panose="020F0502020204030204" pitchFamily="34" charset="0"/>
              </a:rPr>
              <a:t>C2:buys_computer = ‘no’</a:t>
            </a:r>
          </a:p>
          <a:p>
            <a:pPr eaLnBrk="1" hangingPunct="1">
              <a:lnSpc>
                <a:spcPct val="110000"/>
              </a:lnSpc>
            </a:pPr>
            <a:endParaRPr lang="en-US" altLang="en-US" sz="2400">
              <a:latin typeface="Calibri" panose="020F0502020204030204" pitchFamily="34" charset="0"/>
            </a:endParaRPr>
          </a:p>
          <a:p>
            <a:pPr eaLnBrk="1" hangingPunct="1">
              <a:lnSpc>
                <a:spcPct val="110000"/>
              </a:lnSpc>
            </a:pPr>
            <a:r>
              <a:rPr lang="en-US" altLang="en-US" sz="2400">
                <a:latin typeface="Calibri" panose="020F0502020204030204" pitchFamily="34" charset="0"/>
              </a:rPr>
              <a:t>Data to be classified: 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en-US" sz="2400">
                <a:latin typeface="Calibri" panose="020F0502020204030204" pitchFamily="34" charset="0"/>
              </a:rPr>
              <a:t>X = (age &lt;=30, 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en-US" sz="2400">
                <a:latin typeface="Calibri" panose="020F0502020204030204" pitchFamily="34" charset="0"/>
              </a:rPr>
              <a:t>Income = medium,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en-US" sz="2400">
                <a:latin typeface="Calibri" panose="020F0502020204030204" pitchFamily="34" charset="0"/>
              </a:rPr>
              <a:t>Student = yes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en-US" sz="2400">
                <a:latin typeface="Calibri" panose="020F0502020204030204" pitchFamily="34" charset="0"/>
              </a:rPr>
              <a:t>Credit_rating = Fair)</a:t>
            </a:r>
          </a:p>
        </p:txBody>
      </p:sp>
      <p:graphicFrame>
        <p:nvGraphicFramePr>
          <p:cNvPr id="37893" name="Object 5">
            <a:extLst>
              <a:ext uri="{FF2B5EF4-FFF2-40B4-BE49-F238E27FC236}">
                <a16:creationId xmlns:a16="http://schemas.microsoft.com/office/drawing/2014/main" id="{E9DACF89-25C5-4485-9C20-5ED2668A18D7}"/>
              </a:ext>
            </a:extLst>
          </p:cNvPr>
          <p:cNvGraphicFramePr>
            <a:graphicFrameLocks/>
          </p:cNvGraphicFramePr>
          <p:nvPr>
            <p:ph idx="1"/>
          </p:nvPr>
        </p:nvGraphicFramePr>
        <p:xfrm>
          <a:off x="3810000" y="1295400"/>
          <a:ext cx="5110163" cy="5257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7894" name="Worksheet" r:id="rId4" imgW="4324438" imgH="4457652" progId="Excel.Sheet.8">
                  <p:embed/>
                </p:oleObj>
              </mc:Choice>
              <mc:Fallback>
                <p:oleObj name="Worksheet" r:id="rId4" imgW="4324438" imgH="4457652" progId="Excel.Sheet.8">
                  <p:embed/>
                  <p:pic>
                    <p:nvPicPr>
                      <p:cNvPr id="0" name="Object 5"/>
                      <p:cNvPicPr>
                        <a:picLocks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10000" y="1295400"/>
                        <a:ext cx="5110163" cy="5257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>
    <p:zoom/>
  </p:transition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Slide Number Placeholder 5">
            <a:extLst>
              <a:ext uri="{FF2B5EF4-FFF2-40B4-BE49-F238E27FC236}">
                <a16:creationId xmlns:a16="http://schemas.microsoft.com/office/drawing/2014/main" id="{C007ECC1-7DF0-400B-9676-7C21740FFDD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fld id="{349DAE6D-D139-423A-AF58-42DADAF5AF41}" type="slidenum">
              <a:rPr lang="en-US" altLang="en-US"/>
              <a:pPr eaLnBrk="1" hangingPunct="1"/>
              <a:t>36</a:t>
            </a:fld>
            <a:endParaRPr lang="en-US" altLang="en-US"/>
          </a:p>
        </p:txBody>
      </p:sp>
      <p:sp>
        <p:nvSpPr>
          <p:cNvPr id="38915" name="Rectangle 2">
            <a:extLst>
              <a:ext uri="{FF2B5EF4-FFF2-40B4-BE49-F238E27FC236}">
                <a16:creationId xmlns:a16="http://schemas.microsoft.com/office/drawing/2014/main" id="{1D55B161-F274-472C-8DFC-8B797FC3300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228600"/>
            <a:ext cx="9067800" cy="609600"/>
          </a:xfrm>
        </p:spPr>
        <p:txBody>
          <a:bodyPr/>
          <a:lstStyle/>
          <a:p>
            <a:pPr eaLnBrk="1" hangingPunct="1"/>
            <a:r>
              <a:rPr lang="en-US" altLang="en-US"/>
              <a:t>Naïve Bayes Classifier: An Example</a:t>
            </a:r>
          </a:p>
        </p:txBody>
      </p:sp>
      <p:sp>
        <p:nvSpPr>
          <p:cNvPr id="38916" name="Rectangle 3">
            <a:extLst>
              <a:ext uri="{FF2B5EF4-FFF2-40B4-BE49-F238E27FC236}">
                <a16:creationId xmlns:a16="http://schemas.microsoft.com/office/drawing/2014/main" id="{589FA07D-0F2F-47FF-B925-3E3FFF99700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28600" y="1152525"/>
            <a:ext cx="8686800" cy="5715000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en-US" sz="2000"/>
              <a:t>P(C</a:t>
            </a:r>
            <a:r>
              <a:rPr lang="en-US" altLang="en-US" sz="2000" baseline="-25000"/>
              <a:t>i</a:t>
            </a:r>
            <a:r>
              <a:rPr lang="en-US" altLang="en-US" sz="2000"/>
              <a:t>):    P(buys_computer = “yes”)  = 9/14 = 0.643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en-US" sz="2000"/>
              <a:t>                   P(buys_computer = “no”) = 5/14= 0.357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2000"/>
              <a:t>Compute P(X|C</a:t>
            </a:r>
            <a:r>
              <a:rPr lang="en-US" altLang="en-US" sz="2000" baseline="-25000"/>
              <a:t>i</a:t>
            </a:r>
            <a:r>
              <a:rPr lang="en-US" altLang="en-US" sz="2000"/>
              <a:t>) for each class</a:t>
            </a:r>
          </a:p>
          <a:p>
            <a:pPr lvl="1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en-US" sz="2000"/>
              <a:t>     P(age = “&lt;=30” | buys_computer = “yes”)  = 2/9 = 0.222</a:t>
            </a:r>
          </a:p>
          <a:p>
            <a:pPr lvl="1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en-US" sz="2000"/>
              <a:t>     P(age = “&lt;= 30” | buys_computer = “no”) = 3/5 = 0.6</a:t>
            </a:r>
          </a:p>
          <a:p>
            <a:pPr lvl="1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en-US" sz="2000"/>
              <a:t>     P(income = “medium” | buys_computer = “yes”) = 4/9 = 0.444</a:t>
            </a:r>
          </a:p>
          <a:p>
            <a:pPr lvl="1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en-US" sz="2000"/>
              <a:t>     P(income = “medium” | buys_computer = “no”) = 2/5 = 0.4</a:t>
            </a:r>
          </a:p>
          <a:p>
            <a:pPr lvl="1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en-US" sz="2000"/>
              <a:t>     P(student = “yes” | buys_computer = “yes) = 6/9 = 0.667</a:t>
            </a:r>
          </a:p>
          <a:p>
            <a:pPr lvl="1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en-US" sz="2000"/>
              <a:t>     P(student = “yes” | buys_computer = “no”) = 1/5 = 0.2</a:t>
            </a:r>
          </a:p>
          <a:p>
            <a:pPr lvl="1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en-US" sz="2000"/>
              <a:t>     P(credit_rating = “fair” | buys_computer = “yes”) = 6/9 = 0.667</a:t>
            </a:r>
          </a:p>
          <a:p>
            <a:pPr lvl="1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en-US" sz="2000"/>
              <a:t>     P(credit_rating = “fair” | buys_computer = “no”) = 2/5 = 0.4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2000" b="1"/>
              <a:t> X = (age &lt;= 30 , income = medium, student = yes, credit_rating = fair)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en-US" sz="2000"/>
              <a:t> </a:t>
            </a:r>
            <a:r>
              <a:rPr lang="en-US" altLang="en-US" sz="2000" b="1"/>
              <a:t>P(X|C</a:t>
            </a:r>
            <a:r>
              <a:rPr lang="en-US" altLang="en-US" sz="2000" b="1" baseline="-25000"/>
              <a:t>i</a:t>
            </a:r>
            <a:r>
              <a:rPr lang="en-US" altLang="en-US" sz="2000" b="1"/>
              <a:t>) :</a:t>
            </a:r>
            <a:r>
              <a:rPr lang="en-US" altLang="en-US" sz="2000"/>
              <a:t> P(X|buys_computer = “yes”) = 0.222 x 0.444 x 0.667 x 0.667 = 0.044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en-US" sz="2000"/>
              <a:t>                P(X|buys_computer = “no”) = 0.6 x 0.4 x 0.2 x 0.4 = 0.019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en-US" sz="2000" b="1"/>
              <a:t>P(X|C</a:t>
            </a:r>
            <a:r>
              <a:rPr lang="en-US" altLang="en-US" sz="2000" b="1" baseline="-25000"/>
              <a:t>i</a:t>
            </a:r>
            <a:r>
              <a:rPr lang="en-US" altLang="en-US" sz="2000" b="1"/>
              <a:t>)*P(C</a:t>
            </a:r>
            <a:r>
              <a:rPr lang="en-US" altLang="en-US" sz="2000" b="1" baseline="-25000"/>
              <a:t>i</a:t>
            </a:r>
            <a:r>
              <a:rPr lang="en-US" altLang="en-US" sz="2000" b="1"/>
              <a:t>) : </a:t>
            </a:r>
            <a:r>
              <a:rPr lang="en-US" altLang="en-US" sz="2000"/>
              <a:t>P(X|buys_computer = “yes”) * P(buys_computer = “yes”) = 0.028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en-US" sz="2000" b="1"/>
              <a:t>		             </a:t>
            </a:r>
            <a:r>
              <a:rPr lang="en-US" altLang="en-US" sz="2000"/>
              <a:t>P(X|buys_computer = “no”) * P(buys_computer = “no”) = 0.007</a:t>
            </a:r>
            <a:endParaRPr lang="en-US" altLang="en-US" sz="2000" b="1"/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en-US" sz="2000" b="1"/>
              <a:t>Therefore,  X belongs to class (“buys_computer = yes”)	</a:t>
            </a:r>
            <a:r>
              <a:rPr lang="en-US" altLang="en-US" sz="1800" b="1"/>
              <a:t>	</a:t>
            </a:r>
          </a:p>
        </p:txBody>
      </p:sp>
      <p:graphicFrame>
        <p:nvGraphicFramePr>
          <p:cNvPr id="38917" name="Object 1">
            <a:extLst>
              <a:ext uri="{FF2B5EF4-FFF2-40B4-BE49-F238E27FC236}">
                <a16:creationId xmlns:a16="http://schemas.microsoft.com/office/drawing/2014/main" id="{724043F0-AB9C-4DF1-BCC1-8AC49139C8CD}"/>
              </a:ext>
            </a:extLst>
          </p:cNvPr>
          <p:cNvGraphicFramePr>
            <a:graphicFrameLocks/>
          </p:cNvGraphicFramePr>
          <p:nvPr/>
        </p:nvGraphicFramePr>
        <p:xfrm>
          <a:off x="7062788" y="762000"/>
          <a:ext cx="2062162" cy="1752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8918" name="Worksheet" r:id="rId4" imgW="4324438" imgH="4457652" progId="Excel.Sheet.8">
                  <p:embed/>
                </p:oleObj>
              </mc:Choice>
              <mc:Fallback>
                <p:oleObj name="Worksheet" r:id="rId4" imgW="4324438" imgH="4457652" progId="Excel.Sheet.8">
                  <p:embed/>
                  <p:pic>
                    <p:nvPicPr>
                      <p:cNvPr id="0" name="Object 1"/>
                      <p:cNvPicPr>
                        <a:picLocks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062788" y="762000"/>
                        <a:ext cx="2062162" cy="1752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>
    <p:zoom/>
  </p:transition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Slide Number Placeholder 6">
            <a:extLst>
              <a:ext uri="{FF2B5EF4-FFF2-40B4-BE49-F238E27FC236}">
                <a16:creationId xmlns:a16="http://schemas.microsoft.com/office/drawing/2014/main" id="{B5C93206-0A78-45DE-A3EC-626ECE94771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fld id="{16AD40D6-6169-4D03-A3F0-ECF84103FF38}" type="slidenum">
              <a:rPr lang="en-US" altLang="en-US"/>
              <a:pPr eaLnBrk="1" hangingPunct="1"/>
              <a:t>37</a:t>
            </a:fld>
            <a:endParaRPr lang="en-US" altLang="en-US"/>
          </a:p>
        </p:txBody>
      </p:sp>
      <p:sp>
        <p:nvSpPr>
          <p:cNvPr id="39939" name="Rectangle 2">
            <a:extLst>
              <a:ext uri="{FF2B5EF4-FFF2-40B4-BE49-F238E27FC236}">
                <a16:creationId xmlns:a16="http://schemas.microsoft.com/office/drawing/2014/main" id="{669DB697-FB02-424F-87EC-E25A8FAA593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81000" y="304800"/>
            <a:ext cx="8402638" cy="609600"/>
          </a:xfrm>
        </p:spPr>
        <p:txBody>
          <a:bodyPr/>
          <a:lstStyle/>
          <a:p>
            <a:pPr eaLnBrk="1" hangingPunct="1"/>
            <a:r>
              <a:rPr lang="en-US" altLang="en-US"/>
              <a:t>Avoiding the Zero-Probability Problem</a:t>
            </a:r>
          </a:p>
        </p:txBody>
      </p:sp>
      <p:sp>
        <p:nvSpPr>
          <p:cNvPr id="39940" name="Rectangle 3">
            <a:extLst>
              <a:ext uri="{FF2B5EF4-FFF2-40B4-BE49-F238E27FC236}">
                <a16:creationId xmlns:a16="http://schemas.microsoft.com/office/drawing/2014/main" id="{36B33880-66E9-41E5-9826-F083F7F4CBCD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304800" y="1219200"/>
            <a:ext cx="8382000" cy="5486400"/>
          </a:xfrm>
        </p:spPr>
        <p:txBody>
          <a:bodyPr/>
          <a:lstStyle/>
          <a:p>
            <a:pPr eaLnBrk="1" hangingPunct="1"/>
            <a:r>
              <a:rPr lang="en-US" altLang="en-US" sz="2400"/>
              <a:t>Naïve Bayesian prediction requires each conditional prob. be </a:t>
            </a:r>
            <a:r>
              <a:rPr lang="en-US" altLang="en-US" sz="2400" b="1"/>
              <a:t>non-zero</a:t>
            </a:r>
            <a:r>
              <a:rPr lang="en-US" altLang="en-US" sz="2400"/>
              <a:t>.  Otherwise, the predicted prob. will be zero</a:t>
            </a:r>
          </a:p>
          <a:p>
            <a:pPr eaLnBrk="1" hangingPunct="1"/>
            <a:endParaRPr lang="en-US" altLang="en-US" sz="2400"/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en-US" sz="2400" b="1"/>
              <a:t>	</a:t>
            </a:r>
          </a:p>
          <a:p>
            <a:pPr eaLnBrk="1" hangingPunct="1"/>
            <a:r>
              <a:rPr lang="en-US" altLang="en-US" sz="2400"/>
              <a:t>Ex. Suppose a dataset with 1000 tuples, income=low (0), income= medium (990), and income = high (10)</a:t>
            </a:r>
          </a:p>
          <a:p>
            <a:pPr eaLnBrk="1" hangingPunct="1"/>
            <a:r>
              <a:rPr lang="en-US" altLang="en-US" sz="2400"/>
              <a:t>Use </a:t>
            </a:r>
            <a:r>
              <a:rPr lang="en-US" altLang="en-US" sz="2400" b="1"/>
              <a:t>Laplacian correction</a:t>
            </a:r>
            <a:r>
              <a:rPr lang="en-US" altLang="en-US" sz="2400"/>
              <a:t> (or Laplacian estimator)</a:t>
            </a:r>
          </a:p>
          <a:p>
            <a:pPr lvl="1" eaLnBrk="1" hangingPunct="1"/>
            <a:r>
              <a:rPr lang="en-US" altLang="en-US" sz="2400" i="1"/>
              <a:t>Adding 1 to each case</a:t>
            </a:r>
          </a:p>
          <a:p>
            <a:pPr lvl="2" eaLnBrk="1" hangingPunct="1">
              <a:buFont typeface="Wingdings" panose="05000000000000000000" pitchFamily="2" charset="2"/>
              <a:buNone/>
            </a:pPr>
            <a:r>
              <a:rPr lang="en-US" altLang="en-US"/>
              <a:t>Prob(income = low) = 1/1003</a:t>
            </a:r>
          </a:p>
          <a:p>
            <a:pPr lvl="2" eaLnBrk="1" hangingPunct="1">
              <a:buFont typeface="Wingdings" panose="05000000000000000000" pitchFamily="2" charset="2"/>
              <a:buNone/>
            </a:pPr>
            <a:r>
              <a:rPr lang="en-US" altLang="en-US"/>
              <a:t>Prob(income = medium) = 991/1003</a:t>
            </a:r>
          </a:p>
          <a:p>
            <a:pPr lvl="2" eaLnBrk="1" hangingPunct="1">
              <a:buFont typeface="Wingdings" panose="05000000000000000000" pitchFamily="2" charset="2"/>
              <a:buNone/>
            </a:pPr>
            <a:r>
              <a:rPr lang="en-US" altLang="en-US"/>
              <a:t>Prob(income = high) = 11/1003</a:t>
            </a:r>
          </a:p>
          <a:p>
            <a:pPr lvl="1" eaLnBrk="1" hangingPunct="1"/>
            <a:r>
              <a:rPr lang="en-US" altLang="en-US" sz="2400"/>
              <a:t>The “corrected” prob. estimates are close to their “uncorrected” counterparts</a:t>
            </a:r>
          </a:p>
        </p:txBody>
      </p:sp>
      <p:graphicFrame>
        <p:nvGraphicFramePr>
          <p:cNvPr id="39941" name="Object 4">
            <a:extLst>
              <a:ext uri="{FF2B5EF4-FFF2-40B4-BE49-F238E27FC236}">
                <a16:creationId xmlns:a16="http://schemas.microsoft.com/office/drawing/2014/main" id="{D65EB21B-AEEA-42E2-8EF6-9F2A69E21C57}"/>
              </a:ext>
            </a:extLst>
          </p:cNvPr>
          <p:cNvGraphicFramePr>
            <a:graphicFrameLocks/>
          </p:cNvGraphicFramePr>
          <p:nvPr>
            <p:ph sz="half" idx="2"/>
          </p:nvPr>
        </p:nvGraphicFramePr>
        <p:xfrm>
          <a:off x="2209800" y="1981200"/>
          <a:ext cx="4038600" cy="838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9942" name="Equation" r:id="rId4" imgW="1765300" imgH="508000" progId="Equation.3">
                  <p:embed/>
                </p:oleObj>
              </mc:Choice>
              <mc:Fallback>
                <p:oleObj name="Equation" r:id="rId4" imgW="1765300" imgH="508000" progId="Equation.3">
                  <p:embed/>
                  <p:pic>
                    <p:nvPicPr>
                      <p:cNvPr id="0" name="Object 4"/>
                      <p:cNvPicPr>
                        <a:picLocks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09800" y="1981200"/>
                        <a:ext cx="4038600" cy="838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>
    <p:zoom/>
  </p:transition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Slide Number Placeholder 5">
            <a:extLst>
              <a:ext uri="{FF2B5EF4-FFF2-40B4-BE49-F238E27FC236}">
                <a16:creationId xmlns:a16="http://schemas.microsoft.com/office/drawing/2014/main" id="{CD9214D8-2DE7-470D-A4AC-CD48C856F16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fld id="{E64C2AB9-B2D3-48C1-94B0-8CCDA918C2F2}" type="slidenum">
              <a:rPr lang="en-US" altLang="en-US"/>
              <a:pPr eaLnBrk="1" hangingPunct="1"/>
              <a:t>38</a:t>
            </a:fld>
            <a:endParaRPr lang="en-US" altLang="en-US"/>
          </a:p>
        </p:txBody>
      </p:sp>
      <p:sp>
        <p:nvSpPr>
          <p:cNvPr id="40963" name="Rectangle 2">
            <a:extLst>
              <a:ext uri="{FF2B5EF4-FFF2-40B4-BE49-F238E27FC236}">
                <a16:creationId xmlns:a16="http://schemas.microsoft.com/office/drawing/2014/main" id="{8DE3CE54-B06C-4A3C-8598-86343C8770C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9525" y="304800"/>
            <a:ext cx="9144000" cy="609600"/>
          </a:xfrm>
        </p:spPr>
        <p:txBody>
          <a:bodyPr/>
          <a:lstStyle/>
          <a:p>
            <a:pPr eaLnBrk="1" hangingPunct="1"/>
            <a:r>
              <a:rPr lang="en-US" altLang="en-US"/>
              <a:t>Naïve Bayes Classifier: Comments</a:t>
            </a:r>
          </a:p>
        </p:txBody>
      </p:sp>
      <p:sp>
        <p:nvSpPr>
          <p:cNvPr id="40964" name="Rectangle 3">
            <a:extLst>
              <a:ext uri="{FF2B5EF4-FFF2-40B4-BE49-F238E27FC236}">
                <a16:creationId xmlns:a16="http://schemas.microsoft.com/office/drawing/2014/main" id="{91A851B1-0214-444A-95C5-8618313DFE9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04800" y="1295400"/>
            <a:ext cx="8610600" cy="5105400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en-US" sz="2400"/>
              <a:t>Advantages 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2400"/>
              <a:t>Easy to implement 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2400"/>
              <a:t>Good results obtained in most of the cases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2400"/>
              <a:t>Disadvantages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2400"/>
              <a:t>Assumption: class conditional independence, therefore loss of accuracy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2400"/>
              <a:t>Practically, dependencies exist among variables </a:t>
            </a:r>
          </a:p>
          <a:p>
            <a:pPr lvl="2" eaLnBrk="1" hangingPunct="1">
              <a:lnSpc>
                <a:spcPct val="90000"/>
              </a:lnSpc>
            </a:pPr>
            <a:r>
              <a:rPr lang="en-US" altLang="en-US"/>
              <a:t>E.g.,  hospitals: patients: Profile: age, family history, etc. </a:t>
            </a:r>
          </a:p>
          <a:p>
            <a:pPr lvl="3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en-US"/>
              <a:t> </a:t>
            </a:r>
            <a:r>
              <a:rPr lang="en-US" altLang="en-US" sz="2400"/>
              <a:t>Symptoms: fever, cough etc., Disease: lung cancer, diabetes, etc. </a:t>
            </a:r>
          </a:p>
          <a:p>
            <a:pPr lvl="2" eaLnBrk="1" hangingPunct="1">
              <a:lnSpc>
                <a:spcPct val="90000"/>
              </a:lnSpc>
            </a:pPr>
            <a:r>
              <a:rPr lang="en-US" altLang="en-US"/>
              <a:t>Dependencies among these cannot be modeled by Naïve Bayes Classifier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2400"/>
              <a:t>How to deal with these dependencies? Bayesian Belief Networks (Chapter 9)</a:t>
            </a:r>
          </a:p>
        </p:txBody>
      </p:sp>
    </p:spTree>
  </p:cSld>
  <p:clrMapOvr>
    <a:masterClrMapping/>
  </p:clrMapOvr>
  <p:transition>
    <p:zoom/>
  </p:transition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Slide Number Placeholder 6">
            <a:extLst>
              <a:ext uri="{FF2B5EF4-FFF2-40B4-BE49-F238E27FC236}">
                <a16:creationId xmlns:a16="http://schemas.microsoft.com/office/drawing/2014/main" id="{9CBC583D-631A-4212-BB3C-FCBE1499A608}"/>
              </a:ext>
            </a:extLst>
          </p:cNvPr>
          <p:cNvSpPr txBox="1">
            <a:spLocks noGrp="1"/>
          </p:cNvSpPr>
          <p:nvPr/>
        </p:nvSpPr>
        <p:spPr bwMode="auto">
          <a:xfrm>
            <a:off x="7239000" y="6477000"/>
            <a:ext cx="1905000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r" eaLnBrk="1" hangingPunct="1"/>
            <a:fld id="{CE61D7AF-0B6A-45BC-BECF-71884749C1E7}" type="slidenum">
              <a:rPr lang="en-US" altLang="en-US" sz="1400" b="1">
                <a:latin typeface="Calibri" panose="020F0502020204030204" pitchFamily="34" charset="0"/>
              </a:rPr>
              <a:pPr algn="r" eaLnBrk="1" hangingPunct="1"/>
              <a:t>39</a:t>
            </a:fld>
            <a:endParaRPr lang="en-US" altLang="en-US" sz="1400" b="1">
              <a:latin typeface="Calibri" panose="020F0502020204030204" pitchFamily="34" charset="0"/>
            </a:endParaRPr>
          </a:p>
        </p:txBody>
      </p:sp>
      <p:sp>
        <p:nvSpPr>
          <p:cNvPr id="41987" name="Rectangle 2">
            <a:extLst>
              <a:ext uri="{FF2B5EF4-FFF2-40B4-BE49-F238E27FC236}">
                <a16:creationId xmlns:a16="http://schemas.microsoft.com/office/drawing/2014/main" id="{73901295-B151-459D-80FD-F807D22A0ACC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33338" y="304800"/>
            <a:ext cx="9144000" cy="609600"/>
          </a:xfrm>
          <a:noFill/>
        </p:spPr>
        <p:txBody>
          <a:bodyPr lIns="92075" tIns="46038" rIns="92075" bIns="46038" anchor="ctr"/>
          <a:lstStyle/>
          <a:p>
            <a:pPr eaLnBrk="1" hangingPunct="1"/>
            <a:r>
              <a:rPr lang="en-US" altLang="en-US"/>
              <a:t>Chapter 8. Classification: Basic Concepts</a:t>
            </a:r>
          </a:p>
        </p:txBody>
      </p:sp>
      <p:sp>
        <p:nvSpPr>
          <p:cNvPr id="41988" name="Rectangle 3">
            <a:extLst>
              <a:ext uri="{FF2B5EF4-FFF2-40B4-BE49-F238E27FC236}">
                <a16:creationId xmlns:a16="http://schemas.microsoft.com/office/drawing/2014/main" id="{2219B9E1-BE97-4F2C-95FA-B7B64ED3768C}"/>
              </a:ext>
            </a:extLst>
          </p:cNvPr>
          <p:cNvSpPr>
            <a:spLocks noGrp="1" noChangeArrowheads="1"/>
          </p:cNvSpPr>
          <p:nvPr>
            <p:ph type="body" sz="half" idx="4294967295"/>
          </p:nvPr>
        </p:nvSpPr>
        <p:spPr>
          <a:xfrm>
            <a:off x="304800" y="1447800"/>
            <a:ext cx="8382000" cy="5105400"/>
          </a:xfrm>
          <a:noFill/>
        </p:spPr>
        <p:txBody>
          <a:bodyPr lIns="92075" tIns="46038" rIns="92075" bIns="46038"/>
          <a:lstStyle/>
          <a:p>
            <a:pPr>
              <a:lnSpc>
                <a:spcPct val="130000"/>
              </a:lnSpc>
            </a:pPr>
            <a:r>
              <a:rPr lang="en-US" altLang="en-US"/>
              <a:t>Classification: Basic Concepts</a:t>
            </a:r>
          </a:p>
          <a:p>
            <a:pPr>
              <a:lnSpc>
                <a:spcPct val="130000"/>
              </a:lnSpc>
            </a:pPr>
            <a:r>
              <a:rPr lang="en-US" altLang="en-US"/>
              <a:t>Decision Tree Induction</a:t>
            </a:r>
          </a:p>
          <a:p>
            <a:pPr>
              <a:lnSpc>
                <a:spcPct val="130000"/>
              </a:lnSpc>
            </a:pPr>
            <a:r>
              <a:rPr lang="en-US" altLang="en-US"/>
              <a:t>Bayes Classification Methods</a:t>
            </a:r>
          </a:p>
          <a:p>
            <a:pPr>
              <a:lnSpc>
                <a:spcPct val="130000"/>
              </a:lnSpc>
            </a:pPr>
            <a:r>
              <a:rPr lang="en-US" altLang="en-US"/>
              <a:t>Rule-Based Classification</a:t>
            </a:r>
          </a:p>
          <a:p>
            <a:pPr>
              <a:lnSpc>
                <a:spcPct val="130000"/>
              </a:lnSpc>
            </a:pPr>
            <a:r>
              <a:rPr lang="en-US" altLang="en-US"/>
              <a:t>Model Evaluation and Selection</a:t>
            </a:r>
          </a:p>
          <a:p>
            <a:pPr>
              <a:lnSpc>
                <a:spcPct val="130000"/>
              </a:lnSpc>
            </a:pPr>
            <a:r>
              <a:rPr lang="en-US" altLang="en-US"/>
              <a:t>Techniques to Improve Classification Accuracy: Ensemble Methods</a:t>
            </a:r>
          </a:p>
          <a:p>
            <a:pPr>
              <a:lnSpc>
                <a:spcPct val="130000"/>
              </a:lnSpc>
            </a:pPr>
            <a:r>
              <a:rPr lang="en-US" altLang="en-US"/>
              <a:t>Summary</a:t>
            </a:r>
          </a:p>
        </p:txBody>
      </p:sp>
      <p:sp>
        <p:nvSpPr>
          <p:cNvPr id="41989" name="AutoShape 8">
            <a:extLst>
              <a:ext uri="{FF2B5EF4-FFF2-40B4-BE49-F238E27FC236}">
                <a16:creationId xmlns:a16="http://schemas.microsoft.com/office/drawing/2014/main" id="{B1AABF23-CF2B-4AFC-8E29-8DF1684B48C5}"/>
              </a:ext>
            </a:extLst>
          </p:cNvPr>
          <p:cNvSpPr>
            <a:spLocks noChangeArrowheads="1"/>
          </p:cNvSpPr>
          <p:nvPr/>
        </p:nvSpPr>
        <p:spPr bwMode="auto">
          <a:xfrm rot="9803581">
            <a:off x="4648200" y="3352800"/>
            <a:ext cx="533400" cy="381000"/>
          </a:xfrm>
          <a:prstGeom prst="notchedRightArrow">
            <a:avLst>
              <a:gd name="adj1" fmla="val 50000"/>
              <a:gd name="adj2" fmla="val 35000"/>
            </a:avLst>
          </a:prstGeom>
          <a:solidFill>
            <a:srgbClr val="FF99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rot="10800000" wrap="none" anchor="ctr"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</p:spTree>
  </p:cSld>
  <p:clrMapOvr>
    <a:masterClrMapping/>
  </p:clrMapOvr>
  <p:transition>
    <p:zoom/>
  </p:transition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Slide Number Placeholder 5">
            <a:extLst>
              <a:ext uri="{FF2B5EF4-FFF2-40B4-BE49-F238E27FC236}">
                <a16:creationId xmlns:a16="http://schemas.microsoft.com/office/drawing/2014/main" id="{43FC237B-5E37-471F-870A-430ABA9EE29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fld id="{F0D31A25-ADBB-442D-BE75-D724A9D0AE28}" type="slidenum">
              <a:rPr lang="en-US" altLang="en-US"/>
              <a:pPr eaLnBrk="1" hangingPunct="1"/>
              <a:t>40</a:t>
            </a:fld>
            <a:endParaRPr lang="en-US" altLang="en-US"/>
          </a:p>
        </p:txBody>
      </p:sp>
      <p:sp>
        <p:nvSpPr>
          <p:cNvPr id="43011" name="Rectangle 2">
            <a:extLst>
              <a:ext uri="{FF2B5EF4-FFF2-40B4-BE49-F238E27FC236}">
                <a16:creationId xmlns:a16="http://schemas.microsoft.com/office/drawing/2014/main" id="{6B420B60-205A-473E-BAB8-88C8B17480D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52400" y="304800"/>
            <a:ext cx="8783638" cy="609600"/>
          </a:xfrm>
        </p:spPr>
        <p:txBody>
          <a:bodyPr/>
          <a:lstStyle/>
          <a:p>
            <a:pPr eaLnBrk="1" hangingPunct="1"/>
            <a:r>
              <a:rPr lang="en-US" altLang="en-US"/>
              <a:t>Using IF-THEN Rules for Classification</a:t>
            </a:r>
          </a:p>
        </p:txBody>
      </p:sp>
      <p:sp>
        <p:nvSpPr>
          <p:cNvPr id="43012" name="Rectangle 3">
            <a:extLst>
              <a:ext uri="{FF2B5EF4-FFF2-40B4-BE49-F238E27FC236}">
                <a16:creationId xmlns:a16="http://schemas.microsoft.com/office/drawing/2014/main" id="{8C617579-9089-4878-8894-586EF98E790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04800" y="1295400"/>
            <a:ext cx="8534400" cy="5257800"/>
          </a:xfrm>
        </p:spPr>
        <p:txBody>
          <a:bodyPr/>
          <a:lstStyle/>
          <a:p>
            <a:pPr eaLnBrk="1" hangingPunct="1"/>
            <a:r>
              <a:rPr lang="en-US" altLang="en-US" sz="2000"/>
              <a:t>Represent the knowledge in the form of </a:t>
            </a:r>
            <a:r>
              <a:rPr lang="en-US" altLang="en-US" sz="2000">
                <a:solidFill>
                  <a:schemeClr val="hlink"/>
                </a:solidFill>
              </a:rPr>
              <a:t>IF-THEN</a:t>
            </a:r>
            <a:r>
              <a:rPr lang="en-US" altLang="en-US" sz="2000"/>
              <a:t> rules</a:t>
            </a:r>
          </a:p>
          <a:p>
            <a:pPr lvl="1" eaLnBrk="1" hangingPunct="1">
              <a:spcBef>
                <a:spcPct val="40000"/>
              </a:spcBef>
              <a:buFont typeface="Wingdings" panose="05000000000000000000" pitchFamily="2" charset="2"/>
              <a:buNone/>
            </a:pPr>
            <a:r>
              <a:rPr lang="en-US" altLang="en-US" sz="2000"/>
              <a:t>R:  IF </a:t>
            </a:r>
            <a:r>
              <a:rPr lang="en-US" altLang="en-US" sz="2000" i="1"/>
              <a:t>age</a:t>
            </a:r>
            <a:r>
              <a:rPr lang="en-US" altLang="en-US" sz="2000"/>
              <a:t> = youth AND </a:t>
            </a:r>
            <a:r>
              <a:rPr lang="en-US" altLang="en-US" sz="2000" i="1"/>
              <a:t>student</a:t>
            </a:r>
            <a:r>
              <a:rPr lang="en-US" altLang="en-US" sz="2000"/>
              <a:t> = yes  THEN </a:t>
            </a:r>
            <a:r>
              <a:rPr lang="en-US" altLang="en-US" sz="2000" i="1"/>
              <a:t>buys_computer</a:t>
            </a:r>
            <a:r>
              <a:rPr lang="en-US" altLang="en-US" sz="2000"/>
              <a:t> = yes</a:t>
            </a:r>
          </a:p>
          <a:p>
            <a:pPr lvl="1" eaLnBrk="1" hangingPunct="1"/>
            <a:r>
              <a:rPr lang="en-US" altLang="en-US" sz="2000"/>
              <a:t>Rule antecedent/precondition vs. rule consequent</a:t>
            </a:r>
          </a:p>
          <a:p>
            <a:pPr eaLnBrk="1" hangingPunct="1"/>
            <a:r>
              <a:rPr lang="en-US" altLang="en-US" sz="2000"/>
              <a:t>Assessment of a rule: </a:t>
            </a:r>
            <a:r>
              <a:rPr lang="en-US" altLang="en-US" sz="2000" i="1"/>
              <a:t>coverage</a:t>
            </a:r>
            <a:r>
              <a:rPr lang="en-US" altLang="en-US" sz="2000"/>
              <a:t> and </a:t>
            </a:r>
            <a:r>
              <a:rPr lang="en-US" altLang="en-US" sz="2000" i="1"/>
              <a:t>accuracy</a:t>
            </a:r>
            <a:r>
              <a:rPr lang="en-US" altLang="en-US" sz="2000"/>
              <a:t> </a:t>
            </a:r>
          </a:p>
          <a:p>
            <a:pPr lvl="1" eaLnBrk="1" hangingPunct="1"/>
            <a:r>
              <a:rPr lang="en-US" altLang="en-US" sz="2000"/>
              <a:t>n</a:t>
            </a:r>
            <a:r>
              <a:rPr lang="en-US" altLang="en-US" sz="2000" baseline="-25000"/>
              <a:t>covers </a:t>
            </a:r>
            <a:r>
              <a:rPr lang="en-US" altLang="en-US" sz="2000"/>
              <a:t>= # of tuples covered by R</a:t>
            </a:r>
          </a:p>
          <a:p>
            <a:pPr lvl="1" eaLnBrk="1" hangingPunct="1"/>
            <a:r>
              <a:rPr lang="en-US" altLang="en-US" sz="2000"/>
              <a:t>n</a:t>
            </a:r>
            <a:r>
              <a:rPr lang="en-US" altLang="en-US" sz="2000" baseline="-25000"/>
              <a:t>correct </a:t>
            </a:r>
            <a:r>
              <a:rPr lang="en-US" altLang="en-US" sz="2000"/>
              <a:t>= # of tuples correctly classified by R</a:t>
            </a:r>
          </a:p>
          <a:p>
            <a:pPr lvl="1" eaLnBrk="1" hangingPunct="1">
              <a:buFont typeface="Wingdings" panose="05000000000000000000" pitchFamily="2" charset="2"/>
              <a:buNone/>
            </a:pPr>
            <a:r>
              <a:rPr lang="en-US" altLang="en-US" sz="2000"/>
              <a:t>coverage(R) = n</a:t>
            </a:r>
            <a:r>
              <a:rPr lang="en-US" altLang="en-US" sz="2000" baseline="-25000"/>
              <a:t>covers </a:t>
            </a:r>
            <a:r>
              <a:rPr lang="en-US" altLang="en-US" sz="2000"/>
              <a:t>/|D|   /* D: training data set */</a:t>
            </a:r>
          </a:p>
          <a:p>
            <a:pPr lvl="1" eaLnBrk="1" hangingPunct="1">
              <a:buFont typeface="Wingdings" panose="05000000000000000000" pitchFamily="2" charset="2"/>
              <a:buNone/>
            </a:pPr>
            <a:r>
              <a:rPr lang="en-US" altLang="en-US" sz="2000"/>
              <a:t>accuracy(R) = n</a:t>
            </a:r>
            <a:r>
              <a:rPr lang="en-US" altLang="en-US" sz="2000" baseline="-25000"/>
              <a:t>correct </a:t>
            </a:r>
            <a:r>
              <a:rPr lang="en-US" altLang="en-US" sz="2000"/>
              <a:t>/ n</a:t>
            </a:r>
            <a:r>
              <a:rPr lang="en-US" altLang="en-US" sz="2000" baseline="-25000"/>
              <a:t>covers</a:t>
            </a:r>
            <a:endParaRPr lang="en-US" altLang="en-US" sz="2000"/>
          </a:p>
          <a:p>
            <a:pPr eaLnBrk="1" hangingPunct="1"/>
            <a:r>
              <a:rPr lang="en-US" altLang="en-US" sz="2000"/>
              <a:t>If more than one rule are triggered, need </a:t>
            </a:r>
            <a:r>
              <a:rPr lang="en-US" altLang="en-US" sz="2000" b="1"/>
              <a:t>conflict resolution</a:t>
            </a:r>
          </a:p>
          <a:p>
            <a:pPr lvl="1" eaLnBrk="1" hangingPunct="1"/>
            <a:r>
              <a:rPr lang="en-US" altLang="en-US" sz="2000"/>
              <a:t>Size ordering: assign the highest priority to the triggering rules that has the “toughest” requirement (i.e., with the </a:t>
            </a:r>
            <a:r>
              <a:rPr lang="en-US" altLang="en-US" sz="2000" i="1"/>
              <a:t>most attribute tests</a:t>
            </a:r>
            <a:r>
              <a:rPr lang="en-US" altLang="en-US" sz="2000"/>
              <a:t>)</a:t>
            </a:r>
          </a:p>
          <a:p>
            <a:pPr lvl="1" eaLnBrk="1" hangingPunct="1"/>
            <a:r>
              <a:rPr lang="en-US" altLang="en-US" sz="2000"/>
              <a:t>Class-based ordering: decreasing order of </a:t>
            </a:r>
            <a:r>
              <a:rPr lang="en-US" altLang="en-US" sz="2000" i="1"/>
              <a:t>prevalence or misclassification cost per class</a:t>
            </a:r>
          </a:p>
          <a:p>
            <a:pPr lvl="1" eaLnBrk="1" hangingPunct="1"/>
            <a:r>
              <a:rPr lang="en-US" altLang="en-US" sz="2000"/>
              <a:t>Rule-based ordering (</a:t>
            </a:r>
            <a:r>
              <a:rPr lang="en-US" altLang="en-US" sz="2000" b="1"/>
              <a:t>decision list</a:t>
            </a:r>
            <a:r>
              <a:rPr lang="en-US" altLang="en-US" sz="2000"/>
              <a:t>): rules are organized into one long priority list, according to some measure of rule quality or by experts</a:t>
            </a:r>
          </a:p>
        </p:txBody>
      </p:sp>
    </p:spTree>
  </p:cSld>
  <p:clrMapOvr>
    <a:masterClrMapping/>
  </p:clrMapOvr>
  <p:transition>
    <p:zoom/>
  </p:transition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Slide Number Placeholder 5">
            <a:extLst>
              <a:ext uri="{FF2B5EF4-FFF2-40B4-BE49-F238E27FC236}">
                <a16:creationId xmlns:a16="http://schemas.microsoft.com/office/drawing/2014/main" id="{9E9E0BE3-1A75-47DA-A793-FC8C715F5ED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fld id="{C5B48DE1-0CB4-4CD2-A1C0-8B4FF9CFC2DE}" type="slidenum">
              <a:rPr lang="en-US" altLang="en-US"/>
              <a:pPr eaLnBrk="1" hangingPunct="1"/>
              <a:t>41</a:t>
            </a:fld>
            <a:endParaRPr lang="en-US" altLang="en-US"/>
          </a:p>
        </p:txBody>
      </p:sp>
      <p:grpSp>
        <p:nvGrpSpPr>
          <p:cNvPr id="44035" name="Group 59">
            <a:extLst>
              <a:ext uri="{FF2B5EF4-FFF2-40B4-BE49-F238E27FC236}">
                <a16:creationId xmlns:a16="http://schemas.microsoft.com/office/drawing/2014/main" id="{5C0A8D37-3C49-4B4B-8C8B-F3E26AB0C873}"/>
              </a:ext>
            </a:extLst>
          </p:cNvPr>
          <p:cNvGrpSpPr>
            <a:grpSpLocks/>
          </p:cNvGrpSpPr>
          <p:nvPr/>
        </p:nvGrpSpPr>
        <p:grpSpPr bwMode="auto">
          <a:xfrm>
            <a:off x="5900738" y="838200"/>
            <a:ext cx="3319462" cy="1981200"/>
            <a:chOff x="3504" y="144"/>
            <a:chExt cx="2091" cy="1248"/>
          </a:xfrm>
        </p:grpSpPr>
        <p:sp>
          <p:nvSpPr>
            <p:cNvPr id="44039" name="Rectangle 34">
              <a:extLst>
                <a:ext uri="{FF2B5EF4-FFF2-40B4-BE49-F238E27FC236}">
                  <a16:creationId xmlns:a16="http://schemas.microsoft.com/office/drawing/2014/main" id="{8EDC9F03-2006-4DF8-BADB-C744CD9C152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72" y="144"/>
              <a:ext cx="336" cy="200"/>
            </a:xfrm>
            <a:prstGeom prst="rect">
              <a:avLst/>
            </a:prstGeom>
            <a:solidFill>
              <a:srgbClr val="00CCFF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92075" tIns="46038" rIns="92075" bIns="46038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ctr"/>
              <a:r>
                <a:rPr lang="en-US" altLang="en-US" sz="1400">
                  <a:latin typeface="Times New Roman" panose="02020603050405020304" pitchFamily="18" charset="0"/>
                </a:rPr>
                <a:t>age?</a:t>
              </a:r>
            </a:p>
          </p:txBody>
        </p:sp>
        <p:grpSp>
          <p:nvGrpSpPr>
            <p:cNvPr id="44040" name="Group 58">
              <a:extLst>
                <a:ext uri="{FF2B5EF4-FFF2-40B4-BE49-F238E27FC236}">
                  <a16:creationId xmlns:a16="http://schemas.microsoft.com/office/drawing/2014/main" id="{1126A826-76E1-4E7B-8AE6-78983284B67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504" y="290"/>
              <a:ext cx="2091" cy="1102"/>
              <a:chOff x="3504" y="144"/>
              <a:chExt cx="2091" cy="1102"/>
            </a:xfrm>
          </p:grpSpPr>
          <p:sp>
            <p:nvSpPr>
              <p:cNvPr id="44041" name="Rectangle 36">
                <a:extLst>
                  <a:ext uri="{FF2B5EF4-FFF2-40B4-BE49-F238E27FC236}">
                    <a16:creationId xmlns:a16="http://schemas.microsoft.com/office/drawing/2014/main" id="{740C49D5-88BB-4D8B-BA4C-F7F1CAD77AF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717" y="528"/>
                <a:ext cx="498" cy="200"/>
              </a:xfrm>
              <a:prstGeom prst="rect">
                <a:avLst/>
              </a:prstGeom>
              <a:solidFill>
                <a:srgbClr val="00FFCC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lIns="92075" tIns="46038" rIns="92075" bIns="46038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 algn="ctr"/>
                <a:r>
                  <a:rPr lang="en-US" altLang="en-US" sz="1400">
                    <a:latin typeface="Times New Roman" panose="02020603050405020304" pitchFamily="18" charset="0"/>
                  </a:rPr>
                  <a:t>student?</a:t>
                </a:r>
              </a:p>
            </p:txBody>
          </p:sp>
          <p:sp>
            <p:nvSpPr>
              <p:cNvPr id="44042" name="Rectangle 37">
                <a:extLst>
                  <a:ext uri="{FF2B5EF4-FFF2-40B4-BE49-F238E27FC236}">
                    <a16:creationId xmlns:a16="http://schemas.microsoft.com/office/drawing/2014/main" id="{B30E1195-579D-4034-9838-7F858A175FB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824" y="528"/>
                <a:ext cx="718" cy="200"/>
              </a:xfrm>
              <a:prstGeom prst="rect">
                <a:avLst/>
              </a:prstGeom>
              <a:solidFill>
                <a:srgbClr val="99CCFF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lIns="92075" tIns="46038" rIns="92075" bIns="46038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 algn="ctr"/>
                <a:r>
                  <a:rPr lang="en-US" altLang="en-US" sz="1400">
                    <a:latin typeface="Times New Roman" panose="02020603050405020304" pitchFamily="18" charset="0"/>
                  </a:rPr>
                  <a:t>credit rating?</a:t>
                </a:r>
              </a:p>
            </p:txBody>
          </p:sp>
          <p:sp>
            <p:nvSpPr>
              <p:cNvPr id="44043" name="Line 38">
                <a:extLst>
                  <a:ext uri="{FF2B5EF4-FFF2-40B4-BE49-F238E27FC236}">
                    <a16:creationId xmlns:a16="http://schemas.microsoft.com/office/drawing/2014/main" id="{FD2B4B43-AA0F-4F81-A5FF-6BDF5EA4073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3971" y="155"/>
                <a:ext cx="317" cy="416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44044" name="Line 39">
                <a:extLst>
                  <a:ext uri="{FF2B5EF4-FFF2-40B4-BE49-F238E27FC236}">
                    <a16:creationId xmlns:a16="http://schemas.microsoft.com/office/drawing/2014/main" id="{0E1130EB-79C5-49BC-89C6-02EF353145C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4481" y="169"/>
                <a:ext cx="0" cy="172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44045" name="Line 40">
                <a:extLst>
                  <a:ext uri="{FF2B5EF4-FFF2-40B4-BE49-F238E27FC236}">
                    <a16:creationId xmlns:a16="http://schemas.microsoft.com/office/drawing/2014/main" id="{3591A564-2E56-4994-B064-9AE7D17AD3F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636" y="144"/>
                <a:ext cx="534" cy="447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44046" name="Rectangle 41">
                <a:extLst>
                  <a:ext uri="{FF2B5EF4-FFF2-40B4-BE49-F238E27FC236}">
                    <a16:creationId xmlns:a16="http://schemas.microsoft.com/office/drawing/2014/main" id="{9A506BB2-CEAC-487F-A4EF-96FC5915011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889" y="288"/>
                <a:ext cx="330" cy="181"/>
              </a:xfrm>
              <a:prstGeom prst="rect">
                <a:avLst/>
              </a:prstGeom>
              <a:solidFill>
                <a:srgbClr val="FFFF00"/>
              </a:solidFill>
              <a:ln w="12700">
                <a:solidFill>
                  <a:schemeClr val="bg1"/>
                </a:solidFill>
                <a:miter lim="800000"/>
                <a:headEnd/>
                <a:tailEnd/>
              </a:ln>
            </p:spPr>
            <p:txBody>
              <a:bodyPr wrap="none" lIns="92075" tIns="46038" rIns="92075" bIns="46038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 algn="ctr"/>
                <a:r>
                  <a:rPr lang="en-US" altLang="en-US" sz="1200" b="1">
                    <a:latin typeface="Times New Roman" panose="02020603050405020304" pitchFamily="18" charset="0"/>
                  </a:rPr>
                  <a:t>&lt;=30</a:t>
                </a:r>
                <a:endParaRPr lang="en-US" altLang="en-US" sz="12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44047" name="Rectangle 42">
                <a:extLst>
                  <a:ext uri="{FF2B5EF4-FFF2-40B4-BE49-F238E27FC236}">
                    <a16:creationId xmlns:a16="http://schemas.microsoft.com/office/drawing/2014/main" id="{84A8DD28-6988-4475-B74B-77E0F3733A3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828" y="325"/>
                <a:ext cx="267" cy="173"/>
              </a:xfrm>
              <a:prstGeom prst="rect">
                <a:avLst/>
              </a:prstGeom>
              <a:solidFill>
                <a:srgbClr val="FFFF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2075" tIns="46038" rIns="92075" bIns="46038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 algn="ctr"/>
                <a:r>
                  <a:rPr lang="en-US" altLang="en-US" sz="1200" b="1">
                    <a:latin typeface="Times New Roman" panose="02020603050405020304" pitchFamily="18" charset="0"/>
                  </a:rPr>
                  <a:t>&gt;40</a:t>
                </a:r>
                <a:endParaRPr lang="en-US" altLang="en-US" sz="12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44048" name="Line 43">
                <a:extLst>
                  <a:ext uri="{FF2B5EF4-FFF2-40B4-BE49-F238E27FC236}">
                    <a16:creationId xmlns:a16="http://schemas.microsoft.com/office/drawing/2014/main" id="{DBD5A3CF-0DE0-4100-8651-30BC4D526B5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3636" y="743"/>
                <a:ext cx="268" cy="311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44049" name="Line 44">
                <a:extLst>
                  <a:ext uri="{FF2B5EF4-FFF2-40B4-BE49-F238E27FC236}">
                    <a16:creationId xmlns:a16="http://schemas.microsoft.com/office/drawing/2014/main" id="{914352A6-CB08-4B84-8A81-0F04BAEC91C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026" y="743"/>
                <a:ext cx="244" cy="311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44050" name="Line 45">
                <a:extLst>
                  <a:ext uri="{FF2B5EF4-FFF2-40B4-BE49-F238E27FC236}">
                    <a16:creationId xmlns:a16="http://schemas.microsoft.com/office/drawing/2014/main" id="{02D6A89D-4D06-4E6C-924F-76390BC7F27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4856" y="743"/>
                <a:ext cx="244" cy="287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44051" name="Line 46">
                <a:extLst>
                  <a:ext uri="{FF2B5EF4-FFF2-40B4-BE49-F238E27FC236}">
                    <a16:creationId xmlns:a16="http://schemas.microsoft.com/office/drawing/2014/main" id="{FF3C8871-F414-492F-8708-4D40FF6F8E1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246" y="743"/>
                <a:ext cx="220" cy="287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44052" name="Line 47">
                <a:extLst>
                  <a:ext uri="{FF2B5EF4-FFF2-40B4-BE49-F238E27FC236}">
                    <a16:creationId xmlns:a16="http://schemas.microsoft.com/office/drawing/2014/main" id="{43F781D6-18B7-4F04-9AAD-191C753B6C5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481" y="438"/>
                <a:ext cx="0" cy="138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44053" name="Rectangle 48">
                <a:extLst>
                  <a:ext uri="{FF2B5EF4-FFF2-40B4-BE49-F238E27FC236}">
                    <a16:creationId xmlns:a16="http://schemas.microsoft.com/office/drawing/2014/main" id="{8E2C2082-ACF4-41A4-833B-1C4E1F871EF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04" y="1054"/>
                <a:ext cx="228" cy="192"/>
              </a:xfrm>
              <a:prstGeom prst="rect">
                <a:avLst/>
              </a:prstGeom>
              <a:solidFill>
                <a:srgbClr val="FFCC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2075" tIns="46038" rIns="92075" bIns="46038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 algn="ctr"/>
                <a:r>
                  <a:rPr lang="en-US" altLang="en-US" sz="1400">
                    <a:latin typeface="Times New Roman" panose="02020603050405020304" pitchFamily="18" charset="0"/>
                  </a:rPr>
                  <a:t>no</a:t>
                </a:r>
              </a:p>
            </p:txBody>
          </p:sp>
          <p:sp>
            <p:nvSpPr>
              <p:cNvPr id="44054" name="Rectangle 49">
                <a:extLst>
                  <a:ext uri="{FF2B5EF4-FFF2-40B4-BE49-F238E27FC236}">
                    <a16:creationId xmlns:a16="http://schemas.microsoft.com/office/drawing/2014/main" id="{657092B0-3565-4FD5-B6E5-E26DAACB2C5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139" y="1054"/>
                <a:ext cx="266" cy="192"/>
              </a:xfrm>
              <a:prstGeom prst="rect">
                <a:avLst/>
              </a:prstGeom>
              <a:solidFill>
                <a:srgbClr val="00FF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2075" tIns="46038" rIns="92075" bIns="46038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 algn="ctr"/>
                <a:r>
                  <a:rPr lang="en-US" altLang="en-US" sz="1400">
                    <a:latin typeface="Times New Roman" panose="02020603050405020304" pitchFamily="18" charset="0"/>
                  </a:rPr>
                  <a:t>yes</a:t>
                </a:r>
              </a:p>
            </p:txBody>
          </p:sp>
          <p:sp>
            <p:nvSpPr>
              <p:cNvPr id="44055" name="Rectangle 50">
                <a:extLst>
                  <a:ext uri="{FF2B5EF4-FFF2-40B4-BE49-F238E27FC236}">
                    <a16:creationId xmlns:a16="http://schemas.microsoft.com/office/drawing/2014/main" id="{4B723D95-F76C-4219-8ADF-9FC8EE3480C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29" y="1030"/>
                <a:ext cx="266" cy="192"/>
              </a:xfrm>
              <a:prstGeom prst="rect">
                <a:avLst/>
              </a:prstGeom>
              <a:solidFill>
                <a:srgbClr val="00FF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2075" tIns="46038" rIns="92075" bIns="46038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 algn="ctr"/>
                <a:r>
                  <a:rPr lang="en-US" altLang="en-US" sz="1400">
                    <a:latin typeface="Times New Roman" panose="02020603050405020304" pitchFamily="18" charset="0"/>
                  </a:rPr>
                  <a:t>yes</a:t>
                </a:r>
              </a:p>
            </p:txBody>
          </p:sp>
          <p:sp>
            <p:nvSpPr>
              <p:cNvPr id="44056" name="Rectangle 51">
                <a:extLst>
                  <a:ext uri="{FF2B5EF4-FFF2-40B4-BE49-F238E27FC236}">
                    <a16:creationId xmlns:a16="http://schemas.microsoft.com/office/drawing/2014/main" id="{F07FD2F8-987B-461F-917B-3F69A70841A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348" y="595"/>
                <a:ext cx="266" cy="192"/>
              </a:xfrm>
              <a:prstGeom prst="rect">
                <a:avLst/>
              </a:prstGeom>
              <a:solidFill>
                <a:srgbClr val="00FF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2075" tIns="46038" rIns="92075" bIns="46038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 algn="ctr"/>
                <a:r>
                  <a:rPr lang="en-US" altLang="en-US" sz="1400">
                    <a:latin typeface="Times New Roman" panose="02020603050405020304" pitchFamily="18" charset="0"/>
                  </a:rPr>
                  <a:t>yes</a:t>
                </a:r>
              </a:p>
            </p:txBody>
          </p:sp>
          <p:sp>
            <p:nvSpPr>
              <p:cNvPr id="44057" name="Rectangle 52">
                <a:extLst>
                  <a:ext uri="{FF2B5EF4-FFF2-40B4-BE49-F238E27FC236}">
                    <a16:creationId xmlns:a16="http://schemas.microsoft.com/office/drawing/2014/main" id="{3A70A72E-C52F-47F1-B580-B36AA163C8F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95" y="335"/>
                <a:ext cx="341" cy="96"/>
              </a:xfrm>
              <a:prstGeom prst="rect">
                <a:avLst/>
              </a:prstGeom>
              <a:solidFill>
                <a:srgbClr val="FFFF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 algn="ctr"/>
                <a:r>
                  <a:rPr lang="en-US" altLang="en-US" sz="1200" b="1">
                    <a:latin typeface="Times New Roman" panose="02020603050405020304" pitchFamily="18" charset="0"/>
                  </a:rPr>
                  <a:t>31..40</a:t>
                </a:r>
                <a:endParaRPr lang="en-US" altLang="en-US" sz="12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44058" name="Rectangle 53">
                <a:extLst>
                  <a:ext uri="{FF2B5EF4-FFF2-40B4-BE49-F238E27FC236}">
                    <a16:creationId xmlns:a16="http://schemas.microsoft.com/office/drawing/2014/main" id="{EFFA338E-0577-44AF-B1CF-4CE83395FBE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-143156">
                <a:off x="4723" y="1030"/>
                <a:ext cx="228" cy="192"/>
              </a:xfrm>
              <a:prstGeom prst="rect">
                <a:avLst/>
              </a:prstGeom>
              <a:solidFill>
                <a:srgbClr val="FFCC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2075" tIns="46038" rIns="92075" bIns="46038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 algn="ctr"/>
                <a:r>
                  <a:rPr lang="en-US" altLang="en-US" sz="1400">
                    <a:latin typeface="Times New Roman" panose="02020603050405020304" pitchFamily="18" charset="0"/>
                  </a:rPr>
                  <a:t>no</a:t>
                </a:r>
              </a:p>
            </p:txBody>
          </p:sp>
          <p:sp>
            <p:nvSpPr>
              <p:cNvPr id="44059" name="Rectangle 54">
                <a:extLst>
                  <a:ext uri="{FF2B5EF4-FFF2-40B4-BE49-F238E27FC236}">
                    <a16:creationId xmlns:a16="http://schemas.microsoft.com/office/drawing/2014/main" id="{861E9A04-ABB0-4CD5-B1B9-95986C87238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242" y="815"/>
                <a:ext cx="250" cy="173"/>
              </a:xfrm>
              <a:prstGeom prst="rect">
                <a:avLst/>
              </a:prstGeom>
              <a:solidFill>
                <a:srgbClr val="FFFF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2075" tIns="46038" rIns="92075" bIns="46038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 algn="ctr"/>
                <a:r>
                  <a:rPr lang="en-US" altLang="en-US" sz="1200">
                    <a:latin typeface="Times New Roman" panose="02020603050405020304" pitchFamily="18" charset="0"/>
                  </a:rPr>
                  <a:t>fair</a:t>
                </a:r>
              </a:p>
            </p:txBody>
          </p:sp>
          <p:sp>
            <p:nvSpPr>
              <p:cNvPr id="44060" name="Rectangle 55">
                <a:extLst>
                  <a:ext uri="{FF2B5EF4-FFF2-40B4-BE49-F238E27FC236}">
                    <a16:creationId xmlns:a16="http://schemas.microsoft.com/office/drawing/2014/main" id="{46A26A6B-1C86-441C-8A90-064F9731030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82" y="815"/>
                <a:ext cx="465" cy="173"/>
              </a:xfrm>
              <a:prstGeom prst="rect">
                <a:avLst/>
              </a:prstGeom>
              <a:solidFill>
                <a:srgbClr val="FFFF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2075" tIns="46038" rIns="92075" bIns="46038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 algn="ctr"/>
                <a:r>
                  <a:rPr lang="en-US" altLang="en-US" sz="1200">
                    <a:latin typeface="Times New Roman" panose="02020603050405020304" pitchFamily="18" charset="0"/>
                  </a:rPr>
                  <a:t>excellent</a:t>
                </a:r>
              </a:p>
            </p:txBody>
          </p:sp>
          <p:sp>
            <p:nvSpPr>
              <p:cNvPr id="44061" name="Rectangle 56">
                <a:extLst>
                  <a:ext uri="{FF2B5EF4-FFF2-40B4-BE49-F238E27FC236}">
                    <a16:creationId xmlns:a16="http://schemas.microsoft.com/office/drawing/2014/main" id="{D4D138E4-F72C-4862-8139-9A1B4049405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070" y="839"/>
                <a:ext cx="244" cy="173"/>
              </a:xfrm>
              <a:prstGeom prst="rect">
                <a:avLst/>
              </a:prstGeom>
              <a:solidFill>
                <a:srgbClr val="FFFF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2075" tIns="46038" rIns="92075" bIns="46038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 algn="ctr"/>
                <a:r>
                  <a:rPr lang="en-US" altLang="en-US" sz="1200">
                    <a:latin typeface="Times New Roman" panose="02020603050405020304" pitchFamily="18" charset="0"/>
                  </a:rPr>
                  <a:t>yes</a:t>
                </a:r>
              </a:p>
            </p:txBody>
          </p:sp>
          <p:sp>
            <p:nvSpPr>
              <p:cNvPr id="44062" name="Rectangle 57">
                <a:extLst>
                  <a:ext uri="{FF2B5EF4-FFF2-40B4-BE49-F238E27FC236}">
                    <a16:creationId xmlns:a16="http://schemas.microsoft.com/office/drawing/2014/main" id="{70992321-992D-4C39-AEA7-B0DE3CA67F6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637" y="839"/>
                <a:ext cx="218" cy="173"/>
              </a:xfrm>
              <a:prstGeom prst="rect">
                <a:avLst/>
              </a:prstGeom>
              <a:solidFill>
                <a:srgbClr val="FFFF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92075" tIns="46038" rIns="92075" bIns="46038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 algn="ctr"/>
                <a:r>
                  <a:rPr lang="en-US" altLang="en-US" sz="1200">
                    <a:latin typeface="Times New Roman" panose="02020603050405020304" pitchFamily="18" charset="0"/>
                  </a:rPr>
                  <a:t>no</a:t>
                </a:r>
              </a:p>
            </p:txBody>
          </p:sp>
        </p:grpSp>
      </p:grpSp>
      <p:sp>
        <p:nvSpPr>
          <p:cNvPr id="44036" name="Rectangle 3">
            <a:extLst>
              <a:ext uri="{FF2B5EF4-FFF2-40B4-BE49-F238E27FC236}">
                <a16:creationId xmlns:a16="http://schemas.microsoft.com/office/drawing/2014/main" id="{5409273B-4377-41B9-8E6F-A831AE83AA4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28600" y="3962400"/>
            <a:ext cx="8763000" cy="2362200"/>
          </a:xfrm>
        </p:spPr>
        <p:txBody>
          <a:bodyPr/>
          <a:lstStyle/>
          <a:p>
            <a:pPr eaLnBrk="1" hangingPunct="1"/>
            <a:r>
              <a:rPr lang="en-US" altLang="en-US" sz="2400"/>
              <a:t>Example: Rule extraction from our </a:t>
            </a:r>
            <a:r>
              <a:rPr lang="en-US" altLang="en-US" sz="2400" i="1"/>
              <a:t>buys_computer</a:t>
            </a:r>
            <a:r>
              <a:rPr lang="en-US" altLang="en-US" sz="2400"/>
              <a:t> decision-tree</a:t>
            </a:r>
          </a:p>
          <a:p>
            <a:pPr lvl="1" eaLnBrk="1" hangingPunct="1">
              <a:spcBef>
                <a:spcPct val="40000"/>
              </a:spcBef>
              <a:buFont typeface="Wingdings" panose="05000000000000000000" pitchFamily="2" charset="2"/>
              <a:buNone/>
            </a:pPr>
            <a:r>
              <a:rPr lang="en-US" altLang="en-US" sz="2000"/>
              <a:t>IF </a:t>
            </a:r>
            <a:r>
              <a:rPr lang="en-US" altLang="en-US" sz="2000" i="1"/>
              <a:t>age</a:t>
            </a:r>
            <a:r>
              <a:rPr lang="en-US" altLang="en-US" sz="2000"/>
              <a:t> = young AND </a:t>
            </a:r>
            <a:r>
              <a:rPr lang="en-US" altLang="en-US" sz="2000" i="1"/>
              <a:t>student</a:t>
            </a:r>
            <a:r>
              <a:rPr lang="en-US" altLang="en-US" sz="2000"/>
              <a:t> = </a:t>
            </a:r>
            <a:r>
              <a:rPr lang="en-US" altLang="en-US" sz="2000" i="1"/>
              <a:t>no</a:t>
            </a:r>
            <a:r>
              <a:rPr lang="en-US" altLang="en-US" sz="2000"/>
              <a:t>                 THEN </a:t>
            </a:r>
            <a:r>
              <a:rPr lang="en-US" altLang="en-US" sz="2000" i="1"/>
              <a:t>buys_computer</a:t>
            </a:r>
            <a:r>
              <a:rPr lang="en-US" altLang="en-US" sz="2000"/>
              <a:t> = </a:t>
            </a:r>
            <a:r>
              <a:rPr lang="en-US" altLang="en-US" sz="2000" i="1"/>
              <a:t>no</a:t>
            </a:r>
            <a:endParaRPr lang="en-US" altLang="en-US" sz="2000"/>
          </a:p>
          <a:p>
            <a:pPr lvl="1" eaLnBrk="1" hangingPunct="1">
              <a:buFont typeface="Wingdings" panose="05000000000000000000" pitchFamily="2" charset="2"/>
              <a:buNone/>
            </a:pPr>
            <a:r>
              <a:rPr lang="en-US" altLang="en-US" sz="2000"/>
              <a:t>IF </a:t>
            </a:r>
            <a:r>
              <a:rPr lang="en-US" altLang="en-US" sz="2000" i="1"/>
              <a:t>age</a:t>
            </a:r>
            <a:r>
              <a:rPr lang="en-US" altLang="en-US" sz="2000"/>
              <a:t> = young AND </a:t>
            </a:r>
            <a:r>
              <a:rPr lang="en-US" altLang="en-US" sz="2000" i="1"/>
              <a:t>student</a:t>
            </a:r>
            <a:r>
              <a:rPr lang="en-US" altLang="en-US" sz="2000"/>
              <a:t> = </a:t>
            </a:r>
            <a:r>
              <a:rPr lang="en-US" altLang="en-US" sz="2000" i="1"/>
              <a:t>yes</a:t>
            </a:r>
            <a:r>
              <a:rPr lang="en-US" altLang="en-US" sz="2000"/>
              <a:t>                THEN </a:t>
            </a:r>
            <a:r>
              <a:rPr lang="en-US" altLang="en-US" sz="2000" i="1"/>
              <a:t>buys_computer</a:t>
            </a:r>
            <a:r>
              <a:rPr lang="en-US" altLang="en-US" sz="2000"/>
              <a:t> = </a:t>
            </a:r>
            <a:r>
              <a:rPr lang="en-US" altLang="en-US" sz="2000" i="1"/>
              <a:t>yes</a:t>
            </a:r>
            <a:endParaRPr lang="en-US" altLang="en-US" sz="2000"/>
          </a:p>
          <a:p>
            <a:pPr lvl="1" eaLnBrk="1" hangingPunct="1">
              <a:buFont typeface="Wingdings" panose="05000000000000000000" pitchFamily="2" charset="2"/>
              <a:buNone/>
            </a:pPr>
            <a:r>
              <a:rPr lang="en-US" altLang="en-US" sz="2000"/>
              <a:t>IF </a:t>
            </a:r>
            <a:r>
              <a:rPr lang="en-US" altLang="en-US" sz="2000" i="1"/>
              <a:t>age</a:t>
            </a:r>
            <a:r>
              <a:rPr lang="en-US" altLang="en-US" sz="2000"/>
              <a:t> = mid-age 			    THEN </a:t>
            </a:r>
            <a:r>
              <a:rPr lang="en-US" altLang="en-US" sz="2000" i="1"/>
              <a:t>buys_computer</a:t>
            </a:r>
            <a:r>
              <a:rPr lang="en-US" altLang="en-US" sz="2000"/>
              <a:t> = </a:t>
            </a:r>
            <a:r>
              <a:rPr lang="en-US" altLang="en-US" sz="2000" i="1"/>
              <a:t>yes</a:t>
            </a:r>
            <a:endParaRPr lang="en-US" altLang="en-US" sz="2000"/>
          </a:p>
          <a:p>
            <a:pPr lvl="1" eaLnBrk="1" hangingPunct="1">
              <a:buFont typeface="Wingdings" panose="05000000000000000000" pitchFamily="2" charset="2"/>
              <a:buNone/>
            </a:pPr>
            <a:r>
              <a:rPr lang="en-US" altLang="en-US" sz="2000"/>
              <a:t>IF </a:t>
            </a:r>
            <a:r>
              <a:rPr lang="en-US" altLang="en-US" sz="2000" i="1"/>
              <a:t>age</a:t>
            </a:r>
            <a:r>
              <a:rPr lang="en-US" altLang="en-US" sz="2000"/>
              <a:t> = old AND </a:t>
            </a:r>
            <a:r>
              <a:rPr lang="en-US" altLang="en-US" sz="2000" i="1"/>
              <a:t>credit_rating</a:t>
            </a:r>
            <a:r>
              <a:rPr lang="en-US" altLang="en-US" sz="2000"/>
              <a:t> = </a:t>
            </a:r>
            <a:r>
              <a:rPr lang="en-US" altLang="en-US" sz="2000" i="1"/>
              <a:t>excellent</a:t>
            </a:r>
            <a:r>
              <a:rPr lang="en-US" altLang="en-US" sz="2000"/>
              <a:t>  THEN </a:t>
            </a:r>
            <a:r>
              <a:rPr lang="en-US" altLang="en-US" sz="2000" i="1"/>
              <a:t>buys_computer </a:t>
            </a:r>
            <a:r>
              <a:rPr lang="en-US" altLang="en-US" sz="2000"/>
              <a:t>= </a:t>
            </a:r>
            <a:r>
              <a:rPr lang="en-US" altLang="en-US" sz="2000" i="1"/>
              <a:t>no</a:t>
            </a:r>
            <a:endParaRPr lang="en-US" altLang="en-US" sz="2000"/>
          </a:p>
          <a:p>
            <a:pPr lvl="1" eaLnBrk="1" hangingPunct="1">
              <a:buFont typeface="Wingdings" panose="05000000000000000000" pitchFamily="2" charset="2"/>
              <a:buNone/>
            </a:pPr>
            <a:r>
              <a:rPr lang="en-US" altLang="en-US" sz="2000"/>
              <a:t>IF </a:t>
            </a:r>
            <a:r>
              <a:rPr lang="en-US" altLang="en-US" sz="2000" i="1"/>
              <a:t>age</a:t>
            </a:r>
            <a:r>
              <a:rPr lang="en-US" altLang="en-US" sz="2000"/>
              <a:t> = old AND </a:t>
            </a:r>
            <a:r>
              <a:rPr lang="en-US" altLang="en-US" sz="2000" i="1"/>
              <a:t>credit_rating</a:t>
            </a:r>
            <a:r>
              <a:rPr lang="en-US" altLang="en-US" sz="2000"/>
              <a:t> = </a:t>
            </a:r>
            <a:r>
              <a:rPr lang="en-US" altLang="en-US" sz="2000" i="1"/>
              <a:t>fair</a:t>
            </a:r>
            <a:r>
              <a:rPr lang="en-US" altLang="en-US" sz="2000"/>
              <a:t>            THEN </a:t>
            </a:r>
            <a:r>
              <a:rPr lang="en-US" altLang="en-US" sz="2000" i="1"/>
              <a:t>buys_computer</a:t>
            </a:r>
            <a:r>
              <a:rPr lang="en-US" altLang="en-US" sz="2000"/>
              <a:t> = </a:t>
            </a:r>
            <a:r>
              <a:rPr lang="en-US" altLang="en-US" sz="2000" i="1"/>
              <a:t>yes</a:t>
            </a:r>
          </a:p>
        </p:txBody>
      </p:sp>
      <p:sp>
        <p:nvSpPr>
          <p:cNvPr id="44037" name="Rectangle 2">
            <a:extLst>
              <a:ext uri="{FF2B5EF4-FFF2-40B4-BE49-F238E27FC236}">
                <a16:creationId xmlns:a16="http://schemas.microsoft.com/office/drawing/2014/main" id="{3FAC839E-5D9F-4B29-BA1D-E9A582E9F2F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06375" y="228600"/>
            <a:ext cx="8783638" cy="609600"/>
          </a:xfrm>
        </p:spPr>
        <p:txBody>
          <a:bodyPr/>
          <a:lstStyle/>
          <a:p>
            <a:pPr eaLnBrk="1" hangingPunct="1"/>
            <a:r>
              <a:rPr lang="en-US" altLang="en-US"/>
              <a:t>Rule Extraction from a Decision Tree</a:t>
            </a:r>
          </a:p>
        </p:txBody>
      </p:sp>
      <p:sp>
        <p:nvSpPr>
          <p:cNvPr id="44038" name="Rectangle 60">
            <a:extLst>
              <a:ext uri="{FF2B5EF4-FFF2-40B4-BE49-F238E27FC236}">
                <a16:creationId xmlns:a16="http://schemas.microsoft.com/office/drawing/2014/main" id="{ECE58095-545B-42F9-BC9C-35081B76A90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8600" y="1447800"/>
            <a:ext cx="6629400" cy="2667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</a:pPr>
            <a:r>
              <a:rPr lang="en-US" altLang="en-US" sz="2400">
                <a:latin typeface="Calibri" panose="020F0502020204030204" pitchFamily="34" charset="0"/>
              </a:rPr>
              <a:t>Rules are </a:t>
            </a:r>
            <a:r>
              <a:rPr lang="en-US" altLang="en-US" sz="2400" i="1">
                <a:latin typeface="Calibri" panose="020F0502020204030204" pitchFamily="34" charset="0"/>
              </a:rPr>
              <a:t>easier to understand</a:t>
            </a:r>
            <a:r>
              <a:rPr lang="en-US" altLang="en-US" sz="2400">
                <a:latin typeface="Calibri" panose="020F0502020204030204" pitchFamily="34" charset="0"/>
              </a:rPr>
              <a:t> than large trees</a:t>
            </a:r>
          </a:p>
          <a:p>
            <a:pPr eaLnBrk="1" hangingPunct="1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</a:pPr>
            <a:r>
              <a:rPr lang="en-US" altLang="en-US" sz="2400">
                <a:latin typeface="Calibri" panose="020F0502020204030204" pitchFamily="34" charset="0"/>
              </a:rPr>
              <a:t>One rule is created </a:t>
            </a:r>
            <a:r>
              <a:rPr lang="en-US" altLang="en-US" sz="2400" i="1">
                <a:latin typeface="Calibri" panose="020F0502020204030204" pitchFamily="34" charset="0"/>
              </a:rPr>
              <a:t>for each path</a:t>
            </a:r>
            <a:r>
              <a:rPr lang="en-US" altLang="en-US" sz="2400">
                <a:latin typeface="Calibri" panose="020F0502020204030204" pitchFamily="34" charset="0"/>
              </a:rPr>
              <a:t> from the root to a leaf</a:t>
            </a:r>
          </a:p>
          <a:p>
            <a:pPr eaLnBrk="1" hangingPunct="1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</a:pPr>
            <a:r>
              <a:rPr lang="en-US" altLang="en-US" sz="2400">
                <a:latin typeface="Calibri" panose="020F0502020204030204" pitchFamily="34" charset="0"/>
              </a:rPr>
              <a:t>Each attribute-value pair along a path forms a conjunction: the leaf holds the class prediction </a:t>
            </a:r>
          </a:p>
          <a:p>
            <a:pPr eaLnBrk="1" hangingPunct="1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</a:pPr>
            <a:r>
              <a:rPr lang="en-US" altLang="en-US" sz="2400">
                <a:latin typeface="Calibri" panose="020F0502020204030204" pitchFamily="34" charset="0"/>
              </a:rPr>
              <a:t>Rules are mutually exclusive and exhaustive</a:t>
            </a:r>
          </a:p>
        </p:txBody>
      </p:sp>
    </p:spTree>
  </p:cSld>
  <p:clrMapOvr>
    <a:masterClrMapping/>
  </p:clrMapOvr>
  <p:transition>
    <p:zoom/>
  </p:transition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Slide Number Placeholder 5">
            <a:extLst>
              <a:ext uri="{FF2B5EF4-FFF2-40B4-BE49-F238E27FC236}">
                <a16:creationId xmlns:a16="http://schemas.microsoft.com/office/drawing/2014/main" id="{A776CD3C-D2A2-4293-AB96-738233BB98B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fld id="{6943B88E-48CD-4BED-9848-77E322C98B8D}" type="slidenum">
              <a:rPr lang="en-US" altLang="en-US"/>
              <a:pPr eaLnBrk="1" hangingPunct="1"/>
              <a:t>42</a:t>
            </a:fld>
            <a:endParaRPr lang="en-US" altLang="en-US"/>
          </a:p>
        </p:txBody>
      </p:sp>
      <p:sp>
        <p:nvSpPr>
          <p:cNvPr id="45059" name="Rectangle 2">
            <a:extLst>
              <a:ext uri="{FF2B5EF4-FFF2-40B4-BE49-F238E27FC236}">
                <a16:creationId xmlns:a16="http://schemas.microsoft.com/office/drawing/2014/main" id="{97F15FB9-194C-4157-A6EF-880805045BB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-152400" y="304800"/>
            <a:ext cx="9448800" cy="609600"/>
          </a:xfrm>
        </p:spPr>
        <p:txBody>
          <a:bodyPr/>
          <a:lstStyle/>
          <a:p>
            <a:pPr eaLnBrk="1" hangingPunct="1"/>
            <a:r>
              <a:rPr lang="en-US" altLang="en-US"/>
              <a:t>Rule Induction: Sequential Covering Method</a:t>
            </a:r>
            <a:r>
              <a:rPr lang="en-US" altLang="en-US" sz="3200"/>
              <a:t> </a:t>
            </a:r>
          </a:p>
        </p:txBody>
      </p:sp>
      <p:sp>
        <p:nvSpPr>
          <p:cNvPr id="45060" name="Rectangle 3">
            <a:extLst>
              <a:ext uri="{FF2B5EF4-FFF2-40B4-BE49-F238E27FC236}">
                <a16:creationId xmlns:a16="http://schemas.microsoft.com/office/drawing/2014/main" id="{729212C6-EA5D-43F7-9704-071BDA24E2B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28600" y="1371600"/>
            <a:ext cx="8991600" cy="5257800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en-US" sz="2400"/>
              <a:t>Sequential covering algorithm: Extracts rules directly from training data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2400"/>
              <a:t>Typical sequential covering algorithms: FOIL, AQ, CN2, RIPPER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2400"/>
              <a:t>Rules are learned </a:t>
            </a:r>
            <a:r>
              <a:rPr lang="en-US" altLang="en-US" sz="2400" i="1"/>
              <a:t>sequentially</a:t>
            </a:r>
            <a:r>
              <a:rPr lang="en-US" altLang="en-US" sz="2400"/>
              <a:t>, each for a given class C</a:t>
            </a:r>
            <a:r>
              <a:rPr lang="en-US" altLang="en-US" sz="2400" baseline="-25000"/>
              <a:t>i </a:t>
            </a:r>
            <a:r>
              <a:rPr lang="en-US" altLang="en-US" sz="2400"/>
              <a:t>will cover many tuples of C</a:t>
            </a:r>
            <a:r>
              <a:rPr lang="en-US" altLang="en-US" sz="2400" baseline="-25000"/>
              <a:t>i </a:t>
            </a:r>
            <a:r>
              <a:rPr lang="en-US" altLang="en-US" sz="2400"/>
              <a:t>but none (or few) of the tuples of other classes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2400"/>
              <a:t>Steps: 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2400"/>
              <a:t>Rules are learned one at a time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2400"/>
              <a:t>Each time a rule is learned, the tuples covered by the rules are removed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2400"/>
              <a:t>Repeat the process on the remaining tuples until </a:t>
            </a:r>
            <a:r>
              <a:rPr lang="en-US" altLang="en-US" sz="2400" i="1"/>
              <a:t>termination condition</a:t>
            </a:r>
            <a:r>
              <a:rPr lang="en-US" altLang="en-US" sz="2400"/>
              <a:t>, e.g., when no more training examples or when the quality of a rule returned is below a user-specified threshold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2400"/>
              <a:t>Comp. w. decision-tree induction: learning a set of rules </a:t>
            </a:r>
            <a:r>
              <a:rPr lang="en-US" altLang="en-US" sz="2400" i="1"/>
              <a:t>simultaneously</a:t>
            </a:r>
          </a:p>
        </p:txBody>
      </p:sp>
    </p:spTree>
  </p:cSld>
  <p:clrMapOvr>
    <a:masterClrMapping/>
  </p:clrMapOvr>
  <p:transition>
    <p:zoom/>
  </p:transition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Slide Number Placeholder 5">
            <a:extLst>
              <a:ext uri="{FF2B5EF4-FFF2-40B4-BE49-F238E27FC236}">
                <a16:creationId xmlns:a16="http://schemas.microsoft.com/office/drawing/2014/main" id="{F2EBE224-C5E1-4B7C-9F27-A6C944C8EB0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fld id="{D16CA34F-A8DF-47E4-BAFB-9FC006F368CF}" type="slidenum">
              <a:rPr lang="en-US" altLang="en-US"/>
              <a:pPr eaLnBrk="1" hangingPunct="1"/>
              <a:t>43</a:t>
            </a:fld>
            <a:endParaRPr lang="en-US" altLang="en-US"/>
          </a:p>
        </p:txBody>
      </p:sp>
      <p:sp>
        <p:nvSpPr>
          <p:cNvPr id="46083" name="Rectangle 2">
            <a:extLst>
              <a:ext uri="{FF2B5EF4-FFF2-40B4-BE49-F238E27FC236}">
                <a16:creationId xmlns:a16="http://schemas.microsoft.com/office/drawing/2014/main" id="{72E4860A-1D25-4DD0-B9AB-933EE85ADEA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Sequential Covering Algorithm	</a:t>
            </a:r>
          </a:p>
        </p:txBody>
      </p:sp>
      <p:sp>
        <p:nvSpPr>
          <p:cNvPr id="46084" name="Rectangle 3">
            <a:extLst>
              <a:ext uri="{FF2B5EF4-FFF2-40B4-BE49-F238E27FC236}">
                <a16:creationId xmlns:a16="http://schemas.microsoft.com/office/drawing/2014/main" id="{81EC68A2-B22C-438A-B035-7594719833B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1371600"/>
            <a:ext cx="8229600" cy="1447800"/>
          </a:xfrm>
        </p:spPr>
        <p:txBody>
          <a:bodyPr/>
          <a:lstStyle/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endParaRPr lang="en-US" altLang="en-US" sz="1600"/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en-US" sz="1600"/>
              <a:t>	</a:t>
            </a:r>
            <a:r>
              <a:rPr lang="en-US" altLang="en-US" sz="2400" b="1">
                <a:solidFill>
                  <a:srgbClr val="000066"/>
                </a:solidFill>
              </a:rPr>
              <a:t>while </a:t>
            </a:r>
            <a:r>
              <a:rPr lang="en-US" altLang="en-US" sz="2400">
                <a:solidFill>
                  <a:srgbClr val="000066"/>
                </a:solidFill>
              </a:rPr>
              <a:t>(enough target tuples left)</a:t>
            </a:r>
          </a:p>
          <a:p>
            <a:pPr lvl="1"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en-US" sz="2400">
                <a:solidFill>
                  <a:srgbClr val="000066"/>
                </a:solidFill>
              </a:rPr>
              <a:t>	generate a rule</a:t>
            </a:r>
          </a:p>
          <a:p>
            <a:pPr lvl="1"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en-US" sz="2400">
                <a:solidFill>
                  <a:srgbClr val="000066"/>
                </a:solidFill>
              </a:rPr>
              <a:t>	remove positive target tuples satisfying this rule</a:t>
            </a:r>
            <a:endParaRPr lang="en-US" altLang="en-US" sz="2400"/>
          </a:p>
        </p:txBody>
      </p:sp>
      <p:sp>
        <p:nvSpPr>
          <p:cNvPr id="46085" name="Oval 4">
            <a:extLst>
              <a:ext uri="{FF2B5EF4-FFF2-40B4-BE49-F238E27FC236}">
                <a16:creationId xmlns:a16="http://schemas.microsoft.com/office/drawing/2014/main" id="{70EDD268-66E5-476D-8BB4-64D9AEFB69A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76400" y="3276600"/>
            <a:ext cx="5486400" cy="2895600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1985541" name="Oval 5">
            <a:extLst>
              <a:ext uri="{FF2B5EF4-FFF2-40B4-BE49-F238E27FC236}">
                <a16:creationId xmlns:a16="http://schemas.microsoft.com/office/drawing/2014/main" id="{629B584C-724B-4678-8445-50CBA2D5EAB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67200" y="4114800"/>
            <a:ext cx="2590800" cy="1828800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/>
            <a:r>
              <a:rPr lang="en-US" altLang="en-US">
                <a:latin typeface="Arial" panose="020B0604020202020204" pitchFamily="34" charset="0"/>
              </a:rPr>
              <a:t>Examples covered</a:t>
            </a:r>
          </a:p>
          <a:p>
            <a:pPr algn="ctr"/>
            <a:r>
              <a:rPr lang="en-US" altLang="en-US">
                <a:latin typeface="Arial" panose="020B0604020202020204" pitchFamily="34" charset="0"/>
              </a:rPr>
              <a:t>by Rule 3</a:t>
            </a:r>
          </a:p>
        </p:txBody>
      </p:sp>
      <p:sp>
        <p:nvSpPr>
          <p:cNvPr id="1985542" name="Oval 6">
            <a:extLst>
              <a:ext uri="{FF2B5EF4-FFF2-40B4-BE49-F238E27FC236}">
                <a16:creationId xmlns:a16="http://schemas.microsoft.com/office/drawing/2014/main" id="{D1E1E0F0-F1F8-4EBB-AAE6-22D8F1C8A3A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00400" y="3352800"/>
            <a:ext cx="2667000" cy="1905000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/>
            <a:r>
              <a:rPr lang="en-US" altLang="en-US">
                <a:latin typeface="Arial" panose="020B0604020202020204" pitchFamily="34" charset="0"/>
              </a:rPr>
              <a:t>Examples covered</a:t>
            </a:r>
          </a:p>
          <a:p>
            <a:pPr algn="ctr"/>
            <a:r>
              <a:rPr lang="en-US" altLang="en-US">
                <a:latin typeface="Arial" panose="020B0604020202020204" pitchFamily="34" charset="0"/>
              </a:rPr>
              <a:t>by Rule 2</a:t>
            </a:r>
          </a:p>
        </p:txBody>
      </p:sp>
      <p:sp>
        <p:nvSpPr>
          <p:cNvPr id="1985543" name="Oval 7">
            <a:extLst>
              <a:ext uri="{FF2B5EF4-FFF2-40B4-BE49-F238E27FC236}">
                <a16:creationId xmlns:a16="http://schemas.microsoft.com/office/drawing/2014/main" id="{EE283973-A0BC-43B8-9BB0-36C15A8634B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76400" y="3886200"/>
            <a:ext cx="1981200" cy="1600200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/>
            <a:r>
              <a:rPr lang="en-US" altLang="en-US">
                <a:latin typeface="Arial" panose="020B0604020202020204" pitchFamily="34" charset="0"/>
              </a:rPr>
              <a:t>Examples covered</a:t>
            </a:r>
          </a:p>
          <a:p>
            <a:pPr algn="ctr"/>
            <a:r>
              <a:rPr lang="en-US" altLang="en-US">
                <a:latin typeface="Arial" panose="020B0604020202020204" pitchFamily="34" charset="0"/>
              </a:rPr>
              <a:t>by Rule 1</a:t>
            </a:r>
          </a:p>
        </p:txBody>
      </p:sp>
      <p:sp>
        <p:nvSpPr>
          <p:cNvPr id="46089" name="Text Box 8">
            <a:extLst>
              <a:ext uri="{FF2B5EF4-FFF2-40B4-BE49-F238E27FC236}">
                <a16:creationId xmlns:a16="http://schemas.microsoft.com/office/drawing/2014/main" id="{FCF28835-CF84-489B-8EA6-869E73E7106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52800" y="5486400"/>
            <a:ext cx="152400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b="1">
                <a:solidFill>
                  <a:srgbClr val="000066"/>
                </a:solidFill>
                <a:latin typeface="Arial" panose="020B0604020202020204" pitchFamily="34" charset="0"/>
              </a:rPr>
              <a:t>Positive examples</a:t>
            </a:r>
          </a:p>
        </p:txBody>
      </p:sp>
    </p:spTree>
  </p:cSld>
  <p:clrMapOvr>
    <a:masterClrMapping/>
  </p:clrMapOvr>
  <p:transition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55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7" dur="500"/>
                                        <p:tgtEl>
                                          <p:spTgt spid="19855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55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2" dur="500"/>
                                        <p:tgtEl>
                                          <p:spTgt spid="19855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55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7" dur="500"/>
                                        <p:tgtEl>
                                          <p:spTgt spid="19855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85541" grpId="0" animBg="1"/>
      <p:bldP spid="1985542" grpId="0" animBg="1"/>
      <p:bldP spid="1985543" grpId="0" animBg="1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Slide Number Placeholder 5">
            <a:extLst>
              <a:ext uri="{FF2B5EF4-FFF2-40B4-BE49-F238E27FC236}">
                <a16:creationId xmlns:a16="http://schemas.microsoft.com/office/drawing/2014/main" id="{029BB544-E39A-4DDA-B0CB-B810F7E7619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fld id="{918CBC27-FA2A-4E01-B2B1-9DA349B5E8F0}" type="slidenum">
              <a:rPr lang="en-US" altLang="en-US"/>
              <a:pPr eaLnBrk="1" hangingPunct="1"/>
              <a:t>44</a:t>
            </a:fld>
            <a:endParaRPr lang="en-US" altLang="en-US"/>
          </a:p>
        </p:txBody>
      </p:sp>
      <p:sp>
        <p:nvSpPr>
          <p:cNvPr id="47107" name="Rectangle 2">
            <a:extLst>
              <a:ext uri="{FF2B5EF4-FFF2-40B4-BE49-F238E27FC236}">
                <a16:creationId xmlns:a16="http://schemas.microsoft.com/office/drawing/2014/main" id="{1890E057-0EA4-41C8-8C96-4AC37434DAB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Rule Generation</a:t>
            </a:r>
          </a:p>
        </p:txBody>
      </p:sp>
      <p:sp>
        <p:nvSpPr>
          <p:cNvPr id="47108" name="Rectangle 3">
            <a:extLst>
              <a:ext uri="{FF2B5EF4-FFF2-40B4-BE49-F238E27FC236}">
                <a16:creationId xmlns:a16="http://schemas.microsoft.com/office/drawing/2014/main" id="{4E1BF935-3F4A-4BE7-BB02-BF42F1FBEEE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1219200"/>
            <a:ext cx="8229600" cy="2057400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en-US" sz="2400"/>
              <a:t>To generate a rule</a:t>
            </a:r>
          </a:p>
          <a:p>
            <a:pPr lvl="1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en-US" sz="2400" b="1">
                <a:solidFill>
                  <a:srgbClr val="000066"/>
                </a:solidFill>
              </a:rPr>
              <a:t>while</a:t>
            </a:r>
            <a:r>
              <a:rPr lang="en-US" altLang="en-US" sz="2400">
                <a:solidFill>
                  <a:srgbClr val="000066"/>
                </a:solidFill>
              </a:rPr>
              <a:t>(true)</a:t>
            </a:r>
          </a:p>
          <a:p>
            <a:pPr lvl="1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en-US" sz="2400">
                <a:solidFill>
                  <a:srgbClr val="000066"/>
                </a:solidFill>
              </a:rPr>
              <a:t>	find the best predicate </a:t>
            </a:r>
            <a:r>
              <a:rPr lang="en-US" altLang="en-US" sz="2400" i="1">
                <a:solidFill>
                  <a:srgbClr val="000066"/>
                </a:solidFill>
              </a:rPr>
              <a:t>p</a:t>
            </a:r>
            <a:endParaRPr lang="en-US" altLang="en-US" sz="2400">
              <a:solidFill>
                <a:srgbClr val="000066"/>
              </a:solidFill>
            </a:endParaRPr>
          </a:p>
          <a:p>
            <a:pPr lvl="1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en-US" sz="2400">
                <a:solidFill>
                  <a:srgbClr val="000066"/>
                </a:solidFill>
              </a:rPr>
              <a:t>	</a:t>
            </a:r>
            <a:r>
              <a:rPr lang="en-US" altLang="en-US" sz="2400" b="1">
                <a:solidFill>
                  <a:srgbClr val="000066"/>
                </a:solidFill>
              </a:rPr>
              <a:t>if</a:t>
            </a:r>
            <a:r>
              <a:rPr lang="en-US" altLang="en-US" sz="2400">
                <a:solidFill>
                  <a:srgbClr val="000066"/>
                </a:solidFill>
              </a:rPr>
              <a:t> foil-gain(</a:t>
            </a:r>
            <a:r>
              <a:rPr lang="en-US" altLang="en-US" sz="2400" i="1">
                <a:solidFill>
                  <a:srgbClr val="000066"/>
                </a:solidFill>
              </a:rPr>
              <a:t>p</a:t>
            </a:r>
            <a:r>
              <a:rPr lang="en-US" altLang="en-US" sz="2400">
                <a:solidFill>
                  <a:srgbClr val="000066"/>
                </a:solidFill>
              </a:rPr>
              <a:t>) &gt; threshold </a:t>
            </a:r>
            <a:r>
              <a:rPr lang="en-US" altLang="en-US" sz="2400" b="1">
                <a:solidFill>
                  <a:srgbClr val="000066"/>
                </a:solidFill>
              </a:rPr>
              <a:t>then</a:t>
            </a:r>
            <a:r>
              <a:rPr lang="en-US" altLang="en-US" sz="2400">
                <a:solidFill>
                  <a:srgbClr val="000066"/>
                </a:solidFill>
              </a:rPr>
              <a:t> add </a:t>
            </a:r>
            <a:r>
              <a:rPr lang="en-US" altLang="en-US" sz="2400" i="1">
                <a:solidFill>
                  <a:srgbClr val="000066"/>
                </a:solidFill>
              </a:rPr>
              <a:t>p</a:t>
            </a:r>
            <a:r>
              <a:rPr lang="en-US" altLang="en-US" sz="2400">
                <a:solidFill>
                  <a:srgbClr val="000066"/>
                </a:solidFill>
              </a:rPr>
              <a:t> to current rule</a:t>
            </a:r>
          </a:p>
          <a:p>
            <a:pPr lvl="1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en-US" sz="2400">
                <a:solidFill>
                  <a:srgbClr val="000066"/>
                </a:solidFill>
              </a:rPr>
              <a:t>	</a:t>
            </a:r>
            <a:r>
              <a:rPr lang="en-US" altLang="en-US" sz="2400" b="1">
                <a:solidFill>
                  <a:srgbClr val="000066"/>
                </a:solidFill>
              </a:rPr>
              <a:t>else</a:t>
            </a:r>
            <a:r>
              <a:rPr lang="en-US" altLang="en-US" sz="2400">
                <a:solidFill>
                  <a:srgbClr val="000066"/>
                </a:solidFill>
              </a:rPr>
              <a:t> break</a:t>
            </a:r>
            <a:endParaRPr lang="en-US" altLang="en-US" sz="2400"/>
          </a:p>
        </p:txBody>
      </p:sp>
      <p:sp>
        <p:nvSpPr>
          <p:cNvPr id="47109" name="Rectangle 4">
            <a:extLst>
              <a:ext uri="{FF2B5EF4-FFF2-40B4-BE49-F238E27FC236}">
                <a16:creationId xmlns:a16="http://schemas.microsoft.com/office/drawing/2014/main" id="{3C88AA5D-4CD0-4873-AE42-478C2C28A78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28800" y="3276600"/>
            <a:ext cx="2057400" cy="2971800"/>
          </a:xfrm>
          <a:prstGeom prst="rect">
            <a:avLst/>
          </a:prstGeom>
          <a:solidFill>
            <a:srgbClr val="FF00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/>
            <a:endParaRPr lang="en-US" altLang="en-US">
              <a:latin typeface="Arial" panose="020B0604020202020204" pitchFamily="34" charset="0"/>
            </a:endParaRPr>
          </a:p>
        </p:txBody>
      </p:sp>
      <p:sp>
        <p:nvSpPr>
          <p:cNvPr id="47110" name="Rectangle 5">
            <a:extLst>
              <a:ext uri="{FF2B5EF4-FFF2-40B4-BE49-F238E27FC236}">
                <a16:creationId xmlns:a16="http://schemas.microsoft.com/office/drawing/2014/main" id="{EDC6E0C8-D38D-475C-9D9F-8C97F28587D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3276600"/>
            <a:ext cx="3505200" cy="2971800"/>
          </a:xfrm>
          <a:prstGeom prst="rect">
            <a:avLst/>
          </a:prstGeom>
          <a:solidFill>
            <a:srgbClr val="00008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47111" name="Text Box 6">
            <a:extLst>
              <a:ext uri="{FF2B5EF4-FFF2-40B4-BE49-F238E27FC236}">
                <a16:creationId xmlns:a16="http://schemas.microsoft.com/office/drawing/2014/main" id="{F199BC67-46D4-41F1-96AD-6CBCFD5114F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09800" y="5562600"/>
            <a:ext cx="121920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>
                <a:solidFill>
                  <a:srgbClr val="FFFF00"/>
                </a:solidFill>
                <a:latin typeface="Arial" panose="020B0604020202020204" pitchFamily="34" charset="0"/>
              </a:rPr>
              <a:t>Positive examples</a:t>
            </a:r>
          </a:p>
        </p:txBody>
      </p:sp>
      <p:sp>
        <p:nvSpPr>
          <p:cNvPr id="47112" name="Text Box 7">
            <a:extLst>
              <a:ext uri="{FF2B5EF4-FFF2-40B4-BE49-F238E27FC236}">
                <a16:creationId xmlns:a16="http://schemas.microsoft.com/office/drawing/2014/main" id="{BF55896B-FF37-45F1-823E-A260AEDA13C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05400" y="5562600"/>
            <a:ext cx="121920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>
                <a:solidFill>
                  <a:srgbClr val="FFFF00"/>
                </a:solidFill>
                <a:latin typeface="Arial" panose="020B0604020202020204" pitchFamily="34" charset="0"/>
              </a:rPr>
              <a:t>Negative examples</a:t>
            </a:r>
          </a:p>
        </p:txBody>
      </p:sp>
      <p:sp>
        <p:nvSpPr>
          <p:cNvPr id="1987592" name="Oval 8">
            <a:extLst>
              <a:ext uri="{FF2B5EF4-FFF2-40B4-BE49-F238E27FC236}">
                <a16:creationId xmlns:a16="http://schemas.microsoft.com/office/drawing/2014/main" id="{789BDEBC-110C-4DF2-BF91-5A18E6E280F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05000" y="3352800"/>
            <a:ext cx="3352800" cy="2362200"/>
          </a:xfrm>
          <a:prstGeom prst="ellipse">
            <a:avLst/>
          </a:prstGeom>
          <a:solidFill>
            <a:srgbClr val="CCFFFF">
              <a:alpha val="50195"/>
            </a:srgbClr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/>
            <a:r>
              <a:rPr lang="en-US" altLang="en-US" i="1">
                <a:latin typeface="Arial" panose="020B0604020202020204" pitchFamily="34" charset="0"/>
              </a:rPr>
              <a:t>A3</a:t>
            </a:r>
            <a:r>
              <a:rPr lang="en-US" altLang="en-US">
                <a:latin typeface="Arial" panose="020B0604020202020204" pitchFamily="34" charset="0"/>
              </a:rPr>
              <a:t>=1</a:t>
            </a:r>
          </a:p>
        </p:txBody>
      </p:sp>
      <p:sp>
        <p:nvSpPr>
          <p:cNvPr id="1987593" name="Oval 9">
            <a:extLst>
              <a:ext uri="{FF2B5EF4-FFF2-40B4-BE49-F238E27FC236}">
                <a16:creationId xmlns:a16="http://schemas.microsoft.com/office/drawing/2014/main" id="{C25431A5-C6A1-4171-844D-C8770E1904A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57400" y="3429000"/>
            <a:ext cx="2362200" cy="1905000"/>
          </a:xfrm>
          <a:prstGeom prst="ellipse">
            <a:avLst/>
          </a:prstGeom>
          <a:solidFill>
            <a:srgbClr val="00FFFF">
              <a:alpha val="50195"/>
            </a:srgbClr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/>
            <a:r>
              <a:rPr lang="en-US" altLang="en-US" i="1">
                <a:latin typeface="Arial" panose="020B0604020202020204" pitchFamily="34" charset="0"/>
              </a:rPr>
              <a:t>A3</a:t>
            </a:r>
            <a:r>
              <a:rPr lang="en-US" altLang="en-US">
                <a:latin typeface="Arial" panose="020B0604020202020204" pitchFamily="34" charset="0"/>
              </a:rPr>
              <a:t>=1&amp;&amp;</a:t>
            </a:r>
            <a:r>
              <a:rPr lang="en-US" altLang="en-US" i="1">
                <a:latin typeface="Arial" panose="020B0604020202020204" pitchFamily="34" charset="0"/>
              </a:rPr>
              <a:t>A1</a:t>
            </a:r>
            <a:r>
              <a:rPr lang="en-US" altLang="en-US">
                <a:latin typeface="Arial" panose="020B0604020202020204" pitchFamily="34" charset="0"/>
              </a:rPr>
              <a:t>=2</a:t>
            </a:r>
          </a:p>
        </p:txBody>
      </p:sp>
      <p:sp>
        <p:nvSpPr>
          <p:cNvPr id="1987594" name="Oval 10">
            <a:extLst>
              <a:ext uri="{FF2B5EF4-FFF2-40B4-BE49-F238E27FC236}">
                <a16:creationId xmlns:a16="http://schemas.microsoft.com/office/drawing/2014/main" id="{58770F14-A6DB-4E00-9CAC-FCAB89307C6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57400" y="3657600"/>
            <a:ext cx="1752600" cy="1371600"/>
          </a:xfrm>
          <a:prstGeom prst="ellipse">
            <a:avLst/>
          </a:prstGeom>
          <a:solidFill>
            <a:schemeClr val="accent1">
              <a:alpha val="65097"/>
            </a:schemeClr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/>
            <a:r>
              <a:rPr lang="en-US" altLang="en-US" i="1">
                <a:latin typeface="Arial" panose="020B0604020202020204" pitchFamily="34" charset="0"/>
              </a:rPr>
              <a:t>A3</a:t>
            </a:r>
            <a:r>
              <a:rPr lang="en-US" altLang="en-US">
                <a:latin typeface="Arial" panose="020B0604020202020204" pitchFamily="34" charset="0"/>
              </a:rPr>
              <a:t>=1&amp;&amp;</a:t>
            </a:r>
            <a:r>
              <a:rPr lang="en-US" altLang="en-US" i="1">
                <a:latin typeface="Arial" panose="020B0604020202020204" pitchFamily="34" charset="0"/>
              </a:rPr>
              <a:t>A1</a:t>
            </a:r>
            <a:r>
              <a:rPr lang="en-US" altLang="en-US">
                <a:latin typeface="Arial" panose="020B0604020202020204" pitchFamily="34" charset="0"/>
              </a:rPr>
              <a:t>=2</a:t>
            </a:r>
          </a:p>
          <a:p>
            <a:pPr algn="ctr"/>
            <a:r>
              <a:rPr lang="en-US" altLang="en-US" i="1">
                <a:latin typeface="Arial" panose="020B0604020202020204" pitchFamily="34" charset="0"/>
              </a:rPr>
              <a:t>&amp;&amp;A8</a:t>
            </a:r>
            <a:r>
              <a:rPr lang="en-US" altLang="en-US">
                <a:latin typeface="Arial" panose="020B0604020202020204" pitchFamily="34" charset="0"/>
              </a:rPr>
              <a:t>=5</a:t>
            </a:r>
          </a:p>
        </p:txBody>
      </p:sp>
    </p:spTree>
  </p:cSld>
  <p:clrMapOvr>
    <a:masterClrMapping/>
  </p:clrMapOvr>
  <p:transition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75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9875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75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9875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75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9875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87592" grpId="0" animBg="1"/>
      <p:bldP spid="1987593" grpId="0" animBg="1"/>
      <p:bldP spid="1987594" grpId="0" animBg="1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Slide Number Placeholder 7">
            <a:extLst>
              <a:ext uri="{FF2B5EF4-FFF2-40B4-BE49-F238E27FC236}">
                <a16:creationId xmlns:a16="http://schemas.microsoft.com/office/drawing/2014/main" id="{B6B347F4-5709-469F-9DD3-7D6757BB56F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fld id="{FDDDDA6D-1261-4A31-966A-A2867552AFAE}" type="slidenum">
              <a:rPr lang="en-US" altLang="en-US"/>
              <a:pPr eaLnBrk="1" hangingPunct="1"/>
              <a:t>45</a:t>
            </a:fld>
            <a:endParaRPr lang="en-US" altLang="en-US"/>
          </a:p>
        </p:txBody>
      </p:sp>
      <p:sp>
        <p:nvSpPr>
          <p:cNvPr id="48131" name="Rectangle 2">
            <a:extLst>
              <a:ext uri="{FF2B5EF4-FFF2-40B4-BE49-F238E27FC236}">
                <a16:creationId xmlns:a16="http://schemas.microsoft.com/office/drawing/2014/main" id="{217EFC9F-325B-4230-B5D5-6F1A04E1211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How to Learn-One-Rule?</a:t>
            </a:r>
          </a:p>
        </p:txBody>
      </p:sp>
      <p:sp>
        <p:nvSpPr>
          <p:cNvPr id="48132" name="Rectangle 3">
            <a:extLst>
              <a:ext uri="{FF2B5EF4-FFF2-40B4-BE49-F238E27FC236}">
                <a16:creationId xmlns:a16="http://schemas.microsoft.com/office/drawing/2014/main" id="{55D625B8-51F2-47DA-BC30-1711E75E6101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304800" y="1219200"/>
            <a:ext cx="8686800" cy="5181600"/>
          </a:xfrm>
        </p:spPr>
        <p:txBody>
          <a:bodyPr/>
          <a:lstStyle/>
          <a:p>
            <a:pPr eaLnBrk="1" hangingPunct="1"/>
            <a:r>
              <a:rPr lang="en-US" altLang="en-US" sz="2400"/>
              <a:t>Start with the </a:t>
            </a:r>
            <a:r>
              <a:rPr lang="en-US" altLang="en-US" sz="2400" i="1"/>
              <a:t>most general rule</a:t>
            </a:r>
            <a:r>
              <a:rPr lang="en-US" altLang="en-US" sz="2400"/>
              <a:t> possible: condition = empty</a:t>
            </a:r>
          </a:p>
          <a:p>
            <a:pPr eaLnBrk="1" hangingPunct="1"/>
            <a:r>
              <a:rPr lang="en-US" altLang="en-US" sz="2400" i="1"/>
              <a:t>Adding new attributes</a:t>
            </a:r>
            <a:r>
              <a:rPr lang="en-US" altLang="en-US" sz="2400"/>
              <a:t> by adopting a greedy depth-first strategy</a:t>
            </a:r>
          </a:p>
          <a:p>
            <a:pPr lvl="1" eaLnBrk="1" hangingPunct="1"/>
            <a:r>
              <a:rPr lang="en-US" altLang="en-US" sz="2400"/>
              <a:t>Picks the one that most improves the rule quality</a:t>
            </a:r>
          </a:p>
          <a:p>
            <a:pPr eaLnBrk="1" hangingPunct="1"/>
            <a:r>
              <a:rPr lang="en-US" altLang="en-US" sz="2400"/>
              <a:t>Rule-Quality measures: consider both coverage and accuracy</a:t>
            </a:r>
          </a:p>
          <a:p>
            <a:pPr lvl="1" eaLnBrk="1" hangingPunct="1"/>
            <a:r>
              <a:rPr lang="en-US" altLang="en-US" sz="2400"/>
              <a:t>Foil-gain (in FOIL &amp; RIPPER): assesses info_gain by extending condition</a:t>
            </a:r>
          </a:p>
          <a:p>
            <a:pPr lvl="1" eaLnBrk="1" hangingPunct="1"/>
            <a:endParaRPr lang="en-US" altLang="en-US" sz="2400"/>
          </a:p>
          <a:p>
            <a:pPr lvl="2" eaLnBrk="1" hangingPunct="1"/>
            <a:r>
              <a:rPr lang="en-US" altLang="en-US" sz="2000"/>
              <a:t>favors rules that have high accuracy and cover many positive tuples</a:t>
            </a:r>
          </a:p>
          <a:p>
            <a:pPr eaLnBrk="1" hangingPunct="1"/>
            <a:r>
              <a:rPr lang="en-US" altLang="en-US" sz="2400"/>
              <a:t>Rule pruning based on an independent set of test tuples</a:t>
            </a:r>
            <a:endParaRPr lang="en-US" altLang="en-US" sz="2000"/>
          </a:p>
          <a:p>
            <a:pPr lvl="2" eaLnBrk="1" hangingPunct="1">
              <a:buFont typeface="Wingdings" panose="05000000000000000000" pitchFamily="2" charset="2"/>
              <a:buNone/>
            </a:pPr>
            <a:endParaRPr lang="en-US" altLang="en-US" sz="2000"/>
          </a:p>
          <a:p>
            <a:pPr lvl="2" eaLnBrk="1" hangingPunct="1">
              <a:buFont typeface="Wingdings" panose="05000000000000000000" pitchFamily="2" charset="2"/>
              <a:buNone/>
            </a:pPr>
            <a:endParaRPr lang="en-US" altLang="en-US" sz="2000"/>
          </a:p>
          <a:p>
            <a:pPr lvl="2" eaLnBrk="1" hangingPunct="1">
              <a:buFont typeface="Wingdings" panose="05000000000000000000" pitchFamily="2" charset="2"/>
              <a:buNone/>
            </a:pPr>
            <a:r>
              <a:rPr lang="en-US" altLang="en-US"/>
              <a:t>Pos/neg are # of positive/negative tuples covered by R.</a:t>
            </a:r>
          </a:p>
          <a:p>
            <a:pPr lvl="2" eaLnBrk="1" hangingPunct="1">
              <a:buFont typeface="Wingdings" panose="05000000000000000000" pitchFamily="2" charset="2"/>
              <a:buNone/>
            </a:pPr>
            <a:r>
              <a:rPr lang="en-US" altLang="en-US"/>
              <a:t>If </a:t>
            </a:r>
            <a:r>
              <a:rPr lang="en-US" altLang="en-US" i="1"/>
              <a:t>FOIL_Prune</a:t>
            </a:r>
            <a:r>
              <a:rPr lang="en-US" altLang="en-US"/>
              <a:t> is higher for the pruned version of R, prune R</a:t>
            </a:r>
          </a:p>
        </p:txBody>
      </p:sp>
      <p:graphicFrame>
        <p:nvGraphicFramePr>
          <p:cNvPr id="48133" name="Object 4">
            <a:extLst>
              <a:ext uri="{FF2B5EF4-FFF2-40B4-BE49-F238E27FC236}">
                <a16:creationId xmlns:a16="http://schemas.microsoft.com/office/drawing/2014/main" id="{2DA68C80-D48E-4492-9CB5-B1DA486FA94F}"/>
              </a:ext>
            </a:extLst>
          </p:cNvPr>
          <p:cNvGraphicFramePr>
            <a:graphicFrameLocks noChangeAspect="1"/>
          </p:cNvGraphicFramePr>
          <p:nvPr>
            <p:ph sz="quarter" idx="2"/>
          </p:nvPr>
        </p:nvGraphicFramePr>
        <p:xfrm>
          <a:off x="2590800" y="3505200"/>
          <a:ext cx="5105400" cy="685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8135" name="Equation" r:id="rId4" imgW="3365500" imgH="419100" progId="Equation.3">
                  <p:embed/>
                </p:oleObj>
              </mc:Choice>
              <mc:Fallback>
                <p:oleObj name="Equation" r:id="rId4" imgW="3365500" imgH="41910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90800" y="3505200"/>
                        <a:ext cx="5105400" cy="685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8134" name="Object 6">
            <a:extLst>
              <a:ext uri="{FF2B5EF4-FFF2-40B4-BE49-F238E27FC236}">
                <a16:creationId xmlns:a16="http://schemas.microsoft.com/office/drawing/2014/main" id="{B47AC889-9ADA-4447-A9F4-32BE1166EDAE}"/>
              </a:ext>
            </a:extLst>
          </p:cNvPr>
          <p:cNvGraphicFramePr>
            <a:graphicFrameLocks noChangeAspect="1"/>
          </p:cNvGraphicFramePr>
          <p:nvPr>
            <p:ph sz="quarter" idx="3"/>
          </p:nvPr>
        </p:nvGraphicFramePr>
        <p:xfrm>
          <a:off x="2819400" y="5029200"/>
          <a:ext cx="3160713" cy="7000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8136" name="Equation" r:id="rId6" imgW="1892300" imgH="419100" progId="Equation.3">
                  <p:embed/>
                </p:oleObj>
              </mc:Choice>
              <mc:Fallback>
                <p:oleObj name="Equation" r:id="rId6" imgW="1892300" imgH="419100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19400" y="5029200"/>
                        <a:ext cx="3160713" cy="7000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>
    <p:zoom/>
  </p:transition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Slide Number Placeholder 6">
            <a:extLst>
              <a:ext uri="{FF2B5EF4-FFF2-40B4-BE49-F238E27FC236}">
                <a16:creationId xmlns:a16="http://schemas.microsoft.com/office/drawing/2014/main" id="{55490B38-D6B1-470D-B831-C46724371F89}"/>
              </a:ext>
            </a:extLst>
          </p:cNvPr>
          <p:cNvSpPr txBox="1">
            <a:spLocks noGrp="1"/>
          </p:cNvSpPr>
          <p:nvPr/>
        </p:nvSpPr>
        <p:spPr bwMode="auto">
          <a:xfrm>
            <a:off x="7239000" y="6477000"/>
            <a:ext cx="1905000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r" eaLnBrk="1" hangingPunct="1"/>
            <a:fld id="{F77A13B1-DC5A-4538-97B0-F1F2E4E0589F}" type="slidenum">
              <a:rPr lang="en-US" altLang="en-US" sz="1400" b="1">
                <a:latin typeface="Calibri" panose="020F0502020204030204" pitchFamily="34" charset="0"/>
              </a:rPr>
              <a:pPr algn="r" eaLnBrk="1" hangingPunct="1"/>
              <a:t>46</a:t>
            </a:fld>
            <a:endParaRPr lang="en-US" altLang="en-US" sz="1400" b="1">
              <a:latin typeface="Calibri" panose="020F0502020204030204" pitchFamily="34" charset="0"/>
            </a:endParaRPr>
          </a:p>
        </p:txBody>
      </p:sp>
      <p:sp>
        <p:nvSpPr>
          <p:cNvPr id="49155" name="Rectangle 2">
            <a:extLst>
              <a:ext uri="{FF2B5EF4-FFF2-40B4-BE49-F238E27FC236}">
                <a16:creationId xmlns:a16="http://schemas.microsoft.com/office/drawing/2014/main" id="{C19984A4-9215-4131-A4E5-5A3323E53BF5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0" y="381000"/>
            <a:ext cx="9144000" cy="609600"/>
          </a:xfrm>
          <a:noFill/>
        </p:spPr>
        <p:txBody>
          <a:bodyPr lIns="92075" tIns="46038" rIns="92075" bIns="46038" anchor="ctr"/>
          <a:lstStyle/>
          <a:p>
            <a:pPr eaLnBrk="1" hangingPunct="1"/>
            <a:r>
              <a:rPr lang="en-US" altLang="en-US"/>
              <a:t>Chapter 8. Classification: Basic Concepts</a:t>
            </a:r>
          </a:p>
        </p:txBody>
      </p:sp>
      <p:sp>
        <p:nvSpPr>
          <p:cNvPr id="49156" name="Rectangle 3">
            <a:extLst>
              <a:ext uri="{FF2B5EF4-FFF2-40B4-BE49-F238E27FC236}">
                <a16:creationId xmlns:a16="http://schemas.microsoft.com/office/drawing/2014/main" id="{D946562E-4D51-4674-89F4-A79DA3542BD1}"/>
              </a:ext>
            </a:extLst>
          </p:cNvPr>
          <p:cNvSpPr>
            <a:spLocks noGrp="1" noChangeArrowheads="1"/>
          </p:cNvSpPr>
          <p:nvPr>
            <p:ph type="body" sz="half" idx="4294967295"/>
          </p:nvPr>
        </p:nvSpPr>
        <p:spPr>
          <a:xfrm>
            <a:off x="304800" y="1447800"/>
            <a:ext cx="8382000" cy="5105400"/>
          </a:xfrm>
          <a:noFill/>
        </p:spPr>
        <p:txBody>
          <a:bodyPr lIns="92075" tIns="46038" rIns="92075" bIns="46038"/>
          <a:lstStyle/>
          <a:p>
            <a:pPr>
              <a:lnSpc>
                <a:spcPct val="130000"/>
              </a:lnSpc>
            </a:pPr>
            <a:r>
              <a:rPr lang="en-US" altLang="en-US"/>
              <a:t>Classification: Basic Concepts</a:t>
            </a:r>
          </a:p>
          <a:p>
            <a:pPr>
              <a:lnSpc>
                <a:spcPct val="130000"/>
              </a:lnSpc>
            </a:pPr>
            <a:r>
              <a:rPr lang="en-US" altLang="en-US"/>
              <a:t>Decision Tree Induction</a:t>
            </a:r>
          </a:p>
          <a:p>
            <a:pPr>
              <a:lnSpc>
                <a:spcPct val="130000"/>
              </a:lnSpc>
            </a:pPr>
            <a:r>
              <a:rPr lang="en-US" altLang="en-US"/>
              <a:t>Bayes Classification Methods</a:t>
            </a:r>
          </a:p>
          <a:p>
            <a:pPr>
              <a:lnSpc>
                <a:spcPct val="130000"/>
              </a:lnSpc>
            </a:pPr>
            <a:r>
              <a:rPr lang="en-US" altLang="en-US"/>
              <a:t>Rule-Based Classification</a:t>
            </a:r>
          </a:p>
          <a:p>
            <a:pPr>
              <a:lnSpc>
                <a:spcPct val="130000"/>
              </a:lnSpc>
            </a:pPr>
            <a:r>
              <a:rPr lang="en-US" altLang="en-US"/>
              <a:t>Model Evaluation and Selection</a:t>
            </a:r>
          </a:p>
          <a:p>
            <a:pPr>
              <a:lnSpc>
                <a:spcPct val="130000"/>
              </a:lnSpc>
            </a:pPr>
            <a:r>
              <a:rPr lang="en-US" altLang="en-US"/>
              <a:t>Techniques to Improve Classification Accuracy: Ensemble Methods</a:t>
            </a:r>
          </a:p>
          <a:p>
            <a:pPr>
              <a:lnSpc>
                <a:spcPct val="130000"/>
              </a:lnSpc>
            </a:pPr>
            <a:r>
              <a:rPr lang="en-US" altLang="en-US"/>
              <a:t>Summary</a:t>
            </a:r>
          </a:p>
        </p:txBody>
      </p:sp>
      <p:sp>
        <p:nvSpPr>
          <p:cNvPr id="49157" name="AutoShape 8">
            <a:extLst>
              <a:ext uri="{FF2B5EF4-FFF2-40B4-BE49-F238E27FC236}">
                <a16:creationId xmlns:a16="http://schemas.microsoft.com/office/drawing/2014/main" id="{C27505CD-FD73-420B-9317-2F41271004AA}"/>
              </a:ext>
            </a:extLst>
          </p:cNvPr>
          <p:cNvSpPr>
            <a:spLocks noChangeArrowheads="1"/>
          </p:cNvSpPr>
          <p:nvPr/>
        </p:nvSpPr>
        <p:spPr bwMode="auto">
          <a:xfrm rot="9803581">
            <a:off x="5638800" y="3962400"/>
            <a:ext cx="533400" cy="381000"/>
          </a:xfrm>
          <a:prstGeom prst="notchedRightArrow">
            <a:avLst>
              <a:gd name="adj1" fmla="val 50000"/>
              <a:gd name="adj2" fmla="val 35000"/>
            </a:avLst>
          </a:prstGeom>
          <a:solidFill>
            <a:srgbClr val="FF99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rot="10800000" wrap="none" anchor="ctr"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</p:spTree>
  </p:cSld>
  <p:clrMapOvr>
    <a:masterClrMapping/>
  </p:clrMapOvr>
  <p:transition>
    <p:zoom/>
  </p:transition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Rectangle 2">
            <a:extLst>
              <a:ext uri="{FF2B5EF4-FFF2-40B4-BE49-F238E27FC236}">
                <a16:creationId xmlns:a16="http://schemas.microsoft.com/office/drawing/2014/main" id="{BBD6C5C3-0894-439D-A346-2D2DE4DEF77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Model Evaluation and Selection</a:t>
            </a:r>
          </a:p>
        </p:txBody>
      </p:sp>
      <p:sp>
        <p:nvSpPr>
          <p:cNvPr id="50179" name="Rectangle 3">
            <a:extLst>
              <a:ext uri="{FF2B5EF4-FFF2-40B4-BE49-F238E27FC236}">
                <a16:creationId xmlns:a16="http://schemas.microsoft.com/office/drawing/2014/main" id="{C64D39BA-6321-47BB-B776-87E7E341521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110000"/>
              </a:lnSpc>
            </a:pPr>
            <a:r>
              <a:rPr lang="en-US" altLang="en-US" sz="2400"/>
              <a:t>Evaluation metrics: How can we measure accuracy?  Other metrics to consider?</a:t>
            </a:r>
          </a:p>
          <a:p>
            <a:pPr>
              <a:lnSpc>
                <a:spcPct val="110000"/>
              </a:lnSpc>
            </a:pPr>
            <a:r>
              <a:rPr lang="en-US" altLang="en-US" sz="2400"/>
              <a:t>Use </a:t>
            </a:r>
            <a:r>
              <a:rPr lang="en-US" altLang="en-US" sz="2400" b="1"/>
              <a:t>validation test set</a:t>
            </a:r>
            <a:r>
              <a:rPr lang="en-US" altLang="en-US" sz="2400"/>
              <a:t> of class-labeled tuples instead of training set when assessing accuracy</a:t>
            </a:r>
          </a:p>
          <a:p>
            <a:pPr>
              <a:lnSpc>
                <a:spcPct val="110000"/>
              </a:lnSpc>
            </a:pPr>
            <a:r>
              <a:rPr lang="en-US" altLang="en-US" sz="2400"/>
              <a:t>Methods for estimating a classifier’s accuracy: </a:t>
            </a:r>
          </a:p>
          <a:p>
            <a:pPr lvl="1">
              <a:lnSpc>
                <a:spcPct val="110000"/>
              </a:lnSpc>
            </a:pPr>
            <a:r>
              <a:rPr lang="en-US" altLang="en-US" sz="2400"/>
              <a:t>Holdout method, random subsampling</a:t>
            </a:r>
          </a:p>
          <a:p>
            <a:pPr lvl="1">
              <a:lnSpc>
                <a:spcPct val="110000"/>
              </a:lnSpc>
            </a:pPr>
            <a:r>
              <a:rPr lang="en-US" altLang="en-US" sz="2400"/>
              <a:t>Cross-validation</a:t>
            </a:r>
          </a:p>
          <a:p>
            <a:pPr lvl="1">
              <a:lnSpc>
                <a:spcPct val="110000"/>
              </a:lnSpc>
            </a:pPr>
            <a:r>
              <a:rPr lang="en-US" altLang="en-US" sz="2400"/>
              <a:t>Bootstrap</a:t>
            </a:r>
          </a:p>
          <a:p>
            <a:pPr>
              <a:lnSpc>
                <a:spcPct val="110000"/>
              </a:lnSpc>
            </a:pPr>
            <a:r>
              <a:rPr lang="en-US" altLang="en-US" sz="2400"/>
              <a:t>Comparing classifiers:</a:t>
            </a:r>
          </a:p>
          <a:p>
            <a:pPr lvl="1">
              <a:lnSpc>
                <a:spcPct val="110000"/>
              </a:lnSpc>
            </a:pPr>
            <a:r>
              <a:rPr lang="en-US" altLang="en-US" sz="2400"/>
              <a:t>Confidence intervals</a:t>
            </a:r>
          </a:p>
          <a:p>
            <a:pPr lvl="1">
              <a:lnSpc>
                <a:spcPct val="110000"/>
              </a:lnSpc>
            </a:pPr>
            <a:r>
              <a:rPr lang="en-US" altLang="en-US" sz="2400"/>
              <a:t>Cost-benefit analysis and ROC Curves</a:t>
            </a:r>
          </a:p>
        </p:txBody>
      </p:sp>
      <p:sp>
        <p:nvSpPr>
          <p:cNvPr id="50180" name="Slide Number Placeholder 7">
            <a:extLst>
              <a:ext uri="{FF2B5EF4-FFF2-40B4-BE49-F238E27FC236}">
                <a16:creationId xmlns:a16="http://schemas.microsoft.com/office/drawing/2014/main" id="{0EBBA9E8-4066-4E51-A97A-9C499B15EAC3}"/>
              </a:ext>
            </a:extLst>
          </p:cNvPr>
          <p:cNvSpPr txBox="1">
            <a:spLocks noGrp="1"/>
          </p:cNvSpPr>
          <p:nvPr/>
        </p:nvSpPr>
        <p:spPr bwMode="auto">
          <a:xfrm>
            <a:off x="7239000" y="6477000"/>
            <a:ext cx="1905000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r" eaLnBrk="1" hangingPunct="1"/>
            <a:fld id="{610FB574-1546-471D-BD26-6570292DBF27}" type="slidenum">
              <a:rPr lang="en-US" altLang="en-US" sz="1200" b="1">
                <a:latin typeface="Calibri" panose="020F0502020204030204" pitchFamily="34" charset="0"/>
              </a:rPr>
              <a:pPr algn="r" eaLnBrk="1" hangingPunct="1"/>
              <a:t>47</a:t>
            </a:fld>
            <a:endParaRPr lang="en-US" altLang="en-US" sz="1200" b="1">
              <a:latin typeface="Calibri" panose="020F0502020204030204" pitchFamily="34" charset="0"/>
            </a:endParaRPr>
          </a:p>
        </p:txBody>
      </p:sp>
    </p:spTree>
  </p:cSld>
  <p:clrMapOvr>
    <a:masterClrMapping/>
  </p:clrMapOvr>
  <p:transition>
    <p:zoom/>
  </p:transition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Rectangle 2">
            <a:extLst>
              <a:ext uri="{FF2B5EF4-FFF2-40B4-BE49-F238E27FC236}">
                <a16:creationId xmlns:a16="http://schemas.microsoft.com/office/drawing/2014/main" id="{8BAAAB43-DCAF-47D5-8946-A12F15C82D6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1143000"/>
          </a:xfrm>
        </p:spPr>
        <p:txBody>
          <a:bodyPr/>
          <a:lstStyle/>
          <a:p>
            <a:r>
              <a:rPr lang="en-US" altLang="en-US"/>
              <a:t>Classifier Evaluation Metrics: Confusion Matrix</a:t>
            </a:r>
          </a:p>
        </p:txBody>
      </p:sp>
      <p:graphicFrame>
        <p:nvGraphicFramePr>
          <p:cNvPr id="61519" name="Group 79">
            <a:extLst>
              <a:ext uri="{FF2B5EF4-FFF2-40B4-BE49-F238E27FC236}">
                <a16:creationId xmlns:a16="http://schemas.microsoft.com/office/drawing/2014/main" id="{FD13F14B-6901-481A-BB01-DAFEAC3B7262}"/>
              </a:ext>
            </a:extLst>
          </p:cNvPr>
          <p:cNvGraphicFramePr>
            <a:graphicFrameLocks noGrp="1"/>
          </p:cNvGraphicFramePr>
          <p:nvPr>
            <p:ph sz="half" idx="1"/>
          </p:nvPr>
        </p:nvGraphicFramePr>
        <p:xfrm>
          <a:off x="1066800" y="3352800"/>
          <a:ext cx="7010400" cy="1935163"/>
        </p:xfrm>
        <a:graphic>
          <a:graphicData uri="http://schemas.openxmlformats.org/drawingml/2006/table">
            <a:tbl>
              <a:tblPr/>
              <a:tblGrid>
                <a:gridCol w="2514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52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52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90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70115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</a:rPr>
                        <a:t>Actual class\Predicted class</a:t>
                      </a:r>
                    </a:p>
                  </a:txBody>
                  <a:tcPr marT="45728" marB="45728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</a:rPr>
                        <a:t>buy_computer =  yes</a:t>
                      </a:r>
                    </a:p>
                  </a:txBody>
                  <a:tcPr marT="45728" marB="4572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</a:rPr>
                        <a:t>buy_computer = no</a:t>
                      </a:r>
                    </a:p>
                  </a:txBody>
                  <a:tcPr marT="45728" marB="4572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</a:rPr>
                        <a:t>Total</a:t>
                      </a:r>
                    </a:p>
                  </a:txBody>
                  <a:tcPr marT="45728" marB="4572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630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</a:rPr>
                        <a:t>buy_computer = yes</a:t>
                      </a:r>
                    </a:p>
                  </a:txBody>
                  <a:tcPr marT="45728" marB="45728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</a:rPr>
                        <a:t>6954</a:t>
                      </a:r>
                    </a:p>
                  </a:txBody>
                  <a:tcPr marT="45728" marB="4572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</a:rPr>
                        <a:t>46</a:t>
                      </a:r>
                    </a:p>
                  </a:txBody>
                  <a:tcPr marT="45728" marB="4572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</a:rPr>
                        <a:t>7000</a:t>
                      </a:r>
                    </a:p>
                  </a:txBody>
                  <a:tcPr marT="45728" marB="4572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630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</a:rPr>
                        <a:t>buy_computer = no</a:t>
                      </a:r>
                    </a:p>
                  </a:txBody>
                  <a:tcPr marT="45728" marB="45728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</a:rPr>
                        <a:t>412</a:t>
                      </a:r>
                    </a:p>
                  </a:txBody>
                  <a:tcPr marT="45728" marB="4572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</a:rPr>
                        <a:t>2588</a:t>
                      </a:r>
                    </a:p>
                  </a:txBody>
                  <a:tcPr marT="45728" marB="4572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</a:rPr>
                        <a:t>3000</a:t>
                      </a:r>
                    </a:p>
                  </a:txBody>
                  <a:tcPr marT="45728" marB="4572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4139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</a:rPr>
                        <a:t>Total</a:t>
                      </a:r>
                    </a:p>
                  </a:txBody>
                  <a:tcPr marT="45728" marB="45728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</a:rPr>
                        <a:t>7366</a:t>
                      </a:r>
                    </a:p>
                  </a:txBody>
                  <a:tcPr marT="45728" marB="4572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</a:rPr>
                        <a:t>2634</a:t>
                      </a:r>
                    </a:p>
                  </a:txBody>
                  <a:tcPr marT="45728" marB="4572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</a:rPr>
                        <a:t>10000</a:t>
                      </a:r>
                    </a:p>
                  </a:txBody>
                  <a:tcPr marT="45728" marB="4572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1230" name="Rectangle 63">
            <a:extLst>
              <a:ext uri="{FF2B5EF4-FFF2-40B4-BE49-F238E27FC236}">
                <a16:creationId xmlns:a16="http://schemas.microsoft.com/office/drawing/2014/main" id="{BE6B3B39-5761-4114-A501-683DFFDBCA35}"/>
              </a:ext>
            </a:extLst>
          </p:cNvPr>
          <p:cNvSpPr>
            <a:spLocks noGrp="1" noChangeArrowheads="1"/>
          </p:cNvSpPr>
          <p:nvPr>
            <p:ph type="body" sz="half" idx="2"/>
          </p:nvPr>
        </p:nvSpPr>
        <p:spPr>
          <a:xfrm>
            <a:off x="304800" y="5372100"/>
            <a:ext cx="8458200" cy="1257300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altLang="en-US" sz="2400"/>
              <a:t>Given</a:t>
            </a:r>
            <a:r>
              <a:rPr lang="en-US" altLang="en-US" sz="2400" i="1"/>
              <a:t> m</a:t>
            </a:r>
            <a:r>
              <a:rPr lang="en-US" altLang="en-US" sz="2400"/>
              <a:t> classes, an entry, </a:t>
            </a:r>
            <a:r>
              <a:rPr lang="en-US" altLang="en-US" sz="2400" b="1" i="1"/>
              <a:t>CM</a:t>
            </a:r>
            <a:r>
              <a:rPr lang="en-US" altLang="en-US" sz="2400" b="1" i="1" baseline="-25000"/>
              <a:t>i,j</a:t>
            </a:r>
            <a:r>
              <a:rPr lang="en-US" altLang="en-US" sz="2400" b="1" baseline="-25000"/>
              <a:t> </a:t>
            </a:r>
            <a:r>
              <a:rPr lang="en-US" altLang="en-US" sz="2400"/>
              <a:t> in a </a:t>
            </a:r>
            <a:r>
              <a:rPr lang="en-US" altLang="en-US" sz="2400" b="1"/>
              <a:t>confusion matrix</a:t>
            </a:r>
            <a:r>
              <a:rPr lang="en-US" altLang="en-US" sz="2400"/>
              <a:t> indicates # of tuples in class </a:t>
            </a:r>
            <a:r>
              <a:rPr lang="en-US" altLang="en-US" sz="2400" i="1"/>
              <a:t>i</a:t>
            </a:r>
            <a:r>
              <a:rPr lang="en-US" altLang="en-US" sz="2400"/>
              <a:t>  that were labeled by the classifier as class </a:t>
            </a:r>
            <a:r>
              <a:rPr lang="en-US" altLang="en-US" sz="2400" i="1"/>
              <a:t>j</a:t>
            </a:r>
          </a:p>
          <a:p>
            <a:pPr>
              <a:lnSpc>
                <a:spcPct val="90000"/>
              </a:lnSpc>
            </a:pPr>
            <a:r>
              <a:rPr lang="en-US" altLang="en-US" sz="2400"/>
              <a:t>May have extra rows/columns to provide totals</a:t>
            </a:r>
          </a:p>
        </p:txBody>
      </p:sp>
      <p:sp>
        <p:nvSpPr>
          <p:cNvPr id="51231" name="Text Box 66">
            <a:extLst>
              <a:ext uri="{FF2B5EF4-FFF2-40B4-BE49-F238E27FC236}">
                <a16:creationId xmlns:a16="http://schemas.microsoft.com/office/drawing/2014/main" id="{75F3C775-571C-40A7-9490-4BB42A03915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8600" y="1219200"/>
            <a:ext cx="260826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r>
              <a:rPr lang="en-US" altLang="en-US" sz="2400" b="1">
                <a:latin typeface="Calibri" panose="020F0502020204030204" pitchFamily="34" charset="0"/>
              </a:rPr>
              <a:t>Confusion Matrix:</a:t>
            </a:r>
          </a:p>
        </p:txBody>
      </p:sp>
      <p:graphicFrame>
        <p:nvGraphicFramePr>
          <p:cNvPr id="61517" name="Group 77">
            <a:extLst>
              <a:ext uri="{FF2B5EF4-FFF2-40B4-BE49-F238E27FC236}">
                <a16:creationId xmlns:a16="http://schemas.microsoft.com/office/drawing/2014/main" id="{F0528B14-4985-4D36-8C50-B38AE07FB7A8}"/>
              </a:ext>
            </a:extLst>
          </p:cNvPr>
          <p:cNvGraphicFramePr>
            <a:graphicFrameLocks noGrp="1"/>
          </p:cNvGraphicFramePr>
          <p:nvPr/>
        </p:nvGraphicFramePr>
        <p:xfrm>
          <a:off x="533400" y="1676400"/>
          <a:ext cx="7924800" cy="1235075"/>
        </p:xfrm>
        <a:graphic>
          <a:graphicData uri="http://schemas.openxmlformats.org/drawingml/2006/table">
            <a:tbl>
              <a:tblPr/>
              <a:tblGrid>
                <a:gridCol w="2895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7173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5746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270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</a:rPr>
                        <a:t>Actual class\Predicted class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</a:rPr>
                        <a:t>C</a:t>
                      </a:r>
                      <a:r>
                        <a:rPr kumimoji="0" lang="en-US" sz="18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</a:rPr>
                        <a:t>¬ C</a:t>
                      </a:r>
                      <a:r>
                        <a:rPr kumimoji="0" lang="en-US" sz="18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</a:rPr>
                        <a:t>C</a:t>
                      </a:r>
                      <a:r>
                        <a:rPr kumimoji="0" lang="en-US" sz="18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</a:rPr>
                        <a:t>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</a:rPr>
                        <a:t>True Positives (TP)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</a:rPr>
                        <a:t>False Negatives (FN)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70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</a:rPr>
                        <a:t>¬ C</a:t>
                      </a:r>
                      <a:r>
                        <a:rPr kumimoji="0" lang="en-US" sz="18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</a:rPr>
                        <a:t>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</a:rPr>
                        <a:t>False Positives (FP)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</a:rPr>
                        <a:t>True Negatives (TN)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51250" name="Rectangle 78">
            <a:extLst>
              <a:ext uri="{FF2B5EF4-FFF2-40B4-BE49-F238E27FC236}">
                <a16:creationId xmlns:a16="http://schemas.microsoft.com/office/drawing/2014/main" id="{F1EC40CF-FD03-42EA-867D-0ADDC16D23C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4800" y="2971800"/>
            <a:ext cx="3565525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r>
              <a:rPr lang="en-US" altLang="en-US" b="1"/>
              <a:t>Example of Confusion Matrix:</a:t>
            </a:r>
          </a:p>
        </p:txBody>
      </p:sp>
      <p:sp>
        <p:nvSpPr>
          <p:cNvPr id="51251" name="Slide Number Placeholder 7">
            <a:extLst>
              <a:ext uri="{FF2B5EF4-FFF2-40B4-BE49-F238E27FC236}">
                <a16:creationId xmlns:a16="http://schemas.microsoft.com/office/drawing/2014/main" id="{7D9952AD-A177-4D1C-BFB0-07CE473EEEB0}"/>
              </a:ext>
            </a:extLst>
          </p:cNvPr>
          <p:cNvSpPr txBox="1">
            <a:spLocks noGrp="1"/>
          </p:cNvSpPr>
          <p:nvPr/>
        </p:nvSpPr>
        <p:spPr bwMode="auto">
          <a:xfrm>
            <a:off x="7239000" y="6477000"/>
            <a:ext cx="1905000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r" eaLnBrk="1" hangingPunct="1"/>
            <a:fld id="{6863F8EA-2CC9-47A9-9BAC-13B443EE63EF}" type="slidenum">
              <a:rPr lang="en-US" altLang="en-US" sz="1200" b="1">
                <a:latin typeface="Calibri" panose="020F0502020204030204" pitchFamily="34" charset="0"/>
              </a:rPr>
              <a:pPr algn="r" eaLnBrk="1" hangingPunct="1"/>
              <a:t>48</a:t>
            </a:fld>
            <a:endParaRPr lang="en-US" altLang="en-US" sz="1200" b="1">
              <a:latin typeface="Calibri" panose="020F0502020204030204" pitchFamily="34" charset="0"/>
            </a:endParaRPr>
          </a:p>
        </p:txBody>
      </p:sp>
    </p:spTree>
  </p:cSld>
  <p:clrMapOvr>
    <a:masterClrMapping/>
  </p:clrMapOvr>
  <p:transition>
    <p:zoom/>
  </p:transition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2">
            <a:extLst>
              <a:ext uri="{FF2B5EF4-FFF2-40B4-BE49-F238E27FC236}">
                <a16:creationId xmlns:a16="http://schemas.microsoft.com/office/drawing/2014/main" id="{04EBCA4F-CE9C-43EC-9B25-F1E501EF584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04800" y="0"/>
            <a:ext cx="8402638" cy="1143000"/>
          </a:xfrm>
        </p:spPr>
        <p:txBody>
          <a:bodyPr/>
          <a:lstStyle/>
          <a:p>
            <a:r>
              <a:rPr lang="en-US" altLang="en-US"/>
              <a:t>Classifier Evaluation Metrics: Accuracy, Error Rate, Sensitivity and Specificity</a:t>
            </a:r>
          </a:p>
        </p:txBody>
      </p:sp>
      <p:sp>
        <p:nvSpPr>
          <p:cNvPr id="52227" name="Rectangle 3">
            <a:extLst>
              <a:ext uri="{FF2B5EF4-FFF2-40B4-BE49-F238E27FC236}">
                <a16:creationId xmlns:a16="http://schemas.microsoft.com/office/drawing/2014/main" id="{1529F256-6C69-4B0F-9CA1-7620B4486F1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52400" y="3048000"/>
            <a:ext cx="4724400" cy="3505200"/>
          </a:xfrm>
        </p:spPr>
        <p:txBody>
          <a:bodyPr/>
          <a:lstStyle/>
          <a:p>
            <a:r>
              <a:rPr lang="en-US" altLang="en-US" sz="2400" b="1"/>
              <a:t>Classifier Accuracy, </a:t>
            </a:r>
            <a:r>
              <a:rPr lang="en-US" altLang="en-US" sz="2400"/>
              <a:t>or recognition rate: percentage of test set tuples that are correctly classified</a:t>
            </a:r>
          </a:p>
          <a:p>
            <a:pPr lvl="1">
              <a:buFont typeface="Wingdings" panose="05000000000000000000" pitchFamily="2" charset="2"/>
              <a:buNone/>
            </a:pPr>
            <a:r>
              <a:rPr lang="en-US" altLang="en-US" sz="2400" b="1"/>
              <a:t>Accuracy = (TP + TN)/All</a:t>
            </a:r>
            <a:endParaRPr lang="en-US" altLang="en-US" sz="2400"/>
          </a:p>
          <a:p>
            <a:r>
              <a:rPr lang="en-US" altLang="en-US" sz="2400" b="1"/>
              <a:t>Error rate:</a:t>
            </a:r>
            <a:r>
              <a:rPr lang="en-US" altLang="en-US" sz="2400"/>
              <a:t> </a:t>
            </a:r>
            <a:r>
              <a:rPr lang="en-US" altLang="en-US" sz="2400" i="1"/>
              <a:t>1 –</a:t>
            </a:r>
            <a:r>
              <a:rPr lang="en-US" altLang="en-US" sz="2400"/>
              <a:t> </a:t>
            </a:r>
            <a:r>
              <a:rPr lang="en-US" altLang="en-US" sz="2400" i="1"/>
              <a:t>accuracy</a:t>
            </a:r>
            <a:r>
              <a:rPr lang="en-US" altLang="en-US" sz="2400"/>
              <a:t>, or</a:t>
            </a:r>
          </a:p>
          <a:p>
            <a:pPr lvl="1">
              <a:buFont typeface="Wingdings" panose="05000000000000000000" pitchFamily="2" charset="2"/>
              <a:buNone/>
            </a:pPr>
            <a:r>
              <a:rPr lang="en-US" altLang="en-US" sz="2400" b="1"/>
              <a:t>Error rate = (FP + FN)/All</a:t>
            </a:r>
          </a:p>
        </p:txBody>
      </p:sp>
      <p:sp>
        <p:nvSpPr>
          <p:cNvPr id="52228" name="Rectangle 3">
            <a:extLst>
              <a:ext uri="{FF2B5EF4-FFF2-40B4-BE49-F238E27FC236}">
                <a16:creationId xmlns:a16="http://schemas.microsoft.com/office/drawing/2014/main" id="{E6C5C32B-830A-42DF-8701-0074971AED0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67200" y="1371600"/>
            <a:ext cx="4724400" cy="5105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</a:pPr>
            <a:r>
              <a:rPr lang="en-US" altLang="en-US" sz="2400" b="1">
                <a:latin typeface="Calibri" panose="020F0502020204030204" pitchFamily="34" charset="0"/>
              </a:rPr>
              <a:t>Class Imbalance Problem</a:t>
            </a:r>
            <a:r>
              <a:rPr lang="en-US" altLang="en-US" sz="2400">
                <a:latin typeface="Calibri" panose="020F0502020204030204" pitchFamily="34" charset="0"/>
              </a:rPr>
              <a:t>: </a:t>
            </a:r>
          </a:p>
          <a:p>
            <a:pPr lvl="1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</a:pPr>
            <a:r>
              <a:rPr lang="en-US" altLang="en-US" sz="2400">
                <a:latin typeface="Calibri" panose="020F0502020204030204" pitchFamily="34" charset="0"/>
              </a:rPr>
              <a:t>One class may be </a:t>
            </a:r>
            <a:r>
              <a:rPr lang="en-US" altLang="en-US" sz="2400" i="1">
                <a:latin typeface="Calibri" panose="020F0502020204030204" pitchFamily="34" charset="0"/>
              </a:rPr>
              <a:t>rare</a:t>
            </a:r>
            <a:r>
              <a:rPr lang="en-US" altLang="en-US" sz="2400">
                <a:latin typeface="Calibri" panose="020F0502020204030204" pitchFamily="34" charset="0"/>
              </a:rPr>
              <a:t>, e.g. fraud, or HIV-positive</a:t>
            </a:r>
          </a:p>
          <a:p>
            <a:pPr lvl="1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</a:pPr>
            <a:r>
              <a:rPr lang="en-US" altLang="en-US" sz="2400">
                <a:latin typeface="Calibri" panose="020F0502020204030204" pitchFamily="34" charset="0"/>
              </a:rPr>
              <a:t>Significant </a:t>
            </a:r>
            <a:r>
              <a:rPr lang="en-US" altLang="en-US" sz="2400" i="1">
                <a:latin typeface="Calibri" panose="020F0502020204030204" pitchFamily="34" charset="0"/>
              </a:rPr>
              <a:t>majority of the negative class</a:t>
            </a:r>
            <a:r>
              <a:rPr lang="en-US" altLang="en-US" sz="2400">
                <a:latin typeface="Calibri" panose="020F0502020204030204" pitchFamily="34" charset="0"/>
              </a:rPr>
              <a:t> and minority of the positive class</a:t>
            </a:r>
          </a:p>
          <a:p>
            <a:pPr lvl="1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</a:pPr>
            <a:r>
              <a:rPr lang="en-US" altLang="en-US" sz="2400" b="1">
                <a:latin typeface="Calibri" panose="020F0502020204030204" pitchFamily="34" charset="0"/>
              </a:rPr>
              <a:t>Sensitivity</a:t>
            </a:r>
            <a:r>
              <a:rPr lang="en-US" altLang="en-US" sz="2400">
                <a:latin typeface="Calibri" panose="020F0502020204030204" pitchFamily="34" charset="0"/>
              </a:rPr>
              <a:t>: True Positive recognition rate</a:t>
            </a:r>
          </a:p>
          <a:p>
            <a:pPr lvl="2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</a:pPr>
            <a:r>
              <a:rPr lang="en-US" altLang="en-US" sz="2400" b="1">
                <a:latin typeface="Calibri" panose="020F0502020204030204" pitchFamily="34" charset="0"/>
              </a:rPr>
              <a:t>Sensitivity = TP/P</a:t>
            </a:r>
          </a:p>
          <a:p>
            <a:pPr lvl="1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</a:pPr>
            <a:r>
              <a:rPr lang="en-US" altLang="en-US" sz="2400" b="1">
                <a:latin typeface="Calibri" panose="020F0502020204030204" pitchFamily="34" charset="0"/>
              </a:rPr>
              <a:t>Specificity</a:t>
            </a:r>
            <a:r>
              <a:rPr lang="en-US" altLang="en-US" sz="2400">
                <a:latin typeface="Calibri" panose="020F0502020204030204" pitchFamily="34" charset="0"/>
              </a:rPr>
              <a:t>: True Negative recognition rate</a:t>
            </a:r>
          </a:p>
          <a:p>
            <a:pPr lvl="2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</a:pPr>
            <a:r>
              <a:rPr lang="en-US" altLang="en-US" sz="2400" b="1">
                <a:latin typeface="Calibri" panose="020F0502020204030204" pitchFamily="34" charset="0"/>
              </a:rPr>
              <a:t>Specificity = TN/N</a:t>
            </a:r>
          </a:p>
        </p:txBody>
      </p:sp>
      <p:graphicFrame>
        <p:nvGraphicFramePr>
          <p:cNvPr id="62595" name="Group 131">
            <a:extLst>
              <a:ext uri="{FF2B5EF4-FFF2-40B4-BE49-F238E27FC236}">
                <a16:creationId xmlns:a16="http://schemas.microsoft.com/office/drawing/2014/main" id="{FD98275A-1368-4310-80AA-A620C141BEF9}"/>
              </a:ext>
            </a:extLst>
          </p:cNvPr>
          <p:cNvGraphicFramePr>
            <a:graphicFrameLocks noGrp="1"/>
          </p:cNvGraphicFramePr>
          <p:nvPr/>
        </p:nvGraphicFramePr>
        <p:xfrm>
          <a:off x="1524000" y="1371600"/>
          <a:ext cx="1905000" cy="1463675"/>
        </p:xfrm>
        <a:graphic>
          <a:graphicData uri="http://schemas.openxmlformats.org/drawingml/2006/table">
            <a:tbl>
              <a:tblPr/>
              <a:tblGrid>
                <a:gridCol w="533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5919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</a:rPr>
                        <a:t>A\P</a:t>
                      </a:r>
                    </a:p>
                  </a:txBody>
                  <a:tcPr marT="45740" marB="4574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</a:rPr>
                        <a:t>C</a:t>
                      </a:r>
                    </a:p>
                  </a:txBody>
                  <a:tcPr marT="45740" marB="4574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</a:rPr>
                        <a:t>¬C</a:t>
                      </a:r>
                    </a:p>
                  </a:txBody>
                  <a:tcPr marT="45740" marB="4574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</a:endParaRPr>
                    </a:p>
                  </a:txBody>
                  <a:tcPr marT="45740" marB="4574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919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</a:rPr>
                        <a:t>C</a:t>
                      </a:r>
                    </a:p>
                  </a:txBody>
                  <a:tcPr marT="45740" marB="4574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</a:rPr>
                        <a:t>TP</a:t>
                      </a:r>
                    </a:p>
                  </a:txBody>
                  <a:tcPr marT="45740" marB="4574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</a:rPr>
                        <a:t>FN</a:t>
                      </a:r>
                    </a:p>
                  </a:txBody>
                  <a:tcPr marT="45740" marB="4574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</a:rPr>
                        <a:t>P</a:t>
                      </a:r>
                    </a:p>
                  </a:txBody>
                  <a:tcPr marT="45740" marB="4574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919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</a:rPr>
                        <a:t>¬C</a:t>
                      </a:r>
                    </a:p>
                  </a:txBody>
                  <a:tcPr marT="45740" marB="4574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</a:rPr>
                        <a:t>FP</a:t>
                      </a:r>
                    </a:p>
                  </a:txBody>
                  <a:tcPr marT="45740" marB="4574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</a:rPr>
                        <a:t>TN</a:t>
                      </a:r>
                    </a:p>
                  </a:txBody>
                  <a:tcPr marT="45740" marB="4574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</a:rPr>
                        <a:t>N</a:t>
                      </a:r>
                    </a:p>
                  </a:txBody>
                  <a:tcPr marT="45740" marB="4574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919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</a:endParaRPr>
                    </a:p>
                  </a:txBody>
                  <a:tcPr marT="45740" marB="4574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</a:rPr>
                        <a:t>P’</a:t>
                      </a:r>
                    </a:p>
                  </a:txBody>
                  <a:tcPr marT="45740" marB="4574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</a:rPr>
                        <a:t>N’</a:t>
                      </a:r>
                    </a:p>
                  </a:txBody>
                  <a:tcPr marT="45740" marB="4574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</a:rPr>
                        <a:t>All</a:t>
                      </a:r>
                    </a:p>
                  </a:txBody>
                  <a:tcPr marT="45740" marB="4574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2256" name="Slide Number Placeholder 7">
            <a:extLst>
              <a:ext uri="{FF2B5EF4-FFF2-40B4-BE49-F238E27FC236}">
                <a16:creationId xmlns:a16="http://schemas.microsoft.com/office/drawing/2014/main" id="{2B9856B0-A6D1-4E0F-AFB9-6FCE2CB044BE}"/>
              </a:ext>
            </a:extLst>
          </p:cNvPr>
          <p:cNvSpPr txBox="1">
            <a:spLocks noGrp="1"/>
          </p:cNvSpPr>
          <p:nvPr/>
        </p:nvSpPr>
        <p:spPr bwMode="auto">
          <a:xfrm>
            <a:off x="7239000" y="6477000"/>
            <a:ext cx="1905000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r" eaLnBrk="1" hangingPunct="1"/>
            <a:fld id="{0216F22C-D0B3-42D6-879A-CBF7146A515D}" type="slidenum">
              <a:rPr lang="en-US" altLang="en-US" sz="1200" b="1">
                <a:latin typeface="Calibri" panose="020F0502020204030204" pitchFamily="34" charset="0"/>
              </a:rPr>
              <a:pPr algn="r" eaLnBrk="1" hangingPunct="1"/>
              <a:t>49</a:t>
            </a:fld>
            <a:endParaRPr lang="en-US" altLang="en-US" sz="1200" b="1">
              <a:latin typeface="Calibri" panose="020F0502020204030204" pitchFamily="34" charset="0"/>
            </a:endParaRPr>
          </a:p>
        </p:txBody>
      </p:sp>
    </p:spTree>
  </p:cSld>
  <p:clrMapOvr>
    <a:masterClrMapping/>
  </p:clrMapOvr>
  <p:transition>
    <p:zoom/>
  </p:transition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250" name="Picture 7" descr="8F">
            <a:extLst>
              <a:ext uri="{FF2B5EF4-FFF2-40B4-BE49-F238E27FC236}">
                <a16:creationId xmlns:a16="http://schemas.microsoft.com/office/drawing/2014/main" id="{E99826C7-FD71-4259-BBD0-322E45FCA3E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76800" y="4343400"/>
            <a:ext cx="4267200" cy="8207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3251" name="Picture 8" descr="8recall">
            <a:extLst>
              <a:ext uri="{FF2B5EF4-FFF2-40B4-BE49-F238E27FC236}">
                <a16:creationId xmlns:a16="http://schemas.microsoft.com/office/drawing/2014/main" id="{E0049A90-96CB-4749-8D22-E71E8FB2F42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10225" y="2895600"/>
            <a:ext cx="3124200" cy="739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3252" name="Picture 7" descr="8precision">
            <a:extLst>
              <a:ext uri="{FF2B5EF4-FFF2-40B4-BE49-F238E27FC236}">
                <a16:creationId xmlns:a16="http://schemas.microsoft.com/office/drawing/2014/main" id="{33956E96-0477-4EB0-957C-A8F9E7CF233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86400" y="1865313"/>
            <a:ext cx="3581400" cy="7254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3253" name="Rectangle 2">
            <a:extLst>
              <a:ext uri="{FF2B5EF4-FFF2-40B4-BE49-F238E27FC236}">
                <a16:creationId xmlns:a16="http://schemas.microsoft.com/office/drawing/2014/main" id="{77801851-36FB-4F7D-9A2A-85304734391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04800" y="0"/>
            <a:ext cx="8402638" cy="1219200"/>
          </a:xfrm>
        </p:spPr>
        <p:txBody>
          <a:bodyPr/>
          <a:lstStyle/>
          <a:p>
            <a:r>
              <a:rPr lang="en-US" altLang="en-US"/>
              <a:t>Classifier Evaluation Metrics: </a:t>
            </a:r>
            <a:br>
              <a:rPr lang="en-US" altLang="en-US"/>
            </a:br>
            <a:r>
              <a:rPr lang="en-US" altLang="en-US"/>
              <a:t>Precision and Recall, and F-measures</a:t>
            </a:r>
          </a:p>
        </p:txBody>
      </p:sp>
      <p:sp>
        <p:nvSpPr>
          <p:cNvPr id="63491" name="Rectangle 3">
            <a:extLst>
              <a:ext uri="{FF2B5EF4-FFF2-40B4-BE49-F238E27FC236}">
                <a16:creationId xmlns:a16="http://schemas.microsoft.com/office/drawing/2014/main" id="{8A56E417-D261-49EF-A8F6-BA40FC1C36E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57175" y="1371600"/>
            <a:ext cx="8429625" cy="4419600"/>
          </a:xfrm>
        </p:spPr>
        <p:txBody>
          <a:bodyPr/>
          <a:lstStyle/>
          <a:p>
            <a:pPr>
              <a:lnSpc>
                <a:spcPct val="90000"/>
              </a:lnSpc>
              <a:defRPr/>
            </a:pPr>
            <a:r>
              <a:rPr lang="en-US" sz="2400" b="1" dirty="0"/>
              <a:t>Precision</a:t>
            </a:r>
            <a:r>
              <a:rPr lang="en-US" sz="2400" dirty="0"/>
              <a:t>: exactness – what % of tuples that the classifier labeled as positive are actually positive</a:t>
            </a:r>
          </a:p>
          <a:p>
            <a:pPr lvl="1">
              <a:lnSpc>
                <a:spcPct val="90000"/>
              </a:lnSpc>
              <a:defRPr/>
            </a:pPr>
            <a:endParaRPr lang="en-US" sz="2400" b="1" dirty="0"/>
          </a:p>
          <a:p>
            <a:pPr>
              <a:lnSpc>
                <a:spcPct val="90000"/>
              </a:lnSpc>
              <a:defRPr/>
            </a:pPr>
            <a:r>
              <a:rPr lang="en-US" sz="2400" b="1" dirty="0"/>
              <a:t>Recall: </a:t>
            </a:r>
            <a:r>
              <a:rPr lang="en-US" sz="2400" dirty="0"/>
              <a:t>completeness – what % of positive tuples did the classifier label as positive?</a:t>
            </a:r>
          </a:p>
          <a:p>
            <a:pPr>
              <a:lnSpc>
                <a:spcPct val="90000"/>
              </a:lnSpc>
              <a:defRPr/>
            </a:pPr>
            <a:r>
              <a:rPr lang="en-US" sz="2400" dirty="0"/>
              <a:t>Perfect score is 1.0</a:t>
            </a:r>
          </a:p>
          <a:p>
            <a:pPr>
              <a:lnSpc>
                <a:spcPct val="90000"/>
              </a:lnSpc>
              <a:defRPr/>
            </a:pPr>
            <a:r>
              <a:rPr lang="en-US" sz="2400" dirty="0"/>
              <a:t>Inverse relationship between precision &amp; recall</a:t>
            </a:r>
          </a:p>
          <a:p>
            <a:pPr>
              <a:lnSpc>
                <a:spcPct val="80000"/>
              </a:lnSpc>
              <a:defRPr/>
            </a:pPr>
            <a:r>
              <a:rPr lang="en-US" sz="2400" b="1" i="1" dirty="0"/>
              <a:t>F</a:t>
            </a:r>
            <a:r>
              <a:rPr lang="en-US" sz="2400" b="1" dirty="0"/>
              <a:t> measure (</a:t>
            </a:r>
            <a:r>
              <a:rPr lang="en-US" sz="2400" b="1" i="1" dirty="0"/>
              <a:t>F</a:t>
            </a:r>
            <a:r>
              <a:rPr lang="en-US" sz="2400" b="1" i="1" baseline="-25000" dirty="0"/>
              <a:t>1</a:t>
            </a:r>
            <a:r>
              <a:rPr lang="en-US" sz="2400" b="1" dirty="0"/>
              <a:t> </a:t>
            </a:r>
            <a:r>
              <a:rPr lang="en-US" sz="2400" dirty="0"/>
              <a:t>or</a:t>
            </a:r>
            <a:r>
              <a:rPr lang="en-US" sz="2400" b="1" dirty="0"/>
              <a:t> </a:t>
            </a:r>
            <a:r>
              <a:rPr lang="en-US" sz="2400" b="1" i="1" dirty="0"/>
              <a:t>F</a:t>
            </a:r>
            <a:r>
              <a:rPr lang="en-US" sz="2400" b="1" dirty="0"/>
              <a:t>-score)</a:t>
            </a:r>
            <a:r>
              <a:rPr lang="en-US" sz="2400" dirty="0"/>
              <a:t>: harmonic mean of precision and recall,</a:t>
            </a:r>
            <a:endParaRPr lang="en-US" sz="2400" b="1" dirty="0"/>
          </a:p>
          <a:p>
            <a:pPr marL="0" indent="0">
              <a:lnSpc>
                <a:spcPct val="80000"/>
              </a:lnSpc>
              <a:buFont typeface="Wingdings" panose="05000000000000000000" pitchFamily="2" charset="2"/>
              <a:buNone/>
              <a:defRPr/>
            </a:pPr>
            <a:endParaRPr lang="en-US" sz="2400" b="1" i="1" dirty="0"/>
          </a:p>
          <a:p>
            <a:pPr>
              <a:lnSpc>
                <a:spcPct val="80000"/>
              </a:lnSpc>
              <a:defRPr/>
            </a:pPr>
            <a:r>
              <a:rPr lang="en-US" sz="2400" b="1" i="1" dirty="0" err="1"/>
              <a:t>F</a:t>
            </a:r>
            <a:r>
              <a:rPr lang="en-US" sz="2400" b="1" i="1" baseline="-25000" dirty="0" err="1">
                <a:cs typeface="Tahoma" pitchFamily="34" charset="0"/>
              </a:rPr>
              <a:t>ß</a:t>
            </a:r>
            <a:r>
              <a:rPr lang="en-US" sz="2400" b="1" dirty="0"/>
              <a:t>:  </a:t>
            </a:r>
            <a:r>
              <a:rPr lang="en-US" sz="2400" dirty="0"/>
              <a:t>weighted measure of precision and recall</a:t>
            </a:r>
          </a:p>
          <a:p>
            <a:pPr lvl="1">
              <a:lnSpc>
                <a:spcPct val="80000"/>
              </a:lnSpc>
              <a:defRPr/>
            </a:pPr>
            <a:r>
              <a:rPr lang="en-US" sz="2400" dirty="0"/>
              <a:t>assigns </a:t>
            </a:r>
            <a:r>
              <a:rPr lang="en-US" sz="2400" dirty="0">
                <a:cs typeface="Tahoma" pitchFamily="34" charset="0"/>
              </a:rPr>
              <a:t>ß times as much weight to recall as to precision</a:t>
            </a:r>
            <a:endParaRPr lang="en-US" sz="2400" dirty="0"/>
          </a:p>
        </p:txBody>
      </p:sp>
      <p:sp>
        <p:nvSpPr>
          <p:cNvPr id="53255" name="Text Box 5">
            <a:extLst>
              <a:ext uri="{FF2B5EF4-FFF2-40B4-BE49-F238E27FC236}">
                <a16:creationId xmlns:a16="http://schemas.microsoft.com/office/drawing/2014/main" id="{7079B6E5-7DC0-4C63-A081-27D116DADC4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50925" y="5010150"/>
            <a:ext cx="18415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endParaRPr lang="en-US" altLang="en-US" sz="2800"/>
          </a:p>
        </p:txBody>
      </p:sp>
      <p:sp>
        <p:nvSpPr>
          <p:cNvPr id="53256" name="Slide Number Placeholder 7">
            <a:extLst>
              <a:ext uri="{FF2B5EF4-FFF2-40B4-BE49-F238E27FC236}">
                <a16:creationId xmlns:a16="http://schemas.microsoft.com/office/drawing/2014/main" id="{2C8C2A65-6D8B-4C75-9078-1BF23DE89DEA}"/>
              </a:ext>
            </a:extLst>
          </p:cNvPr>
          <p:cNvSpPr txBox="1">
            <a:spLocks noGrp="1"/>
          </p:cNvSpPr>
          <p:nvPr/>
        </p:nvSpPr>
        <p:spPr bwMode="auto">
          <a:xfrm>
            <a:off x="7239000" y="6477000"/>
            <a:ext cx="1905000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r" eaLnBrk="1" hangingPunct="1"/>
            <a:fld id="{C47D8CB7-6E7B-4164-840C-057A62C5B45E}" type="slidenum">
              <a:rPr lang="en-US" altLang="en-US" sz="1200" b="1">
                <a:latin typeface="Calibri" panose="020F0502020204030204" pitchFamily="34" charset="0"/>
              </a:rPr>
              <a:pPr algn="r" eaLnBrk="1" hangingPunct="1"/>
              <a:t>50</a:t>
            </a:fld>
            <a:endParaRPr lang="en-US" altLang="en-US" sz="1200" b="1">
              <a:latin typeface="Calibri" panose="020F0502020204030204" pitchFamily="34" charset="0"/>
            </a:endParaRPr>
          </a:p>
        </p:txBody>
      </p:sp>
      <p:pic>
        <p:nvPicPr>
          <p:cNvPr id="53257" name="Picture 8" descr="8Fbeta">
            <a:extLst>
              <a:ext uri="{FF2B5EF4-FFF2-40B4-BE49-F238E27FC236}">
                <a16:creationId xmlns:a16="http://schemas.microsoft.com/office/drawing/2014/main" id="{ABC8AACD-29EF-460A-9428-DC53F774615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14625" y="5791200"/>
            <a:ext cx="5791200" cy="962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>
    <p:zoom/>
  </p:transition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Rectangle 2">
            <a:extLst>
              <a:ext uri="{FF2B5EF4-FFF2-40B4-BE49-F238E27FC236}">
                <a16:creationId xmlns:a16="http://schemas.microsoft.com/office/drawing/2014/main" id="{C4C67A16-46A4-4A6C-B77D-210CEA88484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228600"/>
            <a:ext cx="9144000" cy="762000"/>
          </a:xfrm>
        </p:spPr>
        <p:txBody>
          <a:bodyPr/>
          <a:lstStyle/>
          <a:p>
            <a:r>
              <a:rPr lang="en-US" altLang="en-US"/>
              <a:t>Classifier Evaluation Metrics: Example</a:t>
            </a:r>
          </a:p>
        </p:txBody>
      </p:sp>
      <p:sp>
        <p:nvSpPr>
          <p:cNvPr id="54275" name="Rectangle 35">
            <a:extLst>
              <a:ext uri="{FF2B5EF4-FFF2-40B4-BE49-F238E27FC236}">
                <a16:creationId xmlns:a16="http://schemas.microsoft.com/office/drawing/2014/main" id="{B8E312CD-B79E-449B-BFA8-3BBF382C146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8600" y="4572000"/>
            <a:ext cx="8610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lnSpc>
                <a:spcPct val="90000"/>
              </a:lnSpc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endParaRPr lang="en-US" altLang="en-US" sz="2400"/>
          </a:p>
        </p:txBody>
      </p:sp>
      <p:sp>
        <p:nvSpPr>
          <p:cNvPr id="54276" name="Slide Number Placeholder 7">
            <a:extLst>
              <a:ext uri="{FF2B5EF4-FFF2-40B4-BE49-F238E27FC236}">
                <a16:creationId xmlns:a16="http://schemas.microsoft.com/office/drawing/2014/main" id="{4335FE97-F35F-47D7-B2DE-0A40B3FB49EA}"/>
              </a:ext>
            </a:extLst>
          </p:cNvPr>
          <p:cNvSpPr txBox="1">
            <a:spLocks noGrp="1"/>
          </p:cNvSpPr>
          <p:nvPr/>
        </p:nvSpPr>
        <p:spPr bwMode="auto">
          <a:xfrm>
            <a:off x="7239000" y="6477000"/>
            <a:ext cx="1905000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r" eaLnBrk="1" hangingPunct="1"/>
            <a:fld id="{92E699E0-ECB6-4F70-865A-F425C9C47655}" type="slidenum">
              <a:rPr lang="en-US" altLang="en-US" sz="1200" b="1">
                <a:latin typeface="Calibri" panose="020F0502020204030204" pitchFamily="34" charset="0"/>
              </a:rPr>
              <a:pPr algn="r" eaLnBrk="1" hangingPunct="1"/>
              <a:t>51</a:t>
            </a:fld>
            <a:endParaRPr lang="en-US" altLang="en-US" sz="1200" b="1">
              <a:latin typeface="Calibri" panose="020F0502020204030204" pitchFamily="34" charset="0"/>
            </a:endParaRPr>
          </a:p>
        </p:txBody>
      </p:sp>
      <p:sp>
        <p:nvSpPr>
          <p:cNvPr id="54277" name="Content Placeholder 1">
            <a:extLst>
              <a:ext uri="{FF2B5EF4-FFF2-40B4-BE49-F238E27FC236}">
                <a16:creationId xmlns:a16="http://schemas.microsoft.com/office/drawing/2014/main" id="{608F077A-B673-4B18-B949-DF50C443C75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228600" y="3429000"/>
            <a:ext cx="8458200" cy="609600"/>
          </a:xfrm>
        </p:spPr>
        <p:txBody>
          <a:bodyPr/>
          <a:lstStyle/>
          <a:p>
            <a:pPr marL="342900" lvl="1" indent="-342900">
              <a:buClr>
                <a:schemeClr val="folHlink"/>
              </a:buClr>
              <a:buSzPct val="60000"/>
            </a:pPr>
            <a:r>
              <a:rPr lang="en-US" altLang="en-US" sz="2400" i="1"/>
              <a:t>Precision</a:t>
            </a:r>
            <a:r>
              <a:rPr lang="en-US" altLang="en-US" sz="2400"/>
              <a:t> = 90/230 = 39.13%             </a:t>
            </a:r>
            <a:r>
              <a:rPr lang="en-US" altLang="en-US" sz="2400" i="1"/>
              <a:t>Recall</a:t>
            </a:r>
            <a:r>
              <a:rPr lang="en-US" altLang="en-US" sz="2400"/>
              <a:t> = 90/300 = 30.00%</a:t>
            </a:r>
          </a:p>
          <a:p>
            <a:endParaRPr lang="en-US" altLang="en-US"/>
          </a:p>
        </p:txBody>
      </p:sp>
      <p:graphicFrame>
        <p:nvGraphicFramePr>
          <p:cNvPr id="7" name="Group 54">
            <a:extLst>
              <a:ext uri="{FF2B5EF4-FFF2-40B4-BE49-F238E27FC236}">
                <a16:creationId xmlns:a16="http://schemas.microsoft.com/office/drawing/2014/main" id="{4B8209E3-9377-4818-BEDD-01DA09B11BD0}"/>
              </a:ext>
            </a:extLst>
          </p:cNvPr>
          <p:cNvGraphicFramePr>
            <a:graphicFrameLocks/>
          </p:cNvGraphicFramePr>
          <p:nvPr/>
        </p:nvGraphicFramePr>
        <p:xfrm>
          <a:off x="228600" y="1889125"/>
          <a:ext cx="8839200" cy="1463675"/>
        </p:xfrm>
        <a:graphic>
          <a:graphicData uri="http://schemas.openxmlformats.org/drawingml/2006/table">
            <a:tbl>
              <a:tblPr/>
              <a:tblGrid>
                <a:gridCol w="3200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95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810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8383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6591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</a:rPr>
                        <a:t>Actual Class\Predicted class</a:t>
                      </a:r>
                    </a:p>
                  </a:txBody>
                  <a:tcPr marT="45740" marB="4574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</a:rPr>
                        <a:t>cancer = yes</a:t>
                      </a:r>
                    </a:p>
                  </a:txBody>
                  <a:tcPr marT="45740" marB="4574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</a:rPr>
                        <a:t>cancer = no</a:t>
                      </a:r>
                    </a:p>
                  </a:txBody>
                  <a:tcPr marT="45740" marB="4574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</a:rPr>
                        <a:t>Total</a:t>
                      </a:r>
                    </a:p>
                  </a:txBody>
                  <a:tcPr marT="45740" marB="4574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</a:rPr>
                        <a:t>Recognition(%)</a:t>
                      </a:r>
                    </a:p>
                  </a:txBody>
                  <a:tcPr marT="45740" marB="4574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91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</a:rPr>
                        <a:t>cancer = yes</a:t>
                      </a:r>
                    </a:p>
                  </a:txBody>
                  <a:tcPr marT="45740" marB="4574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</a:rPr>
                        <a:t>90</a:t>
                      </a:r>
                    </a:p>
                  </a:txBody>
                  <a:tcPr marT="45740" marB="4574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</a:rPr>
                        <a:t>210</a:t>
                      </a:r>
                    </a:p>
                  </a:txBody>
                  <a:tcPr marT="45740" marB="4574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</a:rPr>
                        <a:t>300</a:t>
                      </a:r>
                    </a:p>
                  </a:txBody>
                  <a:tcPr marT="45740" marB="4574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</a:rPr>
                        <a:t>30.00 (</a:t>
                      </a:r>
                      <a:r>
                        <a:rPr kumimoji="0" lang="en-US" sz="18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</a:rPr>
                        <a:t>sensitivity</a:t>
                      </a:r>
                    </a:p>
                  </a:txBody>
                  <a:tcPr marT="45740" marB="4574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91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</a:rPr>
                        <a:t>cancer = no</a:t>
                      </a:r>
                    </a:p>
                  </a:txBody>
                  <a:tcPr marT="45740" marB="4574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</a:rPr>
                        <a:t>140</a:t>
                      </a:r>
                    </a:p>
                  </a:txBody>
                  <a:tcPr marT="45740" marB="4574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</a:rPr>
                        <a:t>9560</a:t>
                      </a:r>
                    </a:p>
                  </a:txBody>
                  <a:tcPr marT="45740" marB="4574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</a:rPr>
                        <a:t>9700</a:t>
                      </a:r>
                    </a:p>
                  </a:txBody>
                  <a:tcPr marT="45740" marB="4574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</a:rPr>
                        <a:t>98.56 (</a:t>
                      </a:r>
                      <a:r>
                        <a:rPr kumimoji="0" lang="en-US" sz="18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</a:rPr>
                        <a:t>specificity)</a:t>
                      </a:r>
                    </a:p>
                  </a:txBody>
                  <a:tcPr marT="45740" marB="4574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91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</a:rPr>
                        <a:t>Total</a:t>
                      </a:r>
                    </a:p>
                  </a:txBody>
                  <a:tcPr marT="45740" marB="4574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</a:rPr>
                        <a:t>230</a:t>
                      </a:r>
                    </a:p>
                  </a:txBody>
                  <a:tcPr marT="45740" marB="4574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</a:rPr>
                        <a:t>9770</a:t>
                      </a:r>
                    </a:p>
                  </a:txBody>
                  <a:tcPr marT="45740" marB="4574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</a:rPr>
                        <a:t>10000</a:t>
                      </a:r>
                    </a:p>
                  </a:txBody>
                  <a:tcPr marT="45740" marB="4574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</a:rPr>
                        <a:t>96.40 (</a:t>
                      </a:r>
                      <a:r>
                        <a:rPr kumimoji="0" lang="en-US" sz="18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</a:rPr>
                        <a:t>accuracy</a:t>
                      </a: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</a:rPr>
                        <a:t>)</a:t>
                      </a:r>
                      <a:endParaRPr kumimoji="0" lang="en-US" sz="1800" b="0" i="1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</a:endParaRPr>
                    </a:p>
                  </a:txBody>
                  <a:tcPr marT="45740" marB="4574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  <p:transition>
    <p:zoom/>
  </p:transition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Rectangle 2">
            <a:extLst>
              <a:ext uri="{FF2B5EF4-FFF2-40B4-BE49-F238E27FC236}">
                <a16:creationId xmlns:a16="http://schemas.microsoft.com/office/drawing/2014/main" id="{0F966EC5-5776-4F80-9A1C-74FC24753B9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533400" y="76200"/>
            <a:ext cx="8091488" cy="1066800"/>
          </a:xfrm>
          <a:noFill/>
        </p:spPr>
        <p:txBody>
          <a:bodyPr lIns="92075" tIns="46038" rIns="92075" bIns="46038"/>
          <a:lstStyle/>
          <a:p>
            <a:pPr eaLnBrk="1" hangingPunct="1"/>
            <a:r>
              <a:rPr lang="en-US" altLang="en-US"/>
              <a:t>Evaluating Classifier Accuracy:</a:t>
            </a:r>
            <a:br>
              <a:rPr lang="en-US" altLang="en-US"/>
            </a:br>
            <a:r>
              <a:rPr lang="en-US" altLang="en-US"/>
              <a:t>Holdout &amp; Cross-Validation Methods</a:t>
            </a:r>
            <a:endParaRPr lang="en-US" altLang="en-US" sz="4000"/>
          </a:p>
        </p:txBody>
      </p:sp>
      <p:sp>
        <p:nvSpPr>
          <p:cNvPr id="55299" name="Rectangle 3">
            <a:extLst>
              <a:ext uri="{FF2B5EF4-FFF2-40B4-BE49-F238E27FC236}">
                <a16:creationId xmlns:a16="http://schemas.microsoft.com/office/drawing/2014/main" id="{6E1CEC47-347A-4DD8-84F7-649C2053B8C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52400" y="1371600"/>
            <a:ext cx="8763000" cy="5273675"/>
          </a:xfrm>
          <a:noFill/>
        </p:spPr>
        <p:txBody>
          <a:bodyPr lIns="92075" tIns="46038" rIns="92075" bIns="46038"/>
          <a:lstStyle/>
          <a:p>
            <a:pPr eaLnBrk="1" hangingPunct="1">
              <a:lnSpc>
                <a:spcPct val="80000"/>
              </a:lnSpc>
            </a:pPr>
            <a:r>
              <a:rPr lang="en-US" altLang="en-US" sz="2400" b="1"/>
              <a:t>Holdout method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en-US" sz="2400"/>
              <a:t>Given data is randomly partitioned into two independent sets</a:t>
            </a:r>
          </a:p>
          <a:p>
            <a:pPr lvl="2" eaLnBrk="1" hangingPunct="1">
              <a:lnSpc>
                <a:spcPct val="80000"/>
              </a:lnSpc>
            </a:pPr>
            <a:r>
              <a:rPr lang="en-US" altLang="en-US"/>
              <a:t>Training set (e.g., 2/3) for model construction</a:t>
            </a:r>
          </a:p>
          <a:p>
            <a:pPr lvl="2" eaLnBrk="1" hangingPunct="1">
              <a:lnSpc>
                <a:spcPct val="80000"/>
              </a:lnSpc>
            </a:pPr>
            <a:r>
              <a:rPr lang="en-US" altLang="en-US"/>
              <a:t>Test set (e.g., 1/3) for accuracy estimation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en-US" sz="2400" u="sng"/>
              <a:t>Random sampling</a:t>
            </a:r>
            <a:r>
              <a:rPr lang="en-US" altLang="en-US" sz="2400"/>
              <a:t>: a variation of holdout</a:t>
            </a:r>
          </a:p>
          <a:p>
            <a:pPr lvl="2" eaLnBrk="1" hangingPunct="1">
              <a:lnSpc>
                <a:spcPct val="80000"/>
              </a:lnSpc>
            </a:pPr>
            <a:r>
              <a:rPr lang="en-US" altLang="en-US"/>
              <a:t>Repeat holdout k times, accuracy = avg. of the accuracies obtained</a:t>
            </a:r>
          </a:p>
          <a:p>
            <a:pPr eaLnBrk="1" hangingPunct="1">
              <a:lnSpc>
                <a:spcPct val="80000"/>
              </a:lnSpc>
            </a:pPr>
            <a:r>
              <a:rPr lang="en-US" altLang="en-US" sz="2400" b="1"/>
              <a:t>Cross-validation</a:t>
            </a:r>
            <a:r>
              <a:rPr lang="en-US" altLang="en-US" sz="2400"/>
              <a:t> (</a:t>
            </a:r>
            <a:r>
              <a:rPr lang="en-US" altLang="en-US" sz="2400" i="1"/>
              <a:t>k</a:t>
            </a:r>
            <a:r>
              <a:rPr lang="en-US" altLang="en-US" sz="2400"/>
              <a:t>-fold, where k = 10 is most popular)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en-US" sz="2400"/>
              <a:t>Randomly partition the data into </a:t>
            </a:r>
            <a:r>
              <a:rPr lang="en-US" altLang="en-US" sz="2400" i="1"/>
              <a:t>k</a:t>
            </a:r>
            <a:r>
              <a:rPr lang="en-US" altLang="en-US" sz="2400"/>
              <a:t> </a:t>
            </a:r>
            <a:r>
              <a:rPr lang="en-US" altLang="en-US" sz="2400" i="1"/>
              <a:t>mutually exclusive</a:t>
            </a:r>
            <a:r>
              <a:rPr lang="en-US" altLang="en-US" sz="2400"/>
              <a:t> subsets, each approximately equal size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en-US" sz="2400"/>
              <a:t>At </a:t>
            </a:r>
            <a:r>
              <a:rPr lang="en-US" altLang="en-US" sz="2400" i="1"/>
              <a:t>i</a:t>
            </a:r>
            <a:r>
              <a:rPr lang="en-US" altLang="en-US" sz="2400"/>
              <a:t>-th iteration, use D</a:t>
            </a:r>
            <a:r>
              <a:rPr lang="en-US" altLang="en-US" sz="2400" baseline="-25000"/>
              <a:t>i </a:t>
            </a:r>
            <a:r>
              <a:rPr lang="en-US" altLang="en-US" sz="2400"/>
              <a:t>as test set and others as training set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en-US" sz="2400" u="sng"/>
              <a:t>Leave-one-out</a:t>
            </a:r>
            <a:r>
              <a:rPr lang="en-US" altLang="en-US" sz="2400"/>
              <a:t>: </a:t>
            </a:r>
            <a:r>
              <a:rPr lang="en-US" altLang="en-US" sz="2400" i="1"/>
              <a:t>k</a:t>
            </a:r>
            <a:r>
              <a:rPr lang="en-US" altLang="en-US" sz="2400"/>
              <a:t> folds where </a:t>
            </a:r>
            <a:r>
              <a:rPr lang="en-US" altLang="en-US" sz="2400" i="1"/>
              <a:t>k</a:t>
            </a:r>
            <a:r>
              <a:rPr lang="en-US" altLang="en-US" sz="2400"/>
              <a:t> = # of tuples, for small sized data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en-US" sz="2400" b="1" u="sng"/>
              <a:t>*Stratified cross-validation*</a:t>
            </a:r>
            <a:r>
              <a:rPr lang="en-US" altLang="en-US" sz="2400"/>
              <a:t>: folds are stratified so that class dist. in each fold is approx. the same as that in the initial data</a:t>
            </a:r>
          </a:p>
        </p:txBody>
      </p:sp>
      <p:sp>
        <p:nvSpPr>
          <p:cNvPr id="55300" name="Slide Number Placeholder 7">
            <a:extLst>
              <a:ext uri="{FF2B5EF4-FFF2-40B4-BE49-F238E27FC236}">
                <a16:creationId xmlns:a16="http://schemas.microsoft.com/office/drawing/2014/main" id="{7B72DA51-E751-4E39-A825-CD06DCCA89C6}"/>
              </a:ext>
            </a:extLst>
          </p:cNvPr>
          <p:cNvSpPr txBox="1">
            <a:spLocks noGrp="1"/>
          </p:cNvSpPr>
          <p:nvPr/>
        </p:nvSpPr>
        <p:spPr bwMode="auto">
          <a:xfrm>
            <a:off x="7239000" y="6477000"/>
            <a:ext cx="1905000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r" eaLnBrk="1" hangingPunct="1"/>
            <a:fld id="{BA9DAAAA-86A6-483F-8674-1AF8F831FC07}" type="slidenum">
              <a:rPr lang="en-US" altLang="en-US" sz="1200" b="1">
                <a:latin typeface="Calibri" panose="020F0502020204030204" pitchFamily="34" charset="0"/>
              </a:rPr>
              <a:pPr algn="r" eaLnBrk="1" hangingPunct="1"/>
              <a:t>52</a:t>
            </a:fld>
            <a:endParaRPr lang="en-US" altLang="en-US" sz="1200" b="1">
              <a:latin typeface="Calibri" panose="020F0502020204030204" pitchFamily="34" charset="0"/>
            </a:endParaRPr>
          </a:p>
        </p:txBody>
      </p:sp>
    </p:spTree>
  </p:cSld>
  <p:clrMapOvr>
    <a:masterClrMapping/>
  </p:clrMapOvr>
  <p:transition>
    <p:zoom/>
  </p:transition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2">
            <a:extLst>
              <a:ext uri="{FF2B5EF4-FFF2-40B4-BE49-F238E27FC236}">
                <a16:creationId xmlns:a16="http://schemas.microsoft.com/office/drawing/2014/main" id="{2F0C7AC4-49E6-480D-9B6B-0A2B80A1999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228600"/>
            <a:ext cx="9144000" cy="685800"/>
          </a:xfrm>
          <a:noFill/>
        </p:spPr>
        <p:txBody>
          <a:bodyPr lIns="92075" tIns="46038" rIns="92075" bIns="46038"/>
          <a:lstStyle/>
          <a:p>
            <a:pPr eaLnBrk="1" hangingPunct="1"/>
            <a:r>
              <a:rPr lang="en-US" altLang="en-US"/>
              <a:t>Evaluating Classifier Accuracy: Bootstrap</a:t>
            </a:r>
            <a:endParaRPr lang="en-US" altLang="en-US" sz="4000"/>
          </a:p>
        </p:txBody>
      </p:sp>
      <p:sp>
        <p:nvSpPr>
          <p:cNvPr id="56323" name="Rectangle 3">
            <a:extLst>
              <a:ext uri="{FF2B5EF4-FFF2-40B4-BE49-F238E27FC236}">
                <a16:creationId xmlns:a16="http://schemas.microsoft.com/office/drawing/2014/main" id="{E4A0473C-F8AA-416D-B7AD-951FB87B9980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304800" y="1371600"/>
            <a:ext cx="8610600" cy="5105400"/>
          </a:xfrm>
          <a:noFill/>
        </p:spPr>
        <p:txBody>
          <a:bodyPr lIns="92075" tIns="46038" rIns="92075" bIns="46038"/>
          <a:lstStyle/>
          <a:p>
            <a:pPr eaLnBrk="1" hangingPunct="1">
              <a:lnSpc>
                <a:spcPct val="110000"/>
              </a:lnSpc>
            </a:pPr>
            <a:r>
              <a:rPr lang="en-US" altLang="en-US" sz="2000" b="1"/>
              <a:t>Bootstrap</a:t>
            </a:r>
          </a:p>
          <a:p>
            <a:pPr lvl="1" eaLnBrk="1" hangingPunct="1">
              <a:lnSpc>
                <a:spcPct val="110000"/>
              </a:lnSpc>
            </a:pPr>
            <a:r>
              <a:rPr lang="en-US" altLang="en-US" sz="2000"/>
              <a:t>Works well with small data sets</a:t>
            </a:r>
          </a:p>
          <a:p>
            <a:pPr lvl="1" eaLnBrk="1" hangingPunct="1">
              <a:lnSpc>
                <a:spcPct val="110000"/>
              </a:lnSpc>
            </a:pPr>
            <a:r>
              <a:rPr lang="en-US" altLang="en-US" sz="2000"/>
              <a:t>Samples the given training tuples uniformly </a:t>
            </a:r>
            <a:r>
              <a:rPr lang="en-US" altLang="en-US" sz="2000" i="1"/>
              <a:t>with replacement</a:t>
            </a:r>
          </a:p>
          <a:p>
            <a:pPr lvl="2" eaLnBrk="1" hangingPunct="1">
              <a:lnSpc>
                <a:spcPct val="110000"/>
              </a:lnSpc>
            </a:pPr>
            <a:r>
              <a:rPr lang="en-US" altLang="en-US" sz="2000"/>
              <a:t>i.e., each time a tuple is selected, it is equally likely to be selected again and re-added to the training set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en-US" sz="2000"/>
              <a:t>Several bootstrap methods, and a common one is </a:t>
            </a:r>
            <a:r>
              <a:rPr lang="en-US" altLang="en-US" sz="2000" b="1"/>
              <a:t>.632 boostrap</a:t>
            </a:r>
          </a:p>
          <a:p>
            <a:pPr lvl="1" eaLnBrk="1" hangingPunct="1">
              <a:lnSpc>
                <a:spcPct val="110000"/>
              </a:lnSpc>
            </a:pPr>
            <a:r>
              <a:rPr lang="en-US" altLang="en-US" sz="2000"/>
              <a:t>A data set with </a:t>
            </a:r>
            <a:r>
              <a:rPr lang="en-US" altLang="en-US" sz="2000" i="1"/>
              <a:t>d</a:t>
            </a:r>
            <a:r>
              <a:rPr lang="en-US" altLang="en-US" sz="2000"/>
              <a:t> tuples is sampled </a:t>
            </a:r>
            <a:r>
              <a:rPr lang="en-US" altLang="en-US" sz="2000" i="1"/>
              <a:t>d</a:t>
            </a:r>
            <a:r>
              <a:rPr lang="en-US" altLang="en-US" sz="2000"/>
              <a:t> times, with replacement, resulting in a training set of </a:t>
            </a:r>
            <a:r>
              <a:rPr lang="en-US" altLang="en-US" sz="2000" i="1"/>
              <a:t>d</a:t>
            </a:r>
            <a:r>
              <a:rPr lang="en-US" altLang="en-US" sz="2000"/>
              <a:t> samples.  The data tuples that did not make it into the training set end up forming the test set.  About 63.2% of the original data end up in the bootstrap, and the remaining 36.8% form the test set (since (1 – 1/d)</a:t>
            </a:r>
            <a:r>
              <a:rPr lang="en-US" altLang="en-US" sz="2000" baseline="30000"/>
              <a:t>d</a:t>
            </a:r>
            <a:r>
              <a:rPr lang="en-US" altLang="en-US" sz="2000"/>
              <a:t> ≈ e</a:t>
            </a:r>
            <a:r>
              <a:rPr lang="en-US" altLang="en-US" sz="2000" baseline="30000"/>
              <a:t>-1</a:t>
            </a:r>
            <a:r>
              <a:rPr lang="en-US" altLang="en-US" sz="2000"/>
              <a:t> = 0.368)</a:t>
            </a:r>
          </a:p>
          <a:p>
            <a:pPr lvl="1" eaLnBrk="1" hangingPunct="1">
              <a:lnSpc>
                <a:spcPct val="110000"/>
              </a:lnSpc>
            </a:pPr>
            <a:r>
              <a:rPr lang="en-US" altLang="en-US" sz="2000"/>
              <a:t>Repeat the sampling procedure </a:t>
            </a:r>
            <a:r>
              <a:rPr lang="en-US" altLang="en-US" sz="2000" i="1"/>
              <a:t>k</a:t>
            </a:r>
            <a:r>
              <a:rPr lang="en-US" altLang="en-US" sz="2000"/>
              <a:t> times, overall accuracy of the model:</a:t>
            </a:r>
          </a:p>
          <a:p>
            <a:pPr lvl="1" eaLnBrk="1" hangingPunct="1">
              <a:lnSpc>
                <a:spcPct val="110000"/>
              </a:lnSpc>
            </a:pPr>
            <a:endParaRPr lang="en-US" altLang="en-US" sz="2000"/>
          </a:p>
        </p:txBody>
      </p:sp>
      <p:sp>
        <p:nvSpPr>
          <p:cNvPr id="56324" name="Slide Number Placeholder 7">
            <a:extLst>
              <a:ext uri="{FF2B5EF4-FFF2-40B4-BE49-F238E27FC236}">
                <a16:creationId xmlns:a16="http://schemas.microsoft.com/office/drawing/2014/main" id="{6AE5FC5B-364D-45D5-9824-55794509C710}"/>
              </a:ext>
            </a:extLst>
          </p:cNvPr>
          <p:cNvSpPr txBox="1">
            <a:spLocks noGrp="1"/>
          </p:cNvSpPr>
          <p:nvPr/>
        </p:nvSpPr>
        <p:spPr bwMode="auto">
          <a:xfrm>
            <a:off x="7239000" y="6477000"/>
            <a:ext cx="1905000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r" eaLnBrk="1" hangingPunct="1"/>
            <a:fld id="{2B6E83B9-BDBD-4E4D-989E-70FEA7F3D46C}" type="slidenum">
              <a:rPr lang="en-US" altLang="en-US" sz="1200" b="1">
                <a:latin typeface="Calibri" panose="020F0502020204030204" pitchFamily="34" charset="0"/>
              </a:rPr>
              <a:pPr algn="r" eaLnBrk="1" hangingPunct="1"/>
              <a:t>53</a:t>
            </a:fld>
            <a:endParaRPr lang="en-US" altLang="en-US" sz="1200" b="1">
              <a:latin typeface="Calibri" panose="020F0502020204030204" pitchFamily="34" charset="0"/>
            </a:endParaRPr>
          </a:p>
        </p:txBody>
      </p:sp>
      <p:pic>
        <p:nvPicPr>
          <p:cNvPr id="56325" name="Picture 6">
            <a:extLst>
              <a:ext uri="{FF2B5EF4-FFF2-40B4-BE49-F238E27FC236}">
                <a16:creationId xmlns:a16="http://schemas.microsoft.com/office/drawing/2014/main" id="{40818AA9-CDD3-4A02-97F1-2C83C07F1F7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0" y="5867400"/>
            <a:ext cx="7162800" cy="706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p:transition>
    <p:zoom/>
  </p:transition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Rectangle 2">
            <a:extLst>
              <a:ext uri="{FF2B5EF4-FFF2-40B4-BE49-F238E27FC236}">
                <a16:creationId xmlns:a16="http://schemas.microsoft.com/office/drawing/2014/main" id="{0DCB2B61-C949-44EA-8E07-3D54313C019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1143000"/>
          </a:xfrm>
        </p:spPr>
        <p:txBody>
          <a:bodyPr/>
          <a:lstStyle/>
          <a:p>
            <a:r>
              <a:rPr lang="en-US" altLang="en-US"/>
              <a:t>Estimating Confidence Intervals:</a:t>
            </a:r>
            <a:br>
              <a:rPr lang="en-US" altLang="en-US"/>
            </a:br>
            <a:r>
              <a:rPr lang="en-US" altLang="en-US"/>
              <a:t>Classifier Models M</a:t>
            </a:r>
            <a:r>
              <a:rPr lang="en-US" altLang="en-US" baseline="-25000"/>
              <a:t>1</a:t>
            </a:r>
            <a:r>
              <a:rPr lang="en-US" altLang="en-US"/>
              <a:t> vs. M</a:t>
            </a:r>
            <a:r>
              <a:rPr lang="en-US" altLang="en-US" baseline="-25000"/>
              <a:t>2</a:t>
            </a:r>
          </a:p>
        </p:txBody>
      </p:sp>
      <p:sp>
        <p:nvSpPr>
          <p:cNvPr id="57347" name="Rectangle 3">
            <a:extLst>
              <a:ext uri="{FF2B5EF4-FFF2-40B4-BE49-F238E27FC236}">
                <a16:creationId xmlns:a16="http://schemas.microsoft.com/office/drawing/2014/main" id="{4BA0359A-D2E3-401C-B90E-081D39B4CA1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en-US" altLang="en-US" sz="2400"/>
              <a:t>Suppose we have 2 classifiers, M</a:t>
            </a:r>
            <a:r>
              <a:rPr lang="en-US" altLang="en-US" sz="2400" baseline="-25000"/>
              <a:t>1</a:t>
            </a:r>
            <a:r>
              <a:rPr lang="en-US" altLang="en-US" sz="2400"/>
              <a:t> and M</a:t>
            </a:r>
            <a:r>
              <a:rPr lang="en-US" altLang="en-US" sz="2400" baseline="-25000"/>
              <a:t>2</a:t>
            </a:r>
            <a:r>
              <a:rPr lang="en-US" altLang="en-US" sz="2400"/>
              <a:t>, which one is better?</a:t>
            </a:r>
          </a:p>
          <a:p>
            <a:pPr>
              <a:lnSpc>
                <a:spcPct val="150000"/>
              </a:lnSpc>
            </a:pPr>
            <a:r>
              <a:rPr lang="en-US" altLang="en-US" sz="2400"/>
              <a:t>Use 10-fold cross-validation to obtain                     and</a:t>
            </a:r>
          </a:p>
          <a:p>
            <a:pPr>
              <a:lnSpc>
                <a:spcPct val="150000"/>
              </a:lnSpc>
            </a:pPr>
            <a:r>
              <a:rPr lang="en-US" altLang="en-US" sz="2400"/>
              <a:t>These mean error rates are just </a:t>
            </a:r>
            <a:r>
              <a:rPr lang="en-US" altLang="en-US" sz="2400" i="1"/>
              <a:t>estimates</a:t>
            </a:r>
            <a:r>
              <a:rPr lang="en-US" altLang="en-US" sz="2400"/>
              <a:t> of error on the true population of </a:t>
            </a:r>
            <a:r>
              <a:rPr lang="en-US" altLang="en-US" sz="2400" i="1"/>
              <a:t>future</a:t>
            </a:r>
            <a:r>
              <a:rPr lang="en-US" altLang="en-US" sz="2400"/>
              <a:t> data cases</a:t>
            </a:r>
          </a:p>
          <a:p>
            <a:pPr>
              <a:lnSpc>
                <a:spcPct val="150000"/>
              </a:lnSpc>
            </a:pPr>
            <a:r>
              <a:rPr lang="en-US" altLang="en-US" sz="2400"/>
              <a:t>What if the difference between the 2 error rates is just attributed to </a:t>
            </a:r>
            <a:r>
              <a:rPr lang="en-US" altLang="en-US" sz="2400" i="1"/>
              <a:t>chance</a:t>
            </a:r>
            <a:r>
              <a:rPr lang="en-US" altLang="en-US" sz="2400"/>
              <a:t>?</a:t>
            </a:r>
          </a:p>
          <a:p>
            <a:pPr lvl="1">
              <a:lnSpc>
                <a:spcPct val="150000"/>
              </a:lnSpc>
            </a:pPr>
            <a:r>
              <a:rPr lang="en-US" altLang="en-US" sz="2400"/>
              <a:t>Use a </a:t>
            </a:r>
            <a:r>
              <a:rPr lang="en-US" altLang="en-US" sz="2400" b="1"/>
              <a:t>test of statistical significance</a:t>
            </a:r>
          </a:p>
          <a:p>
            <a:pPr lvl="1">
              <a:lnSpc>
                <a:spcPct val="150000"/>
              </a:lnSpc>
            </a:pPr>
            <a:r>
              <a:rPr lang="en-US" altLang="en-US" sz="2400"/>
              <a:t>Obtain </a:t>
            </a:r>
            <a:r>
              <a:rPr lang="en-US" altLang="en-US" sz="2400" b="1"/>
              <a:t>confidence limits</a:t>
            </a:r>
            <a:r>
              <a:rPr lang="en-US" altLang="en-US" sz="2400"/>
              <a:t> for our error estimates</a:t>
            </a:r>
          </a:p>
        </p:txBody>
      </p:sp>
      <p:pic>
        <p:nvPicPr>
          <p:cNvPr id="57348" name="Picture 5" descr="8mean-err-m2">
            <a:extLst>
              <a:ext uri="{FF2B5EF4-FFF2-40B4-BE49-F238E27FC236}">
                <a16:creationId xmlns:a16="http://schemas.microsoft.com/office/drawing/2014/main" id="{DA08B16B-C94A-4AC5-BCE0-42E36959DCD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91400" y="2209800"/>
            <a:ext cx="1295400" cy="371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7349" name="Picture 6" descr="8mean-err-m1">
            <a:extLst>
              <a:ext uri="{FF2B5EF4-FFF2-40B4-BE49-F238E27FC236}">
                <a16:creationId xmlns:a16="http://schemas.microsoft.com/office/drawing/2014/main" id="{A75C0FF4-6A63-45FA-80E3-54DEA93E94C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10200" y="2133600"/>
            <a:ext cx="1295400" cy="474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7350" name="Slide Number Placeholder 7">
            <a:extLst>
              <a:ext uri="{FF2B5EF4-FFF2-40B4-BE49-F238E27FC236}">
                <a16:creationId xmlns:a16="http://schemas.microsoft.com/office/drawing/2014/main" id="{21A63DCE-580B-45DE-A1D7-A2477E0589A0}"/>
              </a:ext>
            </a:extLst>
          </p:cNvPr>
          <p:cNvSpPr txBox="1">
            <a:spLocks noGrp="1"/>
          </p:cNvSpPr>
          <p:nvPr/>
        </p:nvSpPr>
        <p:spPr bwMode="auto">
          <a:xfrm>
            <a:off x="7239000" y="6477000"/>
            <a:ext cx="1905000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r" eaLnBrk="1" hangingPunct="1"/>
            <a:fld id="{E1885ACE-6388-4E4E-883C-5E88F8269C91}" type="slidenum">
              <a:rPr lang="en-US" altLang="en-US" sz="1200" b="1">
                <a:latin typeface="Calibri" panose="020F0502020204030204" pitchFamily="34" charset="0"/>
              </a:rPr>
              <a:pPr algn="r" eaLnBrk="1" hangingPunct="1"/>
              <a:t>54</a:t>
            </a:fld>
            <a:endParaRPr lang="en-US" altLang="en-US" sz="1200" b="1">
              <a:latin typeface="Calibri" panose="020F0502020204030204" pitchFamily="34" charset="0"/>
            </a:endParaRPr>
          </a:p>
        </p:txBody>
      </p:sp>
    </p:spTree>
  </p:cSld>
  <p:clrMapOvr>
    <a:masterClrMapping/>
  </p:clrMapOvr>
  <p:transition>
    <p:zoom/>
  </p:transition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2">
            <a:extLst>
              <a:ext uri="{FF2B5EF4-FFF2-40B4-BE49-F238E27FC236}">
                <a16:creationId xmlns:a16="http://schemas.microsoft.com/office/drawing/2014/main" id="{D48C1F63-027F-4FB5-B6EE-4E964CD2BFA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1066800"/>
          </a:xfrm>
        </p:spPr>
        <p:txBody>
          <a:bodyPr/>
          <a:lstStyle/>
          <a:p>
            <a:r>
              <a:rPr lang="en-US" altLang="en-US"/>
              <a:t>Estimating Confidence Intervals:</a:t>
            </a:r>
            <a:br>
              <a:rPr lang="en-US" altLang="en-US"/>
            </a:br>
            <a:r>
              <a:rPr lang="en-US" altLang="en-US"/>
              <a:t>Null Hypothesis</a:t>
            </a:r>
          </a:p>
        </p:txBody>
      </p:sp>
      <p:sp>
        <p:nvSpPr>
          <p:cNvPr id="58371" name="Rectangle 3">
            <a:extLst>
              <a:ext uri="{FF2B5EF4-FFF2-40B4-BE49-F238E27FC236}">
                <a16:creationId xmlns:a16="http://schemas.microsoft.com/office/drawing/2014/main" id="{C40DD602-F90D-48E6-9343-63E9665AB15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130000"/>
              </a:lnSpc>
            </a:pPr>
            <a:r>
              <a:rPr lang="en-US" altLang="en-US" sz="2400"/>
              <a:t>Perform 10-fold cross-validation</a:t>
            </a:r>
          </a:p>
          <a:p>
            <a:pPr>
              <a:lnSpc>
                <a:spcPct val="130000"/>
              </a:lnSpc>
            </a:pPr>
            <a:r>
              <a:rPr lang="en-US" altLang="en-US" sz="2400"/>
              <a:t>Assume samples follow a </a:t>
            </a:r>
            <a:r>
              <a:rPr lang="en-US" altLang="en-US" sz="2400" b="1"/>
              <a:t>t distribution</a:t>
            </a:r>
            <a:r>
              <a:rPr lang="en-US" altLang="en-US" sz="2400"/>
              <a:t> with </a:t>
            </a:r>
            <a:r>
              <a:rPr lang="en-US" altLang="en-US" sz="2400" i="1"/>
              <a:t>k–1</a:t>
            </a:r>
            <a:r>
              <a:rPr lang="en-US" altLang="en-US" sz="2400"/>
              <a:t> </a:t>
            </a:r>
            <a:r>
              <a:rPr lang="en-US" altLang="en-US" sz="2400" b="1"/>
              <a:t>degrees of freedom </a:t>
            </a:r>
            <a:r>
              <a:rPr lang="en-US" altLang="en-US" sz="2400"/>
              <a:t>(here, </a:t>
            </a:r>
            <a:r>
              <a:rPr lang="en-US" altLang="en-US" sz="2400" i="1"/>
              <a:t>k=10</a:t>
            </a:r>
            <a:r>
              <a:rPr lang="en-US" altLang="en-US" sz="2400"/>
              <a:t>)</a:t>
            </a:r>
          </a:p>
          <a:p>
            <a:pPr>
              <a:lnSpc>
                <a:spcPct val="130000"/>
              </a:lnSpc>
            </a:pPr>
            <a:r>
              <a:rPr lang="en-US" altLang="en-US" sz="2400"/>
              <a:t>Use </a:t>
            </a:r>
            <a:r>
              <a:rPr lang="en-US" altLang="en-US" sz="2400" b="1"/>
              <a:t>t-test</a:t>
            </a:r>
            <a:r>
              <a:rPr lang="en-US" altLang="en-US" sz="2400"/>
              <a:t> (or </a:t>
            </a:r>
            <a:r>
              <a:rPr lang="en-US" altLang="en-US" sz="2400" b="1"/>
              <a:t>Student’s t-test</a:t>
            </a:r>
            <a:r>
              <a:rPr lang="en-US" altLang="en-US" sz="2400"/>
              <a:t>)</a:t>
            </a:r>
            <a:endParaRPr lang="en-US" altLang="en-US" sz="2400" b="1"/>
          </a:p>
          <a:p>
            <a:pPr>
              <a:lnSpc>
                <a:spcPct val="130000"/>
              </a:lnSpc>
            </a:pPr>
            <a:r>
              <a:rPr lang="en-US" altLang="en-US" sz="2400" b="1"/>
              <a:t>Null Hypothesis</a:t>
            </a:r>
            <a:r>
              <a:rPr lang="en-US" altLang="en-US" sz="2400"/>
              <a:t>: M</a:t>
            </a:r>
            <a:r>
              <a:rPr lang="en-US" altLang="en-US" sz="2400" baseline="-25000"/>
              <a:t>1</a:t>
            </a:r>
            <a:r>
              <a:rPr lang="en-US" altLang="en-US" sz="2400"/>
              <a:t> &amp; M</a:t>
            </a:r>
            <a:r>
              <a:rPr lang="en-US" altLang="en-US" sz="2400" baseline="-25000"/>
              <a:t>2</a:t>
            </a:r>
            <a:r>
              <a:rPr lang="en-US" altLang="en-US" sz="2400"/>
              <a:t> are the same</a:t>
            </a:r>
          </a:p>
          <a:p>
            <a:pPr>
              <a:lnSpc>
                <a:spcPct val="130000"/>
              </a:lnSpc>
            </a:pPr>
            <a:r>
              <a:rPr lang="en-US" altLang="en-US" sz="2400"/>
              <a:t>If we can </a:t>
            </a:r>
            <a:r>
              <a:rPr lang="en-US" altLang="en-US" sz="2400" b="1"/>
              <a:t>reject</a:t>
            </a:r>
            <a:r>
              <a:rPr lang="en-US" altLang="en-US" sz="2400"/>
              <a:t> null hypothesis, then </a:t>
            </a:r>
          </a:p>
          <a:p>
            <a:pPr lvl="1">
              <a:lnSpc>
                <a:spcPct val="130000"/>
              </a:lnSpc>
            </a:pPr>
            <a:r>
              <a:rPr lang="en-US" altLang="en-US" sz="2400"/>
              <a:t>we conclude that the difference between M</a:t>
            </a:r>
            <a:r>
              <a:rPr lang="en-US" altLang="en-US" sz="2400" baseline="-25000"/>
              <a:t>1</a:t>
            </a:r>
            <a:r>
              <a:rPr lang="en-US" altLang="en-US" sz="2400"/>
              <a:t> &amp; M</a:t>
            </a:r>
            <a:r>
              <a:rPr lang="en-US" altLang="en-US" sz="2400" baseline="-25000"/>
              <a:t>2</a:t>
            </a:r>
            <a:r>
              <a:rPr lang="en-US" altLang="en-US" sz="2400"/>
              <a:t> is </a:t>
            </a:r>
            <a:r>
              <a:rPr lang="en-US" altLang="en-US" sz="2400" b="1"/>
              <a:t>statistically significant</a:t>
            </a:r>
          </a:p>
          <a:p>
            <a:pPr lvl="1">
              <a:lnSpc>
                <a:spcPct val="130000"/>
              </a:lnSpc>
            </a:pPr>
            <a:r>
              <a:rPr lang="en-US" altLang="en-US" sz="2400"/>
              <a:t>Chose model with lower error rate</a:t>
            </a:r>
          </a:p>
        </p:txBody>
      </p:sp>
      <p:sp>
        <p:nvSpPr>
          <p:cNvPr id="58372" name="Slide Number Placeholder 7">
            <a:extLst>
              <a:ext uri="{FF2B5EF4-FFF2-40B4-BE49-F238E27FC236}">
                <a16:creationId xmlns:a16="http://schemas.microsoft.com/office/drawing/2014/main" id="{CB29EA08-7C07-4FD4-B85D-D332D6BCF28B}"/>
              </a:ext>
            </a:extLst>
          </p:cNvPr>
          <p:cNvSpPr txBox="1">
            <a:spLocks noGrp="1"/>
          </p:cNvSpPr>
          <p:nvPr/>
        </p:nvSpPr>
        <p:spPr bwMode="auto">
          <a:xfrm>
            <a:off x="7239000" y="6477000"/>
            <a:ext cx="1905000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r" eaLnBrk="1" hangingPunct="1"/>
            <a:fld id="{630536F4-E543-47E2-A9B7-60B504E91B93}" type="slidenum">
              <a:rPr lang="en-US" altLang="en-US" sz="1200" b="1">
                <a:latin typeface="Calibri" panose="020F0502020204030204" pitchFamily="34" charset="0"/>
              </a:rPr>
              <a:pPr algn="r" eaLnBrk="1" hangingPunct="1"/>
              <a:t>55</a:t>
            </a:fld>
            <a:endParaRPr lang="en-US" altLang="en-US" sz="1200" b="1">
              <a:latin typeface="Calibri" panose="020F0502020204030204" pitchFamily="34" charset="0"/>
            </a:endParaRPr>
          </a:p>
        </p:txBody>
      </p:sp>
    </p:spTree>
  </p:cSld>
  <p:clrMapOvr>
    <a:masterClrMapping/>
  </p:clrMapOvr>
  <p:transition>
    <p:zoom/>
  </p:transition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Rectangle 2">
            <a:extLst>
              <a:ext uri="{FF2B5EF4-FFF2-40B4-BE49-F238E27FC236}">
                <a16:creationId xmlns:a16="http://schemas.microsoft.com/office/drawing/2014/main" id="{21E74026-F357-401A-AD0D-6B7616373FF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304800"/>
            <a:ext cx="9144000" cy="533400"/>
          </a:xfrm>
        </p:spPr>
        <p:txBody>
          <a:bodyPr/>
          <a:lstStyle/>
          <a:p>
            <a:r>
              <a:rPr lang="en-US" altLang="en-US" sz="3200"/>
              <a:t>Estimating Confidence Intervals: t-test</a:t>
            </a:r>
          </a:p>
        </p:txBody>
      </p:sp>
      <p:sp>
        <p:nvSpPr>
          <p:cNvPr id="59395" name="Rectangle 3">
            <a:extLst>
              <a:ext uri="{FF2B5EF4-FFF2-40B4-BE49-F238E27FC236}">
                <a16:creationId xmlns:a16="http://schemas.microsoft.com/office/drawing/2014/main" id="{089E4D67-3359-4375-A61D-AE061EA1B1A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/>
              <a:t>If only 1 test set available: </a:t>
            </a:r>
            <a:r>
              <a:rPr lang="en-US" altLang="en-US" b="1"/>
              <a:t>pairwise comparison</a:t>
            </a:r>
          </a:p>
          <a:p>
            <a:pPr lvl="1"/>
            <a:r>
              <a:rPr lang="en-US" altLang="en-US" sz="2400"/>
              <a:t>For i</a:t>
            </a:r>
            <a:r>
              <a:rPr lang="en-US" altLang="en-US" sz="2400" baseline="30000"/>
              <a:t>th</a:t>
            </a:r>
            <a:r>
              <a:rPr lang="en-US" altLang="en-US" sz="2400"/>
              <a:t> round of 10-fold cross-validation, the same cross partitioning is used to obtain </a:t>
            </a:r>
            <a:r>
              <a:rPr lang="en-US" altLang="en-US" sz="2400" i="1"/>
              <a:t>err(M</a:t>
            </a:r>
            <a:r>
              <a:rPr lang="en-US" altLang="en-US" sz="2400" i="1" baseline="-25000"/>
              <a:t>1</a:t>
            </a:r>
            <a:r>
              <a:rPr lang="en-US" altLang="en-US" sz="2400" i="1"/>
              <a:t>)</a:t>
            </a:r>
            <a:r>
              <a:rPr lang="en-US" altLang="en-US" sz="2400" i="1" baseline="-25000"/>
              <a:t>i</a:t>
            </a:r>
            <a:r>
              <a:rPr lang="en-US" altLang="en-US" sz="2400" i="1"/>
              <a:t> </a:t>
            </a:r>
            <a:r>
              <a:rPr lang="en-US" altLang="en-US" sz="2400"/>
              <a:t>and </a:t>
            </a:r>
            <a:r>
              <a:rPr lang="en-US" altLang="en-US" sz="2400" i="1"/>
              <a:t>err(M</a:t>
            </a:r>
            <a:r>
              <a:rPr lang="en-US" altLang="en-US" sz="2400" i="1" baseline="-25000"/>
              <a:t>2</a:t>
            </a:r>
            <a:r>
              <a:rPr lang="en-US" altLang="en-US" sz="2400" i="1"/>
              <a:t>)</a:t>
            </a:r>
            <a:r>
              <a:rPr lang="en-US" altLang="en-US" sz="2400" i="1" baseline="-25000"/>
              <a:t>i</a:t>
            </a:r>
          </a:p>
          <a:p>
            <a:pPr lvl="1"/>
            <a:r>
              <a:rPr lang="en-US" altLang="en-US" sz="2400"/>
              <a:t>Average over 10 rounds to get </a:t>
            </a:r>
            <a:endParaRPr lang="en-US" altLang="en-US" sz="2400">
              <a:solidFill>
                <a:schemeClr val="hlink"/>
              </a:solidFill>
            </a:endParaRPr>
          </a:p>
          <a:p>
            <a:pPr lvl="1"/>
            <a:r>
              <a:rPr lang="en-US" altLang="en-US" b="1"/>
              <a:t>t-test</a:t>
            </a:r>
            <a:r>
              <a:rPr lang="en-US" altLang="en-US"/>
              <a:t> computes </a:t>
            </a:r>
            <a:r>
              <a:rPr lang="en-US" altLang="en-US" b="1"/>
              <a:t>t-statistic</a:t>
            </a:r>
            <a:r>
              <a:rPr lang="en-US" altLang="en-US"/>
              <a:t> with </a:t>
            </a:r>
            <a:r>
              <a:rPr lang="en-US" altLang="en-US" i="1"/>
              <a:t>k-1</a:t>
            </a:r>
            <a:r>
              <a:rPr lang="en-US" altLang="en-US"/>
              <a:t> </a:t>
            </a:r>
            <a:r>
              <a:rPr lang="en-US" altLang="en-US" b="1"/>
              <a:t>degrees of freedom:</a:t>
            </a:r>
          </a:p>
          <a:p>
            <a:pPr lvl="1"/>
            <a:endParaRPr lang="en-US" altLang="en-US" b="1"/>
          </a:p>
          <a:p>
            <a:endParaRPr lang="en-US" altLang="en-US"/>
          </a:p>
          <a:p>
            <a:r>
              <a:rPr lang="en-US" altLang="en-US"/>
              <a:t>If two test sets available: use </a:t>
            </a:r>
            <a:r>
              <a:rPr lang="en-US" altLang="en-US" b="1"/>
              <a:t>non-paired t-test</a:t>
            </a:r>
            <a:endParaRPr lang="en-US" altLang="en-US"/>
          </a:p>
        </p:txBody>
      </p:sp>
      <p:pic>
        <p:nvPicPr>
          <p:cNvPr id="59396" name="Picture 5" descr="t-test-non-paired">
            <a:extLst>
              <a:ext uri="{FF2B5EF4-FFF2-40B4-BE49-F238E27FC236}">
                <a16:creationId xmlns:a16="http://schemas.microsoft.com/office/drawing/2014/main" id="{62D9D857-14E7-408C-8F0F-355209699FF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95600" y="5562600"/>
            <a:ext cx="4114800" cy="7604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9397" name="Text Box 8">
            <a:extLst>
              <a:ext uri="{FF2B5EF4-FFF2-40B4-BE49-F238E27FC236}">
                <a16:creationId xmlns:a16="http://schemas.microsoft.com/office/drawing/2014/main" id="{7B9B7180-DBD3-45B0-A68C-54736D5CD7D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05600" y="3733800"/>
            <a:ext cx="804863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r>
              <a:rPr lang="en-US" altLang="en-US"/>
              <a:t>where</a:t>
            </a:r>
          </a:p>
        </p:txBody>
      </p:sp>
      <p:pic>
        <p:nvPicPr>
          <p:cNvPr id="59398" name="Picture 9" descr="8mean-err-m1">
            <a:extLst>
              <a:ext uri="{FF2B5EF4-FFF2-40B4-BE49-F238E27FC236}">
                <a16:creationId xmlns:a16="http://schemas.microsoft.com/office/drawing/2014/main" id="{3D141602-7C41-414E-B5E9-E8550F292BF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05400" y="2678113"/>
            <a:ext cx="1219200" cy="4460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9399" name="Picture 10" descr="8mean-err-m2">
            <a:extLst>
              <a:ext uri="{FF2B5EF4-FFF2-40B4-BE49-F238E27FC236}">
                <a16:creationId xmlns:a16="http://schemas.microsoft.com/office/drawing/2014/main" id="{D5CBA985-8B29-4682-9501-DE15FFBA065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62800" y="2752725"/>
            <a:ext cx="1295400" cy="371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9400" name="Text Box 11">
            <a:extLst>
              <a:ext uri="{FF2B5EF4-FFF2-40B4-BE49-F238E27FC236}">
                <a16:creationId xmlns:a16="http://schemas.microsoft.com/office/drawing/2014/main" id="{44A41000-70A2-4206-A566-E08E3C94534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00800" y="2727325"/>
            <a:ext cx="598488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r>
              <a:rPr lang="en-US" altLang="en-US" sz="2000"/>
              <a:t>and</a:t>
            </a:r>
          </a:p>
        </p:txBody>
      </p:sp>
      <p:sp>
        <p:nvSpPr>
          <p:cNvPr id="59401" name="Text Box 12">
            <a:extLst>
              <a:ext uri="{FF2B5EF4-FFF2-40B4-BE49-F238E27FC236}">
                <a16:creationId xmlns:a16="http://schemas.microsoft.com/office/drawing/2014/main" id="{C0CFBD5C-720C-4C55-AF36-1C89CB6FC1B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28800" y="5638800"/>
            <a:ext cx="804863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r>
              <a:rPr lang="en-US" altLang="en-US"/>
              <a:t>where</a:t>
            </a:r>
          </a:p>
        </p:txBody>
      </p:sp>
      <p:sp>
        <p:nvSpPr>
          <p:cNvPr id="59402" name="Text Box 13">
            <a:extLst>
              <a:ext uri="{FF2B5EF4-FFF2-40B4-BE49-F238E27FC236}">
                <a16:creationId xmlns:a16="http://schemas.microsoft.com/office/drawing/2014/main" id="{8D5B88D6-DE18-4100-82C6-A774BE2B24A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14400" y="6248400"/>
            <a:ext cx="7418388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r>
              <a:rPr lang="en-US" altLang="en-US"/>
              <a:t>where</a:t>
            </a:r>
            <a:r>
              <a:rPr lang="en-US" altLang="en-US" i="1"/>
              <a:t> k</a:t>
            </a:r>
            <a:r>
              <a:rPr lang="en-US" altLang="en-US" i="1" baseline="-25000"/>
              <a:t>1</a:t>
            </a:r>
            <a:r>
              <a:rPr lang="en-US" altLang="en-US"/>
              <a:t> &amp;</a:t>
            </a:r>
            <a:r>
              <a:rPr lang="en-US" altLang="en-US" i="1"/>
              <a:t> k</a:t>
            </a:r>
            <a:r>
              <a:rPr lang="en-US" altLang="en-US" i="1" baseline="-25000"/>
              <a:t>2</a:t>
            </a:r>
            <a:r>
              <a:rPr lang="en-US" altLang="en-US"/>
              <a:t> are # of cross-validation samples used for </a:t>
            </a:r>
            <a:r>
              <a:rPr lang="en-US" altLang="en-US" i="1"/>
              <a:t>M</a:t>
            </a:r>
            <a:r>
              <a:rPr lang="en-US" altLang="en-US" i="1" baseline="-25000"/>
              <a:t>1</a:t>
            </a:r>
            <a:r>
              <a:rPr lang="en-US" altLang="en-US"/>
              <a:t> &amp; </a:t>
            </a:r>
            <a:r>
              <a:rPr lang="en-US" altLang="en-US" i="1"/>
              <a:t>M</a:t>
            </a:r>
            <a:r>
              <a:rPr lang="en-US" altLang="en-US" i="1" baseline="-25000"/>
              <a:t>2</a:t>
            </a:r>
            <a:r>
              <a:rPr lang="en-US" altLang="en-US"/>
              <a:t>, resp.</a:t>
            </a:r>
          </a:p>
        </p:txBody>
      </p:sp>
      <p:pic>
        <p:nvPicPr>
          <p:cNvPr id="59403" name="Picture 14">
            <a:extLst>
              <a:ext uri="{FF2B5EF4-FFF2-40B4-BE49-F238E27FC236}">
                <a16:creationId xmlns:a16="http://schemas.microsoft.com/office/drawing/2014/main" id="{682B9F13-7232-4F50-8664-E1503760645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29000" y="3657600"/>
            <a:ext cx="2743200" cy="7127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9404" name="Picture 15">
            <a:extLst>
              <a:ext uri="{FF2B5EF4-FFF2-40B4-BE49-F238E27FC236}">
                <a16:creationId xmlns:a16="http://schemas.microsoft.com/office/drawing/2014/main" id="{30E7B0DE-083D-4228-BBBD-1A4DE14DB50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71600" y="4343400"/>
            <a:ext cx="7315200" cy="7080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9405" name="Slide Number Placeholder 7">
            <a:extLst>
              <a:ext uri="{FF2B5EF4-FFF2-40B4-BE49-F238E27FC236}">
                <a16:creationId xmlns:a16="http://schemas.microsoft.com/office/drawing/2014/main" id="{2B4827DE-1F1D-4900-A471-2FD213DC5FE1}"/>
              </a:ext>
            </a:extLst>
          </p:cNvPr>
          <p:cNvSpPr txBox="1">
            <a:spLocks noGrp="1"/>
          </p:cNvSpPr>
          <p:nvPr/>
        </p:nvSpPr>
        <p:spPr bwMode="auto">
          <a:xfrm>
            <a:off x="7239000" y="6477000"/>
            <a:ext cx="1905000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r" eaLnBrk="1" hangingPunct="1"/>
            <a:fld id="{C905E95E-9523-4AB8-9F28-5B126B662B34}" type="slidenum">
              <a:rPr lang="en-US" altLang="en-US" sz="1200" b="1">
                <a:latin typeface="Calibri" panose="020F0502020204030204" pitchFamily="34" charset="0"/>
              </a:rPr>
              <a:pPr algn="r" eaLnBrk="1" hangingPunct="1"/>
              <a:t>56</a:t>
            </a:fld>
            <a:endParaRPr lang="en-US" altLang="en-US" sz="1200" b="1">
              <a:latin typeface="Calibri" panose="020F0502020204030204" pitchFamily="34" charset="0"/>
            </a:endParaRPr>
          </a:p>
        </p:txBody>
      </p:sp>
    </p:spTree>
  </p:cSld>
  <p:clrMapOvr>
    <a:masterClrMapping/>
  </p:clrMapOvr>
  <p:transition>
    <p:zoom/>
  </p:transition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Rectangle 2">
            <a:extLst>
              <a:ext uri="{FF2B5EF4-FFF2-40B4-BE49-F238E27FC236}">
                <a16:creationId xmlns:a16="http://schemas.microsoft.com/office/drawing/2014/main" id="{5723FD50-3D3F-4E44-86D9-D0F930C9C8E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200"/>
              <a:t>Estimating Confidence Intervals:</a:t>
            </a:r>
            <a:br>
              <a:rPr lang="en-US" altLang="en-US" sz="3200"/>
            </a:br>
            <a:r>
              <a:rPr lang="en-US" altLang="en-US" sz="3200"/>
              <a:t>Table for t-distribution</a:t>
            </a:r>
          </a:p>
        </p:txBody>
      </p:sp>
      <p:sp>
        <p:nvSpPr>
          <p:cNvPr id="60419" name="Rectangle 4">
            <a:extLst>
              <a:ext uri="{FF2B5EF4-FFF2-40B4-BE49-F238E27FC236}">
                <a16:creationId xmlns:a16="http://schemas.microsoft.com/office/drawing/2014/main" id="{631D5BF6-5537-4D1A-A7E9-8876B176B107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304800" y="1371600"/>
            <a:ext cx="3048000" cy="5105400"/>
          </a:xfrm>
        </p:spPr>
        <p:txBody>
          <a:bodyPr/>
          <a:lstStyle/>
          <a:p>
            <a:pPr>
              <a:lnSpc>
                <a:spcPct val="90000"/>
              </a:lnSpc>
            </a:pPr>
            <a:endParaRPr lang="en-US" altLang="en-US" sz="2400"/>
          </a:p>
          <a:p>
            <a:pPr>
              <a:lnSpc>
                <a:spcPct val="90000"/>
              </a:lnSpc>
            </a:pPr>
            <a:endParaRPr lang="en-US" altLang="en-US" sz="2400"/>
          </a:p>
          <a:p>
            <a:pPr>
              <a:lnSpc>
                <a:spcPct val="90000"/>
              </a:lnSpc>
            </a:pPr>
            <a:endParaRPr lang="en-US" altLang="en-US" sz="2400"/>
          </a:p>
          <a:p>
            <a:pPr>
              <a:lnSpc>
                <a:spcPct val="90000"/>
              </a:lnSpc>
            </a:pPr>
            <a:r>
              <a:rPr lang="en-US" altLang="en-US" sz="2400"/>
              <a:t>Symmetric</a:t>
            </a:r>
          </a:p>
          <a:p>
            <a:pPr>
              <a:lnSpc>
                <a:spcPct val="90000"/>
              </a:lnSpc>
            </a:pPr>
            <a:r>
              <a:rPr lang="en-US" altLang="en-US" sz="2400" b="1"/>
              <a:t>Significance level</a:t>
            </a:r>
            <a:r>
              <a:rPr lang="en-US" altLang="en-US" sz="2400"/>
              <a:t>, e.g., </a:t>
            </a:r>
            <a:r>
              <a:rPr lang="en-US" altLang="en-US" sz="2400" i="1"/>
              <a:t>sig = 0.05 </a:t>
            </a:r>
            <a:r>
              <a:rPr lang="en-US" altLang="en-US" sz="2400"/>
              <a:t>or</a:t>
            </a:r>
            <a:r>
              <a:rPr lang="en-US" altLang="en-US" sz="2400" i="1"/>
              <a:t> 5% </a:t>
            </a:r>
            <a:r>
              <a:rPr lang="en-US" altLang="en-US" sz="2400"/>
              <a:t>means M</a:t>
            </a:r>
            <a:r>
              <a:rPr lang="en-US" altLang="en-US" sz="2400" baseline="-25000"/>
              <a:t>1</a:t>
            </a:r>
            <a:r>
              <a:rPr lang="en-US" altLang="en-US" sz="2400"/>
              <a:t> &amp; M</a:t>
            </a:r>
            <a:r>
              <a:rPr lang="en-US" altLang="en-US" sz="2400" baseline="-25000"/>
              <a:t>2</a:t>
            </a:r>
            <a:r>
              <a:rPr lang="en-US" altLang="en-US" sz="2400"/>
              <a:t> are </a:t>
            </a:r>
            <a:r>
              <a:rPr lang="en-US" altLang="en-US" sz="2400" i="1"/>
              <a:t>significantly different</a:t>
            </a:r>
            <a:r>
              <a:rPr lang="en-US" altLang="en-US" sz="2400"/>
              <a:t> for 95% of population</a:t>
            </a:r>
          </a:p>
          <a:p>
            <a:pPr>
              <a:lnSpc>
                <a:spcPct val="90000"/>
              </a:lnSpc>
            </a:pPr>
            <a:r>
              <a:rPr lang="en-US" altLang="en-US" sz="2400" b="1"/>
              <a:t>Confidence limit</a:t>
            </a:r>
            <a:r>
              <a:rPr lang="en-US" altLang="en-US" sz="2400"/>
              <a:t>, </a:t>
            </a:r>
            <a:r>
              <a:rPr lang="en-US" altLang="en-US" sz="2400" i="1"/>
              <a:t>z = sig/2</a:t>
            </a:r>
          </a:p>
        </p:txBody>
      </p:sp>
      <p:pic>
        <p:nvPicPr>
          <p:cNvPr id="60420" name="Picture 6" descr="8ttablevalues">
            <a:extLst>
              <a:ext uri="{FF2B5EF4-FFF2-40B4-BE49-F238E27FC236}">
                <a16:creationId xmlns:a16="http://schemas.microsoft.com/office/drawing/2014/main" id="{852F0AAD-D58F-4C1D-8753-5442133E8B61}"/>
              </a:ext>
            </a:extLst>
          </p:cNvPr>
          <p:cNvPicPr>
            <a:picLocks noChangeAspect="1" noChangeArrowheads="1"/>
          </p:cNvPicPr>
          <p:nvPr>
            <p:ph sz="half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733800" y="914400"/>
            <a:ext cx="5181600" cy="5791200"/>
          </a:xfrm>
        </p:spPr>
      </p:pic>
      <p:pic>
        <p:nvPicPr>
          <p:cNvPr id="60421" name="Picture 7" descr="8tcurve">
            <a:extLst>
              <a:ext uri="{FF2B5EF4-FFF2-40B4-BE49-F238E27FC236}">
                <a16:creationId xmlns:a16="http://schemas.microsoft.com/office/drawing/2014/main" id="{C59EF9BD-AC58-4F70-A35D-FD0EE5E9C6B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1143000"/>
            <a:ext cx="3429000" cy="1363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0422" name="Slide Number Placeholder 7">
            <a:extLst>
              <a:ext uri="{FF2B5EF4-FFF2-40B4-BE49-F238E27FC236}">
                <a16:creationId xmlns:a16="http://schemas.microsoft.com/office/drawing/2014/main" id="{E0EE5404-9956-4677-94DA-4DC6401B4B4D}"/>
              </a:ext>
            </a:extLst>
          </p:cNvPr>
          <p:cNvSpPr txBox="1">
            <a:spLocks noGrp="1"/>
          </p:cNvSpPr>
          <p:nvPr/>
        </p:nvSpPr>
        <p:spPr bwMode="auto">
          <a:xfrm>
            <a:off x="7239000" y="6477000"/>
            <a:ext cx="1905000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r" eaLnBrk="1" hangingPunct="1"/>
            <a:fld id="{08364AF3-6A9C-4CAB-9995-76437055B603}" type="slidenum">
              <a:rPr lang="en-US" altLang="en-US" sz="1200" b="1">
                <a:latin typeface="Calibri" panose="020F0502020204030204" pitchFamily="34" charset="0"/>
              </a:rPr>
              <a:pPr algn="r" eaLnBrk="1" hangingPunct="1"/>
              <a:t>57</a:t>
            </a:fld>
            <a:endParaRPr lang="en-US" altLang="en-US" sz="1200" b="1">
              <a:latin typeface="Calibri" panose="020F0502020204030204" pitchFamily="34" charset="0"/>
            </a:endParaRPr>
          </a:p>
        </p:txBody>
      </p:sp>
    </p:spTree>
  </p:cSld>
  <p:clrMapOvr>
    <a:masterClrMapping/>
  </p:clrMapOvr>
  <p:transition>
    <p:zoom/>
  </p:transition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Rectangle 2">
            <a:extLst>
              <a:ext uri="{FF2B5EF4-FFF2-40B4-BE49-F238E27FC236}">
                <a16:creationId xmlns:a16="http://schemas.microsoft.com/office/drawing/2014/main" id="{F95D90C9-2113-430F-B41C-C6F179C6871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1143000"/>
          </a:xfrm>
        </p:spPr>
        <p:txBody>
          <a:bodyPr/>
          <a:lstStyle/>
          <a:p>
            <a:r>
              <a:rPr lang="en-US" altLang="en-US"/>
              <a:t>Estimating Confidence Intervals:</a:t>
            </a:r>
            <a:br>
              <a:rPr lang="en-US" altLang="en-US"/>
            </a:br>
            <a:r>
              <a:rPr lang="en-US" altLang="en-US"/>
              <a:t>Statistical Significance</a:t>
            </a:r>
          </a:p>
        </p:txBody>
      </p:sp>
      <p:sp>
        <p:nvSpPr>
          <p:cNvPr id="61443" name="Rectangle 3">
            <a:extLst>
              <a:ext uri="{FF2B5EF4-FFF2-40B4-BE49-F238E27FC236}">
                <a16:creationId xmlns:a16="http://schemas.microsoft.com/office/drawing/2014/main" id="{807A7AB1-0FDF-4F32-8692-1153E747130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 sz="2400"/>
              <a:t>Are M</a:t>
            </a:r>
            <a:r>
              <a:rPr lang="en-US" altLang="en-US" sz="2400" baseline="-25000"/>
              <a:t>1</a:t>
            </a:r>
            <a:r>
              <a:rPr lang="en-US" altLang="en-US" sz="2400"/>
              <a:t> &amp; M</a:t>
            </a:r>
            <a:r>
              <a:rPr lang="en-US" altLang="en-US" sz="2400" baseline="-25000"/>
              <a:t>2</a:t>
            </a:r>
            <a:r>
              <a:rPr lang="en-US" altLang="en-US" sz="2400"/>
              <a:t> </a:t>
            </a:r>
            <a:r>
              <a:rPr lang="en-US" altLang="en-US" sz="2400" b="1"/>
              <a:t>significantly different</a:t>
            </a:r>
            <a:r>
              <a:rPr lang="en-US" altLang="en-US" sz="2400"/>
              <a:t>?</a:t>
            </a:r>
          </a:p>
          <a:p>
            <a:pPr lvl="1"/>
            <a:r>
              <a:rPr lang="en-US" altLang="en-US" sz="2400"/>
              <a:t>Compute </a:t>
            </a:r>
            <a:r>
              <a:rPr lang="en-US" altLang="en-US" sz="2400" i="1"/>
              <a:t>t. </a:t>
            </a:r>
            <a:r>
              <a:rPr lang="en-US" altLang="en-US" sz="2400"/>
              <a:t>Select </a:t>
            </a:r>
            <a:r>
              <a:rPr lang="en-US" altLang="en-US" sz="2400" i="1"/>
              <a:t>significance level</a:t>
            </a:r>
            <a:r>
              <a:rPr lang="en-US" altLang="en-US" sz="2400"/>
              <a:t> (e.g. </a:t>
            </a:r>
            <a:r>
              <a:rPr lang="en-US" altLang="en-US" sz="2400" i="1"/>
              <a:t>sig = 5%)</a:t>
            </a:r>
          </a:p>
          <a:p>
            <a:pPr lvl="1"/>
            <a:r>
              <a:rPr lang="en-US" altLang="en-US" sz="2400"/>
              <a:t>Consult table for t-distribution: Find </a:t>
            </a:r>
            <a:r>
              <a:rPr lang="en-US" altLang="en-US" sz="2400" i="1"/>
              <a:t>t value</a:t>
            </a:r>
            <a:r>
              <a:rPr lang="en-US" altLang="en-US" sz="2400"/>
              <a:t> corresponding to </a:t>
            </a:r>
            <a:r>
              <a:rPr lang="en-US" altLang="en-US" sz="2400" i="1"/>
              <a:t>k-1 degrees of freedom</a:t>
            </a:r>
            <a:r>
              <a:rPr lang="en-US" altLang="en-US" sz="2400"/>
              <a:t> (here, 9)</a:t>
            </a:r>
          </a:p>
          <a:p>
            <a:pPr lvl="1"/>
            <a:r>
              <a:rPr lang="en-US" altLang="en-US" sz="2400"/>
              <a:t>t-distribution is symmetric: typically upper % points of distribution shown → look up value for </a:t>
            </a:r>
            <a:r>
              <a:rPr lang="en-US" altLang="en-US" sz="2400" b="1"/>
              <a:t>confidence limit</a:t>
            </a:r>
            <a:r>
              <a:rPr lang="en-US" altLang="en-US" sz="2400"/>
              <a:t> </a:t>
            </a:r>
            <a:r>
              <a:rPr lang="en-US" altLang="en-US" sz="2400" i="1"/>
              <a:t>z=sig/2</a:t>
            </a:r>
            <a:r>
              <a:rPr lang="en-US" altLang="en-US" sz="2400"/>
              <a:t> (here, 0.025)</a:t>
            </a:r>
          </a:p>
          <a:p>
            <a:pPr lvl="1"/>
            <a:r>
              <a:rPr lang="en-US" altLang="en-US" sz="2400" b="1"/>
              <a:t>If</a:t>
            </a:r>
            <a:r>
              <a:rPr lang="en-US" altLang="en-US" sz="2400"/>
              <a:t> </a:t>
            </a:r>
            <a:r>
              <a:rPr lang="en-US" altLang="en-US" sz="2400" b="1"/>
              <a:t>t &gt; z or t &lt; -z</a:t>
            </a:r>
            <a:r>
              <a:rPr lang="en-US" altLang="en-US" sz="2400"/>
              <a:t>, then t value lies in rejection region:</a:t>
            </a:r>
          </a:p>
          <a:p>
            <a:pPr lvl="2"/>
            <a:r>
              <a:rPr lang="en-US" altLang="en-US" b="1"/>
              <a:t>Reject null hypothesis</a:t>
            </a:r>
            <a:r>
              <a:rPr lang="en-US" altLang="en-US"/>
              <a:t> that mean error rates of M</a:t>
            </a:r>
            <a:r>
              <a:rPr lang="en-US" altLang="en-US" baseline="-25000"/>
              <a:t>1</a:t>
            </a:r>
            <a:r>
              <a:rPr lang="en-US" altLang="en-US"/>
              <a:t> &amp; M</a:t>
            </a:r>
            <a:r>
              <a:rPr lang="en-US" altLang="en-US" baseline="-25000"/>
              <a:t>2</a:t>
            </a:r>
            <a:r>
              <a:rPr lang="en-US" altLang="en-US"/>
              <a:t> are same</a:t>
            </a:r>
          </a:p>
          <a:p>
            <a:pPr lvl="2"/>
            <a:r>
              <a:rPr lang="en-US" altLang="en-US"/>
              <a:t>Conclude: </a:t>
            </a:r>
            <a:r>
              <a:rPr lang="en-US" altLang="en-US" u="sng"/>
              <a:t>statistically significant</a:t>
            </a:r>
            <a:r>
              <a:rPr lang="en-US" altLang="en-US"/>
              <a:t> difference between M</a:t>
            </a:r>
            <a:r>
              <a:rPr lang="en-US" altLang="en-US" baseline="-25000"/>
              <a:t>1</a:t>
            </a:r>
            <a:r>
              <a:rPr lang="en-US" altLang="en-US"/>
              <a:t> &amp; M</a:t>
            </a:r>
            <a:r>
              <a:rPr lang="en-US" altLang="en-US" baseline="-25000"/>
              <a:t>2</a:t>
            </a:r>
            <a:r>
              <a:rPr lang="en-US" altLang="en-US"/>
              <a:t> </a:t>
            </a:r>
          </a:p>
          <a:p>
            <a:pPr lvl="1"/>
            <a:r>
              <a:rPr lang="en-US" altLang="en-US" sz="2400" b="1"/>
              <a:t>Otherwise</a:t>
            </a:r>
            <a:r>
              <a:rPr lang="en-US" altLang="en-US" sz="2400"/>
              <a:t>, conclude that any difference is </a:t>
            </a:r>
            <a:r>
              <a:rPr lang="en-US" altLang="en-US" sz="2400" b="1"/>
              <a:t>chance</a:t>
            </a:r>
            <a:endParaRPr lang="en-US" altLang="en-US" sz="2400"/>
          </a:p>
        </p:txBody>
      </p:sp>
      <p:sp>
        <p:nvSpPr>
          <p:cNvPr id="61444" name="Slide Number Placeholder 7">
            <a:extLst>
              <a:ext uri="{FF2B5EF4-FFF2-40B4-BE49-F238E27FC236}">
                <a16:creationId xmlns:a16="http://schemas.microsoft.com/office/drawing/2014/main" id="{8E44A264-5DD2-4DA5-8E69-C608EBB23B07}"/>
              </a:ext>
            </a:extLst>
          </p:cNvPr>
          <p:cNvSpPr txBox="1">
            <a:spLocks noGrp="1"/>
          </p:cNvSpPr>
          <p:nvPr/>
        </p:nvSpPr>
        <p:spPr bwMode="auto">
          <a:xfrm>
            <a:off x="7239000" y="6477000"/>
            <a:ext cx="1905000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r" eaLnBrk="1" hangingPunct="1"/>
            <a:fld id="{072D2B86-9CE8-4A07-A792-D6254B21731F}" type="slidenum">
              <a:rPr lang="en-US" altLang="en-US" sz="1200" b="1">
                <a:latin typeface="Calibri" panose="020F0502020204030204" pitchFamily="34" charset="0"/>
              </a:rPr>
              <a:pPr algn="r" eaLnBrk="1" hangingPunct="1"/>
              <a:t>58</a:t>
            </a:fld>
            <a:endParaRPr lang="en-US" altLang="en-US" sz="1200" b="1">
              <a:latin typeface="Calibri" panose="020F0502020204030204" pitchFamily="34" charset="0"/>
            </a:endParaRPr>
          </a:p>
        </p:txBody>
      </p:sp>
    </p:spTree>
  </p:cSld>
  <p:clrMapOvr>
    <a:masterClrMapping/>
  </p:clrMapOvr>
  <p:transition>
    <p:zoom/>
  </p:transition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466" name="Picture 6">
            <a:extLst>
              <a:ext uri="{FF2B5EF4-FFF2-40B4-BE49-F238E27FC236}">
                <a16:creationId xmlns:a16="http://schemas.microsoft.com/office/drawing/2014/main" id="{350D2EE9-F3D3-45C7-8140-05F291AA37F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38800" y="76200"/>
            <a:ext cx="3429000" cy="3243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2467" name="Rectangle 2">
            <a:extLst>
              <a:ext uri="{FF2B5EF4-FFF2-40B4-BE49-F238E27FC236}">
                <a16:creationId xmlns:a16="http://schemas.microsoft.com/office/drawing/2014/main" id="{51349FBE-03BE-4BD4-A1DC-8CC72BC2C58D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-152400" y="381000"/>
            <a:ext cx="6400800" cy="609600"/>
          </a:xfrm>
        </p:spPr>
        <p:txBody>
          <a:bodyPr/>
          <a:lstStyle/>
          <a:p>
            <a:pPr eaLnBrk="1" hangingPunct="1"/>
            <a:r>
              <a:rPr lang="en-US" altLang="en-US" sz="3200"/>
              <a:t>Model Selection: ROC Curves</a:t>
            </a:r>
          </a:p>
        </p:txBody>
      </p:sp>
      <p:sp>
        <p:nvSpPr>
          <p:cNvPr id="62468" name="Rectangle 3">
            <a:extLst>
              <a:ext uri="{FF2B5EF4-FFF2-40B4-BE49-F238E27FC236}">
                <a16:creationId xmlns:a16="http://schemas.microsoft.com/office/drawing/2014/main" id="{88080B5C-8D18-449F-B952-E781AC7F1ABA}"/>
              </a:ext>
            </a:extLst>
          </p:cNvPr>
          <p:cNvSpPr>
            <a:spLocks noGrp="1" noChangeArrowheads="1"/>
          </p:cNvSpPr>
          <p:nvPr>
            <p:ph type="body" sz="half" idx="4294967295"/>
          </p:nvPr>
        </p:nvSpPr>
        <p:spPr>
          <a:xfrm>
            <a:off x="228600" y="1295400"/>
            <a:ext cx="5562600" cy="5257800"/>
          </a:xfrm>
        </p:spPr>
        <p:txBody>
          <a:bodyPr/>
          <a:lstStyle/>
          <a:p>
            <a:pPr marL="457200" indent="-457200" eaLnBrk="1" hangingPunct="1">
              <a:lnSpc>
                <a:spcPct val="90000"/>
              </a:lnSpc>
            </a:pPr>
            <a:r>
              <a:rPr lang="en-US" altLang="en-US" sz="2400" b="1"/>
              <a:t>ROC</a:t>
            </a:r>
            <a:r>
              <a:rPr lang="en-US" altLang="en-US" sz="2400"/>
              <a:t> (Receiver Operating Characteristics) curves: for visual comparison of classification models</a:t>
            </a:r>
          </a:p>
          <a:p>
            <a:pPr marL="457200" indent="-457200" eaLnBrk="1" hangingPunct="1">
              <a:lnSpc>
                <a:spcPct val="90000"/>
              </a:lnSpc>
            </a:pPr>
            <a:r>
              <a:rPr lang="en-US" altLang="en-US" sz="2400"/>
              <a:t>Originated from signal detection theory</a:t>
            </a:r>
          </a:p>
          <a:p>
            <a:pPr marL="457200" indent="-457200" eaLnBrk="1" hangingPunct="1">
              <a:lnSpc>
                <a:spcPct val="90000"/>
              </a:lnSpc>
            </a:pPr>
            <a:r>
              <a:rPr lang="en-US" altLang="en-US" sz="2400"/>
              <a:t>Shows the trade-off between the true positive rate and the false positive rate</a:t>
            </a:r>
          </a:p>
          <a:p>
            <a:pPr marL="457200" indent="-457200" eaLnBrk="1" hangingPunct="1">
              <a:lnSpc>
                <a:spcPct val="90000"/>
              </a:lnSpc>
            </a:pPr>
            <a:r>
              <a:rPr lang="en-US" altLang="en-US" sz="2400"/>
              <a:t>The area under the ROC curve is a measure of the accuracy of the model</a:t>
            </a:r>
          </a:p>
          <a:p>
            <a:pPr marL="457200" indent="-457200" eaLnBrk="1" hangingPunct="1">
              <a:lnSpc>
                <a:spcPct val="90000"/>
              </a:lnSpc>
            </a:pPr>
            <a:r>
              <a:rPr lang="en-US" altLang="en-US" sz="2400"/>
              <a:t>Rank the test tuples in decreasing order: the one that is most likely to belong to the positive class appears at the top of the list</a:t>
            </a:r>
          </a:p>
          <a:p>
            <a:pPr marL="457200" indent="-457200" eaLnBrk="1" hangingPunct="1">
              <a:lnSpc>
                <a:spcPct val="90000"/>
              </a:lnSpc>
            </a:pPr>
            <a:r>
              <a:rPr lang="en-US" altLang="en-US" sz="2400"/>
              <a:t>The closer to the diagonal line (i.e., the closer the area is to 0.5), the less accurate is the model</a:t>
            </a:r>
          </a:p>
        </p:txBody>
      </p:sp>
      <p:sp>
        <p:nvSpPr>
          <p:cNvPr id="62469" name="Rectangle 7">
            <a:extLst>
              <a:ext uri="{FF2B5EF4-FFF2-40B4-BE49-F238E27FC236}">
                <a16:creationId xmlns:a16="http://schemas.microsoft.com/office/drawing/2014/main" id="{DD042413-AB35-4AB9-9BA2-08837A063B8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91200" y="3429000"/>
            <a:ext cx="3352800" cy="304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457200" indent="-4572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lnSpc>
                <a:spcPct val="80000"/>
              </a:lnSpc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</a:pPr>
            <a:r>
              <a:rPr lang="en-US" altLang="en-US" sz="2400">
                <a:latin typeface="Calibri" panose="020F0502020204030204" pitchFamily="34" charset="0"/>
              </a:rPr>
              <a:t>Vertical axis represents the true positive rate</a:t>
            </a:r>
          </a:p>
          <a:p>
            <a:pPr eaLnBrk="1" hangingPunct="1">
              <a:lnSpc>
                <a:spcPct val="80000"/>
              </a:lnSpc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</a:pPr>
            <a:r>
              <a:rPr lang="en-US" altLang="en-US" sz="2400">
                <a:latin typeface="Calibri" panose="020F0502020204030204" pitchFamily="34" charset="0"/>
              </a:rPr>
              <a:t>Horizontal axis rep. the false positive rate</a:t>
            </a:r>
          </a:p>
          <a:p>
            <a:pPr eaLnBrk="1" hangingPunct="1">
              <a:lnSpc>
                <a:spcPct val="80000"/>
              </a:lnSpc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</a:pPr>
            <a:r>
              <a:rPr lang="en-US" altLang="en-US" sz="2400">
                <a:latin typeface="Calibri" panose="020F0502020204030204" pitchFamily="34" charset="0"/>
              </a:rPr>
              <a:t>The plot also shows a diagonal line</a:t>
            </a:r>
          </a:p>
          <a:p>
            <a:pPr eaLnBrk="1" hangingPunct="1">
              <a:lnSpc>
                <a:spcPct val="80000"/>
              </a:lnSpc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</a:pPr>
            <a:r>
              <a:rPr lang="en-US" altLang="en-US" sz="2400">
                <a:latin typeface="Calibri" panose="020F0502020204030204" pitchFamily="34" charset="0"/>
              </a:rPr>
              <a:t>A model with perfect accuracy will have an area of 1.0</a:t>
            </a:r>
          </a:p>
        </p:txBody>
      </p:sp>
      <p:sp>
        <p:nvSpPr>
          <p:cNvPr id="62470" name="Slide Number Placeholder 7">
            <a:extLst>
              <a:ext uri="{FF2B5EF4-FFF2-40B4-BE49-F238E27FC236}">
                <a16:creationId xmlns:a16="http://schemas.microsoft.com/office/drawing/2014/main" id="{F524733A-D47D-4318-AF97-BBE44522A096}"/>
              </a:ext>
            </a:extLst>
          </p:cNvPr>
          <p:cNvSpPr txBox="1">
            <a:spLocks noGrp="1"/>
          </p:cNvSpPr>
          <p:nvPr/>
        </p:nvSpPr>
        <p:spPr bwMode="auto">
          <a:xfrm>
            <a:off x="7239000" y="6477000"/>
            <a:ext cx="1905000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r" eaLnBrk="1" hangingPunct="1"/>
            <a:fld id="{4487BDA4-5432-4588-914A-7E91E47F92AB}" type="slidenum">
              <a:rPr lang="en-US" altLang="en-US" sz="1200" b="1">
                <a:latin typeface="Calibri" panose="020F0502020204030204" pitchFamily="34" charset="0"/>
              </a:rPr>
              <a:pPr algn="r" eaLnBrk="1" hangingPunct="1"/>
              <a:t>59</a:t>
            </a:fld>
            <a:endParaRPr lang="en-US" altLang="en-US" sz="1200" b="1">
              <a:latin typeface="Calibri" panose="020F0502020204030204" pitchFamily="34" charset="0"/>
            </a:endParaRPr>
          </a:p>
        </p:txBody>
      </p:sp>
    </p:spTree>
  </p:cSld>
  <p:clrMapOvr>
    <a:masterClrMapping/>
  </p:clrMapOvr>
  <p:transition>
    <p:zoom/>
  </p:transition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Rectangle 2">
            <a:extLst>
              <a:ext uri="{FF2B5EF4-FFF2-40B4-BE49-F238E27FC236}">
                <a16:creationId xmlns:a16="http://schemas.microsoft.com/office/drawing/2014/main" id="{3120A262-8379-4ADC-9989-0193FAAB07C0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-228600" y="152400"/>
            <a:ext cx="9601200" cy="838200"/>
          </a:xfrm>
          <a:noFill/>
        </p:spPr>
        <p:txBody>
          <a:bodyPr lIns="92075" tIns="46038" rIns="92075" bIns="46038"/>
          <a:lstStyle/>
          <a:p>
            <a:pPr eaLnBrk="1" hangingPunct="1">
              <a:lnSpc>
                <a:spcPct val="110000"/>
              </a:lnSpc>
            </a:pPr>
            <a:r>
              <a:rPr lang="en-US" altLang="en-US">
                <a:solidFill>
                  <a:srgbClr val="170981"/>
                </a:solidFill>
              </a:rPr>
              <a:t>Issues Affecting Model Selection</a:t>
            </a:r>
          </a:p>
        </p:txBody>
      </p:sp>
      <p:sp>
        <p:nvSpPr>
          <p:cNvPr id="63491" name="Rectangle 3">
            <a:extLst>
              <a:ext uri="{FF2B5EF4-FFF2-40B4-BE49-F238E27FC236}">
                <a16:creationId xmlns:a16="http://schemas.microsoft.com/office/drawing/2014/main" id="{E4E90BD7-D40E-43AF-A9CF-DFB1FAF81202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304800" y="1371600"/>
            <a:ext cx="8378825" cy="5257800"/>
          </a:xfrm>
          <a:noFill/>
        </p:spPr>
        <p:txBody>
          <a:bodyPr lIns="92075" tIns="46038" rIns="92075" bIns="46038"/>
          <a:lstStyle/>
          <a:p>
            <a:pPr eaLnBrk="1" hangingPunct="1">
              <a:lnSpc>
                <a:spcPct val="110000"/>
              </a:lnSpc>
            </a:pPr>
            <a:r>
              <a:rPr lang="en-US" altLang="en-US" sz="2400" b="1"/>
              <a:t>Accuracy</a:t>
            </a:r>
          </a:p>
          <a:p>
            <a:pPr lvl="1" eaLnBrk="1" hangingPunct="1">
              <a:lnSpc>
                <a:spcPct val="110000"/>
              </a:lnSpc>
            </a:pPr>
            <a:r>
              <a:rPr lang="en-US" altLang="en-US" sz="2400"/>
              <a:t>classifier accuracy: predicting class label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en-US" sz="2400" b="1"/>
              <a:t>Speed</a:t>
            </a:r>
          </a:p>
          <a:p>
            <a:pPr lvl="1" eaLnBrk="1" hangingPunct="1">
              <a:lnSpc>
                <a:spcPct val="110000"/>
              </a:lnSpc>
            </a:pPr>
            <a:r>
              <a:rPr lang="en-US" altLang="en-US" sz="2400"/>
              <a:t>time to construct the model (training time)</a:t>
            </a:r>
          </a:p>
          <a:p>
            <a:pPr lvl="1" eaLnBrk="1" hangingPunct="1">
              <a:lnSpc>
                <a:spcPct val="110000"/>
              </a:lnSpc>
            </a:pPr>
            <a:r>
              <a:rPr lang="en-US" altLang="en-US" sz="2400"/>
              <a:t>time to use the model (classification/prediction time)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en-US" sz="2400" b="1"/>
              <a:t>Robustness</a:t>
            </a:r>
            <a:r>
              <a:rPr lang="en-US" altLang="en-US" sz="2400"/>
              <a:t>: handling noise and missing values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en-US" sz="2400" b="1"/>
              <a:t>Scalability</a:t>
            </a:r>
            <a:r>
              <a:rPr lang="en-US" altLang="en-US" sz="2400"/>
              <a:t>: efficiency in disk-resident databases 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en-US" sz="2400" b="1"/>
              <a:t>Interpretability</a:t>
            </a:r>
          </a:p>
          <a:p>
            <a:pPr lvl="1" eaLnBrk="1" hangingPunct="1">
              <a:lnSpc>
                <a:spcPct val="110000"/>
              </a:lnSpc>
            </a:pPr>
            <a:r>
              <a:rPr lang="en-US" altLang="en-US" sz="2400"/>
              <a:t>understanding and insight provided by the model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en-US" sz="2400"/>
              <a:t>Other measures, e.g., goodness of rules, such as decision tree size or compactness of classification rules</a:t>
            </a:r>
          </a:p>
        </p:txBody>
      </p:sp>
      <p:sp>
        <p:nvSpPr>
          <p:cNvPr id="63492" name="Slide Number Placeholder 7">
            <a:extLst>
              <a:ext uri="{FF2B5EF4-FFF2-40B4-BE49-F238E27FC236}">
                <a16:creationId xmlns:a16="http://schemas.microsoft.com/office/drawing/2014/main" id="{00C87E33-D163-4D5A-888F-E89169E27184}"/>
              </a:ext>
            </a:extLst>
          </p:cNvPr>
          <p:cNvSpPr txBox="1">
            <a:spLocks noGrp="1"/>
          </p:cNvSpPr>
          <p:nvPr/>
        </p:nvSpPr>
        <p:spPr bwMode="auto">
          <a:xfrm>
            <a:off x="7239000" y="6477000"/>
            <a:ext cx="1905000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r" eaLnBrk="1" hangingPunct="1"/>
            <a:fld id="{4FA6F222-1C74-4242-B6E3-BBBFE0C450DE}" type="slidenum">
              <a:rPr lang="en-US" altLang="en-US" sz="1200" b="1">
                <a:latin typeface="Calibri" panose="020F0502020204030204" pitchFamily="34" charset="0"/>
              </a:rPr>
              <a:pPr algn="r" eaLnBrk="1" hangingPunct="1"/>
              <a:t>60</a:t>
            </a:fld>
            <a:endParaRPr lang="en-US" altLang="en-US" sz="1200" b="1">
              <a:latin typeface="Calibri" panose="020F0502020204030204" pitchFamily="34" charset="0"/>
            </a:endParaRPr>
          </a:p>
        </p:txBody>
      </p:sp>
    </p:spTree>
  </p:cSld>
  <p:clrMapOvr>
    <a:masterClrMapping/>
  </p:clrMapOvr>
  <p:transition>
    <p:zoom/>
  </p:transition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Slide Number Placeholder 6">
            <a:extLst>
              <a:ext uri="{FF2B5EF4-FFF2-40B4-BE49-F238E27FC236}">
                <a16:creationId xmlns:a16="http://schemas.microsoft.com/office/drawing/2014/main" id="{F29C55DF-B3FD-46D1-A4F4-8959E08B5F23}"/>
              </a:ext>
            </a:extLst>
          </p:cNvPr>
          <p:cNvSpPr txBox="1">
            <a:spLocks noGrp="1"/>
          </p:cNvSpPr>
          <p:nvPr/>
        </p:nvSpPr>
        <p:spPr bwMode="auto">
          <a:xfrm>
            <a:off x="7239000" y="6477000"/>
            <a:ext cx="1905000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r" eaLnBrk="1" hangingPunct="1"/>
            <a:fld id="{6BF18D7F-C6A4-4CB4-AA4E-7DEA5485AD0D}" type="slidenum">
              <a:rPr lang="en-US" altLang="en-US" sz="1400" b="1">
                <a:latin typeface="Calibri" panose="020F0502020204030204" pitchFamily="34" charset="0"/>
              </a:rPr>
              <a:pPr algn="r" eaLnBrk="1" hangingPunct="1"/>
              <a:t>61</a:t>
            </a:fld>
            <a:endParaRPr lang="en-US" altLang="en-US" sz="1400" b="1">
              <a:latin typeface="Calibri" panose="020F0502020204030204" pitchFamily="34" charset="0"/>
            </a:endParaRPr>
          </a:p>
        </p:txBody>
      </p:sp>
      <p:sp>
        <p:nvSpPr>
          <p:cNvPr id="64515" name="Rectangle 2">
            <a:extLst>
              <a:ext uri="{FF2B5EF4-FFF2-40B4-BE49-F238E27FC236}">
                <a16:creationId xmlns:a16="http://schemas.microsoft.com/office/drawing/2014/main" id="{56E8784F-48AB-478E-B2F6-BE6BF8A22E54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0" y="381000"/>
            <a:ext cx="9144000" cy="609600"/>
          </a:xfrm>
          <a:noFill/>
        </p:spPr>
        <p:txBody>
          <a:bodyPr lIns="92075" tIns="46038" rIns="92075" bIns="46038" anchor="ctr"/>
          <a:lstStyle/>
          <a:p>
            <a:pPr eaLnBrk="1" hangingPunct="1"/>
            <a:r>
              <a:rPr lang="en-US" altLang="en-US" sz="3200"/>
              <a:t>Chapter 8. Classification: Basic Concepts</a:t>
            </a:r>
          </a:p>
        </p:txBody>
      </p:sp>
      <p:sp>
        <p:nvSpPr>
          <p:cNvPr id="64516" name="Rectangle 3">
            <a:extLst>
              <a:ext uri="{FF2B5EF4-FFF2-40B4-BE49-F238E27FC236}">
                <a16:creationId xmlns:a16="http://schemas.microsoft.com/office/drawing/2014/main" id="{D6375643-BD27-47B4-96F2-592E11204623}"/>
              </a:ext>
            </a:extLst>
          </p:cNvPr>
          <p:cNvSpPr>
            <a:spLocks noGrp="1" noChangeArrowheads="1"/>
          </p:cNvSpPr>
          <p:nvPr>
            <p:ph type="body" sz="half" idx="4294967295"/>
          </p:nvPr>
        </p:nvSpPr>
        <p:spPr>
          <a:xfrm>
            <a:off x="304800" y="1447800"/>
            <a:ext cx="8382000" cy="5105400"/>
          </a:xfrm>
          <a:noFill/>
        </p:spPr>
        <p:txBody>
          <a:bodyPr lIns="92075" tIns="46038" rIns="92075" bIns="46038"/>
          <a:lstStyle/>
          <a:p>
            <a:pPr>
              <a:lnSpc>
                <a:spcPct val="130000"/>
              </a:lnSpc>
            </a:pPr>
            <a:r>
              <a:rPr lang="en-US" altLang="en-US"/>
              <a:t>Classification: Basic Concepts</a:t>
            </a:r>
          </a:p>
          <a:p>
            <a:pPr>
              <a:lnSpc>
                <a:spcPct val="130000"/>
              </a:lnSpc>
            </a:pPr>
            <a:r>
              <a:rPr lang="en-US" altLang="en-US"/>
              <a:t>Decision Tree Induction</a:t>
            </a:r>
          </a:p>
          <a:p>
            <a:pPr>
              <a:lnSpc>
                <a:spcPct val="130000"/>
              </a:lnSpc>
            </a:pPr>
            <a:r>
              <a:rPr lang="en-US" altLang="en-US"/>
              <a:t>Bayes Classification Methods</a:t>
            </a:r>
          </a:p>
          <a:p>
            <a:pPr>
              <a:lnSpc>
                <a:spcPct val="130000"/>
              </a:lnSpc>
            </a:pPr>
            <a:r>
              <a:rPr lang="en-US" altLang="en-US"/>
              <a:t>Rule-Based Classification</a:t>
            </a:r>
          </a:p>
          <a:p>
            <a:pPr>
              <a:lnSpc>
                <a:spcPct val="130000"/>
              </a:lnSpc>
            </a:pPr>
            <a:r>
              <a:rPr lang="en-US" altLang="en-US"/>
              <a:t>Model Evaluation and Selection</a:t>
            </a:r>
          </a:p>
          <a:p>
            <a:pPr>
              <a:lnSpc>
                <a:spcPct val="130000"/>
              </a:lnSpc>
            </a:pPr>
            <a:r>
              <a:rPr lang="en-US" altLang="en-US"/>
              <a:t>Techniques to Improve Classification Accuracy: Ensemble Methods</a:t>
            </a:r>
          </a:p>
          <a:p>
            <a:pPr>
              <a:lnSpc>
                <a:spcPct val="130000"/>
              </a:lnSpc>
            </a:pPr>
            <a:r>
              <a:rPr lang="en-US" altLang="en-US"/>
              <a:t>Summary</a:t>
            </a:r>
          </a:p>
        </p:txBody>
      </p:sp>
      <p:sp>
        <p:nvSpPr>
          <p:cNvPr id="64517" name="AutoShape 8">
            <a:extLst>
              <a:ext uri="{FF2B5EF4-FFF2-40B4-BE49-F238E27FC236}">
                <a16:creationId xmlns:a16="http://schemas.microsoft.com/office/drawing/2014/main" id="{1B5D3D34-0E1D-47D3-A57D-73DFCEBBC8AF}"/>
              </a:ext>
            </a:extLst>
          </p:cNvPr>
          <p:cNvSpPr>
            <a:spLocks noChangeArrowheads="1"/>
          </p:cNvSpPr>
          <p:nvPr/>
        </p:nvSpPr>
        <p:spPr bwMode="auto">
          <a:xfrm rot="9803581">
            <a:off x="7772400" y="4724400"/>
            <a:ext cx="533400" cy="381000"/>
          </a:xfrm>
          <a:prstGeom prst="notchedRightArrow">
            <a:avLst>
              <a:gd name="adj1" fmla="val 50000"/>
              <a:gd name="adj2" fmla="val 35000"/>
            </a:avLst>
          </a:prstGeom>
          <a:solidFill>
            <a:srgbClr val="FF99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rot="10800000" wrap="none" anchor="ctr"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</p:spTree>
  </p:cSld>
  <p:clrMapOvr>
    <a:masterClrMapping/>
  </p:clrMapOvr>
  <p:transition>
    <p:zoom/>
  </p:transition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5538" name="Picture 4">
            <a:extLst>
              <a:ext uri="{FF2B5EF4-FFF2-40B4-BE49-F238E27FC236}">
                <a16:creationId xmlns:a16="http://schemas.microsoft.com/office/drawing/2014/main" id="{DE0A151E-E420-4FB2-82AE-A4C0940481D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67200" y="838200"/>
            <a:ext cx="4572000" cy="21637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5539" name="Rectangle 2">
            <a:extLst>
              <a:ext uri="{FF2B5EF4-FFF2-40B4-BE49-F238E27FC236}">
                <a16:creationId xmlns:a16="http://schemas.microsoft.com/office/drawing/2014/main" id="{31763E5B-2079-495E-A602-63075672BB9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-152400" y="304800"/>
            <a:ext cx="9372600" cy="609600"/>
          </a:xfrm>
        </p:spPr>
        <p:txBody>
          <a:bodyPr/>
          <a:lstStyle/>
          <a:p>
            <a:pPr eaLnBrk="1" hangingPunct="1"/>
            <a:r>
              <a:rPr lang="en-US" altLang="en-US"/>
              <a:t>Ensemble Methods: Increasing the Accuracy</a:t>
            </a:r>
          </a:p>
        </p:txBody>
      </p:sp>
      <p:sp>
        <p:nvSpPr>
          <p:cNvPr id="65540" name="Rectangle 3">
            <a:extLst>
              <a:ext uri="{FF2B5EF4-FFF2-40B4-BE49-F238E27FC236}">
                <a16:creationId xmlns:a16="http://schemas.microsoft.com/office/drawing/2014/main" id="{6B3D40D8-68A5-42B1-9E38-C8A224E2202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04800" y="2590800"/>
            <a:ext cx="8458200" cy="3810000"/>
          </a:xfrm>
        </p:spPr>
        <p:txBody>
          <a:bodyPr/>
          <a:lstStyle/>
          <a:p>
            <a:pPr eaLnBrk="1" hangingPunct="1"/>
            <a:r>
              <a:rPr lang="en-US" altLang="en-US" sz="2400"/>
              <a:t>Ensemble methods</a:t>
            </a:r>
          </a:p>
          <a:p>
            <a:pPr lvl="1" eaLnBrk="1" hangingPunct="1"/>
            <a:r>
              <a:rPr lang="en-US" altLang="en-US" sz="2400"/>
              <a:t>Use a combination of models to increase accuracy</a:t>
            </a:r>
          </a:p>
          <a:p>
            <a:pPr lvl="1" eaLnBrk="1" hangingPunct="1"/>
            <a:r>
              <a:rPr lang="en-US" altLang="en-US" sz="2400"/>
              <a:t>Combine a series of k learned models, M</a:t>
            </a:r>
            <a:r>
              <a:rPr lang="en-US" altLang="en-US" sz="2400" baseline="-25000"/>
              <a:t>1</a:t>
            </a:r>
            <a:r>
              <a:rPr lang="en-US" altLang="en-US" sz="2400"/>
              <a:t>, M</a:t>
            </a:r>
            <a:r>
              <a:rPr lang="en-US" altLang="en-US" sz="2400" baseline="-25000"/>
              <a:t>2</a:t>
            </a:r>
            <a:r>
              <a:rPr lang="en-US" altLang="en-US" sz="2400"/>
              <a:t>, …, M</a:t>
            </a:r>
            <a:r>
              <a:rPr lang="en-US" altLang="en-US" sz="2400" baseline="-25000"/>
              <a:t>k</a:t>
            </a:r>
            <a:r>
              <a:rPr lang="en-US" altLang="en-US" sz="2400"/>
              <a:t>, with the aim of creating an improved model M*</a:t>
            </a:r>
          </a:p>
          <a:p>
            <a:pPr eaLnBrk="1" hangingPunct="1"/>
            <a:r>
              <a:rPr lang="en-US" altLang="en-US" sz="2400"/>
              <a:t>Popular ensemble methods</a:t>
            </a:r>
          </a:p>
          <a:p>
            <a:pPr lvl="1" eaLnBrk="1" hangingPunct="1"/>
            <a:r>
              <a:rPr lang="en-US" altLang="en-US" sz="2400"/>
              <a:t>Bagging: averaging the prediction over a collection of classifiers</a:t>
            </a:r>
          </a:p>
          <a:p>
            <a:pPr lvl="1" eaLnBrk="1" hangingPunct="1"/>
            <a:r>
              <a:rPr lang="en-US" altLang="en-US" sz="2400"/>
              <a:t>Boosting: weighted vote with a collection of classifiers</a:t>
            </a:r>
          </a:p>
          <a:p>
            <a:pPr lvl="1" eaLnBrk="1" hangingPunct="1"/>
            <a:r>
              <a:rPr lang="en-US" altLang="en-US" sz="2400"/>
              <a:t>Ensemble: combining a set of heterogeneous classifiers</a:t>
            </a:r>
          </a:p>
        </p:txBody>
      </p:sp>
      <p:sp>
        <p:nvSpPr>
          <p:cNvPr id="65541" name="Slide Number Placeholder 7">
            <a:extLst>
              <a:ext uri="{FF2B5EF4-FFF2-40B4-BE49-F238E27FC236}">
                <a16:creationId xmlns:a16="http://schemas.microsoft.com/office/drawing/2014/main" id="{FE204831-4DA1-48AB-8386-4B35925454CD}"/>
              </a:ext>
            </a:extLst>
          </p:cNvPr>
          <p:cNvSpPr txBox="1">
            <a:spLocks noGrp="1"/>
          </p:cNvSpPr>
          <p:nvPr/>
        </p:nvSpPr>
        <p:spPr bwMode="auto">
          <a:xfrm>
            <a:off x="7239000" y="6477000"/>
            <a:ext cx="1905000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r" eaLnBrk="1" hangingPunct="1"/>
            <a:fld id="{E9DC0507-58A0-4380-8661-8101F2C8FE97}" type="slidenum">
              <a:rPr lang="en-US" altLang="en-US" sz="1200" b="1">
                <a:latin typeface="Calibri" panose="020F0502020204030204" pitchFamily="34" charset="0"/>
              </a:rPr>
              <a:pPr algn="r" eaLnBrk="1" hangingPunct="1"/>
              <a:t>62</a:t>
            </a:fld>
            <a:endParaRPr lang="en-US" altLang="en-US" sz="1200" b="1">
              <a:latin typeface="Calibri" panose="020F0502020204030204" pitchFamily="34" charset="0"/>
            </a:endParaRPr>
          </a:p>
        </p:txBody>
      </p:sp>
    </p:spTree>
  </p:cSld>
  <p:clrMapOvr>
    <a:masterClrMapping/>
  </p:clrMapOvr>
  <p:transition>
    <p:zoom/>
  </p:transition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Rectangle 2">
            <a:extLst>
              <a:ext uri="{FF2B5EF4-FFF2-40B4-BE49-F238E27FC236}">
                <a16:creationId xmlns:a16="http://schemas.microsoft.com/office/drawing/2014/main" id="{58E99334-6396-44B6-98A3-8846191C465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04800" y="381000"/>
            <a:ext cx="8534400" cy="533400"/>
          </a:xfrm>
        </p:spPr>
        <p:txBody>
          <a:bodyPr/>
          <a:lstStyle/>
          <a:p>
            <a:pPr eaLnBrk="1" hangingPunct="1"/>
            <a:r>
              <a:rPr lang="en-US" altLang="en-US"/>
              <a:t>Bagging: Boostrap Aggregation</a:t>
            </a:r>
          </a:p>
        </p:txBody>
      </p:sp>
      <p:sp>
        <p:nvSpPr>
          <p:cNvPr id="66563" name="Rectangle 3">
            <a:extLst>
              <a:ext uri="{FF2B5EF4-FFF2-40B4-BE49-F238E27FC236}">
                <a16:creationId xmlns:a16="http://schemas.microsoft.com/office/drawing/2014/main" id="{DCE2C7BA-904C-404F-B25E-513A41E4276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04800" y="1295400"/>
            <a:ext cx="8458200" cy="5334000"/>
          </a:xfrm>
        </p:spPr>
        <p:txBody>
          <a:bodyPr/>
          <a:lstStyle/>
          <a:p>
            <a:pPr eaLnBrk="1" hangingPunct="1"/>
            <a:r>
              <a:rPr lang="en-US" altLang="en-US" sz="2000"/>
              <a:t>Analogy: Diagnosis based on multiple doctors’ majority vote</a:t>
            </a:r>
          </a:p>
          <a:p>
            <a:pPr eaLnBrk="1" hangingPunct="1"/>
            <a:r>
              <a:rPr lang="en-US" altLang="en-US" sz="2000"/>
              <a:t>Training</a:t>
            </a:r>
          </a:p>
          <a:p>
            <a:pPr lvl="1" eaLnBrk="1" hangingPunct="1"/>
            <a:r>
              <a:rPr lang="en-US" altLang="en-US" sz="2000"/>
              <a:t>Given a set D of </a:t>
            </a:r>
            <a:r>
              <a:rPr lang="en-US" altLang="en-US" sz="2000" i="1"/>
              <a:t>d </a:t>
            </a:r>
            <a:r>
              <a:rPr lang="en-US" altLang="en-US" sz="2000"/>
              <a:t>tuples, at each iteration </a:t>
            </a:r>
            <a:r>
              <a:rPr lang="en-US" altLang="en-US" sz="2000" i="1"/>
              <a:t>i</a:t>
            </a:r>
            <a:r>
              <a:rPr lang="en-US" altLang="en-US" sz="2000"/>
              <a:t>, a training set D</a:t>
            </a:r>
            <a:r>
              <a:rPr lang="en-US" altLang="en-US" sz="2000" baseline="-25000"/>
              <a:t>i</a:t>
            </a:r>
            <a:r>
              <a:rPr lang="en-US" altLang="en-US" sz="2000"/>
              <a:t> of </a:t>
            </a:r>
            <a:r>
              <a:rPr lang="en-US" altLang="en-US" sz="2000" i="1"/>
              <a:t>d</a:t>
            </a:r>
            <a:r>
              <a:rPr lang="en-US" altLang="en-US" sz="2000"/>
              <a:t> tuples is sampled with replacement from D (i.e., bootstrap)</a:t>
            </a:r>
          </a:p>
          <a:p>
            <a:pPr lvl="1" eaLnBrk="1" hangingPunct="1"/>
            <a:r>
              <a:rPr lang="en-US" altLang="en-US" sz="2000"/>
              <a:t>A classifier model M</a:t>
            </a:r>
            <a:r>
              <a:rPr lang="en-US" altLang="en-US" sz="2000" baseline="-25000"/>
              <a:t>i</a:t>
            </a:r>
            <a:r>
              <a:rPr lang="en-US" altLang="en-US" sz="2000"/>
              <a:t> is learned for each training set D</a:t>
            </a:r>
            <a:r>
              <a:rPr lang="en-US" altLang="en-US" sz="2000" baseline="-25000"/>
              <a:t>i</a:t>
            </a:r>
            <a:endParaRPr lang="en-US" altLang="en-US" sz="2000"/>
          </a:p>
          <a:p>
            <a:pPr eaLnBrk="1" hangingPunct="1"/>
            <a:r>
              <a:rPr lang="en-US" altLang="en-US" sz="2000"/>
              <a:t>Classification: classify an unknown sample</a:t>
            </a:r>
            <a:r>
              <a:rPr lang="en-US" altLang="en-US" sz="2000" b="1"/>
              <a:t> X</a:t>
            </a:r>
            <a:r>
              <a:rPr lang="en-US" altLang="en-US" sz="2000"/>
              <a:t> </a:t>
            </a:r>
          </a:p>
          <a:p>
            <a:pPr lvl="1" eaLnBrk="1" hangingPunct="1"/>
            <a:r>
              <a:rPr lang="en-US" altLang="en-US" sz="2000"/>
              <a:t>Each classifier M</a:t>
            </a:r>
            <a:r>
              <a:rPr lang="en-US" altLang="en-US" sz="2000" baseline="-25000"/>
              <a:t>i</a:t>
            </a:r>
            <a:r>
              <a:rPr lang="en-US" altLang="en-US" sz="2000"/>
              <a:t> returns its class prediction</a:t>
            </a:r>
          </a:p>
          <a:p>
            <a:pPr lvl="1" eaLnBrk="1" hangingPunct="1"/>
            <a:r>
              <a:rPr lang="en-US" altLang="en-US" sz="2000"/>
              <a:t>The bagged classifier M* counts the votes and assigns the class with the most votes to </a:t>
            </a:r>
            <a:r>
              <a:rPr lang="en-US" altLang="en-US" sz="2000" b="1"/>
              <a:t>X</a:t>
            </a:r>
            <a:endParaRPr lang="en-US" altLang="en-US" sz="2000"/>
          </a:p>
          <a:p>
            <a:pPr eaLnBrk="1" hangingPunct="1"/>
            <a:r>
              <a:rPr lang="en-US" altLang="en-US" sz="2000"/>
              <a:t>Prediction: can be applied to the prediction of continuous values by taking the average value of each prediction for a given test tuple</a:t>
            </a:r>
          </a:p>
          <a:p>
            <a:pPr eaLnBrk="1" hangingPunct="1"/>
            <a:r>
              <a:rPr lang="en-US" altLang="en-US" sz="2000"/>
              <a:t>Accuracy</a:t>
            </a:r>
          </a:p>
          <a:p>
            <a:pPr lvl="1" eaLnBrk="1" hangingPunct="1"/>
            <a:r>
              <a:rPr lang="en-US" altLang="en-US" sz="2000"/>
              <a:t>Often significantly better than a single classifier derived from D</a:t>
            </a:r>
          </a:p>
          <a:p>
            <a:pPr lvl="1" eaLnBrk="1" hangingPunct="1"/>
            <a:r>
              <a:rPr lang="en-US" altLang="en-US" sz="2000"/>
              <a:t>For noise data: not considerably worse, more robust </a:t>
            </a:r>
          </a:p>
          <a:p>
            <a:pPr lvl="1" eaLnBrk="1" hangingPunct="1"/>
            <a:r>
              <a:rPr lang="en-US" altLang="en-US" sz="2000"/>
              <a:t>Proved improved accuracy in prediction</a:t>
            </a:r>
          </a:p>
        </p:txBody>
      </p:sp>
      <p:sp>
        <p:nvSpPr>
          <p:cNvPr id="66564" name="Slide Number Placeholder 7">
            <a:extLst>
              <a:ext uri="{FF2B5EF4-FFF2-40B4-BE49-F238E27FC236}">
                <a16:creationId xmlns:a16="http://schemas.microsoft.com/office/drawing/2014/main" id="{9F8D98E5-A929-4733-8668-E8EACD8C6151}"/>
              </a:ext>
            </a:extLst>
          </p:cNvPr>
          <p:cNvSpPr txBox="1">
            <a:spLocks noGrp="1"/>
          </p:cNvSpPr>
          <p:nvPr/>
        </p:nvSpPr>
        <p:spPr bwMode="auto">
          <a:xfrm>
            <a:off x="7239000" y="6477000"/>
            <a:ext cx="1905000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r" eaLnBrk="1" hangingPunct="1"/>
            <a:fld id="{90355A13-01F8-48BF-B85E-5526D897795B}" type="slidenum">
              <a:rPr lang="en-US" altLang="en-US" sz="1200" b="1">
                <a:latin typeface="Calibri" panose="020F0502020204030204" pitchFamily="34" charset="0"/>
              </a:rPr>
              <a:pPr algn="r" eaLnBrk="1" hangingPunct="1"/>
              <a:t>63</a:t>
            </a:fld>
            <a:endParaRPr lang="en-US" altLang="en-US" sz="1200" b="1">
              <a:latin typeface="Calibri" panose="020F0502020204030204" pitchFamily="34" charset="0"/>
            </a:endParaRPr>
          </a:p>
        </p:txBody>
      </p:sp>
    </p:spTree>
  </p:cSld>
  <p:clrMapOvr>
    <a:masterClrMapping/>
  </p:clrMapOvr>
  <p:transition>
    <p:zoom/>
  </p:transition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Rectangle 1026">
            <a:extLst>
              <a:ext uri="{FF2B5EF4-FFF2-40B4-BE49-F238E27FC236}">
                <a16:creationId xmlns:a16="http://schemas.microsoft.com/office/drawing/2014/main" id="{43FDFB33-8BB6-466A-B2CC-208036EF22C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04800" y="381000"/>
            <a:ext cx="8458200" cy="533400"/>
          </a:xfrm>
        </p:spPr>
        <p:txBody>
          <a:bodyPr/>
          <a:lstStyle/>
          <a:p>
            <a:pPr eaLnBrk="1" hangingPunct="1"/>
            <a:r>
              <a:rPr lang="en-US" altLang="en-US"/>
              <a:t>Boosting</a:t>
            </a:r>
            <a:endParaRPr lang="en-US" altLang="en-US" sz="2800"/>
          </a:p>
        </p:txBody>
      </p:sp>
      <p:sp>
        <p:nvSpPr>
          <p:cNvPr id="67587" name="Rectangle 1027">
            <a:extLst>
              <a:ext uri="{FF2B5EF4-FFF2-40B4-BE49-F238E27FC236}">
                <a16:creationId xmlns:a16="http://schemas.microsoft.com/office/drawing/2014/main" id="{5B0D9F3B-D04B-4786-ADBD-E0F3461C864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52400" y="1219200"/>
            <a:ext cx="8839200" cy="5486400"/>
          </a:xfrm>
        </p:spPr>
        <p:txBody>
          <a:bodyPr/>
          <a:lstStyle/>
          <a:p>
            <a:pPr marL="457200" indent="-457200" eaLnBrk="1" hangingPunct="1">
              <a:lnSpc>
                <a:spcPct val="90000"/>
              </a:lnSpc>
            </a:pPr>
            <a:r>
              <a:rPr lang="en-US" altLang="en-US" sz="2400"/>
              <a:t>Analogy: Consult several doctors, based on a combination of weighted diagnoses—weight assigned based on the previous diagnosis accuracy</a:t>
            </a:r>
          </a:p>
          <a:p>
            <a:pPr marL="457200" indent="-457200" eaLnBrk="1" hangingPunct="1">
              <a:lnSpc>
                <a:spcPct val="90000"/>
              </a:lnSpc>
            </a:pPr>
            <a:r>
              <a:rPr lang="en-US" altLang="en-US" sz="2400"/>
              <a:t>How boosting works?</a:t>
            </a:r>
          </a:p>
          <a:p>
            <a:pPr marL="914400" lvl="1" indent="-457200" eaLnBrk="1" hangingPunct="1">
              <a:lnSpc>
                <a:spcPct val="90000"/>
              </a:lnSpc>
            </a:pPr>
            <a:r>
              <a:rPr lang="en-US" altLang="en-US" sz="2400" b="1"/>
              <a:t>Weights</a:t>
            </a:r>
            <a:r>
              <a:rPr lang="en-US" altLang="en-US" sz="2400"/>
              <a:t> are assigned to each training tuple</a:t>
            </a:r>
          </a:p>
          <a:p>
            <a:pPr marL="914400" lvl="1" indent="-457200" eaLnBrk="1" hangingPunct="1">
              <a:lnSpc>
                <a:spcPct val="90000"/>
              </a:lnSpc>
            </a:pPr>
            <a:r>
              <a:rPr lang="en-US" altLang="en-US" sz="2400"/>
              <a:t>A series of k classifiers is iteratively learned</a:t>
            </a:r>
          </a:p>
          <a:p>
            <a:pPr marL="914400" lvl="1" indent="-457200" eaLnBrk="1" hangingPunct="1">
              <a:lnSpc>
                <a:spcPct val="90000"/>
              </a:lnSpc>
            </a:pPr>
            <a:r>
              <a:rPr lang="en-US" altLang="en-US" sz="2400"/>
              <a:t>After a classifier M</a:t>
            </a:r>
            <a:r>
              <a:rPr lang="en-US" altLang="en-US" sz="2400" baseline="-25000"/>
              <a:t>i</a:t>
            </a:r>
            <a:r>
              <a:rPr lang="en-US" altLang="en-US" sz="2400"/>
              <a:t> is learned, the weights are updated to allow the subsequent classifier, M</a:t>
            </a:r>
            <a:r>
              <a:rPr lang="en-US" altLang="en-US" sz="2400" baseline="-25000"/>
              <a:t>i+1</a:t>
            </a:r>
            <a:r>
              <a:rPr lang="en-US" altLang="en-US" sz="2400"/>
              <a:t>, to </a:t>
            </a:r>
            <a:r>
              <a:rPr lang="en-US" altLang="en-US" sz="2400" b="1"/>
              <a:t>pay more attention to the training tuples that were misclassified</a:t>
            </a:r>
            <a:r>
              <a:rPr lang="en-US" altLang="en-US" sz="2400"/>
              <a:t> by M</a:t>
            </a:r>
            <a:r>
              <a:rPr lang="en-US" altLang="en-US" sz="2400" baseline="-25000"/>
              <a:t>i</a:t>
            </a:r>
            <a:endParaRPr lang="en-US" altLang="en-US" sz="2400"/>
          </a:p>
          <a:p>
            <a:pPr marL="914400" lvl="1" indent="-457200" eaLnBrk="1" hangingPunct="1">
              <a:lnSpc>
                <a:spcPct val="90000"/>
              </a:lnSpc>
            </a:pPr>
            <a:r>
              <a:rPr lang="en-US" altLang="en-US" sz="2400"/>
              <a:t>The final </a:t>
            </a:r>
            <a:r>
              <a:rPr lang="en-US" altLang="en-US" sz="2400" b="1"/>
              <a:t>M* combines the votes</a:t>
            </a:r>
            <a:r>
              <a:rPr lang="en-US" altLang="en-US" sz="2400"/>
              <a:t> of each individual classifier, where the weight of each classifier's vote is a function of its accuracy</a:t>
            </a:r>
          </a:p>
          <a:p>
            <a:pPr marL="457200" indent="-457200" eaLnBrk="1" hangingPunct="1">
              <a:lnSpc>
                <a:spcPct val="90000"/>
              </a:lnSpc>
            </a:pPr>
            <a:r>
              <a:rPr lang="en-US" altLang="en-US" sz="2400"/>
              <a:t>Boosting algorithm can be extended for numeric prediction</a:t>
            </a:r>
          </a:p>
          <a:p>
            <a:pPr marL="457200" indent="-457200" eaLnBrk="1" hangingPunct="1">
              <a:lnSpc>
                <a:spcPct val="90000"/>
              </a:lnSpc>
            </a:pPr>
            <a:r>
              <a:rPr lang="en-US" altLang="en-US" sz="2400"/>
              <a:t>Comparing with bagging: Boosting tends to have greater accuracy, but it also risks overfitting the model to misclassified data</a:t>
            </a:r>
          </a:p>
        </p:txBody>
      </p:sp>
      <p:sp>
        <p:nvSpPr>
          <p:cNvPr id="67588" name="Slide Number Placeholder 7">
            <a:extLst>
              <a:ext uri="{FF2B5EF4-FFF2-40B4-BE49-F238E27FC236}">
                <a16:creationId xmlns:a16="http://schemas.microsoft.com/office/drawing/2014/main" id="{63B69205-02AC-46F6-A30A-F20F851B495D}"/>
              </a:ext>
            </a:extLst>
          </p:cNvPr>
          <p:cNvSpPr txBox="1">
            <a:spLocks noGrp="1"/>
          </p:cNvSpPr>
          <p:nvPr/>
        </p:nvSpPr>
        <p:spPr bwMode="auto">
          <a:xfrm>
            <a:off x="7239000" y="6477000"/>
            <a:ext cx="1905000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r" eaLnBrk="1" hangingPunct="1"/>
            <a:fld id="{8E5EC4B3-3572-4F37-90E3-CAA84A9174D0}" type="slidenum">
              <a:rPr lang="en-US" altLang="en-US" sz="1200" b="1">
                <a:latin typeface="Calibri" panose="020F0502020204030204" pitchFamily="34" charset="0"/>
              </a:rPr>
              <a:pPr algn="r" eaLnBrk="1" hangingPunct="1"/>
              <a:t>64</a:t>
            </a:fld>
            <a:endParaRPr lang="en-US" altLang="en-US" sz="1200" b="1">
              <a:latin typeface="Calibri" panose="020F0502020204030204" pitchFamily="34" charset="0"/>
            </a:endParaRPr>
          </a:p>
        </p:txBody>
      </p:sp>
    </p:spTree>
  </p:cSld>
  <p:clrMapOvr>
    <a:masterClrMapping/>
  </p:clrMapOvr>
  <p:transition>
    <p:zoom/>
  </p:transition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Slide Number Placeholder 7">
            <a:extLst>
              <a:ext uri="{FF2B5EF4-FFF2-40B4-BE49-F238E27FC236}">
                <a16:creationId xmlns:a16="http://schemas.microsoft.com/office/drawing/2014/main" id="{58646CBD-9854-41B0-B59E-8ED84E766B7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fld id="{B7825BD0-D4A1-4C01-81A2-C04FEFC59A7E}" type="slidenum">
              <a:rPr lang="en-US" altLang="en-US" b="1">
                <a:latin typeface="Calibri" panose="020F0502020204030204" pitchFamily="34" charset="0"/>
              </a:rPr>
              <a:pPr eaLnBrk="1" hangingPunct="1"/>
              <a:t>65</a:t>
            </a:fld>
            <a:endParaRPr lang="en-US" altLang="en-US" b="1">
              <a:latin typeface="Calibri" panose="020F0502020204030204" pitchFamily="34" charset="0"/>
            </a:endParaRPr>
          </a:p>
        </p:txBody>
      </p:sp>
      <p:sp>
        <p:nvSpPr>
          <p:cNvPr id="68611" name="Rectangle 2">
            <a:extLst>
              <a:ext uri="{FF2B5EF4-FFF2-40B4-BE49-F238E27FC236}">
                <a16:creationId xmlns:a16="http://schemas.microsoft.com/office/drawing/2014/main" id="{47A55301-E192-42D8-B1AB-A9BE80ECC33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304800"/>
            <a:ext cx="9144000" cy="609600"/>
          </a:xfrm>
        </p:spPr>
        <p:txBody>
          <a:bodyPr/>
          <a:lstStyle/>
          <a:p>
            <a:pPr eaLnBrk="1" hangingPunct="1"/>
            <a:r>
              <a:rPr lang="en-US" altLang="en-US"/>
              <a:t>Adaboost (Freund and Schapire, 1997)</a:t>
            </a:r>
          </a:p>
        </p:txBody>
      </p:sp>
      <p:sp>
        <p:nvSpPr>
          <p:cNvPr id="68612" name="Rectangle 3">
            <a:extLst>
              <a:ext uri="{FF2B5EF4-FFF2-40B4-BE49-F238E27FC236}">
                <a16:creationId xmlns:a16="http://schemas.microsoft.com/office/drawing/2014/main" id="{A5EA333B-3BE9-4B57-ADE9-E2FDD6999159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304800" y="1371600"/>
            <a:ext cx="8382000" cy="5105400"/>
          </a:xfrm>
        </p:spPr>
        <p:txBody>
          <a:bodyPr/>
          <a:lstStyle/>
          <a:p>
            <a:pPr marL="457200" indent="-457200" eaLnBrk="1" hangingPunct="1">
              <a:lnSpc>
                <a:spcPct val="90000"/>
              </a:lnSpc>
            </a:pPr>
            <a:r>
              <a:rPr lang="en-US" altLang="en-US" sz="2000"/>
              <a:t>Given a set of </a:t>
            </a:r>
            <a:r>
              <a:rPr lang="en-US" altLang="en-US" sz="2000" i="1"/>
              <a:t>d</a:t>
            </a:r>
            <a:r>
              <a:rPr lang="en-US" altLang="en-US" sz="2000"/>
              <a:t> class-labeled tuples, (</a:t>
            </a:r>
            <a:r>
              <a:rPr lang="en-US" altLang="en-US" sz="2000" b="1"/>
              <a:t>X</a:t>
            </a:r>
            <a:r>
              <a:rPr lang="en-US" altLang="en-US" sz="2000" b="1" baseline="-25000"/>
              <a:t>1</a:t>
            </a:r>
            <a:r>
              <a:rPr lang="en-US" altLang="en-US" sz="2000"/>
              <a:t>, y</a:t>
            </a:r>
            <a:r>
              <a:rPr lang="en-US" altLang="en-US" sz="2000" baseline="-25000"/>
              <a:t>1</a:t>
            </a:r>
            <a:r>
              <a:rPr lang="en-US" altLang="en-US" sz="2000"/>
              <a:t>), …, (</a:t>
            </a:r>
            <a:r>
              <a:rPr lang="en-US" altLang="en-US" sz="2000" b="1"/>
              <a:t>X</a:t>
            </a:r>
            <a:r>
              <a:rPr lang="en-US" altLang="en-US" sz="2000" b="1" baseline="-25000"/>
              <a:t>d</a:t>
            </a:r>
            <a:r>
              <a:rPr lang="en-US" altLang="en-US" sz="2000"/>
              <a:t>, y</a:t>
            </a:r>
            <a:r>
              <a:rPr lang="en-US" altLang="en-US" sz="2000" baseline="-25000"/>
              <a:t>d</a:t>
            </a:r>
            <a:r>
              <a:rPr lang="en-US" altLang="en-US" sz="2000"/>
              <a:t>)</a:t>
            </a:r>
          </a:p>
          <a:p>
            <a:pPr marL="457200" indent="-457200" eaLnBrk="1" hangingPunct="1">
              <a:lnSpc>
                <a:spcPct val="90000"/>
              </a:lnSpc>
            </a:pPr>
            <a:r>
              <a:rPr lang="en-US" altLang="en-US" sz="2000"/>
              <a:t>Initially, all the weights of tuples are set the same (1/d)</a:t>
            </a:r>
          </a:p>
          <a:p>
            <a:pPr marL="457200" indent="-457200" eaLnBrk="1" hangingPunct="1">
              <a:lnSpc>
                <a:spcPct val="90000"/>
              </a:lnSpc>
            </a:pPr>
            <a:r>
              <a:rPr lang="en-US" altLang="en-US" sz="2000"/>
              <a:t>Generate k classifiers in k rounds.  At round i,</a:t>
            </a:r>
          </a:p>
          <a:p>
            <a:pPr marL="914400" lvl="1" indent="-457200" eaLnBrk="1" hangingPunct="1">
              <a:lnSpc>
                <a:spcPct val="90000"/>
              </a:lnSpc>
            </a:pPr>
            <a:r>
              <a:rPr lang="en-US" altLang="en-US" sz="2000"/>
              <a:t>Tuples from D are sampled (with replacement) to form a training set D</a:t>
            </a:r>
            <a:r>
              <a:rPr lang="en-US" altLang="en-US" sz="2000" baseline="-25000"/>
              <a:t>i</a:t>
            </a:r>
            <a:r>
              <a:rPr lang="en-US" altLang="en-US" sz="2000"/>
              <a:t> of the same size</a:t>
            </a:r>
          </a:p>
          <a:p>
            <a:pPr marL="914400" lvl="1" indent="-457200" eaLnBrk="1" hangingPunct="1">
              <a:lnSpc>
                <a:spcPct val="90000"/>
              </a:lnSpc>
            </a:pPr>
            <a:r>
              <a:rPr lang="en-US" altLang="en-US" sz="2000"/>
              <a:t>Each tuple’s chance of being selected is based on its weight</a:t>
            </a:r>
          </a:p>
          <a:p>
            <a:pPr marL="914400" lvl="1" indent="-457200" eaLnBrk="1" hangingPunct="1">
              <a:lnSpc>
                <a:spcPct val="90000"/>
              </a:lnSpc>
            </a:pPr>
            <a:r>
              <a:rPr lang="en-US" altLang="en-US" sz="2000"/>
              <a:t>A classification model M</a:t>
            </a:r>
            <a:r>
              <a:rPr lang="en-US" altLang="en-US" sz="2000" baseline="-25000"/>
              <a:t>i</a:t>
            </a:r>
            <a:r>
              <a:rPr lang="en-US" altLang="en-US" sz="2000"/>
              <a:t> is derived from D</a:t>
            </a:r>
            <a:r>
              <a:rPr lang="en-US" altLang="en-US" sz="2000" baseline="-25000"/>
              <a:t>i</a:t>
            </a:r>
          </a:p>
          <a:p>
            <a:pPr marL="914400" lvl="1" indent="-457200" eaLnBrk="1" hangingPunct="1">
              <a:lnSpc>
                <a:spcPct val="90000"/>
              </a:lnSpc>
            </a:pPr>
            <a:r>
              <a:rPr lang="en-US" altLang="en-US" sz="2000"/>
              <a:t>Its error rate is calculated using D</a:t>
            </a:r>
            <a:r>
              <a:rPr lang="en-US" altLang="en-US" sz="2000" baseline="-25000"/>
              <a:t>i </a:t>
            </a:r>
            <a:r>
              <a:rPr lang="en-US" altLang="en-US" sz="2000"/>
              <a:t>as a test set</a:t>
            </a:r>
          </a:p>
          <a:p>
            <a:pPr marL="914400" lvl="1" indent="-457200" eaLnBrk="1" hangingPunct="1">
              <a:lnSpc>
                <a:spcPct val="90000"/>
              </a:lnSpc>
            </a:pPr>
            <a:r>
              <a:rPr lang="en-US" altLang="en-US" sz="2000"/>
              <a:t>If a tuple is misclassified, its weight is increased, o.w. it is decreased</a:t>
            </a:r>
          </a:p>
          <a:p>
            <a:pPr marL="457200" indent="-457200" eaLnBrk="1" hangingPunct="1">
              <a:lnSpc>
                <a:spcPct val="90000"/>
              </a:lnSpc>
            </a:pPr>
            <a:r>
              <a:rPr lang="en-US" altLang="en-US" sz="2000"/>
              <a:t>Error rate: err(</a:t>
            </a:r>
            <a:r>
              <a:rPr lang="en-US" altLang="en-US" sz="2000" b="1"/>
              <a:t>X</a:t>
            </a:r>
            <a:r>
              <a:rPr lang="en-US" altLang="en-US" sz="2000" b="1" baseline="-25000"/>
              <a:t>j</a:t>
            </a:r>
            <a:r>
              <a:rPr lang="en-US" altLang="en-US" sz="2000"/>
              <a:t>) is the misclassification error of tuple </a:t>
            </a:r>
            <a:r>
              <a:rPr lang="en-US" altLang="en-US" sz="2000" b="1"/>
              <a:t>X</a:t>
            </a:r>
            <a:r>
              <a:rPr lang="en-US" altLang="en-US" sz="2000" b="1" baseline="-25000"/>
              <a:t>j</a:t>
            </a:r>
            <a:r>
              <a:rPr lang="en-US" altLang="en-US" sz="2000"/>
              <a:t>. Classifier M</a:t>
            </a:r>
            <a:r>
              <a:rPr lang="en-US" altLang="en-US" sz="2000" baseline="-25000"/>
              <a:t>i</a:t>
            </a:r>
            <a:r>
              <a:rPr lang="en-US" altLang="en-US" sz="2000"/>
              <a:t> error rate is the sum of the weights of the misclassified tuples: </a:t>
            </a:r>
          </a:p>
          <a:p>
            <a:pPr marL="457200" indent="-457200" eaLnBrk="1" hangingPunct="1">
              <a:lnSpc>
                <a:spcPct val="90000"/>
              </a:lnSpc>
            </a:pPr>
            <a:endParaRPr lang="en-US" altLang="en-US" sz="2000"/>
          </a:p>
          <a:p>
            <a:pPr marL="457200" indent="-457200" eaLnBrk="1" hangingPunct="1">
              <a:lnSpc>
                <a:spcPct val="90000"/>
              </a:lnSpc>
            </a:pPr>
            <a:endParaRPr lang="en-US" altLang="en-US" sz="2000"/>
          </a:p>
          <a:p>
            <a:pPr marL="457200" indent="-457200" eaLnBrk="1" hangingPunct="1">
              <a:lnSpc>
                <a:spcPct val="90000"/>
              </a:lnSpc>
            </a:pPr>
            <a:r>
              <a:rPr lang="en-US" altLang="en-US" sz="2000"/>
              <a:t>The weight of classifier M</a:t>
            </a:r>
            <a:r>
              <a:rPr lang="en-US" altLang="en-US" sz="2000" baseline="-25000"/>
              <a:t>i</a:t>
            </a:r>
            <a:r>
              <a:rPr lang="en-US" altLang="en-US" sz="2000"/>
              <a:t>’s vote is</a:t>
            </a:r>
          </a:p>
        </p:txBody>
      </p:sp>
      <p:graphicFrame>
        <p:nvGraphicFramePr>
          <p:cNvPr id="68613" name="Object 4">
            <a:extLst>
              <a:ext uri="{FF2B5EF4-FFF2-40B4-BE49-F238E27FC236}">
                <a16:creationId xmlns:a16="http://schemas.microsoft.com/office/drawing/2014/main" id="{B13EA907-9EC0-4C49-8CB0-51906D29BC73}"/>
              </a:ext>
            </a:extLst>
          </p:cNvPr>
          <p:cNvGraphicFramePr>
            <a:graphicFrameLocks noChangeAspect="1"/>
          </p:cNvGraphicFramePr>
          <p:nvPr>
            <p:ph sz="quarter" idx="2"/>
          </p:nvPr>
        </p:nvGraphicFramePr>
        <p:xfrm>
          <a:off x="4953000" y="5715000"/>
          <a:ext cx="1828800" cy="723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8615" name="Equation" r:id="rId4" imgW="1091726" imgH="431613" progId="Equation.3">
                  <p:embed/>
                </p:oleObj>
              </mc:Choice>
              <mc:Fallback>
                <p:oleObj name="Equation" r:id="rId4" imgW="1091726" imgH="431613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53000" y="5715000"/>
                        <a:ext cx="1828800" cy="723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8614" name="Object 6">
            <a:extLst>
              <a:ext uri="{FF2B5EF4-FFF2-40B4-BE49-F238E27FC236}">
                <a16:creationId xmlns:a16="http://schemas.microsoft.com/office/drawing/2014/main" id="{57B41C7F-1C42-47EA-AF7C-04A9ECFFCB7F}"/>
              </a:ext>
            </a:extLst>
          </p:cNvPr>
          <p:cNvGraphicFramePr>
            <a:graphicFrameLocks noChangeAspect="1"/>
          </p:cNvGraphicFramePr>
          <p:nvPr>
            <p:ph sz="quarter" idx="3"/>
          </p:nvPr>
        </p:nvGraphicFramePr>
        <p:xfrm>
          <a:off x="2514600" y="4953000"/>
          <a:ext cx="3505200" cy="7159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8616" name="Equation" r:id="rId6" imgW="1752600" imgH="444500" progId="Equation.3">
                  <p:embed/>
                </p:oleObj>
              </mc:Choice>
              <mc:Fallback>
                <p:oleObj name="Equation" r:id="rId6" imgW="1752600" imgH="444500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14600" y="4953000"/>
                        <a:ext cx="3505200" cy="7159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>
    <p:zoom/>
  </p:transition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Rectangle 2">
            <a:extLst>
              <a:ext uri="{FF2B5EF4-FFF2-40B4-BE49-F238E27FC236}">
                <a16:creationId xmlns:a16="http://schemas.microsoft.com/office/drawing/2014/main" id="{F2966213-F0C8-4F26-B747-E9B56194AE7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Random Forest (</a:t>
            </a:r>
            <a:r>
              <a:rPr lang="en-US" altLang="en-US" sz="3200"/>
              <a:t>Breiman 2001) </a:t>
            </a:r>
          </a:p>
        </p:txBody>
      </p:sp>
      <p:sp>
        <p:nvSpPr>
          <p:cNvPr id="69635" name="Rectangle 3">
            <a:extLst>
              <a:ext uri="{FF2B5EF4-FFF2-40B4-BE49-F238E27FC236}">
                <a16:creationId xmlns:a16="http://schemas.microsoft.com/office/drawing/2014/main" id="{539A7D9E-A2A7-4299-BF37-3735FCAD8BB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04800" y="1143000"/>
            <a:ext cx="8458200" cy="5410200"/>
          </a:xfrm>
        </p:spPr>
        <p:txBody>
          <a:bodyPr/>
          <a:lstStyle/>
          <a:p>
            <a:r>
              <a:rPr lang="en-US" altLang="en-US" sz="2000"/>
              <a:t>Random Forest: </a:t>
            </a:r>
          </a:p>
          <a:p>
            <a:pPr lvl="1"/>
            <a:r>
              <a:rPr lang="en-US" altLang="en-US" sz="2000"/>
              <a:t>Each classifier in the ensemble is a </a:t>
            </a:r>
            <a:r>
              <a:rPr lang="en-US" altLang="en-US" sz="2000" i="1"/>
              <a:t>decision tree </a:t>
            </a:r>
            <a:r>
              <a:rPr lang="en-US" altLang="en-US" sz="2000"/>
              <a:t>classifier and is generated using a random selection of attributes at each node to determine the split</a:t>
            </a:r>
          </a:p>
          <a:p>
            <a:pPr lvl="1"/>
            <a:r>
              <a:rPr lang="en-US" altLang="en-US" sz="2000"/>
              <a:t>During classification, each tree votes and the most popular class is returned</a:t>
            </a:r>
          </a:p>
          <a:p>
            <a:r>
              <a:rPr lang="en-US" altLang="en-US" sz="2000"/>
              <a:t>Two Methods to construct Random Forest:</a:t>
            </a:r>
          </a:p>
          <a:p>
            <a:pPr lvl="1"/>
            <a:r>
              <a:rPr lang="en-US" altLang="en-US" sz="2000"/>
              <a:t>Forest-RI (</a:t>
            </a:r>
            <a:r>
              <a:rPr lang="en-US" altLang="en-US" sz="2000" i="1"/>
              <a:t>random input selection</a:t>
            </a:r>
            <a:r>
              <a:rPr lang="en-US" altLang="en-US" sz="2000"/>
              <a:t>):  Randomly select, at each node, F attributes as candidates for the split at the node. The CART methodology is used to grow the trees to maximum size</a:t>
            </a:r>
          </a:p>
          <a:p>
            <a:pPr lvl="1"/>
            <a:r>
              <a:rPr lang="en-US" altLang="en-US" sz="2000"/>
              <a:t>Forest-RC (</a:t>
            </a:r>
            <a:r>
              <a:rPr lang="en-US" altLang="en-US" sz="2000" i="1"/>
              <a:t>random linear combinations</a:t>
            </a:r>
            <a:r>
              <a:rPr lang="en-US" altLang="en-US" sz="2000"/>
              <a:t>)</a:t>
            </a:r>
            <a:r>
              <a:rPr lang="en-US" altLang="en-US" sz="2000" i="1"/>
              <a:t>: </a:t>
            </a:r>
            <a:r>
              <a:rPr lang="en-US" altLang="en-US" sz="2000"/>
              <a:t> Creates new attributes (or features) that are a linear combination of the existing attributes (reduces the correlation between individual classifiers)</a:t>
            </a:r>
          </a:p>
          <a:p>
            <a:r>
              <a:rPr lang="en-US" altLang="en-US" sz="2000"/>
              <a:t>Comparable in accuracy to Adaboost, but more robust to errors and outliers </a:t>
            </a:r>
          </a:p>
          <a:p>
            <a:r>
              <a:rPr lang="en-US" altLang="en-US" sz="2000"/>
              <a:t>Insensitive to the number of attributes selected for consideration at each split, and faster than bagging or boosting</a:t>
            </a:r>
          </a:p>
        </p:txBody>
      </p:sp>
      <p:sp>
        <p:nvSpPr>
          <p:cNvPr id="69636" name="Slide Number Placeholder 7">
            <a:extLst>
              <a:ext uri="{FF2B5EF4-FFF2-40B4-BE49-F238E27FC236}">
                <a16:creationId xmlns:a16="http://schemas.microsoft.com/office/drawing/2014/main" id="{EA245F39-68E8-4646-B5C3-046739E9B8D0}"/>
              </a:ext>
            </a:extLst>
          </p:cNvPr>
          <p:cNvSpPr txBox="1">
            <a:spLocks noGrp="1"/>
          </p:cNvSpPr>
          <p:nvPr/>
        </p:nvSpPr>
        <p:spPr bwMode="auto">
          <a:xfrm>
            <a:off x="7239000" y="6477000"/>
            <a:ext cx="1905000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r" eaLnBrk="1" hangingPunct="1"/>
            <a:fld id="{00A4079B-524F-4D14-A010-C210A56F61FF}" type="slidenum">
              <a:rPr lang="en-US" altLang="en-US" sz="1200" b="1">
                <a:latin typeface="Calibri" panose="020F0502020204030204" pitchFamily="34" charset="0"/>
              </a:rPr>
              <a:pPr algn="r" eaLnBrk="1" hangingPunct="1"/>
              <a:t>66</a:t>
            </a:fld>
            <a:endParaRPr lang="en-US" altLang="en-US" sz="1200" b="1">
              <a:latin typeface="Calibri" panose="020F0502020204030204" pitchFamily="34" charset="0"/>
            </a:endParaRPr>
          </a:p>
        </p:txBody>
      </p:sp>
    </p:spTree>
  </p:cSld>
  <p:clrMapOvr>
    <a:masterClrMapping/>
  </p:clrMapOvr>
  <p:transition>
    <p:zoom/>
  </p:transition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Rectangle 2">
            <a:extLst>
              <a:ext uri="{FF2B5EF4-FFF2-40B4-BE49-F238E27FC236}">
                <a16:creationId xmlns:a16="http://schemas.microsoft.com/office/drawing/2014/main" id="{76D4BDB9-88BF-4788-89D9-CEBC78183EB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304800"/>
            <a:ext cx="9144000" cy="609600"/>
          </a:xfrm>
        </p:spPr>
        <p:txBody>
          <a:bodyPr/>
          <a:lstStyle/>
          <a:p>
            <a:r>
              <a:rPr lang="en-US" altLang="en-US" sz="3200" b="0"/>
              <a:t>Classification of Class-Imbalanced Data Sets</a:t>
            </a:r>
          </a:p>
        </p:txBody>
      </p:sp>
      <p:sp>
        <p:nvSpPr>
          <p:cNvPr id="70659" name="Rectangle 3">
            <a:extLst>
              <a:ext uri="{FF2B5EF4-FFF2-40B4-BE49-F238E27FC236}">
                <a16:creationId xmlns:a16="http://schemas.microsoft.com/office/drawing/2014/main" id="{ADDF6C9D-5352-41AF-87F8-7E50F760214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04800" y="1295400"/>
            <a:ext cx="8686800" cy="5105400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altLang="en-US" sz="2400"/>
              <a:t>Class-imbalance problem: Rare positive example but numerous negative ones, e.g., medical diagnosis, fraud, oil-spill, fault, etc. </a:t>
            </a:r>
          </a:p>
          <a:p>
            <a:pPr>
              <a:lnSpc>
                <a:spcPct val="90000"/>
              </a:lnSpc>
            </a:pPr>
            <a:r>
              <a:rPr lang="en-US" altLang="en-US" sz="2400"/>
              <a:t>Traditional methods assume a balanced distribution of classes and equal error costs: not suitable for class-imbalanced data</a:t>
            </a:r>
          </a:p>
          <a:p>
            <a:pPr>
              <a:lnSpc>
                <a:spcPct val="90000"/>
              </a:lnSpc>
            </a:pPr>
            <a:r>
              <a:rPr lang="en-US" altLang="en-US" sz="2400"/>
              <a:t>Typical methods for imbalance data in 2-class classification: </a:t>
            </a:r>
          </a:p>
          <a:p>
            <a:pPr lvl="1">
              <a:lnSpc>
                <a:spcPct val="90000"/>
              </a:lnSpc>
            </a:pPr>
            <a:r>
              <a:rPr lang="en-US" altLang="en-US" sz="2400" b="1"/>
              <a:t>Oversampling</a:t>
            </a:r>
            <a:r>
              <a:rPr lang="en-US" altLang="en-US" sz="2400"/>
              <a:t>: re-sampling of data from positive class</a:t>
            </a:r>
          </a:p>
          <a:p>
            <a:pPr lvl="1">
              <a:lnSpc>
                <a:spcPct val="90000"/>
              </a:lnSpc>
            </a:pPr>
            <a:r>
              <a:rPr lang="en-US" altLang="en-US" sz="2400" b="1"/>
              <a:t>Under-sampling</a:t>
            </a:r>
            <a:r>
              <a:rPr lang="en-US" altLang="en-US" sz="2400"/>
              <a:t>: randomly eliminate  tuples from negative class</a:t>
            </a:r>
          </a:p>
          <a:p>
            <a:pPr lvl="1">
              <a:lnSpc>
                <a:spcPct val="90000"/>
              </a:lnSpc>
            </a:pPr>
            <a:r>
              <a:rPr lang="en-US" altLang="en-US" sz="2400" b="1"/>
              <a:t>Threshold-moving</a:t>
            </a:r>
            <a:r>
              <a:rPr lang="en-US" altLang="en-US" sz="2400"/>
              <a:t>: moves the decision threshold, t, so that the rare class tuples are easier to classify, and hence, less chance of costly false negative errors</a:t>
            </a:r>
          </a:p>
          <a:p>
            <a:pPr lvl="1">
              <a:lnSpc>
                <a:spcPct val="90000"/>
              </a:lnSpc>
            </a:pPr>
            <a:r>
              <a:rPr lang="en-US" altLang="en-US" sz="2400"/>
              <a:t>Ensemble techniques: Ensemble multiple classifiers introduced above</a:t>
            </a:r>
          </a:p>
          <a:p>
            <a:pPr>
              <a:lnSpc>
                <a:spcPct val="90000"/>
              </a:lnSpc>
            </a:pPr>
            <a:r>
              <a:rPr lang="en-US" altLang="en-US" sz="2400"/>
              <a:t>Still difficult for class imbalance problem on multiclass tasks</a:t>
            </a:r>
          </a:p>
        </p:txBody>
      </p:sp>
      <p:sp>
        <p:nvSpPr>
          <p:cNvPr id="70660" name="Slide Number Placeholder 7">
            <a:extLst>
              <a:ext uri="{FF2B5EF4-FFF2-40B4-BE49-F238E27FC236}">
                <a16:creationId xmlns:a16="http://schemas.microsoft.com/office/drawing/2014/main" id="{DA7C73E1-9D55-4769-B111-0C69284B1C99}"/>
              </a:ext>
            </a:extLst>
          </p:cNvPr>
          <p:cNvSpPr txBox="1">
            <a:spLocks noGrp="1"/>
          </p:cNvSpPr>
          <p:nvPr/>
        </p:nvSpPr>
        <p:spPr bwMode="auto">
          <a:xfrm>
            <a:off x="7239000" y="6477000"/>
            <a:ext cx="1905000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r" eaLnBrk="1" hangingPunct="1"/>
            <a:fld id="{0E380A2E-B950-4F1E-873C-C995A280906C}" type="slidenum">
              <a:rPr lang="en-US" altLang="en-US" sz="1200" b="1">
                <a:latin typeface="Calibri" panose="020F0502020204030204" pitchFamily="34" charset="0"/>
              </a:rPr>
              <a:pPr algn="r" eaLnBrk="1" hangingPunct="1"/>
              <a:t>67</a:t>
            </a:fld>
            <a:endParaRPr lang="en-US" altLang="en-US" sz="1200" b="1">
              <a:latin typeface="Calibri" panose="020F0502020204030204" pitchFamily="34" charset="0"/>
            </a:endParaRPr>
          </a:p>
        </p:txBody>
      </p:sp>
    </p:spTree>
  </p:cSld>
  <p:clrMapOvr>
    <a:masterClrMapping/>
  </p:clrMapOvr>
  <p:transition>
    <p:zoom/>
  </p:transition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Slide Number Placeholder 6">
            <a:extLst>
              <a:ext uri="{FF2B5EF4-FFF2-40B4-BE49-F238E27FC236}">
                <a16:creationId xmlns:a16="http://schemas.microsoft.com/office/drawing/2014/main" id="{61FA9B01-2A7D-4972-A500-9A8893654C61}"/>
              </a:ext>
            </a:extLst>
          </p:cNvPr>
          <p:cNvSpPr txBox="1">
            <a:spLocks noGrp="1"/>
          </p:cNvSpPr>
          <p:nvPr/>
        </p:nvSpPr>
        <p:spPr bwMode="auto">
          <a:xfrm>
            <a:off x="7239000" y="6477000"/>
            <a:ext cx="1905000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r" eaLnBrk="1" hangingPunct="1"/>
            <a:fld id="{5D736821-1B3F-421F-97EE-FFE4971C254E}" type="slidenum">
              <a:rPr lang="en-US" altLang="en-US" sz="1400" b="1">
                <a:latin typeface="Calibri" panose="020F0502020204030204" pitchFamily="34" charset="0"/>
              </a:rPr>
              <a:pPr algn="r" eaLnBrk="1" hangingPunct="1"/>
              <a:t>68</a:t>
            </a:fld>
            <a:endParaRPr lang="en-US" altLang="en-US" sz="1400" b="1">
              <a:latin typeface="Calibri" panose="020F0502020204030204" pitchFamily="34" charset="0"/>
            </a:endParaRPr>
          </a:p>
        </p:txBody>
      </p:sp>
      <p:sp>
        <p:nvSpPr>
          <p:cNvPr id="71683" name="Rectangle 2">
            <a:extLst>
              <a:ext uri="{FF2B5EF4-FFF2-40B4-BE49-F238E27FC236}">
                <a16:creationId xmlns:a16="http://schemas.microsoft.com/office/drawing/2014/main" id="{EA08AE09-2580-4F99-8B0E-64B5BC8F3330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-9525" y="304800"/>
            <a:ext cx="9144000" cy="609600"/>
          </a:xfrm>
          <a:noFill/>
        </p:spPr>
        <p:txBody>
          <a:bodyPr lIns="92075" tIns="46038" rIns="92075" bIns="46038" anchor="ctr"/>
          <a:lstStyle/>
          <a:p>
            <a:pPr eaLnBrk="1" hangingPunct="1"/>
            <a:r>
              <a:rPr lang="en-US" altLang="en-US" sz="3200"/>
              <a:t>Chapter 8. Classification: Basic Concepts</a:t>
            </a:r>
          </a:p>
        </p:txBody>
      </p:sp>
      <p:sp>
        <p:nvSpPr>
          <p:cNvPr id="71684" name="Rectangle 3">
            <a:extLst>
              <a:ext uri="{FF2B5EF4-FFF2-40B4-BE49-F238E27FC236}">
                <a16:creationId xmlns:a16="http://schemas.microsoft.com/office/drawing/2014/main" id="{99A15C00-C8B6-4F5F-AA76-954452E650DE}"/>
              </a:ext>
            </a:extLst>
          </p:cNvPr>
          <p:cNvSpPr>
            <a:spLocks noGrp="1" noChangeArrowheads="1"/>
          </p:cNvSpPr>
          <p:nvPr>
            <p:ph type="body" sz="half" idx="4294967295"/>
          </p:nvPr>
        </p:nvSpPr>
        <p:spPr>
          <a:xfrm>
            <a:off x="304800" y="1447800"/>
            <a:ext cx="8382000" cy="5105400"/>
          </a:xfrm>
          <a:noFill/>
        </p:spPr>
        <p:txBody>
          <a:bodyPr lIns="92075" tIns="46038" rIns="92075" bIns="46038"/>
          <a:lstStyle/>
          <a:p>
            <a:pPr>
              <a:lnSpc>
                <a:spcPct val="130000"/>
              </a:lnSpc>
            </a:pPr>
            <a:r>
              <a:rPr lang="en-US" altLang="en-US"/>
              <a:t>Classification: Basic Concepts</a:t>
            </a:r>
          </a:p>
          <a:p>
            <a:pPr>
              <a:lnSpc>
                <a:spcPct val="130000"/>
              </a:lnSpc>
            </a:pPr>
            <a:r>
              <a:rPr lang="en-US" altLang="en-US"/>
              <a:t>Decision Tree Induction</a:t>
            </a:r>
          </a:p>
          <a:p>
            <a:pPr>
              <a:lnSpc>
                <a:spcPct val="130000"/>
              </a:lnSpc>
            </a:pPr>
            <a:r>
              <a:rPr lang="en-US" altLang="en-US"/>
              <a:t>Bayes Classification Methods</a:t>
            </a:r>
          </a:p>
          <a:p>
            <a:pPr>
              <a:lnSpc>
                <a:spcPct val="130000"/>
              </a:lnSpc>
            </a:pPr>
            <a:r>
              <a:rPr lang="en-US" altLang="en-US"/>
              <a:t>Rule-Based Classification</a:t>
            </a:r>
          </a:p>
          <a:p>
            <a:pPr>
              <a:lnSpc>
                <a:spcPct val="130000"/>
              </a:lnSpc>
            </a:pPr>
            <a:r>
              <a:rPr lang="en-US" altLang="en-US"/>
              <a:t>Model Evaluation and Selection</a:t>
            </a:r>
          </a:p>
          <a:p>
            <a:pPr>
              <a:lnSpc>
                <a:spcPct val="130000"/>
              </a:lnSpc>
            </a:pPr>
            <a:r>
              <a:rPr lang="en-US" altLang="en-US"/>
              <a:t>Techniques to Improve Classification Accuracy: Ensemble Methods</a:t>
            </a:r>
          </a:p>
          <a:p>
            <a:pPr>
              <a:lnSpc>
                <a:spcPct val="130000"/>
              </a:lnSpc>
            </a:pPr>
            <a:r>
              <a:rPr lang="en-US" altLang="en-US"/>
              <a:t>Summary</a:t>
            </a:r>
          </a:p>
        </p:txBody>
      </p:sp>
      <p:sp>
        <p:nvSpPr>
          <p:cNvPr id="71685" name="AutoShape 8">
            <a:extLst>
              <a:ext uri="{FF2B5EF4-FFF2-40B4-BE49-F238E27FC236}">
                <a16:creationId xmlns:a16="http://schemas.microsoft.com/office/drawing/2014/main" id="{35C4EB2F-7C69-4E85-9633-0754EF8CF3DB}"/>
              </a:ext>
            </a:extLst>
          </p:cNvPr>
          <p:cNvSpPr>
            <a:spLocks noChangeArrowheads="1"/>
          </p:cNvSpPr>
          <p:nvPr/>
        </p:nvSpPr>
        <p:spPr bwMode="auto">
          <a:xfrm rot="9803581">
            <a:off x="2514600" y="5867400"/>
            <a:ext cx="533400" cy="381000"/>
          </a:xfrm>
          <a:prstGeom prst="notchedRightArrow">
            <a:avLst>
              <a:gd name="adj1" fmla="val 50000"/>
              <a:gd name="adj2" fmla="val 35000"/>
            </a:avLst>
          </a:prstGeom>
          <a:solidFill>
            <a:srgbClr val="FF99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rot="10800000" wrap="none" anchor="ctr"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</p:spTree>
  </p:cSld>
  <p:clrMapOvr>
    <a:masterClrMapping/>
  </p:clrMapOvr>
  <p:transition>
    <p:zoom/>
  </p:transition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Rectangle 2">
            <a:extLst>
              <a:ext uri="{FF2B5EF4-FFF2-40B4-BE49-F238E27FC236}">
                <a16:creationId xmlns:a16="http://schemas.microsoft.com/office/drawing/2014/main" id="{EE064A76-EDCE-4A22-8DEC-AD9F047A5F1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28600" y="381000"/>
            <a:ext cx="8458200" cy="533400"/>
          </a:xfrm>
        </p:spPr>
        <p:txBody>
          <a:bodyPr/>
          <a:lstStyle/>
          <a:p>
            <a:pPr eaLnBrk="1" hangingPunct="1"/>
            <a:r>
              <a:rPr lang="en-US" altLang="en-US"/>
              <a:t>Summary (I)</a:t>
            </a:r>
          </a:p>
        </p:txBody>
      </p:sp>
      <p:sp>
        <p:nvSpPr>
          <p:cNvPr id="72707" name="Rectangle 3">
            <a:extLst>
              <a:ext uri="{FF2B5EF4-FFF2-40B4-BE49-F238E27FC236}">
                <a16:creationId xmlns:a16="http://schemas.microsoft.com/office/drawing/2014/main" id="{157580C9-55EB-4698-9753-C0A7FF6C567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28600" y="1295400"/>
            <a:ext cx="8763000" cy="4419600"/>
          </a:xfrm>
        </p:spPr>
        <p:txBody>
          <a:bodyPr/>
          <a:lstStyle/>
          <a:p>
            <a:pPr eaLnBrk="1" hangingPunct="1">
              <a:lnSpc>
                <a:spcPct val="120000"/>
              </a:lnSpc>
            </a:pPr>
            <a:r>
              <a:rPr lang="en-US" altLang="en-US" sz="2400">
                <a:solidFill>
                  <a:schemeClr val="hlink"/>
                </a:solidFill>
              </a:rPr>
              <a:t>Classification </a:t>
            </a:r>
            <a:r>
              <a:rPr lang="en-US" altLang="en-US" sz="2400"/>
              <a:t>is a form of data analysis that extracts </a:t>
            </a:r>
            <a:r>
              <a:rPr lang="en-US" altLang="en-US" sz="2400">
                <a:solidFill>
                  <a:schemeClr val="hlink"/>
                </a:solidFill>
              </a:rPr>
              <a:t>models</a:t>
            </a:r>
            <a:r>
              <a:rPr lang="en-US" altLang="en-US" sz="2400"/>
              <a:t> describing important data classes. </a:t>
            </a:r>
          </a:p>
          <a:p>
            <a:pPr eaLnBrk="1" hangingPunct="1">
              <a:lnSpc>
                <a:spcPct val="120000"/>
              </a:lnSpc>
            </a:pPr>
            <a:r>
              <a:rPr lang="en-US" altLang="en-US" sz="2400"/>
              <a:t>Effective and scalable methods have been developed for </a:t>
            </a:r>
            <a:r>
              <a:rPr lang="en-US" altLang="en-US" sz="2400">
                <a:solidFill>
                  <a:schemeClr val="hlink"/>
                </a:solidFill>
              </a:rPr>
              <a:t>decision tree induction, Naive Bayesian classification, rule-based classification, </a:t>
            </a:r>
            <a:r>
              <a:rPr lang="en-US" altLang="en-US" sz="2400"/>
              <a:t>and many other classification methods.</a:t>
            </a:r>
          </a:p>
          <a:p>
            <a:pPr eaLnBrk="1" hangingPunct="1">
              <a:lnSpc>
                <a:spcPct val="120000"/>
              </a:lnSpc>
            </a:pPr>
            <a:r>
              <a:rPr lang="en-US" altLang="en-US" sz="2400">
                <a:solidFill>
                  <a:schemeClr val="hlink"/>
                </a:solidFill>
              </a:rPr>
              <a:t>Evaluation metrics</a:t>
            </a:r>
            <a:r>
              <a:rPr lang="en-US" altLang="en-US" sz="2400"/>
              <a:t> include: accuracy, sensitivity, specificity, precision, recall, </a:t>
            </a:r>
            <a:r>
              <a:rPr lang="en-US" altLang="en-US" sz="2400" i="1"/>
              <a:t>F</a:t>
            </a:r>
            <a:r>
              <a:rPr lang="en-US" altLang="en-US" sz="2400"/>
              <a:t> measure, and </a:t>
            </a:r>
            <a:r>
              <a:rPr lang="en-US" altLang="en-US" sz="2400" i="1"/>
              <a:t>F</a:t>
            </a:r>
            <a:r>
              <a:rPr lang="en-US" altLang="en-US" sz="2400" i="1" baseline="-25000">
                <a:cs typeface="Tahoma" panose="020B0604030504040204" pitchFamily="34" charset="0"/>
              </a:rPr>
              <a:t>ß</a:t>
            </a:r>
            <a:r>
              <a:rPr lang="en-US" altLang="en-US" sz="2400" baseline="-25000"/>
              <a:t> </a:t>
            </a:r>
            <a:r>
              <a:rPr lang="en-US" altLang="en-US" sz="2400"/>
              <a:t>measure.</a:t>
            </a:r>
          </a:p>
          <a:p>
            <a:pPr eaLnBrk="1" hangingPunct="1">
              <a:lnSpc>
                <a:spcPct val="120000"/>
              </a:lnSpc>
            </a:pPr>
            <a:r>
              <a:rPr lang="en-US" altLang="en-US" sz="2400">
                <a:solidFill>
                  <a:schemeClr val="hlink"/>
                </a:solidFill>
              </a:rPr>
              <a:t>Stratified k-fold cross-validation</a:t>
            </a:r>
            <a:r>
              <a:rPr lang="en-US" altLang="en-US" sz="2400"/>
              <a:t> is recommended for accuracy estimation.  </a:t>
            </a:r>
            <a:r>
              <a:rPr lang="en-US" altLang="en-US" sz="2400">
                <a:solidFill>
                  <a:schemeClr val="hlink"/>
                </a:solidFill>
              </a:rPr>
              <a:t>Bagging </a:t>
            </a:r>
            <a:r>
              <a:rPr lang="en-US" altLang="en-US" sz="2400"/>
              <a:t>and </a:t>
            </a:r>
            <a:r>
              <a:rPr lang="en-US" altLang="en-US" sz="2400">
                <a:solidFill>
                  <a:schemeClr val="hlink"/>
                </a:solidFill>
              </a:rPr>
              <a:t>boosting</a:t>
            </a:r>
            <a:r>
              <a:rPr lang="en-US" altLang="en-US" sz="2400"/>
              <a:t> can be used to increase overall accuracy by learning and combining a series of individual models.</a:t>
            </a:r>
          </a:p>
        </p:txBody>
      </p:sp>
      <p:sp>
        <p:nvSpPr>
          <p:cNvPr id="72708" name="Slide Number Placeholder 7">
            <a:extLst>
              <a:ext uri="{FF2B5EF4-FFF2-40B4-BE49-F238E27FC236}">
                <a16:creationId xmlns:a16="http://schemas.microsoft.com/office/drawing/2014/main" id="{FC3EA584-A820-4AAB-B98C-C3311B4296D4}"/>
              </a:ext>
            </a:extLst>
          </p:cNvPr>
          <p:cNvSpPr txBox="1">
            <a:spLocks noGrp="1"/>
          </p:cNvSpPr>
          <p:nvPr/>
        </p:nvSpPr>
        <p:spPr bwMode="auto">
          <a:xfrm>
            <a:off x="7239000" y="6477000"/>
            <a:ext cx="1905000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r" eaLnBrk="1" hangingPunct="1"/>
            <a:fld id="{3F4E38F1-445D-42AA-8BFD-0A0C7AA10DBF}" type="slidenum">
              <a:rPr lang="en-US" altLang="en-US" sz="1200" b="1">
                <a:latin typeface="Calibri" panose="020F0502020204030204" pitchFamily="34" charset="0"/>
              </a:rPr>
              <a:pPr algn="r" eaLnBrk="1" hangingPunct="1"/>
              <a:t>69</a:t>
            </a:fld>
            <a:endParaRPr lang="en-US" altLang="en-US" sz="1200" b="1">
              <a:latin typeface="Calibri" panose="020F0502020204030204" pitchFamily="34" charset="0"/>
            </a:endParaRPr>
          </a:p>
        </p:txBody>
      </p:sp>
    </p:spTree>
  </p:cSld>
  <p:clrMapOvr>
    <a:masterClrMapping/>
  </p:clrMapOvr>
  <p:transition>
    <p:zoom/>
  </p:transition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Rectangle 2">
            <a:extLst>
              <a:ext uri="{FF2B5EF4-FFF2-40B4-BE49-F238E27FC236}">
                <a16:creationId xmlns:a16="http://schemas.microsoft.com/office/drawing/2014/main" id="{49D99AEE-331F-4AF3-9BC5-8CB53E540ED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28600" y="381000"/>
            <a:ext cx="8458200" cy="533400"/>
          </a:xfrm>
        </p:spPr>
        <p:txBody>
          <a:bodyPr/>
          <a:lstStyle/>
          <a:p>
            <a:pPr eaLnBrk="1" hangingPunct="1"/>
            <a:r>
              <a:rPr lang="en-US" altLang="en-US"/>
              <a:t>Summary (II)</a:t>
            </a:r>
          </a:p>
        </p:txBody>
      </p:sp>
      <p:sp>
        <p:nvSpPr>
          <p:cNvPr id="73731" name="Rectangle 3">
            <a:extLst>
              <a:ext uri="{FF2B5EF4-FFF2-40B4-BE49-F238E27FC236}">
                <a16:creationId xmlns:a16="http://schemas.microsoft.com/office/drawing/2014/main" id="{DEDB626C-D475-4DB0-BD09-039F4A75DC5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04800" y="1295400"/>
            <a:ext cx="8534400" cy="5029200"/>
          </a:xfrm>
        </p:spPr>
        <p:txBody>
          <a:bodyPr/>
          <a:lstStyle/>
          <a:p>
            <a:pPr eaLnBrk="1" hangingPunct="1">
              <a:lnSpc>
                <a:spcPct val="130000"/>
              </a:lnSpc>
            </a:pPr>
            <a:r>
              <a:rPr lang="en-US" altLang="en-US" sz="2400">
                <a:solidFill>
                  <a:schemeClr val="hlink"/>
                </a:solidFill>
              </a:rPr>
              <a:t>Significance tests</a:t>
            </a:r>
            <a:r>
              <a:rPr lang="en-US" altLang="en-US" sz="2400"/>
              <a:t> and </a:t>
            </a:r>
            <a:r>
              <a:rPr lang="en-US" altLang="en-US" sz="2400">
                <a:solidFill>
                  <a:schemeClr val="hlink"/>
                </a:solidFill>
              </a:rPr>
              <a:t>ROC curves</a:t>
            </a:r>
            <a:r>
              <a:rPr lang="en-US" altLang="en-US" sz="2400"/>
              <a:t> are useful for model selection.</a:t>
            </a:r>
          </a:p>
          <a:p>
            <a:pPr eaLnBrk="1" hangingPunct="1">
              <a:lnSpc>
                <a:spcPct val="130000"/>
              </a:lnSpc>
            </a:pPr>
            <a:r>
              <a:rPr lang="en-US" altLang="en-US" sz="2400"/>
              <a:t>There have been numerous </a:t>
            </a:r>
            <a:r>
              <a:rPr lang="en-US" altLang="en-US" sz="2400">
                <a:solidFill>
                  <a:schemeClr val="hlink"/>
                </a:solidFill>
              </a:rPr>
              <a:t>comparisons of the different classification </a:t>
            </a:r>
            <a:r>
              <a:rPr lang="en-US" altLang="en-US" sz="2400"/>
              <a:t>methods; the matter remains a research topic</a:t>
            </a:r>
          </a:p>
          <a:p>
            <a:pPr eaLnBrk="1" hangingPunct="1">
              <a:lnSpc>
                <a:spcPct val="130000"/>
              </a:lnSpc>
            </a:pPr>
            <a:r>
              <a:rPr lang="en-US" altLang="en-US" sz="2400"/>
              <a:t>No single method has been found to be superior over all others for all data sets</a:t>
            </a:r>
          </a:p>
          <a:p>
            <a:pPr eaLnBrk="1" hangingPunct="1">
              <a:lnSpc>
                <a:spcPct val="130000"/>
              </a:lnSpc>
            </a:pPr>
            <a:r>
              <a:rPr lang="en-US" altLang="en-US" sz="2400"/>
              <a:t>Issues such as accuracy, training time, robustness, scalability, and interpretability must be considered and can involve trade-offs, further complicating the quest for an overall superior method</a:t>
            </a:r>
          </a:p>
        </p:txBody>
      </p:sp>
      <p:sp>
        <p:nvSpPr>
          <p:cNvPr id="73732" name="Slide Number Placeholder 7">
            <a:extLst>
              <a:ext uri="{FF2B5EF4-FFF2-40B4-BE49-F238E27FC236}">
                <a16:creationId xmlns:a16="http://schemas.microsoft.com/office/drawing/2014/main" id="{931AA941-50FB-4E71-B5CC-4D4B882BBDB2}"/>
              </a:ext>
            </a:extLst>
          </p:cNvPr>
          <p:cNvSpPr txBox="1">
            <a:spLocks noGrp="1"/>
          </p:cNvSpPr>
          <p:nvPr/>
        </p:nvSpPr>
        <p:spPr bwMode="auto">
          <a:xfrm>
            <a:off x="7239000" y="6477000"/>
            <a:ext cx="1905000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r" eaLnBrk="1" hangingPunct="1"/>
            <a:fld id="{95BCF46E-0C3C-4D49-9807-9BED41A0B7CB}" type="slidenum">
              <a:rPr lang="en-US" altLang="en-US" sz="1200" b="1">
                <a:latin typeface="Calibri" panose="020F0502020204030204" pitchFamily="34" charset="0"/>
              </a:rPr>
              <a:pPr algn="r" eaLnBrk="1" hangingPunct="1"/>
              <a:t>70</a:t>
            </a:fld>
            <a:endParaRPr lang="en-US" altLang="en-US" sz="1200" b="1">
              <a:latin typeface="Calibri" panose="020F0502020204030204" pitchFamily="34" charset="0"/>
            </a:endParaRPr>
          </a:p>
        </p:txBody>
      </p:sp>
    </p:spTree>
  </p:cSld>
  <p:clrMapOvr>
    <a:masterClrMapping/>
  </p:clrMapOvr>
  <p:transition>
    <p:zoom/>
  </p:transition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Rectangle 2">
            <a:extLst>
              <a:ext uri="{FF2B5EF4-FFF2-40B4-BE49-F238E27FC236}">
                <a16:creationId xmlns:a16="http://schemas.microsoft.com/office/drawing/2014/main" id="{F6EDCF61-DD5C-406E-A08B-47EA358423D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533400" y="304800"/>
            <a:ext cx="8018463" cy="609600"/>
          </a:xfrm>
        </p:spPr>
        <p:txBody>
          <a:bodyPr/>
          <a:lstStyle/>
          <a:p>
            <a:pPr eaLnBrk="1" hangingPunct="1"/>
            <a:r>
              <a:rPr lang="en-US" altLang="en-US"/>
              <a:t>References (1)</a:t>
            </a:r>
            <a:endParaRPr lang="en-US" altLang="en-US" sz="4000"/>
          </a:p>
        </p:txBody>
      </p:sp>
      <p:sp>
        <p:nvSpPr>
          <p:cNvPr id="74755" name="Rectangle 3">
            <a:extLst>
              <a:ext uri="{FF2B5EF4-FFF2-40B4-BE49-F238E27FC236}">
                <a16:creationId xmlns:a16="http://schemas.microsoft.com/office/drawing/2014/main" id="{DE4DC03A-7F50-40DE-8775-A8F5393A0BA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04800" y="1371600"/>
            <a:ext cx="8686800" cy="5029200"/>
          </a:xfrm>
        </p:spPr>
        <p:txBody>
          <a:bodyPr/>
          <a:lstStyle/>
          <a:p>
            <a:pPr marL="533400" indent="-533400" eaLnBrk="1" hangingPunct="1"/>
            <a:r>
              <a:rPr lang="en-US" altLang="en-US" sz="1800"/>
              <a:t>C. Apte and S. Weiss. </a:t>
            </a:r>
            <a:r>
              <a:rPr lang="en-US" altLang="en-US" sz="1800" b="1"/>
              <a:t>Data mining with decision trees and decision rules</a:t>
            </a:r>
            <a:r>
              <a:rPr lang="en-US" altLang="en-US" sz="1800"/>
              <a:t>. Future Generation Computer Systems, 13, 1997</a:t>
            </a:r>
          </a:p>
          <a:p>
            <a:pPr marL="533400" indent="-533400" eaLnBrk="1" hangingPunct="1"/>
            <a:r>
              <a:rPr lang="en-US" altLang="en-US" sz="1800"/>
              <a:t>C. M. Bishop,  </a:t>
            </a:r>
            <a:r>
              <a:rPr lang="en-US" altLang="en-US" sz="1800" b="1"/>
              <a:t>Neural Networks for Pattern Recognition</a:t>
            </a:r>
            <a:r>
              <a:rPr lang="en-US" altLang="en-US" sz="1800"/>
              <a:t>.  Oxford University Press, 1995</a:t>
            </a:r>
          </a:p>
          <a:p>
            <a:pPr marL="533400" indent="-533400" eaLnBrk="1" hangingPunct="1"/>
            <a:r>
              <a:rPr lang="en-US" altLang="en-US" sz="1800"/>
              <a:t>L. Breiman, J. Friedman, R. Olshen, and C. Stone. </a:t>
            </a:r>
            <a:r>
              <a:rPr lang="en-US" altLang="en-US" sz="1800" b="1"/>
              <a:t>Classification and Regression Trees</a:t>
            </a:r>
            <a:r>
              <a:rPr lang="en-US" altLang="en-US" sz="1800"/>
              <a:t>. Wadsworth International Group, 1984</a:t>
            </a:r>
          </a:p>
          <a:p>
            <a:pPr marL="533400" indent="-533400" eaLnBrk="1" hangingPunct="1"/>
            <a:r>
              <a:rPr lang="en-US" altLang="en-US" sz="1800"/>
              <a:t>C. J. C. Burges. </a:t>
            </a:r>
            <a:r>
              <a:rPr lang="en-US" altLang="en-US" sz="1800" b="1"/>
              <a:t>A Tutorial on Support Vector Machines for Pattern Recognition</a:t>
            </a:r>
            <a:r>
              <a:rPr lang="en-US" altLang="en-US" sz="1800"/>
              <a:t>. </a:t>
            </a:r>
            <a:r>
              <a:rPr lang="en-US" altLang="en-US" sz="1800" i="1"/>
              <a:t>Data Mining and Knowledge Discovery</a:t>
            </a:r>
            <a:r>
              <a:rPr lang="en-US" altLang="en-US" sz="1800"/>
              <a:t>, 2(2): 121-168, 1998</a:t>
            </a:r>
          </a:p>
          <a:p>
            <a:pPr marL="533400" indent="-533400" eaLnBrk="1" hangingPunct="1"/>
            <a:r>
              <a:rPr lang="en-US" altLang="en-US" sz="1800"/>
              <a:t>P. K. Chan and S. J. Stolfo. </a:t>
            </a:r>
            <a:r>
              <a:rPr lang="en-US" altLang="en-US" sz="1800" b="1"/>
              <a:t>Learning arbiter and combiner trees from partitioned data for scaling machine learning</a:t>
            </a:r>
            <a:r>
              <a:rPr lang="en-US" altLang="en-US" sz="1800"/>
              <a:t>. KDD'95</a:t>
            </a:r>
          </a:p>
          <a:p>
            <a:pPr marL="533400" indent="-533400" eaLnBrk="1" hangingPunct="1"/>
            <a:r>
              <a:rPr lang="en-US" altLang="en-US" sz="1800"/>
              <a:t>H. Cheng, X. Yan, J. Han, and C.-W. Hsu, </a:t>
            </a:r>
            <a:r>
              <a:rPr lang="en-US" altLang="en-US" sz="1800" b="1">
                <a:hlinkClick r:id="rId3"/>
              </a:rPr>
              <a:t>Discriminative Frequent Pattern Analysis for Effective Classification</a:t>
            </a:r>
            <a:r>
              <a:rPr lang="en-US" altLang="en-US" sz="1800"/>
              <a:t>, ICDE'07</a:t>
            </a:r>
            <a:endParaRPr lang="en-US" altLang="en-US" sz="1800" b="1"/>
          </a:p>
          <a:p>
            <a:pPr marL="533400" indent="-533400" eaLnBrk="1" hangingPunct="1"/>
            <a:r>
              <a:rPr lang="en-US" altLang="en-US" sz="1800"/>
              <a:t>H. Cheng, X. Yan, J. Han, and P. S. Yu, </a:t>
            </a:r>
            <a:r>
              <a:rPr lang="en-US" altLang="en-US" sz="1800" b="1">
                <a:hlinkClick r:id="rId4"/>
              </a:rPr>
              <a:t>Direct Discriminative Pattern Mining for Effective Classification</a:t>
            </a:r>
            <a:r>
              <a:rPr lang="en-US" altLang="en-US" sz="1800"/>
              <a:t>, ICDE'08</a:t>
            </a:r>
            <a:endParaRPr lang="en-US" altLang="en-US" sz="1800" b="1"/>
          </a:p>
          <a:p>
            <a:pPr marL="533400" indent="-533400" eaLnBrk="1" hangingPunct="1"/>
            <a:r>
              <a:rPr lang="en-US" altLang="en-US" sz="1800"/>
              <a:t>W. Cohen.  </a:t>
            </a:r>
            <a:r>
              <a:rPr lang="en-US" altLang="en-US" sz="1800" b="1"/>
              <a:t>Fast effective rule induction</a:t>
            </a:r>
            <a:r>
              <a:rPr lang="en-US" altLang="en-US" sz="1800"/>
              <a:t>. ICML'95</a:t>
            </a:r>
          </a:p>
          <a:p>
            <a:pPr marL="533400" indent="-533400" eaLnBrk="1" hangingPunct="1"/>
            <a:r>
              <a:rPr lang="en-US" altLang="en-US" sz="1800"/>
              <a:t>G. Cong, K.-L. Tan, A. K. H. Tung, and X. Xu.  </a:t>
            </a:r>
            <a:r>
              <a:rPr lang="en-US" altLang="en-US" sz="1800" b="1"/>
              <a:t>Mining top-k covering rule groups for gene expression data</a:t>
            </a:r>
            <a:r>
              <a:rPr lang="en-US" altLang="en-US" sz="1800"/>
              <a:t>.  SIGMOD'05</a:t>
            </a:r>
          </a:p>
        </p:txBody>
      </p:sp>
      <p:sp>
        <p:nvSpPr>
          <p:cNvPr id="74756" name="Slide Number Placeholder 7">
            <a:extLst>
              <a:ext uri="{FF2B5EF4-FFF2-40B4-BE49-F238E27FC236}">
                <a16:creationId xmlns:a16="http://schemas.microsoft.com/office/drawing/2014/main" id="{E936344F-F1D7-41F6-87BA-2C0626897AC3}"/>
              </a:ext>
            </a:extLst>
          </p:cNvPr>
          <p:cNvSpPr txBox="1">
            <a:spLocks noGrp="1"/>
          </p:cNvSpPr>
          <p:nvPr/>
        </p:nvSpPr>
        <p:spPr bwMode="auto">
          <a:xfrm>
            <a:off x="7239000" y="6477000"/>
            <a:ext cx="1905000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r" eaLnBrk="1" hangingPunct="1"/>
            <a:fld id="{FFE2D9B0-5A9E-4933-AA52-638097935E7E}" type="slidenum">
              <a:rPr lang="en-US" altLang="en-US" sz="1200" b="1">
                <a:latin typeface="Calibri" panose="020F0502020204030204" pitchFamily="34" charset="0"/>
              </a:rPr>
              <a:pPr algn="r" eaLnBrk="1" hangingPunct="1"/>
              <a:t>71</a:t>
            </a:fld>
            <a:endParaRPr lang="en-US" altLang="en-US" sz="1200" b="1">
              <a:latin typeface="Calibri" panose="020F0502020204030204" pitchFamily="34" charset="0"/>
            </a:endParaRPr>
          </a:p>
        </p:txBody>
      </p:sp>
    </p:spTree>
  </p:cSld>
  <p:clrMapOvr>
    <a:masterClrMapping/>
  </p:clrMapOvr>
  <p:transition>
    <p:zoom/>
  </p:transition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Rectangle 1026">
            <a:extLst>
              <a:ext uri="{FF2B5EF4-FFF2-40B4-BE49-F238E27FC236}">
                <a16:creationId xmlns:a16="http://schemas.microsoft.com/office/drawing/2014/main" id="{EDE88C7C-EACD-4E2A-BE49-608513F4F2F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304800"/>
            <a:ext cx="7943850" cy="554038"/>
          </a:xfrm>
        </p:spPr>
        <p:txBody>
          <a:bodyPr/>
          <a:lstStyle/>
          <a:p>
            <a:pPr eaLnBrk="1" hangingPunct="1"/>
            <a:r>
              <a:rPr lang="en-US" altLang="en-US"/>
              <a:t>References (2)</a:t>
            </a:r>
            <a:endParaRPr lang="en-US" altLang="en-US" sz="4000"/>
          </a:p>
        </p:txBody>
      </p:sp>
      <p:sp>
        <p:nvSpPr>
          <p:cNvPr id="75779" name="Rectangle 1027">
            <a:extLst>
              <a:ext uri="{FF2B5EF4-FFF2-40B4-BE49-F238E27FC236}">
                <a16:creationId xmlns:a16="http://schemas.microsoft.com/office/drawing/2014/main" id="{D0C36D3C-2DCE-450E-AFCA-C868C456C01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28600" y="1295400"/>
            <a:ext cx="8763000" cy="5181600"/>
          </a:xfrm>
        </p:spPr>
        <p:txBody>
          <a:bodyPr/>
          <a:lstStyle/>
          <a:p>
            <a:pPr eaLnBrk="1" hangingPunct="1"/>
            <a:r>
              <a:rPr lang="en-US" altLang="en-US" sz="1800"/>
              <a:t>A. J. Dobson.  </a:t>
            </a:r>
            <a:r>
              <a:rPr lang="en-US" altLang="en-US" sz="1800" b="1"/>
              <a:t>An Introduction to Generalized Linear Models</a:t>
            </a:r>
            <a:r>
              <a:rPr lang="en-US" altLang="en-US" sz="1800"/>
              <a:t>.  Chapman &amp; Hall, 1990.</a:t>
            </a:r>
          </a:p>
          <a:p>
            <a:pPr eaLnBrk="1" hangingPunct="1"/>
            <a:r>
              <a:rPr lang="en-US" altLang="en-US" sz="1800"/>
              <a:t>G. Dong and J. Li. </a:t>
            </a:r>
            <a:r>
              <a:rPr lang="en-US" altLang="en-US" sz="1800" b="1"/>
              <a:t>Efficient mining of emerging patterns: Discovering trends and differences</a:t>
            </a:r>
            <a:r>
              <a:rPr lang="en-US" altLang="en-US" sz="1800"/>
              <a:t>. KDD'99.</a:t>
            </a:r>
          </a:p>
          <a:p>
            <a:pPr eaLnBrk="1" hangingPunct="1"/>
            <a:r>
              <a:rPr lang="en-US" altLang="en-US" sz="1800"/>
              <a:t>R. O. Duda, P. E. Hart, and D. G. Stork. </a:t>
            </a:r>
            <a:r>
              <a:rPr lang="en-US" altLang="en-US" sz="1800" b="1"/>
              <a:t>Pattern Classification</a:t>
            </a:r>
            <a:r>
              <a:rPr lang="en-US" altLang="en-US" sz="1800"/>
              <a:t>, 2ed. John Wiley, 2001</a:t>
            </a:r>
          </a:p>
          <a:p>
            <a:pPr eaLnBrk="1" hangingPunct="1"/>
            <a:r>
              <a:rPr lang="en-US" altLang="en-US" sz="1800"/>
              <a:t>U. M. Fayyad. </a:t>
            </a:r>
            <a:r>
              <a:rPr lang="en-US" altLang="en-US" sz="1800" b="1"/>
              <a:t>Branching on attribute values in decision tree generation</a:t>
            </a:r>
            <a:r>
              <a:rPr lang="en-US" altLang="en-US" sz="1800"/>
              <a:t>. AAAI’94.</a:t>
            </a:r>
          </a:p>
          <a:p>
            <a:pPr eaLnBrk="1" hangingPunct="1"/>
            <a:r>
              <a:rPr lang="en-US" altLang="en-US" sz="1800"/>
              <a:t>Y. Freund and R. E. Schapire. </a:t>
            </a:r>
            <a:r>
              <a:rPr lang="en-US" altLang="en-US" sz="1800" b="1"/>
              <a:t>A decision-theoretic generalization of on-line learning and an  application to boosting</a:t>
            </a:r>
            <a:r>
              <a:rPr lang="en-US" altLang="en-US" sz="1800"/>
              <a:t>. J. Computer and System Sciences, 1997.</a:t>
            </a:r>
          </a:p>
          <a:p>
            <a:pPr eaLnBrk="1" hangingPunct="1"/>
            <a:r>
              <a:rPr lang="en-US" altLang="en-US" sz="1800"/>
              <a:t>J. Gehrke, R. Ramakrishnan, and V. Ganti. </a:t>
            </a:r>
            <a:r>
              <a:rPr lang="en-US" altLang="en-US" sz="1800" b="1"/>
              <a:t>Rainforest: A framework for fast decision tree construction of large datasets</a:t>
            </a:r>
            <a:r>
              <a:rPr lang="en-US" altLang="en-US" sz="1800"/>
              <a:t>. VLDB’98.</a:t>
            </a:r>
          </a:p>
          <a:p>
            <a:pPr eaLnBrk="1" hangingPunct="1"/>
            <a:r>
              <a:rPr lang="en-US" altLang="en-US" sz="1800"/>
              <a:t>J. Gehrke, V. Gant, R. Ramakrishnan, and W.-Y. Loh, </a:t>
            </a:r>
            <a:r>
              <a:rPr lang="en-US" altLang="en-US" sz="1800" b="1"/>
              <a:t>BOAT -- Optimistic Decision Tree Construction</a:t>
            </a:r>
            <a:r>
              <a:rPr lang="en-US" altLang="en-US" sz="1800"/>
              <a:t>. SIGMOD'99</a:t>
            </a:r>
            <a:r>
              <a:rPr lang="en-US" altLang="en-US" sz="1800" i="1"/>
              <a:t>.</a:t>
            </a:r>
          </a:p>
          <a:p>
            <a:pPr eaLnBrk="1" hangingPunct="1"/>
            <a:r>
              <a:rPr lang="en-US" altLang="en-US" sz="1800"/>
              <a:t>T. Hastie, R. Tibshirani, and J. Friedman. </a:t>
            </a:r>
            <a:r>
              <a:rPr lang="en-US" altLang="en-US" sz="1800" b="1"/>
              <a:t>The Elements of Statistical Learning: Data Mining, Inference,  and Prediction.</a:t>
            </a:r>
            <a:r>
              <a:rPr lang="en-US" altLang="en-US" sz="1800"/>
              <a:t> Springer-Verlag, 2001.</a:t>
            </a:r>
          </a:p>
          <a:p>
            <a:pPr eaLnBrk="1" hangingPunct="1"/>
            <a:r>
              <a:rPr lang="en-US" altLang="en-US" sz="1800"/>
              <a:t>D. Heckerman, D. Geiger, and D. M. Chickering. </a:t>
            </a:r>
            <a:r>
              <a:rPr lang="en-US" altLang="en-US" sz="1800" b="1"/>
              <a:t>Learning Bayesian networks: The combination of knowledge and statistical data</a:t>
            </a:r>
            <a:r>
              <a:rPr lang="en-US" altLang="en-US" sz="1800"/>
              <a:t>. Machine Learning, 1995.</a:t>
            </a:r>
          </a:p>
          <a:p>
            <a:pPr eaLnBrk="1" hangingPunct="1"/>
            <a:r>
              <a:rPr lang="en-US" altLang="en-US" sz="1800"/>
              <a:t>W. Li, J. Han, and J. Pei, </a:t>
            </a:r>
            <a:r>
              <a:rPr lang="en-US" altLang="en-US" sz="1800" b="1"/>
              <a:t>CMAR: Accurate and Efficient Classification Based on Multiple Class-Association Rules</a:t>
            </a:r>
            <a:r>
              <a:rPr lang="en-US" altLang="en-US" sz="1800"/>
              <a:t>, ICDM'01. </a:t>
            </a:r>
          </a:p>
        </p:txBody>
      </p:sp>
      <p:sp>
        <p:nvSpPr>
          <p:cNvPr id="75780" name="Slide Number Placeholder 7">
            <a:extLst>
              <a:ext uri="{FF2B5EF4-FFF2-40B4-BE49-F238E27FC236}">
                <a16:creationId xmlns:a16="http://schemas.microsoft.com/office/drawing/2014/main" id="{A7189E0E-738A-4262-8227-0B39D0C77F3A}"/>
              </a:ext>
            </a:extLst>
          </p:cNvPr>
          <p:cNvSpPr txBox="1">
            <a:spLocks noGrp="1"/>
          </p:cNvSpPr>
          <p:nvPr/>
        </p:nvSpPr>
        <p:spPr bwMode="auto">
          <a:xfrm>
            <a:off x="7239000" y="6477000"/>
            <a:ext cx="1905000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r" eaLnBrk="1" hangingPunct="1"/>
            <a:fld id="{3BBB88F8-529C-4DAE-964C-EBF6BB84524B}" type="slidenum">
              <a:rPr lang="en-US" altLang="en-US" sz="1200" b="1">
                <a:latin typeface="Calibri" panose="020F0502020204030204" pitchFamily="34" charset="0"/>
              </a:rPr>
              <a:pPr algn="r" eaLnBrk="1" hangingPunct="1"/>
              <a:t>72</a:t>
            </a:fld>
            <a:endParaRPr lang="en-US" altLang="en-US" sz="1200" b="1">
              <a:latin typeface="Calibri" panose="020F0502020204030204" pitchFamily="34" charset="0"/>
            </a:endParaRPr>
          </a:p>
        </p:txBody>
      </p:sp>
    </p:spTree>
  </p:cSld>
  <p:clrMapOvr>
    <a:masterClrMapping/>
  </p:clrMapOvr>
  <p:transition>
    <p:zoom/>
  </p:transition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Rectangle 2">
            <a:extLst>
              <a:ext uri="{FF2B5EF4-FFF2-40B4-BE49-F238E27FC236}">
                <a16:creationId xmlns:a16="http://schemas.microsoft.com/office/drawing/2014/main" id="{8E615A2D-C853-406D-9D13-9D3C3C7D789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533400" y="304800"/>
            <a:ext cx="7943850" cy="554038"/>
          </a:xfrm>
        </p:spPr>
        <p:txBody>
          <a:bodyPr/>
          <a:lstStyle/>
          <a:p>
            <a:pPr eaLnBrk="1" hangingPunct="1"/>
            <a:r>
              <a:rPr lang="en-US" altLang="en-US"/>
              <a:t>References (3)</a:t>
            </a:r>
            <a:endParaRPr lang="en-US" altLang="en-US" sz="4000"/>
          </a:p>
        </p:txBody>
      </p:sp>
      <p:sp>
        <p:nvSpPr>
          <p:cNvPr id="76803" name="Rectangle 3">
            <a:extLst>
              <a:ext uri="{FF2B5EF4-FFF2-40B4-BE49-F238E27FC236}">
                <a16:creationId xmlns:a16="http://schemas.microsoft.com/office/drawing/2014/main" id="{641BD063-6148-4506-954E-8F785A91FC1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04800" y="1371600"/>
            <a:ext cx="8534400" cy="5257800"/>
          </a:xfrm>
        </p:spPr>
        <p:txBody>
          <a:bodyPr/>
          <a:lstStyle/>
          <a:p>
            <a:pPr eaLnBrk="1" hangingPunct="1">
              <a:lnSpc>
                <a:spcPct val="110000"/>
              </a:lnSpc>
            </a:pPr>
            <a:r>
              <a:rPr lang="en-US" altLang="en-US" sz="1800"/>
              <a:t>T.-S. Lim, W.-Y. Loh, and Y.-S. Shih. </a:t>
            </a:r>
            <a:r>
              <a:rPr lang="en-US" altLang="en-US" sz="1800" b="1"/>
              <a:t>A comparison of prediction accuracy, complexity, and training time of  thirty-three old and new classification algorithms.</a:t>
            </a:r>
            <a:r>
              <a:rPr lang="en-US" altLang="en-US" sz="1800"/>
              <a:t>  Machine Learning, 2000. 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en-US" sz="1800"/>
              <a:t>J. Magidson.  </a:t>
            </a:r>
            <a:r>
              <a:rPr lang="en-US" altLang="en-US" sz="1800" b="1"/>
              <a:t>The Chaid approach to segmentation modeling:  Chi-squared automatic interaction detection</a:t>
            </a:r>
            <a:r>
              <a:rPr lang="en-US" altLang="en-US" sz="1800"/>
              <a:t>. In R. P. Bagozzi, editor, Advanced Methods of Marketing Research, Blackwell Business, 1994.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en-US" sz="1800"/>
              <a:t>M. Mehta, R. Agrawal, and J. Rissanen. </a:t>
            </a:r>
            <a:r>
              <a:rPr lang="en-US" altLang="en-US" sz="1800" b="1"/>
              <a:t>SLIQ : A fast scalable classifier for data mining</a:t>
            </a:r>
            <a:r>
              <a:rPr lang="en-US" altLang="en-US" sz="1800"/>
              <a:t>. EDBT'96.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en-US" sz="1800"/>
              <a:t>T. M. Mitchell. </a:t>
            </a:r>
            <a:r>
              <a:rPr lang="en-US" altLang="en-US" sz="1800" b="1"/>
              <a:t>Machine Learning</a:t>
            </a:r>
            <a:r>
              <a:rPr lang="en-US" altLang="en-US" sz="1800"/>
              <a:t>. McGraw Hill, 1997. 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en-US" sz="1800"/>
              <a:t>S. K. Murthy, </a:t>
            </a:r>
            <a:r>
              <a:rPr lang="en-US" altLang="en-US" sz="1800" b="1"/>
              <a:t>Automatic Construction of Decision Trees from Data: A Multi-Disciplinary Survey</a:t>
            </a:r>
            <a:r>
              <a:rPr lang="en-US" altLang="en-US" sz="1800"/>
              <a:t>, Data Mining and Knowledge Discovery 2(4): 345-389, 1998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en-US" sz="1800"/>
              <a:t>J. R. Quinlan. </a:t>
            </a:r>
            <a:r>
              <a:rPr lang="en-US" altLang="en-US" sz="1800" b="1"/>
              <a:t>Induction of decision trees</a:t>
            </a:r>
            <a:r>
              <a:rPr lang="en-US" altLang="en-US" sz="1800"/>
              <a:t>. </a:t>
            </a:r>
            <a:r>
              <a:rPr lang="en-US" altLang="en-US" sz="1800" i="1"/>
              <a:t>Machine Learning</a:t>
            </a:r>
            <a:r>
              <a:rPr lang="en-US" altLang="en-US" sz="1800"/>
              <a:t>, 1:81-106, 1986. 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en-US" sz="1800"/>
              <a:t>J. R. Quinlan and R. M. Cameron-Jones. </a:t>
            </a:r>
            <a:r>
              <a:rPr lang="en-US" altLang="en-US" sz="1800" b="1"/>
              <a:t>FOIL: A midterm report</a:t>
            </a:r>
            <a:r>
              <a:rPr lang="en-US" altLang="en-US" sz="1800"/>
              <a:t>. ECML’93.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en-US" sz="1800"/>
              <a:t>J. R. Quinlan. </a:t>
            </a:r>
            <a:r>
              <a:rPr lang="en-US" altLang="en-US" sz="1800" b="1"/>
              <a:t>C4.5: Programs for Machine Learning</a:t>
            </a:r>
            <a:r>
              <a:rPr lang="en-US" altLang="en-US" sz="1800"/>
              <a:t>. Morgan Kaufmann, 1993.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en-US" sz="1800"/>
              <a:t>J. R. Quinlan.  </a:t>
            </a:r>
            <a:r>
              <a:rPr lang="en-US" altLang="en-US" sz="1800" b="1"/>
              <a:t>Bagging, boosting, and c4.5</a:t>
            </a:r>
            <a:r>
              <a:rPr lang="en-US" altLang="en-US" sz="1800"/>
              <a:t>. AAAI'96.</a:t>
            </a:r>
          </a:p>
        </p:txBody>
      </p:sp>
      <p:sp>
        <p:nvSpPr>
          <p:cNvPr id="76804" name="Slide Number Placeholder 7">
            <a:extLst>
              <a:ext uri="{FF2B5EF4-FFF2-40B4-BE49-F238E27FC236}">
                <a16:creationId xmlns:a16="http://schemas.microsoft.com/office/drawing/2014/main" id="{F8EF64B0-569D-456C-8388-9705F647A686}"/>
              </a:ext>
            </a:extLst>
          </p:cNvPr>
          <p:cNvSpPr txBox="1">
            <a:spLocks noGrp="1"/>
          </p:cNvSpPr>
          <p:nvPr/>
        </p:nvSpPr>
        <p:spPr bwMode="auto">
          <a:xfrm>
            <a:off x="7239000" y="6477000"/>
            <a:ext cx="1905000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r" eaLnBrk="1" hangingPunct="1"/>
            <a:fld id="{CDAAA379-C16A-4317-AD89-9DC79BB49A12}" type="slidenum">
              <a:rPr lang="en-US" altLang="en-US" sz="1200" b="1">
                <a:latin typeface="Calibri" panose="020F0502020204030204" pitchFamily="34" charset="0"/>
              </a:rPr>
              <a:pPr algn="r" eaLnBrk="1" hangingPunct="1"/>
              <a:t>73</a:t>
            </a:fld>
            <a:endParaRPr lang="en-US" altLang="en-US" sz="1200" b="1">
              <a:latin typeface="Calibri" panose="020F0502020204030204" pitchFamily="34" charset="0"/>
            </a:endParaRPr>
          </a:p>
        </p:txBody>
      </p:sp>
    </p:spTree>
  </p:cSld>
  <p:clrMapOvr>
    <a:masterClrMapping/>
  </p:clrMapOvr>
  <p:transition>
    <p:zoom/>
  </p:transition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Rectangle 2">
            <a:extLst>
              <a:ext uri="{FF2B5EF4-FFF2-40B4-BE49-F238E27FC236}">
                <a16:creationId xmlns:a16="http://schemas.microsoft.com/office/drawing/2014/main" id="{856CD847-CD5F-42C7-90C7-7BFF5FE761D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304800"/>
            <a:ext cx="7943850" cy="554038"/>
          </a:xfrm>
        </p:spPr>
        <p:txBody>
          <a:bodyPr/>
          <a:lstStyle/>
          <a:p>
            <a:pPr eaLnBrk="1" hangingPunct="1"/>
            <a:r>
              <a:rPr lang="en-US" altLang="en-US"/>
              <a:t>References (4)</a:t>
            </a:r>
            <a:endParaRPr lang="en-US" altLang="en-US" sz="4000"/>
          </a:p>
        </p:txBody>
      </p:sp>
      <p:sp>
        <p:nvSpPr>
          <p:cNvPr id="77827" name="Rectangle 3">
            <a:extLst>
              <a:ext uri="{FF2B5EF4-FFF2-40B4-BE49-F238E27FC236}">
                <a16:creationId xmlns:a16="http://schemas.microsoft.com/office/drawing/2014/main" id="{30A5A28A-D8CD-4751-81F7-95790F84073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04800" y="1295400"/>
            <a:ext cx="8534400" cy="5257800"/>
          </a:xfrm>
        </p:spPr>
        <p:txBody>
          <a:bodyPr/>
          <a:lstStyle/>
          <a:p>
            <a:pPr eaLnBrk="1" hangingPunct="1"/>
            <a:r>
              <a:rPr lang="en-US" altLang="en-US" sz="1800"/>
              <a:t>R. Rastogi and K. Shim. </a:t>
            </a:r>
            <a:r>
              <a:rPr lang="en-US" altLang="en-US" sz="1800" b="1"/>
              <a:t>Public: A decision tree classifier that integrates building and pruning</a:t>
            </a:r>
            <a:r>
              <a:rPr lang="en-US" altLang="en-US" sz="1800"/>
              <a:t>. VLDB’98.</a:t>
            </a:r>
          </a:p>
          <a:p>
            <a:pPr eaLnBrk="1" hangingPunct="1"/>
            <a:r>
              <a:rPr lang="en-US" altLang="en-US" sz="1800"/>
              <a:t>J. Shafer, R. Agrawal, and M. Mehta. </a:t>
            </a:r>
            <a:r>
              <a:rPr lang="en-US" altLang="en-US" sz="1800" b="1"/>
              <a:t>SPRINT : A scalable parallel classifier for data mining</a:t>
            </a:r>
            <a:r>
              <a:rPr lang="en-US" altLang="en-US" sz="1800"/>
              <a:t>. VLDB’96.</a:t>
            </a:r>
          </a:p>
          <a:p>
            <a:pPr eaLnBrk="1" hangingPunct="1"/>
            <a:r>
              <a:rPr lang="en-US" altLang="en-US" sz="1800"/>
              <a:t>J. W. Shavlik and T. G. Dietterich. </a:t>
            </a:r>
            <a:r>
              <a:rPr lang="en-US" altLang="en-US" sz="1800" b="1"/>
              <a:t>Readings in Machine Learning</a:t>
            </a:r>
            <a:r>
              <a:rPr lang="en-US" altLang="en-US" sz="1800"/>
              <a:t>. Morgan Kaufmann, 1990.</a:t>
            </a:r>
          </a:p>
          <a:p>
            <a:pPr eaLnBrk="1" hangingPunct="1"/>
            <a:r>
              <a:rPr lang="en-US" altLang="en-US" sz="1800"/>
              <a:t>P. Tan, M. Steinbach, and V. Kumar. </a:t>
            </a:r>
            <a:r>
              <a:rPr lang="en-US" altLang="en-US" sz="1800" b="1"/>
              <a:t>Introduction to Data Mining</a:t>
            </a:r>
            <a:r>
              <a:rPr lang="en-US" altLang="en-US" sz="1800"/>
              <a:t>. Addison Wesley, 2005.</a:t>
            </a:r>
          </a:p>
          <a:p>
            <a:pPr eaLnBrk="1" hangingPunct="1"/>
            <a:r>
              <a:rPr lang="en-US" altLang="en-US" sz="1800"/>
              <a:t>S. M. Weiss and C. A. Kulikowski.  </a:t>
            </a:r>
            <a:r>
              <a:rPr lang="en-US" altLang="en-US" sz="1800" b="1"/>
              <a:t>Computer Systems that Learn:  Classification and Prediction Methods from Statistics, Neural Nets, Machine Learning, and Expert Systems</a:t>
            </a:r>
            <a:r>
              <a:rPr lang="en-US" altLang="en-US" sz="1800"/>
              <a:t>.  Morgan Kaufman, 1991. </a:t>
            </a:r>
          </a:p>
          <a:p>
            <a:pPr eaLnBrk="1" hangingPunct="1"/>
            <a:r>
              <a:rPr lang="en-US" altLang="en-US" sz="1800"/>
              <a:t>S. M. Weiss and N. Indurkhya. </a:t>
            </a:r>
            <a:r>
              <a:rPr lang="en-US" altLang="en-US" sz="1800" b="1"/>
              <a:t>Predictive Data Mining</a:t>
            </a:r>
            <a:r>
              <a:rPr lang="en-US" altLang="en-US" sz="1800"/>
              <a:t>. Morgan Kaufmann, 1997. </a:t>
            </a:r>
          </a:p>
          <a:p>
            <a:pPr eaLnBrk="1" hangingPunct="1"/>
            <a:r>
              <a:rPr lang="en-US" altLang="en-US" sz="1800"/>
              <a:t>I. H. Witten and E. Frank. </a:t>
            </a:r>
            <a:r>
              <a:rPr lang="en-US" altLang="en-US" sz="1800" b="1"/>
              <a:t>Data Mining: Practical Machine Learning Tools and Techniques</a:t>
            </a:r>
            <a:r>
              <a:rPr lang="en-US" altLang="en-US" sz="1800"/>
              <a:t>,  2ed.  Morgan Kaufmann, 2005.</a:t>
            </a:r>
          </a:p>
          <a:p>
            <a:pPr eaLnBrk="1" hangingPunct="1"/>
            <a:r>
              <a:rPr lang="en-US" altLang="en-US" sz="1800"/>
              <a:t>X. Yin and J. Han. </a:t>
            </a:r>
            <a:r>
              <a:rPr lang="en-US" altLang="en-US" sz="1800" b="1"/>
              <a:t>CPAR: Classification based on predictive association rules</a:t>
            </a:r>
            <a:r>
              <a:rPr lang="en-US" altLang="en-US" sz="1800"/>
              <a:t>. SDM'03</a:t>
            </a:r>
          </a:p>
          <a:p>
            <a:pPr eaLnBrk="1" hangingPunct="1"/>
            <a:r>
              <a:rPr lang="en-US" altLang="en-US" sz="1800"/>
              <a:t>H. Yu, J. Yang, and J. Han. </a:t>
            </a:r>
            <a:r>
              <a:rPr lang="en-US" altLang="en-US" sz="1800" b="1"/>
              <a:t>Classifying large data sets using SVM with hierarchical clusters</a:t>
            </a:r>
            <a:r>
              <a:rPr lang="en-US" altLang="en-US" sz="1800"/>
              <a:t>. KDD'03.</a:t>
            </a:r>
          </a:p>
        </p:txBody>
      </p:sp>
      <p:sp>
        <p:nvSpPr>
          <p:cNvPr id="77828" name="Slide Number Placeholder 7">
            <a:extLst>
              <a:ext uri="{FF2B5EF4-FFF2-40B4-BE49-F238E27FC236}">
                <a16:creationId xmlns:a16="http://schemas.microsoft.com/office/drawing/2014/main" id="{7FFB41EC-3F86-4BC5-AD92-BD180B283EE8}"/>
              </a:ext>
            </a:extLst>
          </p:cNvPr>
          <p:cNvSpPr txBox="1">
            <a:spLocks noGrp="1"/>
          </p:cNvSpPr>
          <p:nvPr/>
        </p:nvSpPr>
        <p:spPr bwMode="auto">
          <a:xfrm>
            <a:off x="7239000" y="6477000"/>
            <a:ext cx="1905000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r" eaLnBrk="1" hangingPunct="1"/>
            <a:fld id="{CA006B71-0C26-4A16-A0DD-9136632093D8}" type="slidenum">
              <a:rPr lang="en-US" altLang="en-US" sz="1200" b="1">
                <a:latin typeface="Calibri" panose="020F0502020204030204" pitchFamily="34" charset="0"/>
              </a:rPr>
              <a:pPr algn="r" eaLnBrk="1" hangingPunct="1"/>
              <a:t>74</a:t>
            </a:fld>
            <a:endParaRPr lang="en-US" altLang="en-US" sz="1200" b="1">
              <a:latin typeface="Calibri" panose="020F0502020204030204" pitchFamily="34" charset="0"/>
            </a:endParaRPr>
          </a:p>
        </p:txBody>
      </p:sp>
    </p:spTree>
  </p:cSld>
  <p:clrMapOvr>
    <a:masterClrMapping/>
  </p:clrMapOvr>
  <p:transition>
    <p:zoom/>
  </p:transition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8850" name="Picture 2" descr="102-0284_IMG">
            <a:extLst>
              <a:ext uri="{FF2B5EF4-FFF2-40B4-BE49-F238E27FC236}">
                <a16:creationId xmlns:a16="http://schemas.microsoft.com/office/drawing/2014/main" id="{B2FCCA82-0596-4260-8075-62F07C2B927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>
    <p:zoom/>
  </p:transition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Slide Number Placeholder 5">
            <a:extLst>
              <a:ext uri="{FF2B5EF4-FFF2-40B4-BE49-F238E27FC236}">
                <a16:creationId xmlns:a16="http://schemas.microsoft.com/office/drawing/2014/main" id="{FEE8AC14-14AE-462C-81A6-25C9A0A38C41}"/>
              </a:ext>
            </a:extLst>
          </p:cNvPr>
          <p:cNvSpPr txBox="1">
            <a:spLocks noGrp="1"/>
          </p:cNvSpPr>
          <p:nvPr/>
        </p:nvSpPr>
        <p:spPr bwMode="auto">
          <a:xfrm>
            <a:off x="7239000" y="6477000"/>
            <a:ext cx="1905000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r" eaLnBrk="1" hangingPunct="1"/>
            <a:fld id="{675ADFD8-721B-4443-AF3C-87B4A1FB3C54}" type="slidenum">
              <a:rPr lang="en-US" altLang="en-US" sz="1200"/>
              <a:pPr algn="r" eaLnBrk="1" hangingPunct="1"/>
              <a:t>76</a:t>
            </a:fld>
            <a:endParaRPr lang="en-US" altLang="en-US" sz="1200"/>
          </a:p>
        </p:txBody>
      </p:sp>
      <p:sp>
        <p:nvSpPr>
          <p:cNvPr id="79875" name="Rectangle 2">
            <a:extLst>
              <a:ext uri="{FF2B5EF4-FFF2-40B4-BE49-F238E27FC236}">
                <a16:creationId xmlns:a16="http://schemas.microsoft.com/office/drawing/2014/main" id="{BF0EAB1B-F604-4412-84B7-D8E40AF39704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-228600" y="152400"/>
            <a:ext cx="9601200" cy="838200"/>
          </a:xfrm>
          <a:noFill/>
        </p:spPr>
        <p:txBody>
          <a:bodyPr lIns="92075" tIns="46038" rIns="92075" bIns="46038"/>
          <a:lstStyle/>
          <a:p>
            <a:pPr eaLnBrk="1" hangingPunct="1">
              <a:lnSpc>
                <a:spcPct val="110000"/>
              </a:lnSpc>
            </a:pPr>
            <a:r>
              <a:rPr lang="en-US" altLang="en-US" sz="3200">
                <a:solidFill>
                  <a:srgbClr val="170981"/>
                </a:solidFill>
              </a:rPr>
              <a:t>Issues: Evaluating Classification Methods</a:t>
            </a:r>
          </a:p>
        </p:txBody>
      </p:sp>
      <p:sp>
        <p:nvSpPr>
          <p:cNvPr id="79876" name="Rectangle 3">
            <a:extLst>
              <a:ext uri="{FF2B5EF4-FFF2-40B4-BE49-F238E27FC236}">
                <a16:creationId xmlns:a16="http://schemas.microsoft.com/office/drawing/2014/main" id="{059BBA1C-E8BD-467C-B87F-BF8CBA140994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304800" y="1371600"/>
            <a:ext cx="8378825" cy="5257800"/>
          </a:xfrm>
          <a:noFill/>
        </p:spPr>
        <p:txBody>
          <a:bodyPr lIns="92075" tIns="46038" rIns="92075" bIns="46038"/>
          <a:lstStyle/>
          <a:p>
            <a:pPr eaLnBrk="1" hangingPunct="1">
              <a:lnSpc>
                <a:spcPct val="90000"/>
              </a:lnSpc>
            </a:pPr>
            <a:r>
              <a:rPr lang="en-US" altLang="en-US" sz="2400"/>
              <a:t>Accuracy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2400"/>
              <a:t>classifier accuracy: predicting class label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2400"/>
              <a:t>predictor accuracy: guessing value of predicted attributes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2400"/>
              <a:t>Speed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2400"/>
              <a:t>time to construct the model (training time)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2400"/>
              <a:t>time to use the model (classification/prediction time)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2400"/>
              <a:t>Robustness: handling noise and missing values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2400"/>
              <a:t>Scalability: efficiency in disk-resident databases 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2400"/>
              <a:t>Interpretability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2400"/>
              <a:t>understanding and insight provided by the model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2400"/>
              <a:t>Other measures, e.g., goodness of rules, such as decision tree size or compactness of classification rules</a:t>
            </a:r>
          </a:p>
        </p:txBody>
      </p:sp>
    </p:spTree>
  </p:cSld>
  <p:clrMapOvr>
    <a:masterClrMapping/>
  </p:clrMapOvr>
  <p:transition>
    <p:zoom/>
  </p:transition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8" name="Slide Number Placeholder 7">
            <a:extLst>
              <a:ext uri="{FF2B5EF4-FFF2-40B4-BE49-F238E27FC236}">
                <a16:creationId xmlns:a16="http://schemas.microsoft.com/office/drawing/2014/main" id="{3BEAF125-803B-4CFC-9536-7078E4DD9839}"/>
              </a:ext>
            </a:extLst>
          </p:cNvPr>
          <p:cNvSpPr txBox="1">
            <a:spLocks noGrp="1"/>
          </p:cNvSpPr>
          <p:nvPr/>
        </p:nvSpPr>
        <p:spPr bwMode="auto">
          <a:xfrm>
            <a:off x="7239000" y="6477000"/>
            <a:ext cx="1905000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r" eaLnBrk="1" hangingPunct="1"/>
            <a:fld id="{E6B9AE8A-3505-4FFB-B826-406D9DA00685}" type="slidenum">
              <a:rPr lang="en-US" altLang="en-US" sz="1200"/>
              <a:pPr algn="r" eaLnBrk="1" hangingPunct="1"/>
              <a:t>77</a:t>
            </a:fld>
            <a:endParaRPr lang="en-US" altLang="en-US" sz="1200"/>
          </a:p>
        </p:txBody>
      </p:sp>
      <p:sp>
        <p:nvSpPr>
          <p:cNvPr id="80899" name="Rectangle 2">
            <a:extLst>
              <a:ext uri="{FF2B5EF4-FFF2-40B4-BE49-F238E27FC236}">
                <a16:creationId xmlns:a16="http://schemas.microsoft.com/office/drawing/2014/main" id="{DBAF52C2-8D5E-41FA-B4BA-584D2A27499C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noFill/>
        </p:spPr>
        <p:txBody>
          <a:bodyPr lIns="92075" tIns="46038" rIns="92075" bIns="46038"/>
          <a:lstStyle/>
          <a:p>
            <a:pPr eaLnBrk="1" hangingPunct="1"/>
            <a:r>
              <a:rPr lang="en-US" altLang="en-US" sz="3200"/>
              <a:t>Predictor Error Measures</a:t>
            </a:r>
            <a:endParaRPr lang="en-US" altLang="en-US"/>
          </a:p>
        </p:txBody>
      </p:sp>
      <p:sp>
        <p:nvSpPr>
          <p:cNvPr id="80900" name="Rectangle 3">
            <a:extLst>
              <a:ext uri="{FF2B5EF4-FFF2-40B4-BE49-F238E27FC236}">
                <a16:creationId xmlns:a16="http://schemas.microsoft.com/office/drawing/2014/main" id="{83710192-4DBF-43EA-9200-923038911AFB}"/>
              </a:ext>
            </a:extLst>
          </p:cNvPr>
          <p:cNvSpPr>
            <a:spLocks noGrp="1" noChangeArrowheads="1"/>
          </p:cNvSpPr>
          <p:nvPr>
            <p:ph type="body" sz="half" idx="4294967295"/>
          </p:nvPr>
        </p:nvSpPr>
        <p:spPr>
          <a:xfrm>
            <a:off x="304800" y="1371600"/>
            <a:ext cx="8610600" cy="5105400"/>
          </a:xfrm>
          <a:noFill/>
        </p:spPr>
        <p:txBody>
          <a:bodyPr lIns="92075" tIns="46038" rIns="92075" bIns="46038"/>
          <a:lstStyle/>
          <a:p>
            <a:pPr eaLnBrk="1" hangingPunct="1">
              <a:lnSpc>
                <a:spcPct val="110000"/>
              </a:lnSpc>
            </a:pPr>
            <a:r>
              <a:rPr lang="en-US" altLang="en-US" sz="2000"/>
              <a:t>Measure predictor accuracy: measure how far off the predicted value is from the actual known value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en-US" sz="2000" b="1"/>
              <a:t>Loss function</a:t>
            </a:r>
            <a:r>
              <a:rPr lang="en-US" altLang="en-US" sz="2000"/>
              <a:t>: measures the error betw. y</a:t>
            </a:r>
            <a:r>
              <a:rPr lang="en-US" altLang="en-US" sz="2000" baseline="-25000"/>
              <a:t>i</a:t>
            </a:r>
            <a:r>
              <a:rPr lang="en-US" altLang="en-US" sz="2000"/>
              <a:t> and the predicted value y</a:t>
            </a:r>
            <a:r>
              <a:rPr lang="en-US" altLang="en-US" sz="2000" baseline="-25000"/>
              <a:t>i</a:t>
            </a:r>
            <a:r>
              <a:rPr lang="en-US" altLang="en-US" sz="2000"/>
              <a:t>’</a:t>
            </a:r>
          </a:p>
          <a:p>
            <a:pPr lvl="1" eaLnBrk="1" hangingPunct="1">
              <a:lnSpc>
                <a:spcPct val="110000"/>
              </a:lnSpc>
            </a:pPr>
            <a:r>
              <a:rPr lang="en-US" altLang="en-US" sz="2000"/>
              <a:t>Absolute error: | y</a:t>
            </a:r>
            <a:r>
              <a:rPr lang="en-US" altLang="en-US" sz="2000" baseline="-25000"/>
              <a:t>i</a:t>
            </a:r>
            <a:r>
              <a:rPr lang="en-US" altLang="en-US" sz="2000"/>
              <a:t> – y</a:t>
            </a:r>
            <a:r>
              <a:rPr lang="en-US" altLang="en-US" sz="2000" baseline="-25000"/>
              <a:t>i</a:t>
            </a:r>
            <a:r>
              <a:rPr lang="en-US" altLang="en-US" sz="2000"/>
              <a:t>’| </a:t>
            </a:r>
          </a:p>
          <a:p>
            <a:pPr lvl="1" eaLnBrk="1" hangingPunct="1">
              <a:lnSpc>
                <a:spcPct val="110000"/>
              </a:lnSpc>
            </a:pPr>
            <a:r>
              <a:rPr lang="en-US" altLang="en-US" sz="2000"/>
              <a:t>Squared error:  (y</a:t>
            </a:r>
            <a:r>
              <a:rPr lang="en-US" altLang="en-US" sz="2000" baseline="-25000"/>
              <a:t>i</a:t>
            </a:r>
            <a:r>
              <a:rPr lang="en-US" altLang="en-US" sz="2000"/>
              <a:t> – y</a:t>
            </a:r>
            <a:r>
              <a:rPr lang="en-US" altLang="en-US" sz="2000" baseline="-25000"/>
              <a:t>i</a:t>
            </a:r>
            <a:r>
              <a:rPr lang="en-US" altLang="en-US" sz="2000"/>
              <a:t>’)</a:t>
            </a:r>
            <a:r>
              <a:rPr lang="en-US" altLang="en-US" sz="2000" baseline="30000"/>
              <a:t>2</a:t>
            </a:r>
            <a:r>
              <a:rPr lang="en-US" altLang="en-US" sz="2000"/>
              <a:t> 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en-US" sz="2000"/>
              <a:t>Test error (generalization error): the average loss over the test set</a:t>
            </a:r>
          </a:p>
          <a:p>
            <a:pPr lvl="1" eaLnBrk="1" hangingPunct="1">
              <a:lnSpc>
                <a:spcPct val="110000"/>
              </a:lnSpc>
            </a:pPr>
            <a:r>
              <a:rPr lang="en-US" altLang="en-US" sz="2000"/>
              <a:t>Mean absolute error:                  Mean squared error:</a:t>
            </a:r>
          </a:p>
          <a:p>
            <a:pPr lvl="1" eaLnBrk="1" hangingPunct="1">
              <a:lnSpc>
                <a:spcPct val="110000"/>
              </a:lnSpc>
            </a:pPr>
            <a:endParaRPr lang="en-US" altLang="en-US" sz="2000"/>
          </a:p>
          <a:p>
            <a:pPr lvl="1" eaLnBrk="1" hangingPunct="1">
              <a:lnSpc>
                <a:spcPct val="110000"/>
              </a:lnSpc>
            </a:pPr>
            <a:r>
              <a:rPr lang="en-US" altLang="en-US" sz="2000"/>
              <a:t>Relative absolute error:               Relative squared error:</a:t>
            </a:r>
          </a:p>
          <a:p>
            <a:pPr lvl="1" eaLnBrk="1" hangingPunct="1">
              <a:lnSpc>
                <a:spcPct val="110000"/>
              </a:lnSpc>
              <a:buFont typeface="Wingdings" panose="05000000000000000000" pitchFamily="2" charset="2"/>
              <a:buNone/>
            </a:pPr>
            <a:endParaRPr lang="en-US" altLang="en-US" sz="2000"/>
          </a:p>
          <a:p>
            <a:pPr lvl="1" eaLnBrk="1" hangingPunct="1">
              <a:lnSpc>
                <a:spcPct val="110000"/>
              </a:lnSpc>
              <a:buFont typeface="Wingdings" panose="05000000000000000000" pitchFamily="2" charset="2"/>
              <a:buNone/>
            </a:pPr>
            <a:r>
              <a:rPr lang="en-US" altLang="en-US" sz="2000"/>
              <a:t>The mean squared-error exaggerates the presence of outliers</a:t>
            </a:r>
          </a:p>
          <a:p>
            <a:pPr lvl="1" eaLnBrk="1" hangingPunct="1">
              <a:lnSpc>
                <a:spcPct val="110000"/>
              </a:lnSpc>
              <a:buFont typeface="Wingdings" panose="05000000000000000000" pitchFamily="2" charset="2"/>
              <a:buNone/>
            </a:pPr>
            <a:r>
              <a:rPr lang="en-US" altLang="en-US" sz="2000"/>
              <a:t>Popularly use (square) root mean-square error, similarly, root relative squared error</a:t>
            </a:r>
          </a:p>
        </p:txBody>
      </p:sp>
      <p:graphicFrame>
        <p:nvGraphicFramePr>
          <p:cNvPr id="80901" name="Object 4">
            <a:extLst>
              <a:ext uri="{FF2B5EF4-FFF2-40B4-BE49-F238E27FC236}">
                <a16:creationId xmlns:a16="http://schemas.microsoft.com/office/drawing/2014/main" id="{2AA2D225-34C5-41DE-9C3B-DFFB70248494}"/>
              </a:ext>
            </a:extLst>
          </p:cNvPr>
          <p:cNvGraphicFramePr>
            <a:graphicFrameLocks noChangeAspect="1"/>
          </p:cNvGraphicFramePr>
          <p:nvPr>
            <p:ph sz="quarter" idx="4294967295"/>
          </p:nvPr>
        </p:nvGraphicFramePr>
        <p:xfrm>
          <a:off x="3581400" y="3581400"/>
          <a:ext cx="1030288" cy="838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0905" name="Equation" r:id="rId4" imgW="749300" imgH="609600" progId="Equation.3">
                  <p:embed/>
                </p:oleObj>
              </mc:Choice>
              <mc:Fallback>
                <p:oleObj name="Equation" r:id="rId4" imgW="749300" imgH="60960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81400" y="3581400"/>
                        <a:ext cx="1030288" cy="838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0902" name="Object 8">
            <a:extLst>
              <a:ext uri="{FF2B5EF4-FFF2-40B4-BE49-F238E27FC236}">
                <a16:creationId xmlns:a16="http://schemas.microsoft.com/office/drawing/2014/main" id="{65CBCBD6-9787-4DC6-B201-3E83CE0DB3B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315200" y="3581400"/>
          <a:ext cx="1169988" cy="838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0906" name="Equation" r:id="rId6" imgW="850531" imgH="609336" progId="Equation.3">
                  <p:embed/>
                </p:oleObj>
              </mc:Choice>
              <mc:Fallback>
                <p:oleObj name="Equation" r:id="rId6" imgW="850531" imgH="609336" progId="Equation.3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315200" y="3581400"/>
                        <a:ext cx="1169988" cy="838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0903" name="Object 10">
            <a:extLst>
              <a:ext uri="{FF2B5EF4-FFF2-40B4-BE49-F238E27FC236}">
                <a16:creationId xmlns:a16="http://schemas.microsoft.com/office/drawing/2014/main" id="{C0CDB075-BE96-44D8-A7BB-50E375DF901E}"/>
              </a:ext>
            </a:extLst>
          </p:cNvPr>
          <p:cNvGraphicFramePr>
            <a:graphicFrameLocks noChangeAspect="1"/>
          </p:cNvGraphicFramePr>
          <p:nvPr>
            <p:ph sz="quarter" idx="4294967295"/>
          </p:nvPr>
        </p:nvGraphicFramePr>
        <p:xfrm>
          <a:off x="3810000" y="4419600"/>
          <a:ext cx="1066800" cy="914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0907" name="Equation" r:id="rId8" imgW="749300" imgH="838200" progId="Equation.3">
                  <p:embed/>
                </p:oleObj>
              </mc:Choice>
              <mc:Fallback>
                <p:oleObj name="Equation" r:id="rId8" imgW="749300" imgH="838200" progId="Equation.3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10000" y="4419600"/>
                        <a:ext cx="1066800" cy="914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0904" name="Object 12">
            <a:extLst>
              <a:ext uri="{FF2B5EF4-FFF2-40B4-BE49-F238E27FC236}">
                <a16:creationId xmlns:a16="http://schemas.microsoft.com/office/drawing/2014/main" id="{F737C641-0F46-4DC0-B5B4-30E77443A4C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620000" y="4267200"/>
          <a:ext cx="1169988" cy="1152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0908" name="Equation" r:id="rId10" imgW="850900" imgH="838200" progId="Equation.3">
                  <p:embed/>
                </p:oleObj>
              </mc:Choice>
              <mc:Fallback>
                <p:oleObj name="Equation" r:id="rId10" imgW="850900" imgH="838200" progId="Equation.3">
                  <p:embed/>
                  <p:pic>
                    <p:nvPicPr>
                      <p:cNvPr id="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20000" y="4267200"/>
                        <a:ext cx="1169988" cy="11525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>
    <p:zoom/>
  </p:transition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2" name="Slide Number Placeholder 5">
            <a:extLst>
              <a:ext uri="{FF2B5EF4-FFF2-40B4-BE49-F238E27FC236}">
                <a16:creationId xmlns:a16="http://schemas.microsoft.com/office/drawing/2014/main" id="{DE933612-290E-47BC-AC01-49E0AFC11699}"/>
              </a:ext>
            </a:extLst>
          </p:cNvPr>
          <p:cNvSpPr txBox="1">
            <a:spLocks noGrp="1"/>
          </p:cNvSpPr>
          <p:nvPr/>
        </p:nvSpPr>
        <p:spPr bwMode="auto">
          <a:xfrm>
            <a:off x="7239000" y="6477000"/>
            <a:ext cx="1905000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r" eaLnBrk="1" hangingPunct="1"/>
            <a:fld id="{3B55E1B3-81F0-4AB4-BA57-FE0AD3E06994}" type="slidenum">
              <a:rPr lang="en-US" altLang="en-US" sz="1200"/>
              <a:pPr algn="r" eaLnBrk="1" hangingPunct="1"/>
              <a:t>78</a:t>
            </a:fld>
            <a:endParaRPr lang="en-US" altLang="en-US" sz="1200"/>
          </a:p>
        </p:txBody>
      </p:sp>
      <p:sp>
        <p:nvSpPr>
          <p:cNvPr id="81923" name="Rectangle 2">
            <a:extLst>
              <a:ext uri="{FF2B5EF4-FFF2-40B4-BE49-F238E27FC236}">
                <a16:creationId xmlns:a16="http://schemas.microsoft.com/office/drawing/2014/main" id="{15B12DD8-FCE9-4065-9A51-A085002529AE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304800" y="304800"/>
            <a:ext cx="8534400" cy="533400"/>
          </a:xfrm>
        </p:spPr>
        <p:txBody>
          <a:bodyPr/>
          <a:lstStyle/>
          <a:p>
            <a:pPr eaLnBrk="1" hangingPunct="1"/>
            <a:r>
              <a:rPr lang="en-US" altLang="en-US"/>
              <a:t>Scalable Decision Tree Induction Methods</a:t>
            </a:r>
          </a:p>
        </p:txBody>
      </p:sp>
      <p:sp>
        <p:nvSpPr>
          <p:cNvPr id="81924" name="Rectangle 3">
            <a:extLst>
              <a:ext uri="{FF2B5EF4-FFF2-40B4-BE49-F238E27FC236}">
                <a16:creationId xmlns:a16="http://schemas.microsoft.com/office/drawing/2014/main" id="{6B010322-5AD7-462F-B321-5F6067323A6F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381000" y="1371600"/>
            <a:ext cx="8534400" cy="5105400"/>
          </a:xfrm>
        </p:spPr>
        <p:txBody>
          <a:bodyPr/>
          <a:lstStyle/>
          <a:p>
            <a:pPr eaLnBrk="1" hangingPunct="1"/>
            <a:r>
              <a:rPr lang="en-US" altLang="en-US" sz="2400">
                <a:solidFill>
                  <a:srgbClr val="FF3300"/>
                </a:solidFill>
              </a:rPr>
              <a:t>SLIQ</a:t>
            </a:r>
            <a:r>
              <a:rPr lang="en-US" altLang="en-US" sz="2400"/>
              <a:t> (EDBT’96 — Mehta et al.)</a:t>
            </a:r>
          </a:p>
          <a:p>
            <a:pPr lvl="1" eaLnBrk="1" hangingPunct="1"/>
            <a:r>
              <a:rPr lang="en-US" altLang="en-US" sz="2400"/>
              <a:t>Builds an index for each attribute and only class list and the current attribute list reside in memory</a:t>
            </a:r>
          </a:p>
          <a:p>
            <a:pPr eaLnBrk="1" hangingPunct="1"/>
            <a:r>
              <a:rPr lang="en-US" altLang="en-US" sz="2400">
                <a:solidFill>
                  <a:srgbClr val="FF3300"/>
                </a:solidFill>
              </a:rPr>
              <a:t>SPRINT</a:t>
            </a:r>
            <a:r>
              <a:rPr lang="en-US" altLang="en-US" sz="2400"/>
              <a:t> (VLDB’96 — J. Shafer et al.)</a:t>
            </a:r>
          </a:p>
          <a:p>
            <a:pPr lvl="1" eaLnBrk="1" hangingPunct="1"/>
            <a:r>
              <a:rPr lang="en-US" altLang="en-US" sz="2400"/>
              <a:t>Constructs an attribute list data structure </a:t>
            </a:r>
          </a:p>
          <a:p>
            <a:pPr eaLnBrk="1" hangingPunct="1"/>
            <a:r>
              <a:rPr lang="en-US" altLang="en-US" sz="2400">
                <a:solidFill>
                  <a:srgbClr val="FF3300"/>
                </a:solidFill>
              </a:rPr>
              <a:t>PUBLIC</a:t>
            </a:r>
            <a:r>
              <a:rPr lang="en-US" altLang="en-US" sz="2400"/>
              <a:t> (VLDB’98 — Rastogi &amp; Shim)</a:t>
            </a:r>
          </a:p>
          <a:p>
            <a:pPr lvl="1" eaLnBrk="1" hangingPunct="1"/>
            <a:r>
              <a:rPr lang="en-US" altLang="en-US" sz="2400"/>
              <a:t>Integrates tree splitting and tree pruning: stop growing the tree earlier</a:t>
            </a:r>
          </a:p>
          <a:p>
            <a:pPr eaLnBrk="1" hangingPunct="1"/>
            <a:r>
              <a:rPr lang="en-US" altLang="en-US" sz="2400">
                <a:solidFill>
                  <a:srgbClr val="FF3300"/>
                </a:solidFill>
              </a:rPr>
              <a:t>RainForest </a:t>
            </a:r>
            <a:r>
              <a:rPr lang="en-US" altLang="en-US" sz="2400"/>
              <a:t>(VLDB’98 — Gehrke, Ramakrishnan &amp; Ganti)</a:t>
            </a:r>
          </a:p>
          <a:p>
            <a:pPr lvl="1" eaLnBrk="1" hangingPunct="1"/>
            <a:r>
              <a:rPr lang="en-US" altLang="en-US" sz="2400"/>
              <a:t>Builds an AVC-list (attribute, value, class label)</a:t>
            </a:r>
          </a:p>
          <a:p>
            <a:pPr eaLnBrk="1" hangingPunct="1"/>
            <a:r>
              <a:rPr lang="en-US" altLang="en-US" sz="2400">
                <a:solidFill>
                  <a:schemeClr val="hlink"/>
                </a:solidFill>
              </a:rPr>
              <a:t>BOAT </a:t>
            </a:r>
            <a:r>
              <a:rPr lang="en-US" altLang="en-US" sz="2400"/>
              <a:t>(PODS’99 — Gehrke, Ganti, Ramakrishnan &amp; Loh)</a:t>
            </a:r>
          </a:p>
          <a:p>
            <a:pPr lvl="1" eaLnBrk="1" hangingPunct="1"/>
            <a:r>
              <a:rPr lang="en-US" altLang="en-US" sz="2400"/>
              <a:t>Uses bootstrapping to create several small samples</a:t>
            </a:r>
          </a:p>
        </p:txBody>
      </p:sp>
    </p:spTree>
  </p:cSld>
  <p:clrMapOvr>
    <a:masterClrMapping/>
  </p:clrMapOvr>
  <p:transition>
    <p:zoom/>
  </p:transition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Slide Number Placeholder 5">
            <a:extLst>
              <a:ext uri="{FF2B5EF4-FFF2-40B4-BE49-F238E27FC236}">
                <a16:creationId xmlns:a16="http://schemas.microsoft.com/office/drawing/2014/main" id="{38F52920-9B73-42DE-94E5-20A11F413560}"/>
              </a:ext>
            </a:extLst>
          </p:cNvPr>
          <p:cNvSpPr txBox="1">
            <a:spLocks noGrp="1"/>
          </p:cNvSpPr>
          <p:nvPr/>
        </p:nvSpPr>
        <p:spPr bwMode="auto">
          <a:xfrm>
            <a:off x="7239000" y="6477000"/>
            <a:ext cx="1905000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r" eaLnBrk="1" hangingPunct="1"/>
            <a:fld id="{E963917C-D8B4-4E06-A849-2A62930FFE44}" type="slidenum">
              <a:rPr lang="en-US" altLang="en-US" sz="1200"/>
              <a:pPr algn="r" eaLnBrk="1" hangingPunct="1"/>
              <a:t>79</a:t>
            </a:fld>
            <a:endParaRPr lang="en-US" altLang="en-US" sz="1200"/>
          </a:p>
        </p:txBody>
      </p:sp>
      <p:sp>
        <p:nvSpPr>
          <p:cNvPr id="82947" name="Rectangle 2">
            <a:extLst>
              <a:ext uri="{FF2B5EF4-FFF2-40B4-BE49-F238E27FC236}">
                <a16:creationId xmlns:a16="http://schemas.microsoft.com/office/drawing/2014/main" id="{FA94C683-BE8C-4DB7-9664-0E983C70DD74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0" y="304800"/>
            <a:ext cx="9144000" cy="782638"/>
          </a:xfrm>
          <a:noFill/>
        </p:spPr>
        <p:txBody>
          <a:bodyPr lIns="92075" tIns="46038" rIns="92075" bIns="46038" anchor="ctr"/>
          <a:lstStyle/>
          <a:p>
            <a:pPr eaLnBrk="1" hangingPunct="1"/>
            <a:r>
              <a:rPr lang="en-US" altLang="en-US"/>
              <a:t>Data Cube-Based Decision-Tree Induction</a:t>
            </a:r>
            <a:endParaRPr lang="en-US" altLang="en-US" sz="2400"/>
          </a:p>
        </p:txBody>
      </p:sp>
      <p:sp>
        <p:nvSpPr>
          <p:cNvPr id="82948" name="Rectangle 3">
            <a:extLst>
              <a:ext uri="{FF2B5EF4-FFF2-40B4-BE49-F238E27FC236}">
                <a16:creationId xmlns:a16="http://schemas.microsoft.com/office/drawing/2014/main" id="{D55D8944-ADA0-4F1C-8E64-933E22004BDE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304800" y="1371600"/>
            <a:ext cx="8610600" cy="5029200"/>
          </a:xfrm>
          <a:noFill/>
        </p:spPr>
        <p:txBody>
          <a:bodyPr lIns="92075" tIns="46038" rIns="92075" bIns="46038"/>
          <a:lstStyle/>
          <a:p>
            <a:pPr eaLnBrk="1" hangingPunct="1">
              <a:lnSpc>
                <a:spcPct val="120000"/>
              </a:lnSpc>
            </a:pPr>
            <a:r>
              <a:rPr lang="en-US" altLang="en-US" sz="2400"/>
              <a:t>Integration of generalization with decision-tree induction (Kamber et al.’97)</a:t>
            </a:r>
          </a:p>
          <a:p>
            <a:pPr eaLnBrk="1" hangingPunct="1">
              <a:lnSpc>
                <a:spcPct val="120000"/>
              </a:lnSpc>
            </a:pPr>
            <a:r>
              <a:rPr lang="en-US" altLang="en-US" sz="2400"/>
              <a:t>Classification at primitive concept levels</a:t>
            </a:r>
          </a:p>
          <a:p>
            <a:pPr lvl="1" eaLnBrk="1" hangingPunct="1">
              <a:lnSpc>
                <a:spcPct val="120000"/>
              </a:lnSpc>
            </a:pPr>
            <a:r>
              <a:rPr lang="en-US" altLang="en-US" sz="2400"/>
              <a:t>E.g., precise temperature, humidity, outlook, etc.</a:t>
            </a:r>
          </a:p>
          <a:p>
            <a:pPr lvl="1" eaLnBrk="1" hangingPunct="1">
              <a:lnSpc>
                <a:spcPct val="120000"/>
              </a:lnSpc>
            </a:pPr>
            <a:r>
              <a:rPr lang="en-US" altLang="en-US" sz="2400"/>
              <a:t>Low-level concepts, scattered classes, bushy classification-trees</a:t>
            </a:r>
          </a:p>
          <a:p>
            <a:pPr lvl="1" eaLnBrk="1" hangingPunct="1">
              <a:lnSpc>
                <a:spcPct val="120000"/>
              </a:lnSpc>
            </a:pPr>
            <a:r>
              <a:rPr lang="en-US" altLang="en-US" sz="2400"/>
              <a:t>Semantic interpretation problems</a:t>
            </a:r>
          </a:p>
          <a:p>
            <a:pPr eaLnBrk="1" hangingPunct="1">
              <a:lnSpc>
                <a:spcPct val="120000"/>
              </a:lnSpc>
            </a:pPr>
            <a:r>
              <a:rPr lang="en-US" altLang="en-US" sz="2400"/>
              <a:t>Cube-based multi-level classification</a:t>
            </a:r>
          </a:p>
          <a:p>
            <a:pPr lvl="1" eaLnBrk="1" hangingPunct="1">
              <a:lnSpc>
                <a:spcPct val="120000"/>
              </a:lnSpc>
            </a:pPr>
            <a:r>
              <a:rPr lang="en-US" altLang="en-US" sz="2400"/>
              <a:t>Relevance analysis at multi-levels</a:t>
            </a:r>
          </a:p>
          <a:p>
            <a:pPr lvl="1" eaLnBrk="1" hangingPunct="1">
              <a:lnSpc>
                <a:spcPct val="120000"/>
              </a:lnSpc>
            </a:pPr>
            <a:r>
              <a:rPr lang="en-US" altLang="en-US" sz="2400"/>
              <a:t>Information-gain analysis with dimension + level</a:t>
            </a:r>
          </a:p>
        </p:txBody>
      </p:sp>
    </p:spTree>
  </p:cSld>
  <p:clrMapOvr>
    <a:masterClrMapping/>
  </p:clrMapOvr>
  <p:transition>
    <p:zoom/>
  </p:transition>
</p:sld>
</file>

<file path=ppt/theme/theme1.xml><?xml version="1.0" encoding="utf-8"?>
<a:theme xmlns:a="http://schemas.openxmlformats.org/drawingml/2006/main" name="Blends">
  <a:themeElements>
    <a:clrScheme name="Blends 2">
      <a:dk1>
        <a:srgbClr val="000000"/>
      </a:dk1>
      <a:lt1>
        <a:srgbClr val="FFFFFF"/>
      </a:lt1>
      <a:dk2>
        <a:srgbClr val="333399"/>
      </a:dk2>
      <a:lt2>
        <a:srgbClr val="1C1C1C"/>
      </a:lt2>
      <a:accent1>
        <a:srgbClr val="00E4A8"/>
      </a:accent1>
      <a:accent2>
        <a:srgbClr val="FFCF01"/>
      </a:accent2>
      <a:accent3>
        <a:srgbClr val="FFFFFF"/>
      </a:accent3>
      <a:accent4>
        <a:srgbClr val="000000"/>
      </a:accent4>
      <a:accent5>
        <a:srgbClr val="AAEFD1"/>
      </a:accent5>
      <a:accent6>
        <a:srgbClr val="E7BB01"/>
      </a:accent6>
      <a:hlink>
        <a:srgbClr val="FF0000"/>
      </a:hlink>
      <a:folHlink>
        <a:srgbClr val="3333CC"/>
      </a:folHlink>
    </a:clrScheme>
    <a:fontScheme name="Blends">
      <a:majorFont>
        <a:latin typeface="Tahoma"/>
        <a:ea typeface=""/>
        <a:cs typeface=""/>
      </a:majorFont>
      <a:minorFont>
        <a:latin typeface="Tahom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miter lim="800000"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miter lim="800000"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itchFamily="34" charset="0"/>
          </a:defRPr>
        </a:defPPr>
      </a:lstStyle>
    </a:lnDef>
  </a:objectDefaults>
  <a:extraClrSchemeLst>
    <a:extraClrScheme>
      <a:clrScheme name="Blends 1">
        <a:dk1>
          <a:srgbClr val="969696"/>
        </a:dk1>
        <a:lt1>
          <a:srgbClr val="FFFFFF"/>
        </a:lt1>
        <a:dk2>
          <a:srgbClr val="000000"/>
        </a:dk2>
        <a:lt2>
          <a:srgbClr val="DDDDDD"/>
        </a:lt2>
        <a:accent1>
          <a:srgbClr val="00E4A8"/>
        </a:accent1>
        <a:accent2>
          <a:srgbClr val="3333CC"/>
        </a:accent2>
        <a:accent3>
          <a:srgbClr val="AAAAAA"/>
        </a:accent3>
        <a:accent4>
          <a:srgbClr val="DADADA"/>
        </a:accent4>
        <a:accent5>
          <a:srgbClr val="AAEFD1"/>
        </a:accent5>
        <a:accent6>
          <a:srgbClr val="2D2DB9"/>
        </a:accent6>
        <a:hlink>
          <a:srgbClr val="FF5050"/>
        </a:hlink>
        <a:folHlink>
          <a:srgbClr val="FFCF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2">
        <a:dk1>
          <a:srgbClr val="000000"/>
        </a:dk1>
        <a:lt1>
          <a:srgbClr val="FFFFFF"/>
        </a:lt1>
        <a:dk2>
          <a:srgbClr val="333399"/>
        </a:dk2>
        <a:lt2>
          <a:srgbClr val="1C1C1C"/>
        </a:lt2>
        <a:accent1>
          <a:srgbClr val="00E4A8"/>
        </a:accent1>
        <a:accent2>
          <a:srgbClr val="FFCF01"/>
        </a:accent2>
        <a:accent3>
          <a:srgbClr val="FFFFFF"/>
        </a:accent3>
        <a:accent4>
          <a:srgbClr val="000000"/>
        </a:accent4>
        <a:accent5>
          <a:srgbClr val="AAEFD1"/>
        </a:accent5>
        <a:accent6>
          <a:srgbClr val="E7BB01"/>
        </a:accent6>
        <a:hlink>
          <a:srgbClr val="FF0000"/>
        </a:hlink>
        <a:folHlink>
          <a:srgbClr val="3333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3">
        <a:dk1>
          <a:srgbClr val="000000"/>
        </a:dk1>
        <a:lt1>
          <a:srgbClr val="FFFFFF"/>
        </a:lt1>
        <a:dk2>
          <a:srgbClr val="000000"/>
        </a:dk2>
        <a:lt2>
          <a:srgbClr val="5F5F5F"/>
        </a:lt2>
        <a:accent1>
          <a:srgbClr val="EAEAEA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F3F3F3"/>
        </a:accent5>
        <a:accent6>
          <a:srgbClr val="737373"/>
        </a:accent6>
        <a:hlink>
          <a:srgbClr val="4D4D4D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4">
        <a:dk1>
          <a:srgbClr val="000094"/>
        </a:dk1>
        <a:lt1>
          <a:srgbClr val="FFFFFF"/>
        </a:lt1>
        <a:dk2>
          <a:srgbClr val="0000CC"/>
        </a:dk2>
        <a:lt2>
          <a:srgbClr val="FFFFCC"/>
        </a:lt2>
        <a:accent1>
          <a:srgbClr val="3193FF"/>
        </a:accent1>
        <a:accent2>
          <a:srgbClr val="9900FF"/>
        </a:accent2>
        <a:accent3>
          <a:srgbClr val="AAAAE2"/>
        </a:accent3>
        <a:accent4>
          <a:srgbClr val="DADADA"/>
        </a:accent4>
        <a:accent5>
          <a:srgbClr val="ADC8FF"/>
        </a:accent5>
        <a:accent6>
          <a:srgbClr val="8A00E7"/>
        </a:accent6>
        <a:hlink>
          <a:srgbClr val="FF3399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5">
        <a:dk1>
          <a:srgbClr val="000000"/>
        </a:dk1>
        <a:lt1>
          <a:srgbClr val="FFFFFF"/>
        </a:lt1>
        <a:dk2>
          <a:srgbClr val="000066"/>
        </a:dk2>
        <a:lt2>
          <a:srgbClr val="333333"/>
        </a:lt2>
        <a:accent1>
          <a:srgbClr val="C4709A"/>
        </a:accent1>
        <a:accent2>
          <a:srgbClr val="4B4EB5"/>
        </a:accent2>
        <a:accent3>
          <a:srgbClr val="FFFFFF"/>
        </a:accent3>
        <a:accent4>
          <a:srgbClr val="000000"/>
        </a:accent4>
        <a:accent5>
          <a:srgbClr val="DEBBCA"/>
        </a:accent5>
        <a:accent6>
          <a:srgbClr val="4346A4"/>
        </a:accent6>
        <a:hlink>
          <a:srgbClr val="C481CF"/>
        </a:hlink>
        <a:folHlink>
          <a:srgbClr val="76B74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6">
        <a:dk1>
          <a:srgbClr val="000000"/>
        </a:dk1>
        <a:lt1>
          <a:srgbClr val="FFFFFF"/>
        </a:lt1>
        <a:dk2>
          <a:srgbClr val="6A4076"/>
        </a:dk2>
        <a:lt2>
          <a:srgbClr val="969696"/>
        </a:lt2>
        <a:accent1>
          <a:srgbClr val="DBA9C2"/>
        </a:accent1>
        <a:accent2>
          <a:srgbClr val="E1BF91"/>
        </a:accent2>
        <a:accent3>
          <a:srgbClr val="FFFFFF"/>
        </a:accent3>
        <a:accent4>
          <a:srgbClr val="000000"/>
        </a:accent4>
        <a:accent5>
          <a:srgbClr val="EAD1DD"/>
        </a:accent5>
        <a:accent6>
          <a:srgbClr val="CCAD83"/>
        </a:accent6>
        <a:hlink>
          <a:srgbClr val="B3CE82"/>
        </a:hlink>
        <a:folHlink>
          <a:srgbClr val="B8AD48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7">
        <a:dk1>
          <a:srgbClr val="000000"/>
        </a:dk1>
        <a:lt1>
          <a:srgbClr val="FFFFFF"/>
        </a:lt1>
        <a:dk2>
          <a:srgbClr val="515F7B"/>
        </a:dk2>
        <a:lt2>
          <a:srgbClr val="808080"/>
        </a:lt2>
        <a:accent1>
          <a:srgbClr val="9FCAD3"/>
        </a:accent1>
        <a:accent2>
          <a:srgbClr val="C0C0C0"/>
        </a:accent2>
        <a:accent3>
          <a:srgbClr val="FFFFFF"/>
        </a:accent3>
        <a:accent4>
          <a:srgbClr val="000000"/>
        </a:accent4>
        <a:accent5>
          <a:srgbClr val="CDE1E6"/>
        </a:accent5>
        <a:accent6>
          <a:srgbClr val="AEAEAE"/>
        </a:accent6>
        <a:hlink>
          <a:srgbClr val="91AFBF"/>
        </a:hlink>
        <a:folHlink>
          <a:srgbClr val="ECEAAC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C:\Program Files\Microsoft Office\Templates\Presentation Designs\Blends.pot</Template>
  <TotalTime>13822</TotalTime>
  <Words>7642</Words>
  <Application>Microsoft Office PowerPoint</Application>
  <PresentationFormat>On-screen Show (4:3)</PresentationFormat>
  <Paragraphs>966</Paragraphs>
  <Slides>79</Slides>
  <Notes>78</Notes>
  <HiddenSlides>0</HiddenSlides>
  <MMClips>0</MMClips>
  <ScaleCrop>false</ScaleCrop>
  <HeadingPairs>
    <vt:vector size="8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3</vt:i4>
      </vt:variant>
      <vt:variant>
        <vt:lpstr>Slide Titles</vt:lpstr>
      </vt:variant>
      <vt:variant>
        <vt:i4>79</vt:i4>
      </vt:variant>
    </vt:vector>
  </HeadingPairs>
  <TitlesOfParts>
    <vt:vector size="93" baseType="lpstr">
      <vt:lpstr>Tahoma</vt:lpstr>
      <vt:lpstr>Arial</vt:lpstr>
      <vt:lpstr>Berlin Sans FB Demi</vt:lpstr>
      <vt:lpstr>Calibri</vt:lpstr>
      <vt:lpstr>Wingdings</vt:lpstr>
      <vt:lpstr>Times New Roman</vt:lpstr>
      <vt:lpstr>SimSun</vt:lpstr>
      <vt:lpstr>Marlett</vt:lpstr>
      <vt:lpstr>Wingdings 2</vt:lpstr>
      <vt:lpstr>Gulim</vt:lpstr>
      <vt:lpstr>Blends</vt:lpstr>
      <vt:lpstr>Microsoft Excel Worksheet</vt:lpstr>
      <vt:lpstr>Microsoft Office Excel Worksheet</vt:lpstr>
      <vt:lpstr>Microsoft Equation 3.0</vt:lpstr>
      <vt:lpstr>Data Mining:   Concepts and Techniques  (3rd ed.)  — Chapter 8 —</vt:lpstr>
      <vt:lpstr>PowerPoint Presentation</vt:lpstr>
      <vt:lpstr>Chapter 8. Classification: Basic Concepts</vt:lpstr>
      <vt:lpstr>Supervised vs. Unsupervised Learning</vt:lpstr>
      <vt:lpstr>Prediction Problems: Classification vs. Numeric Prediction</vt:lpstr>
      <vt:lpstr>Classification—A Two-Step Process </vt:lpstr>
      <vt:lpstr>Process (1): Model Construction</vt:lpstr>
      <vt:lpstr>Process (2): Using the Model in Prediction </vt:lpstr>
      <vt:lpstr>Chapter 8. Classification: Basic Concepts</vt:lpstr>
      <vt:lpstr>Decision Tree Induction: An Example</vt:lpstr>
      <vt:lpstr>Algorithm for Decision Tree Induction</vt:lpstr>
      <vt:lpstr>PowerPoint Presentation</vt:lpstr>
      <vt:lpstr>Attribute Selection: Information Gain</vt:lpstr>
      <vt:lpstr>Computing Information-Gain for Continuous-Valued Attributes</vt:lpstr>
      <vt:lpstr>Gain Ratio for Attribute Selection (C4.5)</vt:lpstr>
      <vt:lpstr>Gini Index (CART, IBM IntelligentMiner)</vt:lpstr>
      <vt:lpstr>Computation of Gini Index </vt:lpstr>
      <vt:lpstr>Comparing Attribute Selection Measures</vt:lpstr>
      <vt:lpstr>Other Attribute Selection Measures</vt:lpstr>
      <vt:lpstr>Overfitting and Tree Pruning</vt:lpstr>
      <vt:lpstr>Enhancements to Basic Decision Tree Induction</vt:lpstr>
      <vt:lpstr>Classification in Large Databases</vt:lpstr>
      <vt:lpstr>Scalability Framework for RainForest</vt:lpstr>
      <vt:lpstr>Rainforest:  Training Set and Its AVC Sets </vt:lpstr>
      <vt:lpstr>BOAT (Bootstrapped Optimistic Algorithm for Tree Construction)</vt:lpstr>
      <vt:lpstr>Presentation of Classification Results</vt:lpstr>
      <vt:lpstr>Visualization of a Decision Tree in SGI/MineSet 3.0</vt:lpstr>
      <vt:lpstr>Interactive Visual Mining by Perception-Based Classification (PBC)</vt:lpstr>
      <vt:lpstr>Chapter 8. Classification: Basic Concepts</vt:lpstr>
      <vt:lpstr>Bayesian Classification: Why?</vt:lpstr>
      <vt:lpstr>Bayes’ Theorem: Basics</vt:lpstr>
      <vt:lpstr>Bayes’ Theorem</vt:lpstr>
      <vt:lpstr>Towards Naïve Bayes Classifier</vt:lpstr>
      <vt:lpstr>Derivation of Naïve Bayes Classifier </vt:lpstr>
      <vt:lpstr>Naïve Bayes Classifier: Training Dataset</vt:lpstr>
      <vt:lpstr>Naïve Bayes Classifier: An Example</vt:lpstr>
      <vt:lpstr>Avoiding the Zero-Probability Problem</vt:lpstr>
      <vt:lpstr>Naïve Bayes Classifier: Comments</vt:lpstr>
      <vt:lpstr>Chapter 8. Classification: Basic Concepts</vt:lpstr>
      <vt:lpstr>Using IF-THEN Rules for Classification</vt:lpstr>
      <vt:lpstr>Rule Extraction from a Decision Tree</vt:lpstr>
      <vt:lpstr>Rule Induction: Sequential Covering Method </vt:lpstr>
      <vt:lpstr>Sequential Covering Algorithm </vt:lpstr>
      <vt:lpstr>Rule Generation</vt:lpstr>
      <vt:lpstr>How to Learn-One-Rule?</vt:lpstr>
      <vt:lpstr>Chapter 8. Classification: Basic Concepts</vt:lpstr>
      <vt:lpstr>Model Evaluation and Selection</vt:lpstr>
      <vt:lpstr>Classifier Evaluation Metrics: Confusion Matrix</vt:lpstr>
      <vt:lpstr>Classifier Evaluation Metrics: Accuracy, Error Rate, Sensitivity and Specificity</vt:lpstr>
      <vt:lpstr>Classifier Evaluation Metrics:  Precision and Recall, and F-measures</vt:lpstr>
      <vt:lpstr>Classifier Evaluation Metrics: Example</vt:lpstr>
      <vt:lpstr>Evaluating Classifier Accuracy: Holdout &amp; Cross-Validation Methods</vt:lpstr>
      <vt:lpstr>Evaluating Classifier Accuracy: Bootstrap</vt:lpstr>
      <vt:lpstr>Estimating Confidence Intervals: Classifier Models M1 vs. M2</vt:lpstr>
      <vt:lpstr>Estimating Confidence Intervals: Null Hypothesis</vt:lpstr>
      <vt:lpstr>Estimating Confidence Intervals: t-test</vt:lpstr>
      <vt:lpstr>Estimating Confidence Intervals: Table for t-distribution</vt:lpstr>
      <vt:lpstr>Estimating Confidence Intervals: Statistical Significance</vt:lpstr>
      <vt:lpstr>Model Selection: ROC Curves</vt:lpstr>
      <vt:lpstr>Issues Affecting Model Selection</vt:lpstr>
      <vt:lpstr>Chapter 8. Classification: Basic Concepts</vt:lpstr>
      <vt:lpstr>Ensemble Methods: Increasing the Accuracy</vt:lpstr>
      <vt:lpstr>Bagging: Boostrap Aggregation</vt:lpstr>
      <vt:lpstr>Boosting</vt:lpstr>
      <vt:lpstr>Adaboost (Freund and Schapire, 1997)</vt:lpstr>
      <vt:lpstr>Random Forest (Breiman 2001) </vt:lpstr>
      <vt:lpstr>Classification of Class-Imbalanced Data Sets</vt:lpstr>
      <vt:lpstr>Chapter 8. Classification: Basic Concepts</vt:lpstr>
      <vt:lpstr>Summary (I)</vt:lpstr>
      <vt:lpstr>Summary (II)</vt:lpstr>
      <vt:lpstr>References (1)</vt:lpstr>
      <vt:lpstr>References (2)</vt:lpstr>
      <vt:lpstr>References (3)</vt:lpstr>
      <vt:lpstr>References (4)</vt:lpstr>
      <vt:lpstr>PowerPoint Presentation</vt:lpstr>
      <vt:lpstr>Issues: Evaluating Classification Methods</vt:lpstr>
      <vt:lpstr>Predictor Error Measures</vt:lpstr>
      <vt:lpstr>Scalable Decision Tree Induction Methods</vt:lpstr>
      <vt:lpstr>Data Cube-Based Decision-Tree Induction</vt:lpstr>
    </vt:vector>
  </TitlesOfParts>
  <Company>S.F.U.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7class</dc:title>
  <dc:creator>Jiawei Han</dc:creator>
  <cp:lastModifiedBy>cloudconvert_9</cp:lastModifiedBy>
  <cp:revision>663</cp:revision>
  <cp:lastPrinted>1999-09-10T20:38:56Z</cp:lastPrinted>
  <dcterms:created xsi:type="dcterms:W3CDTF">1998-06-19T04:38:52Z</dcterms:created>
  <dcterms:modified xsi:type="dcterms:W3CDTF">2026-04-27T16:42:41Z</dcterms:modified>
  <cp:category>data mining book slides</cp:category>
</cp:coreProperties>
</file>