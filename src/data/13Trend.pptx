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4"/>
  </p:notesMasterIdLst>
  <p:handoutMasterIdLst>
    <p:handoutMasterId r:id="rId55"/>
  </p:handoutMasterIdLst>
  <p:sldIdLst>
    <p:sldId id="842" r:id="rId2"/>
    <p:sldId id="844" r:id="rId3"/>
    <p:sldId id="559" r:id="rId4"/>
    <p:sldId id="845" r:id="rId5"/>
    <p:sldId id="846" r:id="rId6"/>
    <p:sldId id="847" r:id="rId7"/>
    <p:sldId id="848" r:id="rId8"/>
    <p:sldId id="849" r:id="rId9"/>
    <p:sldId id="873" r:id="rId10"/>
    <p:sldId id="881" r:id="rId11"/>
    <p:sldId id="876" r:id="rId12"/>
    <p:sldId id="877" r:id="rId13"/>
    <p:sldId id="878" r:id="rId14"/>
    <p:sldId id="879" r:id="rId15"/>
    <p:sldId id="880" r:id="rId16"/>
    <p:sldId id="874" r:id="rId17"/>
    <p:sldId id="883" r:id="rId18"/>
    <p:sldId id="884" r:id="rId19"/>
    <p:sldId id="875" r:id="rId20"/>
    <p:sldId id="851" r:id="rId21"/>
    <p:sldId id="852" r:id="rId22"/>
    <p:sldId id="853" r:id="rId23"/>
    <p:sldId id="854" r:id="rId24"/>
    <p:sldId id="855" r:id="rId25"/>
    <p:sldId id="856" r:id="rId26"/>
    <p:sldId id="857" r:id="rId27"/>
    <p:sldId id="858" r:id="rId28"/>
    <p:sldId id="859" r:id="rId29"/>
    <p:sldId id="860" r:id="rId30"/>
    <p:sldId id="861" r:id="rId31"/>
    <p:sldId id="862" r:id="rId32"/>
    <p:sldId id="863" r:id="rId33"/>
    <p:sldId id="864" r:id="rId34"/>
    <p:sldId id="885" r:id="rId35"/>
    <p:sldId id="759" r:id="rId36"/>
    <p:sldId id="763" r:id="rId37"/>
    <p:sldId id="764" r:id="rId38"/>
    <p:sldId id="766" r:id="rId39"/>
    <p:sldId id="767" r:id="rId40"/>
    <p:sldId id="889" r:id="rId41"/>
    <p:sldId id="890" r:id="rId42"/>
    <p:sldId id="891" r:id="rId43"/>
    <p:sldId id="886" r:id="rId44"/>
    <p:sldId id="892" r:id="rId45"/>
    <p:sldId id="838" r:id="rId46"/>
    <p:sldId id="807" r:id="rId47"/>
    <p:sldId id="887" r:id="rId48"/>
    <p:sldId id="893" r:id="rId49"/>
    <p:sldId id="888" r:id="rId50"/>
    <p:sldId id="737" r:id="rId51"/>
    <p:sldId id="738" r:id="rId52"/>
    <p:sldId id="894" r:id="rId53"/>
  </p:sldIdLst>
  <p:sldSz cx="9144000" cy="6858000" type="screen4x3"/>
  <p:notesSz cx="6831013" cy="9117013"/>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72">
          <p15:clr>
            <a:srgbClr val="A4A3A4"/>
          </p15:clr>
        </p15:guide>
        <p15:guide id="2" pos="215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2828"/>
    <a:srgbClr val="F6E6EA"/>
    <a:srgbClr val="FAE2F6"/>
    <a:srgbClr val="170981"/>
    <a:srgbClr val="121328"/>
    <a:srgbClr val="D7FDF9"/>
    <a:srgbClr val="003366"/>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p:normalViewPr>
  <p:slideViewPr>
    <p:cSldViewPr>
      <p:cViewPr varScale="1">
        <p:scale>
          <a:sx n="74" d="100"/>
          <a:sy n="74" d="100"/>
        </p:scale>
        <p:origin x="126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400"/>
    </p:cViewPr>
  </p:sorterViewPr>
  <p:notesViewPr>
    <p:cSldViewPr>
      <p:cViewPr varScale="1">
        <p:scale>
          <a:sx n="38" d="100"/>
          <a:sy n="38" d="100"/>
        </p:scale>
        <p:origin x="-1530" y="-72"/>
      </p:cViewPr>
      <p:guideLst>
        <p:guide orient="horz" pos="2872"/>
        <p:guide pos="215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t"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23907" name="Rectangle 3"/>
          <p:cNvSpPr>
            <a:spLocks noGrp="1" noChangeArrowheads="1"/>
          </p:cNvSpPr>
          <p:nvPr>
            <p:ph type="dt" sz="quarter" idx="1"/>
          </p:nvPr>
        </p:nvSpPr>
        <p:spPr bwMode="auto">
          <a:xfrm>
            <a:off x="3870325" y="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t" anchorCtr="0" compatLnSpc="1">
            <a:prstTxWarp prst="textNoShape">
              <a:avLst/>
            </a:prstTxWarp>
          </a:bodyPr>
          <a:lstStyle>
            <a:lvl1pPr algn="r" defTabSz="911225" eaLnBrk="0" hangingPunct="0">
              <a:defRPr sz="1200">
                <a:latin typeface="Times New Roman" pitchFamily="18" charset="0"/>
              </a:defRPr>
            </a:lvl1pPr>
          </a:lstStyle>
          <a:p>
            <a:pPr>
              <a:defRPr/>
            </a:pPr>
            <a:endParaRPr lang="en-US"/>
          </a:p>
        </p:txBody>
      </p:sp>
      <p:sp>
        <p:nvSpPr>
          <p:cNvPr id="123908" name="Rectangle 4"/>
          <p:cNvSpPr>
            <a:spLocks noGrp="1" noChangeArrowheads="1"/>
          </p:cNvSpPr>
          <p:nvPr>
            <p:ph type="ftr" sz="quarter" idx="2"/>
          </p:nvPr>
        </p:nvSpPr>
        <p:spPr bwMode="auto">
          <a:xfrm>
            <a:off x="0" y="866140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b"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23909" name="Rectangle 5"/>
          <p:cNvSpPr>
            <a:spLocks noGrp="1" noChangeArrowheads="1"/>
          </p:cNvSpPr>
          <p:nvPr>
            <p:ph type="sldNum" sz="quarter" idx="3"/>
          </p:nvPr>
        </p:nvSpPr>
        <p:spPr bwMode="auto">
          <a:xfrm>
            <a:off x="3870325" y="866140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b" anchorCtr="0" compatLnSpc="1">
            <a:prstTxWarp prst="textNoShape">
              <a:avLst/>
            </a:prstTxWarp>
          </a:bodyPr>
          <a:lstStyle>
            <a:lvl1pPr algn="r" defTabSz="911225" eaLnBrk="0" hangingPunct="0">
              <a:defRPr sz="1200" smtClean="0">
                <a:latin typeface="Times New Roman" panose="02020603050405020304" pitchFamily="18" charset="0"/>
              </a:defRPr>
            </a:lvl1pPr>
          </a:lstStyle>
          <a:p>
            <a:pPr>
              <a:defRPr/>
            </a:pPr>
            <a:fld id="{96AECBB9-3ED6-47E0-8C22-4C6F3591D82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t"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3315" name="Rectangle 3"/>
          <p:cNvSpPr>
            <a:spLocks noGrp="1" noChangeArrowheads="1"/>
          </p:cNvSpPr>
          <p:nvPr>
            <p:ph type="dt" idx="1"/>
          </p:nvPr>
        </p:nvSpPr>
        <p:spPr bwMode="auto">
          <a:xfrm>
            <a:off x="3870325" y="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t" anchorCtr="0" compatLnSpc="1">
            <a:prstTxWarp prst="textNoShape">
              <a:avLst/>
            </a:prstTxWarp>
          </a:bodyPr>
          <a:lstStyle>
            <a:lvl1pPr algn="r" defTabSz="911225" eaLnBrk="0" hangingPunct="0">
              <a:defRPr sz="1200">
                <a:latin typeface="Times New Roman" pitchFamily="18" charset="0"/>
              </a:defRPr>
            </a:lvl1pPr>
          </a:lstStyle>
          <a:p>
            <a:pPr>
              <a:defRPr/>
            </a:pPr>
            <a:endParaRPr lang="en-US"/>
          </a:p>
        </p:txBody>
      </p:sp>
      <p:sp>
        <p:nvSpPr>
          <p:cNvPr id="11268" name="Rectangle 4"/>
          <p:cNvSpPr>
            <a:spLocks noChangeArrowheads="1" noTextEdit="1"/>
          </p:cNvSpPr>
          <p:nvPr>
            <p:ph type="sldImg" idx="2"/>
          </p:nvPr>
        </p:nvSpPr>
        <p:spPr bwMode="auto">
          <a:xfrm>
            <a:off x="1136650" y="684213"/>
            <a:ext cx="4557713" cy="34178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1225" y="4330700"/>
            <a:ext cx="5008563" cy="410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8" name="Rectangle 6"/>
          <p:cNvSpPr>
            <a:spLocks noGrp="1" noChangeArrowheads="1"/>
          </p:cNvSpPr>
          <p:nvPr>
            <p:ph type="ftr" sz="quarter" idx="4"/>
          </p:nvPr>
        </p:nvSpPr>
        <p:spPr bwMode="auto">
          <a:xfrm>
            <a:off x="0" y="866140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b"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3319" name="Rectangle 7"/>
          <p:cNvSpPr>
            <a:spLocks noGrp="1" noChangeArrowheads="1"/>
          </p:cNvSpPr>
          <p:nvPr>
            <p:ph type="sldNum" sz="quarter" idx="5"/>
          </p:nvPr>
        </p:nvSpPr>
        <p:spPr bwMode="auto">
          <a:xfrm>
            <a:off x="3870325" y="8661400"/>
            <a:ext cx="296068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29" tIns="45565" rIns="91129" bIns="45565" numCol="1" anchor="b" anchorCtr="0" compatLnSpc="1">
            <a:prstTxWarp prst="textNoShape">
              <a:avLst/>
            </a:prstTxWarp>
          </a:bodyPr>
          <a:lstStyle>
            <a:lvl1pPr algn="r" defTabSz="911225" eaLnBrk="0" hangingPunct="0">
              <a:defRPr sz="1200" smtClean="0">
                <a:latin typeface="Times New Roman" panose="02020603050405020304" pitchFamily="18" charset="0"/>
              </a:defRPr>
            </a:lvl1pPr>
          </a:lstStyle>
          <a:p>
            <a:pPr>
              <a:defRPr/>
            </a:pPr>
            <a:fld id="{3EC13DF2-C455-4FC8-AAF4-93B31B900AF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noChangeArrowheads="1"/>
          </p:cNvSpPr>
          <p:nvPr/>
        </p:nvSpPr>
        <p:spPr bwMode="auto">
          <a:xfrm>
            <a:off x="3870325" y="8661400"/>
            <a:ext cx="29606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111" tIns="45556" rIns="91111" bIns="45556" anchor="b"/>
          <a:lstStyle>
            <a:lvl1pPr defTabSz="911225">
              <a:spcBef>
                <a:spcPct val="30000"/>
              </a:spcBef>
              <a:defRPr sz="1200">
                <a:solidFill>
                  <a:schemeClr val="tx1"/>
                </a:solidFill>
                <a:latin typeface="Times New Roman" panose="02020603050405020304" pitchFamily="18" charset="0"/>
              </a:defRPr>
            </a:lvl1pPr>
            <a:lvl2pPr marL="742950" indent="-285750" defTabSz="911225">
              <a:spcBef>
                <a:spcPct val="30000"/>
              </a:spcBef>
              <a:defRPr sz="1200">
                <a:solidFill>
                  <a:schemeClr val="tx1"/>
                </a:solidFill>
                <a:latin typeface="Times New Roman" panose="02020603050405020304" pitchFamily="18" charset="0"/>
              </a:defRPr>
            </a:lvl2pPr>
            <a:lvl3pPr marL="1143000" indent="-228600" defTabSz="911225">
              <a:spcBef>
                <a:spcPct val="30000"/>
              </a:spcBef>
              <a:defRPr sz="1200">
                <a:solidFill>
                  <a:schemeClr val="tx1"/>
                </a:solidFill>
                <a:latin typeface="Times New Roman" panose="02020603050405020304" pitchFamily="18" charset="0"/>
              </a:defRPr>
            </a:lvl3pPr>
            <a:lvl4pPr marL="1600200" indent="-228600" defTabSz="911225">
              <a:spcBef>
                <a:spcPct val="30000"/>
              </a:spcBef>
              <a:defRPr sz="1200">
                <a:solidFill>
                  <a:schemeClr val="tx1"/>
                </a:solidFill>
                <a:latin typeface="Times New Roman" panose="02020603050405020304" pitchFamily="18" charset="0"/>
              </a:defRPr>
            </a:lvl4pPr>
            <a:lvl5pPr marL="2057400" indent="-228600" defTabSz="911225">
              <a:spcBef>
                <a:spcPct val="30000"/>
              </a:spcBef>
              <a:defRPr sz="1200">
                <a:solidFill>
                  <a:schemeClr val="tx1"/>
                </a:solidFill>
                <a:latin typeface="Times New Roman" panose="02020603050405020304" pitchFamily="18" charset="0"/>
              </a:defRPr>
            </a:lvl5pPr>
            <a:lvl6pPr marL="2514600"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C02E7CEB-63BE-4E94-86C8-451A268427A9}" type="slidenum">
              <a:rPr lang="zh-CN" altLang="en-US"/>
              <a:pPr algn="r">
                <a:spcBef>
                  <a:spcPct val="0"/>
                </a:spcBef>
              </a:pPr>
              <a:t>1</a:t>
            </a:fld>
            <a:endParaRPr lang="en-US" altLang="zh-CN"/>
          </a:p>
        </p:txBody>
      </p:sp>
      <p:sp>
        <p:nvSpPr>
          <p:cNvPr id="14339" name="Rectangle 2"/>
          <p:cNvSpPr>
            <a:spLocks noGrp="1" noRot="1" noChangeAspect="1" noChangeArrowheads="1" noTextEdit="1"/>
          </p:cNvSpPr>
          <p:nvPr>
            <p:ph type="sldImg"/>
          </p:nvPr>
        </p:nvSpPr>
        <p:spPr>
          <a:xfrm>
            <a:off x="1138238" y="684213"/>
            <a:ext cx="4554537" cy="3417887"/>
          </a:xfrm>
          <a:ln/>
        </p:spPr>
      </p:sp>
      <p:sp>
        <p:nvSpPr>
          <p:cNvPr id="14340" name="Rectangle 3"/>
          <p:cNvSpPr>
            <a:spLocks noGrp="1" noChangeArrowheads="1"/>
          </p:cNvSpPr>
          <p:nvPr>
            <p:ph type="body" idx="1"/>
          </p:nvPr>
        </p:nvSpPr>
        <p:spPr>
          <a:noFill/>
        </p:spPr>
        <p:txBody>
          <a:bodyPr lIns="91111" tIns="45556" rIns="91111" bIns="45556"/>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11225">
              <a:spcBef>
                <a:spcPct val="30000"/>
              </a:spcBef>
              <a:defRPr sz="1200">
                <a:solidFill>
                  <a:schemeClr val="tx1"/>
                </a:solidFill>
                <a:latin typeface="Times New Roman" panose="02020603050405020304" pitchFamily="18" charset="0"/>
              </a:defRPr>
            </a:lvl1pPr>
            <a:lvl2pPr marL="742950" indent="-285750" defTabSz="911225">
              <a:spcBef>
                <a:spcPct val="30000"/>
              </a:spcBef>
              <a:defRPr sz="1200">
                <a:solidFill>
                  <a:schemeClr val="tx1"/>
                </a:solidFill>
                <a:latin typeface="Times New Roman" panose="02020603050405020304" pitchFamily="18" charset="0"/>
              </a:defRPr>
            </a:lvl2pPr>
            <a:lvl3pPr marL="1143000" indent="-228600" defTabSz="911225">
              <a:spcBef>
                <a:spcPct val="30000"/>
              </a:spcBef>
              <a:defRPr sz="1200">
                <a:solidFill>
                  <a:schemeClr val="tx1"/>
                </a:solidFill>
                <a:latin typeface="Times New Roman" panose="02020603050405020304" pitchFamily="18" charset="0"/>
              </a:defRPr>
            </a:lvl3pPr>
            <a:lvl4pPr marL="1600200" indent="-228600" defTabSz="911225">
              <a:spcBef>
                <a:spcPct val="30000"/>
              </a:spcBef>
              <a:defRPr sz="1200">
                <a:solidFill>
                  <a:schemeClr val="tx1"/>
                </a:solidFill>
                <a:latin typeface="Times New Roman" panose="02020603050405020304" pitchFamily="18" charset="0"/>
              </a:defRPr>
            </a:lvl4pPr>
            <a:lvl5pPr marL="2057400" indent="-228600" defTabSz="911225">
              <a:spcBef>
                <a:spcPct val="30000"/>
              </a:spcBef>
              <a:defRPr sz="1200">
                <a:solidFill>
                  <a:schemeClr val="tx1"/>
                </a:solidFill>
                <a:latin typeface="Times New Roman" panose="02020603050405020304" pitchFamily="18" charset="0"/>
              </a:defRPr>
            </a:lvl5pPr>
            <a:lvl6pPr marL="2514600"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643715-31B2-4BCD-912E-CB2991D0BD55}" type="slidenum">
              <a:rPr lang="en-US" altLang="en-US"/>
              <a:pPr>
                <a:spcBef>
                  <a:spcPct val="0"/>
                </a:spcBef>
              </a:pPr>
              <a:t>13</a:t>
            </a:fld>
            <a:endParaRPr lang="en-US" altLang="en-US"/>
          </a:p>
        </p:txBody>
      </p:sp>
      <p:sp>
        <p:nvSpPr>
          <p:cNvPr id="27651" name="Rectangle 2"/>
          <p:cNvSpPr>
            <a:spLocks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r>
              <a:rPr lang="en-US" altLang="en-US" smtClean="0"/>
              <a:t>Mixed-effects models provide a powerful and flexible tool for the analysis of balanced and unbalanced grouped data. These data arise in several areas of investigation and are characterized by the presence of correlation between observations within the same group. Some examples are repeated measures data, longitudinal studies, and nested designs. Classical modeling techniques which assume independence of the observations are not appropriate for grouped data. </a:t>
            </a:r>
          </a:p>
          <a:p>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defTabSz="911225">
              <a:spcBef>
                <a:spcPct val="30000"/>
              </a:spcBef>
              <a:defRPr sz="1200">
                <a:solidFill>
                  <a:schemeClr val="tx1"/>
                </a:solidFill>
                <a:latin typeface="Times New Roman" panose="02020603050405020304" pitchFamily="18" charset="0"/>
              </a:defRPr>
            </a:lvl1pPr>
            <a:lvl2pPr marL="742950" indent="-285750" defTabSz="911225">
              <a:spcBef>
                <a:spcPct val="30000"/>
              </a:spcBef>
              <a:defRPr sz="1200">
                <a:solidFill>
                  <a:schemeClr val="tx1"/>
                </a:solidFill>
                <a:latin typeface="Times New Roman" panose="02020603050405020304" pitchFamily="18" charset="0"/>
              </a:defRPr>
            </a:lvl2pPr>
            <a:lvl3pPr marL="1143000" indent="-228600" defTabSz="911225">
              <a:spcBef>
                <a:spcPct val="30000"/>
              </a:spcBef>
              <a:defRPr sz="1200">
                <a:solidFill>
                  <a:schemeClr val="tx1"/>
                </a:solidFill>
                <a:latin typeface="Times New Roman" panose="02020603050405020304" pitchFamily="18" charset="0"/>
              </a:defRPr>
            </a:lvl3pPr>
            <a:lvl4pPr marL="1600200" indent="-228600" defTabSz="911225">
              <a:spcBef>
                <a:spcPct val="30000"/>
              </a:spcBef>
              <a:defRPr sz="1200">
                <a:solidFill>
                  <a:schemeClr val="tx1"/>
                </a:solidFill>
                <a:latin typeface="Times New Roman" panose="02020603050405020304" pitchFamily="18" charset="0"/>
              </a:defRPr>
            </a:lvl4pPr>
            <a:lvl5pPr marL="2057400" indent="-228600" defTabSz="911225">
              <a:spcBef>
                <a:spcPct val="30000"/>
              </a:spcBef>
              <a:defRPr sz="1200">
                <a:solidFill>
                  <a:schemeClr val="tx1"/>
                </a:solidFill>
                <a:latin typeface="Times New Roman" panose="02020603050405020304" pitchFamily="18" charset="0"/>
              </a:defRPr>
            </a:lvl5pPr>
            <a:lvl6pPr marL="2514600"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78F647-4FDF-4E4E-A280-F1C87C8A106D}" type="slidenum">
              <a:rPr lang="en-US" altLang="en-US"/>
              <a:pPr>
                <a:spcBef>
                  <a:spcPct val="0"/>
                </a:spcBef>
              </a:pPr>
              <a:t>30</a:t>
            </a:fld>
            <a:endParaRPr lang="en-US" altLang="en-US"/>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r>
              <a:rPr lang="en-US" altLang="en-US" b="1" smtClean="0">
                <a:solidFill>
                  <a:srgbClr val="FF0000"/>
                </a:solidFill>
              </a:rPr>
              <a:t>How the interactive Clementine knowledge discovery process works</a:t>
            </a:r>
          </a:p>
          <a:p>
            <a:r>
              <a:rPr lang="en-US" altLang="en-US" smtClean="0">
                <a:latin typeface="Arial" panose="020B0604020202020204" pitchFamily="34" charset="0"/>
              </a:rPr>
              <a:t>  </a:t>
            </a:r>
          </a:p>
          <a:p>
            <a:r>
              <a:rPr lang="en-US" altLang="en-US" b="1" smtClean="0">
                <a:latin typeface="Arial" panose="020B0604020202020204" pitchFamily="34" charset="0"/>
              </a:rPr>
              <a:t>See your solution discovery process clearly</a:t>
            </a:r>
            <a:r>
              <a:rPr lang="en-US" altLang="en-US" smtClean="0">
                <a:latin typeface="Arial" panose="020B0604020202020204" pitchFamily="34" charset="0"/>
              </a:rPr>
              <a:t/>
            </a:r>
            <a:br>
              <a:rPr lang="en-US" altLang="en-US" smtClean="0">
                <a:latin typeface="Arial" panose="020B0604020202020204" pitchFamily="34" charset="0"/>
              </a:rPr>
            </a:br>
            <a:r>
              <a:rPr lang="en-US" altLang="en-US" smtClean="0">
                <a:latin typeface="Arial" panose="020B0604020202020204" pitchFamily="34" charset="0"/>
              </a:rPr>
              <a:t>The interactive stream approach to data mining is the key to Clementine's power. Using icons that represent steps in the data mining process, you mine your data by building a stream - a visual map of the process your data flows through. Start by simply dragging a source icon from the object palette onto the Clementine desktop to access your data flow. Then, explore your data visually with graphs. Apply several types of algorithms to build your model by simply placing the appropriate icons onto the desktop to form a stream.</a:t>
            </a:r>
          </a:p>
          <a:p>
            <a:r>
              <a:rPr lang="en-US" altLang="en-US" b="1" smtClean="0">
                <a:latin typeface="Arial" panose="020B0604020202020204" pitchFamily="34" charset="0"/>
              </a:rPr>
              <a:t>Discover knowledge interactively</a:t>
            </a:r>
            <a:r>
              <a:rPr lang="en-US" altLang="en-US" smtClean="0">
                <a:latin typeface="Arial" panose="020B0604020202020204" pitchFamily="34" charset="0"/>
              </a:rPr>
              <a:t/>
            </a:r>
            <a:br>
              <a:rPr lang="en-US" altLang="en-US" smtClean="0">
                <a:latin typeface="Arial" panose="020B0604020202020204" pitchFamily="34" charset="0"/>
              </a:rPr>
            </a:br>
            <a:r>
              <a:rPr lang="en-US" altLang="en-US" smtClean="0">
                <a:latin typeface="Arial" panose="020B0604020202020204" pitchFamily="34" charset="0"/>
              </a:rPr>
              <a:t>Data mining with Clementine is a "discovery-driven" process. Work toward a solution by applying your business expertise to select the next step in your stream, based on the discoveries made in the previous step. You can continually adapt or extend initial streams as you work through the solution to your business problem. </a:t>
            </a:r>
          </a:p>
          <a:p>
            <a:r>
              <a:rPr lang="en-US" altLang="en-US" b="1" smtClean="0">
                <a:latin typeface="Arial" panose="020B0604020202020204" pitchFamily="34" charset="0"/>
              </a:rPr>
              <a:t>Easily build and test models</a:t>
            </a:r>
            <a:r>
              <a:rPr lang="en-US" altLang="en-US" smtClean="0">
                <a:latin typeface="Arial" panose="020B0604020202020204" pitchFamily="34" charset="0"/>
              </a:rPr>
              <a:t/>
            </a:r>
            <a:br>
              <a:rPr lang="en-US" altLang="en-US" smtClean="0">
                <a:latin typeface="Arial" panose="020B0604020202020204" pitchFamily="34" charset="0"/>
              </a:rPr>
            </a:br>
            <a:r>
              <a:rPr lang="en-US" altLang="en-US" smtClean="0">
                <a:latin typeface="Arial" panose="020B0604020202020204" pitchFamily="34" charset="0"/>
              </a:rPr>
              <a:t>All of Clementine's advanced techniques work together to quickly give you the best answer to your business problems. You can build and test numerous models to immediately see which model produces the best result. Or you can even combine models by using the results of one model as input into another model. These "meta-models" consider the initial model's decisions and can improve results substantially. </a:t>
            </a:r>
          </a:p>
          <a:p>
            <a:r>
              <a:rPr lang="en-US" altLang="en-US" smtClean="0">
                <a:latin typeface="Arial" panose="020B0604020202020204" pitchFamily="34" charset="0"/>
              </a:rPr>
              <a:t>  </a:t>
            </a:r>
            <a:r>
              <a:rPr lang="en-US" altLang="en-US" b="1" smtClean="0">
                <a:latin typeface="Arial" panose="020B0604020202020204" pitchFamily="34" charset="0"/>
              </a:rPr>
              <a:t>Understand variations in your business with visualized data</a:t>
            </a:r>
            <a:r>
              <a:rPr lang="en-US" altLang="en-US" smtClean="0">
                <a:latin typeface="Arial" panose="020B0604020202020204" pitchFamily="34" charset="0"/>
              </a:rPr>
              <a:t/>
            </a:r>
            <a:br>
              <a:rPr lang="en-US" altLang="en-US" smtClean="0">
                <a:latin typeface="Arial" panose="020B0604020202020204" pitchFamily="34" charset="0"/>
              </a:rPr>
            </a:br>
            <a:r>
              <a:rPr lang="en-US" altLang="en-US" smtClean="0">
                <a:latin typeface="Arial" panose="020B0604020202020204" pitchFamily="34" charset="0"/>
              </a:rPr>
              <a:t>Powerful data visualization techniques help you understand key relationships in your data and guide the way to the best results. Spot characteristics and patterns at a glance with Clementine's interactive graphs. Then "query by mouse" to explore these patterns by selecting subsets of data or deriving new variables on the fly from discoveries made within the graph.</a:t>
            </a:r>
          </a:p>
          <a:p>
            <a:r>
              <a:rPr lang="en-US" altLang="en-US" b="1" smtClean="0">
                <a:latin typeface="Arial" panose="020B0604020202020204" pitchFamily="34" charset="0"/>
              </a:rPr>
              <a:t>How Clementine scales to the size of the challenge</a:t>
            </a:r>
            <a:r>
              <a:rPr lang="en-US" altLang="en-US" smtClean="0">
                <a:latin typeface="Arial" panose="020B0604020202020204" pitchFamily="34" charset="0"/>
              </a:rPr>
              <a:t/>
            </a:r>
            <a:br>
              <a:rPr lang="en-US" altLang="en-US" smtClean="0">
                <a:latin typeface="Arial" panose="020B0604020202020204" pitchFamily="34" charset="0"/>
              </a:rPr>
            </a:br>
            <a:r>
              <a:rPr lang="en-US" altLang="en-US" smtClean="0">
                <a:latin typeface="Arial" panose="020B0604020202020204" pitchFamily="34" charset="0"/>
              </a:rPr>
              <a:t>The Clementine approach to scaling is unique in the way it aims to scale the complete data mining process to the size of large, challenging datasets. Clementine executes common operations used throughout the data mining process in the database through SQL queries. This process leverages the power of the database for faster processing, enabling you to get better results with large datasets.</a:t>
            </a:r>
          </a:p>
          <a:p>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11225">
              <a:spcBef>
                <a:spcPct val="30000"/>
              </a:spcBef>
              <a:defRPr sz="1200">
                <a:solidFill>
                  <a:schemeClr val="tx1"/>
                </a:solidFill>
                <a:latin typeface="Times New Roman" panose="02020603050405020304" pitchFamily="18" charset="0"/>
              </a:defRPr>
            </a:lvl1pPr>
            <a:lvl2pPr marL="742950" indent="-285750" defTabSz="911225">
              <a:spcBef>
                <a:spcPct val="30000"/>
              </a:spcBef>
              <a:defRPr sz="1200">
                <a:solidFill>
                  <a:schemeClr val="tx1"/>
                </a:solidFill>
                <a:latin typeface="Times New Roman" panose="02020603050405020304" pitchFamily="18" charset="0"/>
              </a:defRPr>
            </a:lvl2pPr>
            <a:lvl3pPr marL="1143000" indent="-228600" defTabSz="911225">
              <a:spcBef>
                <a:spcPct val="30000"/>
              </a:spcBef>
              <a:defRPr sz="1200">
                <a:solidFill>
                  <a:schemeClr val="tx1"/>
                </a:solidFill>
                <a:latin typeface="Times New Roman" panose="02020603050405020304" pitchFamily="18" charset="0"/>
              </a:defRPr>
            </a:lvl3pPr>
            <a:lvl4pPr marL="1600200" indent="-228600" defTabSz="911225">
              <a:spcBef>
                <a:spcPct val="30000"/>
              </a:spcBef>
              <a:defRPr sz="1200">
                <a:solidFill>
                  <a:schemeClr val="tx1"/>
                </a:solidFill>
                <a:latin typeface="Times New Roman" panose="02020603050405020304" pitchFamily="18" charset="0"/>
              </a:defRPr>
            </a:lvl4pPr>
            <a:lvl5pPr marL="2057400" indent="-228600" defTabSz="911225">
              <a:spcBef>
                <a:spcPct val="30000"/>
              </a:spcBef>
              <a:defRPr sz="1200">
                <a:solidFill>
                  <a:schemeClr val="tx1"/>
                </a:solidFill>
                <a:latin typeface="Times New Roman" panose="02020603050405020304" pitchFamily="18" charset="0"/>
              </a:defRPr>
            </a:lvl5pPr>
            <a:lvl6pPr marL="2514600"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9C04ADD-116A-400F-9D36-5C77A2F3D77B}" type="slidenum">
              <a:rPr lang="en-US" altLang="en-US"/>
              <a:pPr>
                <a:spcBef>
                  <a:spcPct val="0"/>
                </a:spcBef>
              </a:pPr>
              <a:t>45</a:t>
            </a:fld>
            <a:endParaRPr lang="en-US" altLang="en-US"/>
          </a:p>
        </p:txBody>
      </p:sp>
      <p:sp>
        <p:nvSpPr>
          <p:cNvPr id="62467" name="Rectangle 2"/>
          <p:cNvSpPr>
            <a:spLocks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r>
              <a:rPr lang="en-US" altLang="en-US" smtClean="0"/>
              <a:t>Buying patterns, targeted marketing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defRPr/>
              </a:pPr>
              <a:endParaRPr lang="en-US" altLang="en-US" smtClean="0"/>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smtClean="0"/>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smtClean="0"/>
              <a:t>Click to edit Master subtitle style</a:t>
            </a:r>
          </a:p>
        </p:txBody>
      </p:sp>
      <p:sp>
        <p:nvSpPr>
          <p:cNvPr id="14" name="Rectangle 14"/>
          <p:cNvSpPr>
            <a:spLocks noGrp="1" noChangeArrowheads="1"/>
          </p:cNvSpPr>
          <p:nvPr>
            <p:ph type="dt" sz="half" idx="10"/>
          </p:nvPr>
        </p:nvSpPr>
        <p:spPr>
          <a:xfrm>
            <a:off x="990600" y="6248400"/>
            <a:ext cx="1905000" cy="457200"/>
          </a:xfrm>
          <a:prstGeom prst="rect">
            <a:avLst/>
          </a:prstGeom>
        </p:spPr>
        <p:txBody>
          <a:bodyPr/>
          <a:lstStyle>
            <a:lvl1pPr eaLnBrk="1" hangingPunct="1">
              <a:defRPr sz="1400">
                <a:solidFill>
                  <a:schemeClr val="bg2"/>
                </a:solidFill>
              </a:defRPr>
            </a:lvl1pPr>
          </a:lstStyle>
          <a:p>
            <a:pPr>
              <a:defRPr/>
            </a:pPr>
            <a:fld id="{9EFED31D-517E-4F15-B34E-4E3752A55482}" type="datetime4">
              <a:rPr lang="en-US"/>
              <a:pPr>
                <a:defRPr/>
              </a:pPr>
              <a:t>April 27, 2026</a:t>
            </a:fld>
            <a:endParaRPr lang="en-US"/>
          </a:p>
        </p:txBody>
      </p:sp>
      <p:sp>
        <p:nvSpPr>
          <p:cNvPr id="15" name="Rectangle 15"/>
          <p:cNvSpPr>
            <a:spLocks noGrp="1" noChangeArrowheads="1"/>
          </p:cNvSpPr>
          <p:nvPr>
            <p:ph type="ftr" sz="quarter" idx="11"/>
          </p:nvPr>
        </p:nvSpPr>
        <p:spPr>
          <a:xfrm>
            <a:off x="3429000" y="6248400"/>
            <a:ext cx="2895600" cy="457200"/>
          </a:xfrm>
          <a:prstGeom prst="rect">
            <a:avLst/>
          </a:prstGeom>
        </p:spPr>
        <p:txBody>
          <a:bodyPr/>
          <a:lstStyle>
            <a:lvl1pPr eaLnBrk="1" hangingPunct="1">
              <a:defRPr sz="1400">
                <a:solidFill>
                  <a:schemeClr val="bg2"/>
                </a:solidFill>
              </a:defRPr>
            </a:lvl1pPr>
          </a:lstStyle>
          <a:p>
            <a:pPr>
              <a:defRPr/>
            </a:pPr>
            <a:r>
              <a:rPr lang="en-US"/>
              <a:t>Data Mining: Concepts and Techniques</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sz="1400" smtClean="0">
                <a:solidFill>
                  <a:schemeClr val="bg2"/>
                </a:solidFill>
              </a:defRPr>
            </a:lvl1pPr>
          </a:lstStyle>
          <a:p>
            <a:pPr>
              <a:defRPr/>
            </a:pPr>
            <a:fld id="{E1D45AFB-D979-4561-AE89-AF585AB22641}" type="slidenum">
              <a:rPr lang="en-US" altLang="en-US"/>
              <a:pPr>
                <a:defRPr/>
              </a:pPr>
              <a:t>‹#›</a:t>
            </a:fld>
            <a:endParaRPr lang="en-US" altLang="en-US"/>
          </a:p>
        </p:txBody>
      </p:sp>
    </p:spTree>
    <p:extLst>
      <p:ext uri="{BB962C8B-B14F-4D97-AF65-F5344CB8AC3E}">
        <p14:creationId xmlns:p14="http://schemas.microsoft.com/office/powerpoint/2010/main" val="2260688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04800" y="1447800"/>
            <a:ext cx="8458200" cy="5105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2061"/>
          <p:cNvSpPr>
            <a:spLocks noGrp="1" noChangeArrowheads="1"/>
          </p:cNvSpPr>
          <p:nvPr>
            <p:ph type="sldNum" sz="quarter" idx="10"/>
          </p:nvPr>
        </p:nvSpPr>
        <p:spPr>
          <a:ln/>
        </p:spPr>
        <p:txBody>
          <a:bodyPr/>
          <a:lstStyle>
            <a:lvl1pPr>
              <a:defRPr/>
            </a:lvl1pPr>
          </a:lstStyle>
          <a:p>
            <a:pPr>
              <a:defRPr/>
            </a:pPr>
            <a:fld id="{91F7CD8A-1BAD-416C-81E4-FC8632E8562C}" type="slidenum">
              <a:rPr lang="en-US" altLang="en-US"/>
              <a:pPr>
                <a:defRPr/>
              </a:pPr>
              <a:t>‹#›</a:t>
            </a:fld>
            <a:endParaRPr lang="en-US" altLang="en-US"/>
          </a:p>
        </p:txBody>
      </p:sp>
    </p:spTree>
    <p:extLst>
      <p:ext uri="{BB962C8B-B14F-4D97-AF65-F5344CB8AC3E}">
        <p14:creationId xmlns:p14="http://schemas.microsoft.com/office/powerpoint/2010/main" val="297308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A013BBB4-A87E-4246-BD6F-CE25F40C6EA8}" type="datetime4">
              <a:rPr lang="en-US"/>
              <a:pPr>
                <a:defRPr/>
              </a:pPr>
              <a:t>April 27, 2026</a:t>
            </a:fld>
            <a:endParaRPr lang="en-US"/>
          </a:p>
        </p:txBody>
      </p:sp>
      <p:sp>
        <p:nvSpPr>
          <p:cNvPr id="5" name="Footer Placeholder 4"/>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6" name="Slide Number Placeholder 5"/>
          <p:cNvSpPr>
            <a:spLocks noGrp="1"/>
          </p:cNvSpPr>
          <p:nvPr>
            <p:ph type="sldNum" sz="quarter" idx="12"/>
          </p:nvPr>
        </p:nvSpPr>
        <p:spPr/>
        <p:txBody>
          <a:bodyPr/>
          <a:lstStyle>
            <a:lvl1pPr>
              <a:defRPr smtClean="0"/>
            </a:lvl1pPr>
          </a:lstStyle>
          <a:p>
            <a:pPr>
              <a:defRPr/>
            </a:pPr>
            <a:fld id="{AEB561B0-F5DA-48D6-A2BD-494E214DF8C4}" type="slidenum">
              <a:rPr lang="en-US" altLang="en-US"/>
              <a:pPr>
                <a:defRPr/>
              </a:pPr>
              <a:t>‹#›</a:t>
            </a:fld>
            <a:endParaRPr lang="en-US" altLang="en-US"/>
          </a:p>
        </p:txBody>
      </p:sp>
    </p:spTree>
    <p:extLst>
      <p:ext uri="{BB962C8B-B14F-4D97-AF65-F5344CB8AC3E}">
        <p14:creationId xmlns:p14="http://schemas.microsoft.com/office/powerpoint/2010/main" val="99440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4478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4478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62E40322-5299-4E61-8731-3A8549D3B2B8}" type="datetime4">
              <a:rPr lang="en-US"/>
              <a:pPr>
                <a:defRPr/>
              </a:pPr>
              <a:t>April 27, 2026</a:t>
            </a:fld>
            <a:endParaRPr lang="en-US"/>
          </a:p>
        </p:txBody>
      </p:sp>
      <p:sp>
        <p:nvSpPr>
          <p:cNvPr id="6" name="Footer Placeholder 5"/>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7" name="Slide Number Placeholder 6"/>
          <p:cNvSpPr>
            <a:spLocks noGrp="1"/>
          </p:cNvSpPr>
          <p:nvPr>
            <p:ph type="sldNum" sz="quarter" idx="12"/>
          </p:nvPr>
        </p:nvSpPr>
        <p:spPr/>
        <p:txBody>
          <a:bodyPr/>
          <a:lstStyle>
            <a:lvl1pPr>
              <a:defRPr smtClean="0"/>
            </a:lvl1pPr>
          </a:lstStyle>
          <a:p>
            <a:pPr>
              <a:defRPr/>
            </a:pPr>
            <a:fld id="{B28ED984-EC36-473B-BA74-41AC3B3DB92E}" type="slidenum">
              <a:rPr lang="en-US" altLang="en-US"/>
              <a:pPr>
                <a:defRPr/>
              </a:pPr>
              <a:t>‹#›</a:t>
            </a:fld>
            <a:endParaRPr lang="en-US" altLang="en-US"/>
          </a:p>
        </p:txBody>
      </p:sp>
    </p:spTree>
    <p:extLst>
      <p:ext uri="{BB962C8B-B14F-4D97-AF65-F5344CB8AC3E}">
        <p14:creationId xmlns:p14="http://schemas.microsoft.com/office/powerpoint/2010/main" val="2266745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757F6955-A64C-442E-A011-9305EB6A2B63}" type="datetime4">
              <a:rPr lang="en-US"/>
              <a:pPr>
                <a:defRPr/>
              </a:pPr>
              <a:t>April 27, 2026</a:t>
            </a:fld>
            <a:endParaRPr lang="en-US"/>
          </a:p>
        </p:txBody>
      </p:sp>
      <p:sp>
        <p:nvSpPr>
          <p:cNvPr id="8" name="Footer Placeholder 7"/>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9" name="Slide Number Placeholder 8"/>
          <p:cNvSpPr>
            <a:spLocks noGrp="1"/>
          </p:cNvSpPr>
          <p:nvPr>
            <p:ph type="sldNum" sz="quarter" idx="12"/>
          </p:nvPr>
        </p:nvSpPr>
        <p:spPr/>
        <p:txBody>
          <a:bodyPr/>
          <a:lstStyle>
            <a:lvl1pPr>
              <a:defRPr smtClean="0"/>
            </a:lvl1pPr>
          </a:lstStyle>
          <a:p>
            <a:pPr>
              <a:defRPr/>
            </a:pPr>
            <a:fld id="{439A9ED0-C1EA-4328-91CD-DEDDC7624300}" type="slidenum">
              <a:rPr lang="en-US" altLang="en-US"/>
              <a:pPr>
                <a:defRPr/>
              </a:pPr>
              <a:t>‹#›</a:t>
            </a:fld>
            <a:endParaRPr lang="en-US" altLang="en-US"/>
          </a:p>
        </p:txBody>
      </p:sp>
    </p:spTree>
    <p:extLst>
      <p:ext uri="{BB962C8B-B14F-4D97-AF65-F5344CB8AC3E}">
        <p14:creationId xmlns:p14="http://schemas.microsoft.com/office/powerpoint/2010/main" val="3273115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0394DC66-A871-412C-B9DA-79C02A220CE5}" type="datetime4">
              <a:rPr lang="en-US"/>
              <a:pPr>
                <a:defRPr/>
              </a:pPr>
              <a:t>April 27, 2026</a:t>
            </a:fld>
            <a:endParaRPr lang="en-US"/>
          </a:p>
        </p:txBody>
      </p:sp>
      <p:sp>
        <p:nvSpPr>
          <p:cNvPr id="4" name="Footer Placeholder 3"/>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5" name="Slide Number Placeholder 4"/>
          <p:cNvSpPr>
            <a:spLocks noGrp="1"/>
          </p:cNvSpPr>
          <p:nvPr>
            <p:ph type="sldNum" sz="quarter" idx="12"/>
          </p:nvPr>
        </p:nvSpPr>
        <p:spPr/>
        <p:txBody>
          <a:bodyPr/>
          <a:lstStyle>
            <a:lvl1pPr>
              <a:defRPr smtClean="0"/>
            </a:lvl1pPr>
          </a:lstStyle>
          <a:p>
            <a:pPr>
              <a:defRPr/>
            </a:pPr>
            <a:fld id="{BD5C3587-06F3-4811-8D05-FB24AAC291C8}" type="slidenum">
              <a:rPr lang="en-US" altLang="en-US"/>
              <a:pPr>
                <a:defRPr/>
              </a:pPr>
              <a:t>‹#›</a:t>
            </a:fld>
            <a:endParaRPr lang="en-US" altLang="en-US"/>
          </a:p>
        </p:txBody>
      </p:sp>
    </p:spTree>
    <p:extLst>
      <p:ext uri="{BB962C8B-B14F-4D97-AF65-F5344CB8AC3E}">
        <p14:creationId xmlns:p14="http://schemas.microsoft.com/office/powerpoint/2010/main" val="146884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ln/>
        </p:spPr>
        <p:txBody>
          <a:bodyPr/>
          <a:lstStyle>
            <a:lvl1pPr>
              <a:defRPr/>
            </a:lvl1pPr>
          </a:lstStyle>
          <a:p>
            <a:pPr>
              <a:defRPr/>
            </a:pPr>
            <a:fld id="{3FFAFC82-AD13-4C39-8805-51E1A3F9800D}" type="slidenum">
              <a:rPr lang="en-US" altLang="en-US"/>
              <a:pPr>
                <a:defRPr/>
              </a:pPr>
              <a:t>‹#›</a:t>
            </a:fld>
            <a:endParaRPr lang="en-US" altLang="en-US"/>
          </a:p>
        </p:txBody>
      </p:sp>
    </p:spTree>
    <p:extLst>
      <p:ext uri="{BB962C8B-B14F-4D97-AF65-F5344CB8AC3E}">
        <p14:creationId xmlns:p14="http://schemas.microsoft.com/office/powerpoint/2010/main" val="120169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D8A71E9E-D074-41F1-9DF5-7C9600B19714}" type="datetime4">
              <a:rPr lang="en-US"/>
              <a:pPr>
                <a:defRPr/>
              </a:pPr>
              <a:t>April 27, 2026</a:t>
            </a:fld>
            <a:endParaRPr lang="en-US"/>
          </a:p>
        </p:txBody>
      </p:sp>
      <p:sp>
        <p:nvSpPr>
          <p:cNvPr id="6" name="Footer Placeholder 5"/>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7" name="Slide Number Placeholder 6"/>
          <p:cNvSpPr>
            <a:spLocks noGrp="1"/>
          </p:cNvSpPr>
          <p:nvPr>
            <p:ph type="sldNum" sz="quarter" idx="12"/>
          </p:nvPr>
        </p:nvSpPr>
        <p:spPr/>
        <p:txBody>
          <a:bodyPr/>
          <a:lstStyle>
            <a:lvl1pPr>
              <a:defRPr smtClean="0"/>
            </a:lvl1pPr>
          </a:lstStyle>
          <a:p>
            <a:pPr>
              <a:defRPr/>
            </a:pPr>
            <a:fld id="{A3529255-E165-4A5C-A38E-C77315A14F25}" type="slidenum">
              <a:rPr lang="en-US" altLang="en-US"/>
              <a:pPr>
                <a:defRPr/>
              </a:pPr>
              <a:t>‹#›</a:t>
            </a:fld>
            <a:endParaRPr lang="en-US" altLang="en-US"/>
          </a:p>
        </p:txBody>
      </p:sp>
    </p:spTree>
    <p:extLst>
      <p:ext uri="{BB962C8B-B14F-4D97-AF65-F5344CB8AC3E}">
        <p14:creationId xmlns:p14="http://schemas.microsoft.com/office/powerpoint/2010/main" val="3772412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F9DDD650-BF95-4D1A-887D-5EDE3AE3ED37}" type="datetime4">
              <a:rPr lang="en-US"/>
              <a:pPr>
                <a:defRPr/>
              </a:pPr>
              <a:t>April 27, 2026</a:t>
            </a:fld>
            <a:endParaRPr lang="en-US"/>
          </a:p>
        </p:txBody>
      </p:sp>
      <p:sp>
        <p:nvSpPr>
          <p:cNvPr id="6" name="Footer Placeholder 5"/>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7" name="Slide Number Placeholder 6"/>
          <p:cNvSpPr>
            <a:spLocks noGrp="1"/>
          </p:cNvSpPr>
          <p:nvPr>
            <p:ph type="sldNum" sz="quarter" idx="12"/>
          </p:nvPr>
        </p:nvSpPr>
        <p:spPr/>
        <p:txBody>
          <a:bodyPr/>
          <a:lstStyle>
            <a:lvl1pPr>
              <a:defRPr smtClean="0"/>
            </a:lvl1pPr>
          </a:lstStyle>
          <a:p>
            <a:pPr>
              <a:defRPr/>
            </a:pPr>
            <a:fld id="{F7372951-DF55-465D-9185-82BDA1D447D9}" type="slidenum">
              <a:rPr lang="en-US" altLang="en-US"/>
              <a:pPr>
                <a:defRPr/>
              </a:pPr>
              <a:t>‹#›</a:t>
            </a:fld>
            <a:endParaRPr lang="en-US" altLang="en-US"/>
          </a:p>
        </p:txBody>
      </p:sp>
    </p:spTree>
    <p:extLst>
      <p:ext uri="{BB962C8B-B14F-4D97-AF65-F5344CB8AC3E}">
        <p14:creationId xmlns:p14="http://schemas.microsoft.com/office/powerpoint/2010/main" val="1249484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72501436-014D-4190-A99D-2F9536997682}" type="datetime4">
              <a:rPr lang="en-US"/>
              <a:pPr>
                <a:defRPr/>
              </a:pPr>
              <a:t>April 27, 2026</a:t>
            </a:fld>
            <a:endParaRPr lang="en-US"/>
          </a:p>
        </p:txBody>
      </p:sp>
      <p:sp>
        <p:nvSpPr>
          <p:cNvPr id="5" name="Footer Placeholder 4"/>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6" name="Slide Number Placeholder 5"/>
          <p:cNvSpPr>
            <a:spLocks noGrp="1"/>
          </p:cNvSpPr>
          <p:nvPr>
            <p:ph type="sldNum" sz="quarter" idx="12"/>
          </p:nvPr>
        </p:nvSpPr>
        <p:spPr/>
        <p:txBody>
          <a:bodyPr/>
          <a:lstStyle>
            <a:lvl1pPr>
              <a:defRPr smtClean="0"/>
            </a:lvl1pPr>
          </a:lstStyle>
          <a:p>
            <a:pPr>
              <a:defRPr/>
            </a:pPr>
            <a:fld id="{BC81C719-AA32-4CD4-BF30-2DEA11DE415A}" type="slidenum">
              <a:rPr lang="en-US" altLang="en-US"/>
              <a:pPr>
                <a:defRPr/>
              </a:pPr>
              <a:t>‹#›</a:t>
            </a:fld>
            <a:endParaRPr lang="en-US" altLang="en-US"/>
          </a:p>
        </p:txBody>
      </p:sp>
    </p:spTree>
    <p:extLst>
      <p:ext uri="{BB962C8B-B14F-4D97-AF65-F5344CB8AC3E}">
        <p14:creationId xmlns:p14="http://schemas.microsoft.com/office/powerpoint/2010/main" val="1180825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9575" y="381000"/>
            <a:ext cx="2100263"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149975"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152400" y="6477000"/>
            <a:ext cx="1905000" cy="381000"/>
          </a:xfrm>
          <a:prstGeom prst="rect">
            <a:avLst/>
          </a:prstGeom>
        </p:spPr>
        <p:txBody>
          <a:bodyPr/>
          <a:lstStyle>
            <a:lvl1pPr eaLnBrk="1" hangingPunct="1">
              <a:defRPr/>
            </a:lvl1pPr>
          </a:lstStyle>
          <a:p>
            <a:pPr>
              <a:defRPr/>
            </a:pPr>
            <a:fld id="{38A1EB25-641D-4503-B0FB-1462EE55E239}" type="datetime4">
              <a:rPr lang="en-US"/>
              <a:pPr>
                <a:defRPr/>
              </a:pPr>
              <a:t>April 27, 2026</a:t>
            </a:fld>
            <a:endParaRPr lang="en-US"/>
          </a:p>
        </p:txBody>
      </p:sp>
      <p:sp>
        <p:nvSpPr>
          <p:cNvPr id="5" name="Footer Placeholder 4"/>
          <p:cNvSpPr>
            <a:spLocks noGrp="1"/>
          </p:cNvSpPr>
          <p:nvPr>
            <p:ph type="ftr" sz="quarter" idx="11"/>
          </p:nvPr>
        </p:nvSpPr>
        <p:spPr>
          <a:xfrm>
            <a:off x="3124200" y="6477000"/>
            <a:ext cx="2895600" cy="381000"/>
          </a:xfrm>
          <a:prstGeom prst="rect">
            <a:avLst/>
          </a:prstGeom>
        </p:spPr>
        <p:txBody>
          <a:bodyPr/>
          <a:lstStyle>
            <a:lvl1pPr eaLnBrk="1" hangingPunct="1">
              <a:defRPr/>
            </a:lvl1pPr>
          </a:lstStyle>
          <a:p>
            <a:pPr>
              <a:defRPr/>
            </a:pPr>
            <a:r>
              <a:rPr lang="en-US"/>
              <a:t>Data Mining: Concepts and Techniques</a:t>
            </a:r>
          </a:p>
        </p:txBody>
      </p:sp>
      <p:sp>
        <p:nvSpPr>
          <p:cNvPr id="6" name="Slide Number Placeholder 5"/>
          <p:cNvSpPr>
            <a:spLocks noGrp="1"/>
          </p:cNvSpPr>
          <p:nvPr>
            <p:ph type="sldNum" sz="quarter" idx="12"/>
          </p:nvPr>
        </p:nvSpPr>
        <p:spPr/>
        <p:txBody>
          <a:bodyPr/>
          <a:lstStyle>
            <a:lvl1pPr>
              <a:defRPr smtClean="0"/>
            </a:lvl1pPr>
          </a:lstStyle>
          <a:p>
            <a:pPr>
              <a:defRPr/>
            </a:pPr>
            <a:fld id="{6368AD1F-C226-4CC8-82F3-F2FA1CA824AA}" type="slidenum">
              <a:rPr lang="en-US" altLang="en-US"/>
              <a:pPr>
                <a:defRPr/>
              </a:pPr>
              <a:t>‹#›</a:t>
            </a:fld>
            <a:endParaRPr lang="en-US" altLang="en-US"/>
          </a:p>
        </p:txBody>
      </p:sp>
    </p:spTree>
    <p:extLst>
      <p:ext uri="{BB962C8B-B14F-4D97-AF65-F5344CB8AC3E}">
        <p14:creationId xmlns:p14="http://schemas.microsoft.com/office/powerpoint/2010/main" val="2855725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8776" name="Rectangle 2056"/>
          <p:cNvSpPr>
            <a:spLocks noChangeArrowheads="1"/>
          </p:cNvSpPr>
          <p:nvPr/>
        </p:nvSpPr>
        <p:spPr bwMode="gray">
          <a:xfrm>
            <a:off x="381000" y="1219200"/>
            <a:ext cx="8410575" cy="46038"/>
          </a:xfrm>
          <a:prstGeom prst="rect">
            <a:avLst/>
          </a:prstGeom>
          <a:gradFill rotWithShape="1">
            <a:gsLst>
              <a:gs pos="0">
                <a:srgbClr val="F6E6EA"/>
              </a:gs>
              <a:gs pos="50000">
                <a:schemeClr val="accent1"/>
              </a:gs>
              <a:gs pos="100000">
                <a:srgbClr val="F6E6EA"/>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en-US"/>
          </a:p>
        </p:txBody>
      </p:sp>
      <p:sp>
        <p:nvSpPr>
          <p:cNvPr id="1027" name="Rectangle 2057"/>
          <p:cNvSpPr>
            <a:spLocks noGrp="1" noChangeArrowheads="1"/>
          </p:cNvSpPr>
          <p:nvPr>
            <p:ph type="title"/>
          </p:nvPr>
        </p:nvSpPr>
        <p:spPr bwMode="auto">
          <a:xfrm>
            <a:off x="0" y="381000"/>
            <a:ext cx="9144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2058"/>
          <p:cNvSpPr>
            <a:spLocks noGrp="1" noChangeArrowheads="1"/>
          </p:cNvSpPr>
          <p:nvPr>
            <p:ph type="body" idx="1"/>
          </p:nvPr>
        </p:nvSpPr>
        <p:spPr bwMode="auto">
          <a:xfrm>
            <a:off x="457200" y="1447800"/>
            <a:ext cx="83058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7ACC8119-524D-40A4-9E59-73ADA1A9DE7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2" r:id="rId1"/>
    <p:sldLayoutId id="2147483690" r:id="rId2"/>
    <p:sldLayoutId id="2147483693" r:id="rId3"/>
    <p:sldLayoutId id="2147483694" r:id="rId4"/>
    <p:sldLayoutId id="2147483695" r:id="rId5"/>
    <p:sldLayoutId id="2147483696" r:id="rId6"/>
    <p:sldLayoutId id="2147483691" r:id="rId7"/>
    <p:sldLayoutId id="2147483697" r:id="rId8"/>
    <p:sldLayoutId id="2147483698" r:id="rId9"/>
    <p:sldLayoutId id="2147483699" r:id="rId10"/>
    <p:sldLayoutId id="2147483700" r:id="rId11"/>
  </p:sldLayoutIdLst>
  <p:timing>
    <p:tnLst>
      <p:par>
        <p:cTn id="1" dur="indefinite" restart="never" nodeType="tmRoot"/>
      </p:par>
    </p:tnLst>
  </p:timing>
  <p:hf hdr="0"/>
  <p:txStyles>
    <p:titleStyle>
      <a:lvl1pPr algn="ctr" rtl="0" eaLnBrk="0" fontAlgn="base" hangingPunct="0">
        <a:spcBef>
          <a:spcPct val="0"/>
        </a:spcBef>
        <a:spcAft>
          <a:spcPct val="0"/>
        </a:spcAft>
        <a:defRPr sz="3600" b="1">
          <a:solidFill>
            <a:schemeClr val="tx2"/>
          </a:solidFill>
          <a:latin typeface="+mn-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l" rtl="0" fontAlgn="base">
        <a:spcBef>
          <a:spcPct val="0"/>
        </a:spcBef>
        <a:spcAft>
          <a:spcPct val="0"/>
        </a:spcAft>
        <a:defRPr sz="3600">
          <a:solidFill>
            <a:schemeClr val="tx2"/>
          </a:solidFill>
          <a:latin typeface="Tahoma" pitchFamily="34" charset="0"/>
        </a:defRPr>
      </a:lvl6pPr>
      <a:lvl7pPr marL="914400" algn="l" rtl="0" fontAlgn="base">
        <a:spcBef>
          <a:spcPct val="0"/>
        </a:spcBef>
        <a:spcAft>
          <a:spcPct val="0"/>
        </a:spcAft>
        <a:defRPr sz="3600">
          <a:solidFill>
            <a:schemeClr val="tx2"/>
          </a:solidFill>
          <a:latin typeface="Tahoma" pitchFamily="34" charset="0"/>
        </a:defRPr>
      </a:lvl7pPr>
      <a:lvl8pPr marL="1371600" algn="l" rtl="0" fontAlgn="base">
        <a:spcBef>
          <a:spcPct val="0"/>
        </a:spcBef>
        <a:spcAft>
          <a:spcPct val="0"/>
        </a:spcAft>
        <a:defRPr sz="3600">
          <a:solidFill>
            <a:schemeClr val="tx2"/>
          </a:solidFill>
          <a:latin typeface="Tahoma" pitchFamily="34" charset="0"/>
        </a:defRPr>
      </a:lvl8pPr>
      <a:lvl9pPr marL="1828800" algn="l" rtl="0" fontAlgn="base">
        <a:spcBef>
          <a:spcPct val="0"/>
        </a:spcBef>
        <a:spcAft>
          <a:spcPct val="0"/>
        </a:spcAft>
        <a:defRPr sz="36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www.spss.com/datamine/factor.ht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533400" y="152400"/>
            <a:ext cx="8077200" cy="3810000"/>
          </a:xfrm>
        </p:spPr>
        <p:txBody>
          <a:bodyPr/>
          <a:lstStyle/>
          <a:p>
            <a:pPr eaLnBrk="1" hangingPunct="1"/>
            <a:r>
              <a:rPr lang="en-US" altLang="zh-CN" sz="6000" smtClean="0">
                <a:ea typeface="SimSun" panose="02010600030101010101" pitchFamily="2" charset="-122"/>
              </a:rPr>
              <a:t>Data Mining: </a:t>
            </a:r>
            <a:br>
              <a:rPr lang="en-US" altLang="zh-CN" sz="6000" smtClean="0">
                <a:ea typeface="SimSun" panose="02010600030101010101" pitchFamily="2" charset="-122"/>
              </a:rPr>
            </a:br>
            <a:r>
              <a:rPr lang="en-US" altLang="zh-CN" sz="4800" smtClean="0">
                <a:ea typeface="SimSun" panose="02010600030101010101" pitchFamily="2" charset="-122"/>
              </a:rPr>
              <a:t>Concepts and Techniques</a:t>
            </a:r>
            <a:br>
              <a:rPr lang="en-US" altLang="zh-CN" sz="4800" smtClean="0">
                <a:ea typeface="SimSun" panose="02010600030101010101" pitchFamily="2" charset="-122"/>
              </a:rPr>
            </a:br>
            <a:r>
              <a:rPr lang="en-US" altLang="zh-CN" sz="4800" smtClean="0">
                <a:ea typeface="SimSun" panose="02010600030101010101" pitchFamily="2" charset="-122"/>
              </a:rPr>
              <a:t> </a:t>
            </a:r>
            <a:r>
              <a:rPr lang="en-US" altLang="zh-CN" sz="2800" smtClean="0">
                <a:ea typeface="SimSun" panose="02010600030101010101" pitchFamily="2" charset="-122"/>
              </a:rPr>
              <a:t>(3</a:t>
            </a:r>
            <a:r>
              <a:rPr lang="en-US" altLang="zh-CN" sz="2800" baseline="30000" smtClean="0">
                <a:ea typeface="SimSun" panose="02010600030101010101" pitchFamily="2" charset="-122"/>
              </a:rPr>
              <a:t>rd</a:t>
            </a:r>
            <a:r>
              <a:rPr lang="en-US" altLang="zh-CN" sz="2800" smtClean="0">
                <a:ea typeface="SimSun" panose="02010600030101010101" pitchFamily="2" charset="-122"/>
              </a:rPr>
              <a:t> ed.)</a:t>
            </a:r>
            <a:r>
              <a:rPr lang="en-US" altLang="zh-CN" sz="4800" smtClean="0">
                <a:ea typeface="SimSun" panose="02010600030101010101" pitchFamily="2" charset="-122"/>
              </a:rPr>
              <a:t/>
            </a:r>
            <a:br>
              <a:rPr lang="en-US" altLang="zh-CN" sz="4800" smtClean="0">
                <a:ea typeface="SimSun" panose="02010600030101010101" pitchFamily="2" charset="-122"/>
              </a:rPr>
            </a:br>
            <a:r>
              <a:rPr lang="en-US" altLang="zh-CN" sz="4800" smtClean="0">
                <a:ea typeface="SimSun" panose="02010600030101010101" pitchFamily="2" charset="-122"/>
              </a:rPr>
              <a:t/>
            </a:r>
            <a:br>
              <a:rPr lang="en-US" altLang="zh-CN" sz="4800" smtClean="0">
                <a:ea typeface="SimSun" panose="02010600030101010101" pitchFamily="2" charset="-122"/>
              </a:rPr>
            </a:br>
            <a:r>
              <a:rPr lang="en-US" altLang="zh-CN" sz="3200" smtClean="0">
                <a:ea typeface="SimSun" panose="02010600030101010101" pitchFamily="2" charset="-122"/>
              </a:rPr>
              <a:t>— Chapter 13</a:t>
            </a:r>
            <a:r>
              <a:rPr lang="en-US" altLang="zh-CN" sz="2800" smtClean="0">
                <a:ea typeface="SimSun" panose="02010600030101010101" pitchFamily="2" charset="-122"/>
              </a:rPr>
              <a:t> —</a:t>
            </a:r>
          </a:p>
        </p:txBody>
      </p:sp>
      <p:sp>
        <p:nvSpPr>
          <p:cNvPr id="13315" name="Rectangle 3"/>
          <p:cNvSpPr>
            <a:spLocks noGrp="1" noChangeArrowheads="1"/>
          </p:cNvSpPr>
          <p:nvPr>
            <p:ph type="body" idx="4294967295"/>
          </p:nvPr>
        </p:nvSpPr>
        <p:spPr>
          <a:xfrm>
            <a:off x="304800" y="4495800"/>
            <a:ext cx="8610600" cy="1905000"/>
          </a:xfrm>
        </p:spPr>
        <p:txBody>
          <a:bodyPr/>
          <a:lstStyle/>
          <a:p>
            <a:pPr algn="ctr" eaLnBrk="1" hangingPunct="1">
              <a:lnSpc>
                <a:spcPct val="110000"/>
              </a:lnSpc>
              <a:buFont typeface="Wingdings" panose="05000000000000000000" pitchFamily="2" charset="2"/>
              <a:buNone/>
            </a:pPr>
            <a:r>
              <a:rPr lang="en-US" altLang="zh-CN" sz="2400" smtClean="0">
                <a:ea typeface="SimSun" panose="02010600030101010101" pitchFamily="2" charset="-122"/>
              </a:rPr>
              <a:t>Jiawei Han, Micheline Kamber, and Jian Pei</a:t>
            </a:r>
          </a:p>
          <a:p>
            <a:pPr algn="ctr" eaLnBrk="1" hangingPunct="1">
              <a:lnSpc>
                <a:spcPct val="110000"/>
              </a:lnSpc>
              <a:buFont typeface="Wingdings" panose="05000000000000000000" pitchFamily="2" charset="2"/>
              <a:buNone/>
            </a:pPr>
            <a:r>
              <a:rPr lang="en-US" altLang="zh-CN" sz="2400" smtClean="0">
                <a:ea typeface="SimSun" panose="02010600030101010101" pitchFamily="2" charset="-122"/>
              </a:rPr>
              <a:t>University of Illinois at Urbana-Champaign &amp;</a:t>
            </a:r>
          </a:p>
          <a:p>
            <a:pPr algn="ctr" eaLnBrk="1" hangingPunct="1">
              <a:lnSpc>
                <a:spcPct val="110000"/>
              </a:lnSpc>
              <a:buFont typeface="Wingdings" panose="05000000000000000000" pitchFamily="2" charset="2"/>
              <a:buNone/>
            </a:pPr>
            <a:r>
              <a:rPr lang="en-US" altLang="zh-CN" sz="2400" smtClean="0">
                <a:ea typeface="SimSun" panose="02010600030101010101" pitchFamily="2" charset="-122"/>
              </a:rPr>
              <a:t>Simon Fraser University</a:t>
            </a:r>
          </a:p>
          <a:p>
            <a:pPr algn="ctr" eaLnBrk="1" hangingPunct="1">
              <a:lnSpc>
                <a:spcPct val="110000"/>
              </a:lnSpc>
              <a:buFont typeface="Wingdings" panose="05000000000000000000" pitchFamily="2" charset="2"/>
              <a:buNone/>
            </a:pPr>
            <a:r>
              <a:rPr lang="en-US" altLang="zh-CN" sz="2400" smtClean="0">
                <a:ea typeface="SimSun" panose="02010600030101010101" pitchFamily="2" charset="-122"/>
              </a:rPr>
              <a:t>©2011 Han, Kamber &amp; Pei.  All rights reserved.</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Han\Pictures\2011\2011-12-19 hawaii_2011\hawaii_2011 0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685800"/>
            <a:ext cx="11684000" cy="876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16BA7F2-AEC0-4E00-8F15-7DE1A271BC06}" type="slidenum">
              <a:rPr lang="en-US" altLang="en-US" sz="1200"/>
              <a:pPr>
                <a:spcBef>
                  <a:spcPct val="0"/>
                </a:spcBef>
                <a:buClrTx/>
                <a:buSzTx/>
                <a:buFontTx/>
                <a:buNone/>
              </a:pPr>
              <a:t>3</a:t>
            </a:fld>
            <a:endParaRPr lang="en-US" altLang="en-US" sz="1200"/>
          </a:p>
        </p:txBody>
      </p:sp>
      <p:sp>
        <p:nvSpPr>
          <p:cNvPr id="16387"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16388"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6637338" y="152717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8E5AC48-28E2-40EE-8553-9B352DB2CF58}" type="slidenum">
              <a:rPr lang="en-US" altLang="en-US" sz="1200"/>
              <a:pPr>
                <a:spcBef>
                  <a:spcPct val="0"/>
                </a:spcBef>
                <a:buClrTx/>
                <a:buSzTx/>
                <a:buFontTx/>
                <a:buNone/>
              </a:pPr>
              <a:t>4</a:t>
            </a:fld>
            <a:endParaRPr lang="en-US" altLang="en-US" sz="1200"/>
          </a:p>
        </p:txBody>
      </p:sp>
      <p:sp>
        <p:nvSpPr>
          <p:cNvPr id="17411"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lnSpc>
                <a:spcPct val="120000"/>
              </a:lnSpc>
              <a:spcBef>
                <a:spcPct val="40000"/>
              </a:spcBef>
            </a:pPr>
            <a:r>
              <a:rPr lang="en-US" altLang="en-US" smtClean="0"/>
              <a:t>Mining Complex Types of Data</a:t>
            </a:r>
          </a:p>
        </p:txBody>
      </p:sp>
      <p:sp>
        <p:nvSpPr>
          <p:cNvPr id="17412"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Sequence Data</a:t>
            </a:r>
          </a:p>
          <a:p>
            <a:pPr lvl="1" eaLnBrk="1" hangingPunct="1">
              <a:lnSpc>
                <a:spcPct val="120000"/>
              </a:lnSpc>
              <a:spcBef>
                <a:spcPct val="40000"/>
              </a:spcBef>
            </a:pPr>
            <a:r>
              <a:rPr lang="en-US" altLang="en-US" sz="3200" smtClean="0"/>
              <a:t>Mining Time Series</a:t>
            </a:r>
          </a:p>
          <a:p>
            <a:pPr lvl="1" eaLnBrk="1" hangingPunct="1">
              <a:lnSpc>
                <a:spcPct val="120000"/>
              </a:lnSpc>
              <a:spcBef>
                <a:spcPct val="40000"/>
              </a:spcBef>
            </a:pPr>
            <a:r>
              <a:rPr lang="en-US" altLang="en-US" sz="3200" smtClean="0"/>
              <a:t>Mining Symbolic Sequences</a:t>
            </a:r>
          </a:p>
          <a:p>
            <a:pPr lvl="1" eaLnBrk="1" hangingPunct="1">
              <a:lnSpc>
                <a:spcPct val="120000"/>
              </a:lnSpc>
              <a:spcBef>
                <a:spcPct val="40000"/>
              </a:spcBef>
            </a:pPr>
            <a:r>
              <a:rPr lang="en-US" altLang="en-US" sz="3200" smtClean="0"/>
              <a:t>Mining Biological Sequences</a:t>
            </a:r>
          </a:p>
          <a:p>
            <a:pPr eaLnBrk="1" hangingPunct="1">
              <a:lnSpc>
                <a:spcPct val="120000"/>
              </a:lnSpc>
              <a:spcBef>
                <a:spcPct val="40000"/>
              </a:spcBef>
            </a:pPr>
            <a:r>
              <a:rPr lang="en-US" altLang="en-US" sz="3200" smtClean="0"/>
              <a:t>Mining Graphs and Networks</a:t>
            </a:r>
          </a:p>
          <a:p>
            <a:pPr eaLnBrk="1" hangingPunct="1">
              <a:lnSpc>
                <a:spcPct val="120000"/>
              </a:lnSpc>
              <a:spcBef>
                <a:spcPct val="40000"/>
              </a:spcBef>
            </a:pPr>
            <a:r>
              <a:rPr lang="en-US" altLang="en-US" sz="3200" smtClean="0"/>
              <a:t>Mining Other Kinds of Data</a:t>
            </a:r>
          </a:p>
        </p:txBody>
      </p:sp>
      <p:sp>
        <p:nvSpPr>
          <p:cNvPr id="2" name="Striped Right Arrow 1"/>
          <p:cNvSpPr/>
          <p:nvPr/>
        </p:nvSpPr>
        <p:spPr bwMode="auto">
          <a:xfrm rot="8649741">
            <a:off x="5181600" y="152717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762B3B4-357B-4A98-8886-F81A4AFC61C1}" type="slidenum">
              <a:rPr lang="en-US" altLang="en-US" sz="1200"/>
              <a:pPr>
                <a:spcBef>
                  <a:spcPct val="0"/>
                </a:spcBef>
                <a:buClrTx/>
                <a:buSzTx/>
                <a:buFontTx/>
                <a:buNone/>
              </a:pPr>
              <a:t>5</a:t>
            </a:fld>
            <a:endParaRPr lang="en-US" altLang="en-US" sz="1200"/>
          </a:p>
        </p:txBody>
      </p:sp>
      <p:sp>
        <p:nvSpPr>
          <p:cNvPr id="18435" name="Rectangle 2"/>
          <p:cNvSpPr>
            <a:spLocks noGrp="1" noChangeArrowheads="1"/>
          </p:cNvSpPr>
          <p:nvPr>
            <p:ph type="title"/>
          </p:nvPr>
        </p:nvSpPr>
        <p:spPr>
          <a:xfrm>
            <a:off x="-76200" y="152400"/>
            <a:ext cx="9296400" cy="914400"/>
          </a:xfrm>
          <a:noFill/>
        </p:spPr>
        <p:txBody>
          <a:bodyPr lIns="92075" tIns="46038" rIns="92075" bIns="46038" anchor="ctr"/>
          <a:lstStyle/>
          <a:p>
            <a:pPr eaLnBrk="1" hangingPunct="1">
              <a:lnSpc>
                <a:spcPct val="120000"/>
              </a:lnSpc>
              <a:spcBef>
                <a:spcPct val="40000"/>
              </a:spcBef>
            </a:pPr>
            <a:r>
              <a:rPr lang="en-US" altLang="en-US" smtClean="0"/>
              <a:t>Mining Sequence Data</a:t>
            </a:r>
          </a:p>
        </p:txBody>
      </p:sp>
      <p:sp>
        <p:nvSpPr>
          <p:cNvPr id="18436" name="Rectangle 3"/>
          <p:cNvSpPr>
            <a:spLocks noGrp="1" noChangeArrowheads="1"/>
          </p:cNvSpPr>
          <p:nvPr>
            <p:ph type="body" idx="1"/>
          </p:nvPr>
        </p:nvSpPr>
        <p:spPr>
          <a:xfrm>
            <a:off x="381000" y="1371600"/>
            <a:ext cx="8382000" cy="5181600"/>
          </a:xfrm>
          <a:noFill/>
        </p:spPr>
        <p:txBody>
          <a:bodyPr lIns="92075" tIns="46038" rIns="92075" bIns="46038"/>
          <a:lstStyle/>
          <a:p>
            <a:pPr eaLnBrk="1" hangingPunct="1">
              <a:spcBef>
                <a:spcPct val="40000"/>
              </a:spcBef>
            </a:pPr>
            <a:r>
              <a:rPr lang="en-US" altLang="en-US" sz="1800" smtClean="0"/>
              <a:t>Similarity Search in Time Series Data</a:t>
            </a:r>
          </a:p>
          <a:p>
            <a:pPr lvl="1" eaLnBrk="1" hangingPunct="1">
              <a:spcBef>
                <a:spcPct val="40000"/>
              </a:spcBef>
            </a:pPr>
            <a:r>
              <a:rPr lang="en-US" altLang="en-US" sz="1800" smtClean="0"/>
              <a:t>Subsequence match, dimensionality reduction, query-based similarity search, motif-based similarity search</a:t>
            </a:r>
          </a:p>
          <a:p>
            <a:pPr eaLnBrk="1" hangingPunct="1">
              <a:spcBef>
                <a:spcPct val="40000"/>
              </a:spcBef>
            </a:pPr>
            <a:r>
              <a:rPr lang="en-US" altLang="en-US" sz="1800" smtClean="0"/>
              <a:t>Regression and Trend Analysis in Time-Series Data</a:t>
            </a:r>
          </a:p>
          <a:p>
            <a:pPr lvl="1" eaLnBrk="1" hangingPunct="1">
              <a:spcBef>
                <a:spcPct val="40000"/>
              </a:spcBef>
            </a:pPr>
            <a:r>
              <a:rPr lang="en-US" altLang="en-US" sz="1800" smtClean="0"/>
              <a:t>long term + cyclic + seasonal variation + random movements</a:t>
            </a:r>
          </a:p>
          <a:p>
            <a:pPr eaLnBrk="1" hangingPunct="1">
              <a:spcBef>
                <a:spcPct val="40000"/>
              </a:spcBef>
            </a:pPr>
            <a:r>
              <a:rPr lang="en-US" altLang="en-US" sz="1800" smtClean="0"/>
              <a:t>Sequential Pattern Mining in Symbolic Sequences</a:t>
            </a:r>
          </a:p>
          <a:p>
            <a:pPr lvl="1" eaLnBrk="1" hangingPunct="1">
              <a:spcBef>
                <a:spcPct val="40000"/>
              </a:spcBef>
            </a:pPr>
            <a:r>
              <a:rPr lang="en-US" altLang="en-US" sz="1800" smtClean="0"/>
              <a:t>GSP, PrefixSpan, constraint-based sequential pattern mining</a:t>
            </a:r>
          </a:p>
          <a:p>
            <a:pPr eaLnBrk="1" hangingPunct="1">
              <a:spcBef>
                <a:spcPct val="40000"/>
              </a:spcBef>
            </a:pPr>
            <a:r>
              <a:rPr lang="en-US" altLang="en-US" sz="1800" smtClean="0"/>
              <a:t>Sequence Classification</a:t>
            </a:r>
          </a:p>
          <a:p>
            <a:pPr lvl="1" eaLnBrk="1" hangingPunct="1">
              <a:spcBef>
                <a:spcPct val="40000"/>
              </a:spcBef>
            </a:pPr>
            <a:r>
              <a:rPr lang="en-US" altLang="en-US" sz="1800" smtClean="0"/>
              <a:t>Feature-based vs. sequence-distance-based vs. model-based</a:t>
            </a:r>
          </a:p>
          <a:p>
            <a:pPr eaLnBrk="1" hangingPunct="1">
              <a:spcBef>
                <a:spcPct val="40000"/>
              </a:spcBef>
            </a:pPr>
            <a:r>
              <a:rPr lang="en-US" altLang="en-US" sz="1800" smtClean="0"/>
              <a:t>Alignment of Biological Sequences</a:t>
            </a:r>
          </a:p>
          <a:p>
            <a:pPr lvl="1" eaLnBrk="1" hangingPunct="1">
              <a:spcBef>
                <a:spcPct val="40000"/>
              </a:spcBef>
            </a:pPr>
            <a:r>
              <a:rPr lang="en-US" altLang="en-US" sz="1800" smtClean="0"/>
              <a:t>Pair-wise vs. multi-sequence alignment, substitution matirces, BLAST </a:t>
            </a:r>
          </a:p>
          <a:p>
            <a:pPr eaLnBrk="1" hangingPunct="1">
              <a:spcBef>
                <a:spcPct val="40000"/>
              </a:spcBef>
            </a:pPr>
            <a:r>
              <a:rPr lang="en-US" altLang="en-US" sz="1800" smtClean="0"/>
              <a:t>Hidden Markov Model for Biological Sequence Analysis</a:t>
            </a:r>
          </a:p>
          <a:p>
            <a:pPr lvl="1" eaLnBrk="1" hangingPunct="1">
              <a:spcBef>
                <a:spcPct val="40000"/>
              </a:spcBef>
            </a:pPr>
            <a:r>
              <a:rPr lang="en-US" altLang="en-US" sz="1800" smtClean="0"/>
              <a:t>Markov chain vs. hidden Markov models, forward vs. Viterbi vs. Baum-Welch algorithms </a:t>
            </a:r>
          </a:p>
        </p:txBody>
      </p:sp>
    </p:spTree>
  </p:cSld>
  <p:clrMapOvr>
    <a:masterClrMapping/>
  </p:clrMapOvr>
  <p:transition>
    <p:newsfla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7A78ECF-711F-440A-9832-0EEAAD0BCBA3}" type="slidenum">
              <a:rPr lang="en-US" altLang="en-US" sz="1200"/>
              <a:pPr>
                <a:spcBef>
                  <a:spcPct val="0"/>
                </a:spcBef>
                <a:buClrTx/>
                <a:buSzTx/>
                <a:buFontTx/>
                <a:buNone/>
              </a:pPr>
              <a:t>6</a:t>
            </a:fld>
            <a:endParaRPr lang="en-US" altLang="en-US" sz="1200"/>
          </a:p>
        </p:txBody>
      </p:sp>
      <p:sp>
        <p:nvSpPr>
          <p:cNvPr id="19459" name="Rectangle 2"/>
          <p:cNvSpPr>
            <a:spLocks noGrp="1" noChangeArrowheads="1"/>
          </p:cNvSpPr>
          <p:nvPr>
            <p:ph type="title"/>
          </p:nvPr>
        </p:nvSpPr>
        <p:spPr>
          <a:xfrm>
            <a:off x="-76200" y="152400"/>
            <a:ext cx="9296400" cy="914400"/>
          </a:xfrm>
          <a:noFill/>
        </p:spPr>
        <p:txBody>
          <a:bodyPr lIns="92075" tIns="46038" rIns="92075" bIns="46038" anchor="ctr"/>
          <a:lstStyle/>
          <a:p>
            <a:pPr eaLnBrk="1" hangingPunct="1">
              <a:lnSpc>
                <a:spcPct val="120000"/>
              </a:lnSpc>
              <a:spcBef>
                <a:spcPct val="40000"/>
              </a:spcBef>
            </a:pPr>
            <a:r>
              <a:rPr lang="en-US" altLang="en-US" smtClean="0"/>
              <a:t>Mining Graphs and Networks</a:t>
            </a:r>
          </a:p>
        </p:txBody>
      </p:sp>
      <p:sp>
        <p:nvSpPr>
          <p:cNvPr id="19460" name="Rectangle 3"/>
          <p:cNvSpPr>
            <a:spLocks noGrp="1" noChangeArrowheads="1"/>
          </p:cNvSpPr>
          <p:nvPr>
            <p:ph type="body" idx="1"/>
          </p:nvPr>
        </p:nvSpPr>
        <p:spPr>
          <a:xfrm>
            <a:off x="381000" y="1371600"/>
            <a:ext cx="8534400" cy="5181600"/>
          </a:xfrm>
          <a:noFill/>
        </p:spPr>
        <p:txBody>
          <a:bodyPr lIns="92075" tIns="46038" rIns="92075" bIns="46038"/>
          <a:lstStyle/>
          <a:p>
            <a:pPr eaLnBrk="1" hangingPunct="1">
              <a:spcBef>
                <a:spcPct val="40000"/>
              </a:spcBef>
            </a:pPr>
            <a:r>
              <a:rPr lang="en-US" altLang="en-US" sz="1800" smtClean="0"/>
              <a:t>Graph Pattern Mining </a:t>
            </a:r>
          </a:p>
          <a:p>
            <a:pPr lvl="1" eaLnBrk="1" hangingPunct="1">
              <a:spcBef>
                <a:spcPct val="40000"/>
              </a:spcBef>
            </a:pPr>
            <a:r>
              <a:rPr lang="en-US" altLang="en-US" sz="1800" smtClean="0"/>
              <a:t>Frequent subgraph patterns, closed graph patterns, gSpan vs. CloseGraph</a:t>
            </a:r>
          </a:p>
          <a:p>
            <a:pPr eaLnBrk="1" hangingPunct="1">
              <a:spcBef>
                <a:spcPct val="40000"/>
              </a:spcBef>
            </a:pPr>
            <a:r>
              <a:rPr lang="en-US" altLang="en-US" sz="1800" smtClean="0"/>
              <a:t>Statistical Modeling of Networks</a:t>
            </a:r>
          </a:p>
          <a:p>
            <a:pPr lvl="1" eaLnBrk="1" hangingPunct="1">
              <a:spcBef>
                <a:spcPct val="40000"/>
              </a:spcBef>
            </a:pPr>
            <a:r>
              <a:rPr lang="en-US" altLang="en-US" sz="1800" smtClean="0"/>
              <a:t>Small world phenomenon, power law (log-tail) distribution, densification</a:t>
            </a:r>
          </a:p>
          <a:p>
            <a:pPr eaLnBrk="1" hangingPunct="1">
              <a:spcBef>
                <a:spcPct val="40000"/>
              </a:spcBef>
            </a:pPr>
            <a:r>
              <a:rPr lang="en-US" altLang="en-US" sz="1800" smtClean="0"/>
              <a:t>Clustering and Classification of Graphs and Homogeneous Networks</a:t>
            </a:r>
          </a:p>
          <a:p>
            <a:pPr lvl="1" eaLnBrk="1" hangingPunct="1">
              <a:spcBef>
                <a:spcPct val="40000"/>
              </a:spcBef>
            </a:pPr>
            <a:r>
              <a:rPr lang="en-US" altLang="en-US" sz="1800" smtClean="0"/>
              <a:t>Clustering: Fast Modularity vs. SCAN</a:t>
            </a:r>
          </a:p>
          <a:p>
            <a:pPr lvl="1" eaLnBrk="1" hangingPunct="1">
              <a:spcBef>
                <a:spcPct val="40000"/>
              </a:spcBef>
            </a:pPr>
            <a:r>
              <a:rPr lang="en-US" altLang="en-US" sz="1800" smtClean="0"/>
              <a:t>Classification: model vs. pattern-based mining</a:t>
            </a:r>
          </a:p>
          <a:p>
            <a:pPr eaLnBrk="1" hangingPunct="1">
              <a:spcBef>
                <a:spcPct val="40000"/>
              </a:spcBef>
            </a:pPr>
            <a:r>
              <a:rPr lang="en-US" altLang="en-US" sz="1800" smtClean="0"/>
              <a:t>Clustering, Ranking and Classification of Heterogeneous Networks</a:t>
            </a:r>
          </a:p>
          <a:p>
            <a:pPr lvl="1" eaLnBrk="1" hangingPunct="1">
              <a:spcBef>
                <a:spcPct val="40000"/>
              </a:spcBef>
            </a:pPr>
            <a:r>
              <a:rPr lang="en-US" altLang="en-US" sz="1800" smtClean="0"/>
              <a:t>RankClus, RankClass, and meta path-based, user-guided methodology</a:t>
            </a:r>
          </a:p>
          <a:p>
            <a:pPr eaLnBrk="1" hangingPunct="1">
              <a:spcBef>
                <a:spcPct val="40000"/>
              </a:spcBef>
            </a:pPr>
            <a:r>
              <a:rPr lang="en-US" altLang="en-US" sz="1800" smtClean="0"/>
              <a:t>Role Discovery and Link Prediction in Information Networks</a:t>
            </a:r>
          </a:p>
          <a:p>
            <a:pPr lvl="1" eaLnBrk="1" hangingPunct="1">
              <a:spcBef>
                <a:spcPct val="40000"/>
              </a:spcBef>
            </a:pPr>
            <a:r>
              <a:rPr lang="en-US" altLang="en-US" sz="1800" smtClean="0"/>
              <a:t>PathPredict</a:t>
            </a:r>
          </a:p>
          <a:p>
            <a:pPr eaLnBrk="1" hangingPunct="1">
              <a:spcBef>
                <a:spcPct val="40000"/>
              </a:spcBef>
            </a:pPr>
            <a:r>
              <a:rPr lang="en-US" altLang="en-US" sz="1800" smtClean="0"/>
              <a:t>Similarity Search and OLAP in Information Networks: PathSim, GraphCube</a:t>
            </a:r>
          </a:p>
          <a:p>
            <a:pPr eaLnBrk="1" hangingPunct="1">
              <a:spcBef>
                <a:spcPct val="40000"/>
              </a:spcBef>
            </a:pPr>
            <a:r>
              <a:rPr lang="en-US" altLang="en-US" sz="1800" smtClean="0"/>
              <a:t>Evolution of Social and Information Networks: EvoNetClus</a:t>
            </a:r>
          </a:p>
        </p:txBody>
      </p:sp>
    </p:spTree>
  </p:cSld>
  <p:clrMapOvr>
    <a:masterClrMapping/>
  </p:clrMapOvr>
  <p:transition>
    <p:newsfla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6F8B9A1-8E21-458B-B1F4-9869C1281F35}" type="slidenum">
              <a:rPr lang="en-US" altLang="en-US" sz="1200"/>
              <a:pPr>
                <a:spcBef>
                  <a:spcPct val="0"/>
                </a:spcBef>
                <a:buClrTx/>
                <a:buSzTx/>
                <a:buFontTx/>
                <a:buNone/>
              </a:pPr>
              <a:t>7</a:t>
            </a:fld>
            <a:endParaRPr lang="en-US" altLang="en-US" sz="1200"/>
          </a:p>
        </p:txBody>
      </p:sp>
      <p:sp>
        <p:nvSpPr>
          <p:cNvPr id="20483" name="Rectangle 2"/>
          <p:cNvSpPr>
            <a:spLocks noGrp="1" noChangeArrowheads="1"/>
          </p:cNvSpPr>
          <p:nvPr>
            <p:ph type="title"/>
          </p:nvPr>
        </p:nvSpPr>
        <p:spPr>
          <a:xfrm>
            <a:off x="-76200" y="152400"/>
            <a:ext cx="9296400" cy="914400"/>
          </a:xfrm>
          <a:noFill/>
        </p:spPr>
        <p:txBody>
          <a:bodyPr lIns="92075" tIns="46038" rIns="92075" bIns="46038" anchor="ctr"/>
          <a:lstStyle/>
          <a:p>
            <a:pPr eaLnBrk="1" hangingPunct="1">
              <a:lnSpc>
                <a:spcPct val="120000"/>
              </a:lnSpc>
              <a:spcBef>
                <a:spcPct val="40000"/>
              </a:spcBef>
            </a:pPr>
            <a:r>
              <a:rPr lang="en-US" altLang="en-US" smtClean="0"/>
              <a:t>Mining Other Kinds of Data</a:t>
            </a:r>
          </a:p>
        </p:txBody>
      </p:sp>
      <p:sp>
        <p:nvSpPr>
          <p:cNvPr id="20484" name="Rectangle 3"/>
          <p:cNvSpPr>
            <a:spLocks noGrp="1" noChangeArrowheads="1"/>
          </p:cNvSpPr>
          <p:nvPr>
            <p:ph type="body" idx="1"/>
          </p:nvPr>
        </p:nvSpPr>
        <p:spPr>
          <a:xfrm>
            <a:off x="381000" y="1295400"/>
            <a:ext cx="8610600" cy="5410200"/>
          </a:xfrm>
          <a:noFill/>
        </p:spPr>
        <p:txBody>
          <a:bodyPr lIns="92075" tIns="46038" rIns="92075" bIns="46038"/>
          <a:lstStyle/>
          <a:p>
            <a:pPr eaLnBrk="1" hangingPunct="1">
              <a:spcBef>
                <a:spcPct val="40000"/>
              </a:spcBef>
            </a:pPr>
            <a:r>
              <a:rPr lang="en-US" altLang="en-US" sz="1800" smtClean="0"/>
              <a:t>Mining Spatial Data</a:t>
            </a:r>
          </a:p>
          <a:p>
            <a:pPr lvl="1" eaLnBrk="1" hangingPunct="1">
              <a:spcBef>
                <a:spcPct val="40000"/>
              </a:spcBef>
            </a:pPr>
            <a:r>
              <a:rPr lang="en-US" altLang="en-US" sz="1800" smtClean="0"/>
              <a:t>Spatial frequent/co-located patterns, spatial clustering and classification</a:t>
            </a:r>
          </a:p>
          <a:p>
            <a:pPr eaLnBrk="1" hangingPunct="1">
              <a:spcBef>
                <a:spcPct val="40000"/>
              </a:spcBef>
            </a:pPr>
            <a:r>
              <a:rPr lang="en-US" altLang="en-US" sz="1800" smtClean="0"/>
              <a:t>Mining Spatiotemporal and Moving Object Data</a:t>
            </a:r>
          </a:p>
          <a:p>
            <a:pPr lvl="1" eaLnBrk="1" hangingPunct="1">
              <a:spcBef>
                <a:spcPct val="40000"/>
              </a:spcBef>
            </a:pPr>
            <a:r>
              <a:rPr lang="en-US" altLang="en-US" sz="1800" smtClean="0"/>
              <a:t>Spatiotemporal data mining, trajectory mining, periodica, swarm, …</a:t>
            </a:r>
          </a:p>
          <a:p>
            <a:pPr eaLnBrk="1" hangingPunct="1">
              <a:spcBef>
                <a:spcPct val="40000"/>
              </a:spcBef>
            </a:pPr>
            <a:r>
              <a:rPr lang="en-US" altLang="en-US" sz="1800" smtClean="0"/>
              <a:t>Mining Cyber-Physical System Data</a:t>
            </a:r>
          </a:p>
          <a:p>
            <a:pPr lvl="1" eaLnBrk="1" hangingPunct="1">
              <a:spcBef>
                <a:spcPct val="40000"/>
              </a:spcBef>
            </a:pPr>
            <a:r>
              <a:rPr lang="en-US" altLang="en-US" sz="1800" smtClean="0"/>
              <a:t>Applications: healthcare, air-traffic control, flood simulation</a:t>
            </a:r>
          </a:p>
          <a:p>
            <a:pPr eaLnBrk="1" hangingPunct="1">
              <a:spcBef>
                <a:spcPct val="40000"/>
              </a:spcBef>
            </a:pPr>
            <a:r>
              <a:rPr lang="en-US" altLang="en-US" sz="1800" smtClean="0"/>
              <a:t>Mining Multimedia Data</a:t>
            </a:r>
          </a:p>
          <a:p>
            <a:pPr lvl="1" eaLnBrk="1" hangingPunct="1">
              <a:spcBef>
                <a:spcPct val="40000"/>
              </a:spcBef>
            </a:pPr>
            <a:r>
              <a:rPr lang="en-US" altLang="en-US" sz="1800" smtClean="0"/>
              <a:t>Social media data, geo-tagged spatial clustering, periodicity analysis, …</a:t>
            </a:r>
          </a:p>
          <a:p>
            <a:pPr eaLnBrk="1" hangingPunct="1">
              <a:spcBef>
                <a:spcPct val="40000"/>
              </a:spcBef>
            </a:pPr>
            <a:r>
              <a:rPr lang="en-US" altLang="en-US" sz="1800" smtClean="0"/>
              <a:t>Mining Text Data</a:t>
            </a:r>
          </a:p>
          <a:p>
            <a:pPr lvl="1" eaLnBrk="1" hangingPunct="1">
              <a:spcBef>
                <a:spcPct val="40000"/>
              </a:spcBef>
            </a:pPr>
            <a:r>
              <a:rPr lang="en-US" altLang="en-US" sz="1800" smtClean="0"/>
              <a:t>Topic modeling, i-topic model, integration with geo- and networked data</a:t>
            </a:r>
          </a:p>
          <a:p>
            <a:pPr eaLnBrk="1" hangingPunct="1">
              <a:spcBef>
                <a:spcPct val="40000"/>
              </a:spcBef>
            </a:pPr>
            <a:r>
              <a:rPr lang="en-US" altLang="en-US" sz="1800" smtClean="0"/>
              <a:t>Mining Web Data</a:t>
            </a:r>
          </a:p>
          <a:p>
            <a:pPr lvl="1" eaLnBrk="1" hangingPunct="1">
              <a:spcBef>
                <a:spcPct val="40000"/>
              </a:spcBef>
            </a:pPr>
            <a:r>
              <a:rPr lang="en-US" altLang="en-US" sz="1800" smtClean="0"/>
              <a:t>Web content, web structure, and web usage mining</a:t>
            </a:r>
          </a:p>
          <a:p>
            <a:pPr eaLnBrk="1" hangingPunct="1">
              <a:spcBef>
                <a:spcPct val="40000"/>
              </a:spcBef>
            </a:pPr>
            <a:r>
              <a:rPr lang="en-US" altLang="en-US" sz="1800" smtClean="0"/>
              <a:t>Mining Data Streams</a:t>
            </a:r>
          </a:p>
          <a:p>
            <a:pPr lvl="1" eaLnBrk="1" hangingPunct="1">
              <a:spcBef>
                <a:spcPct val="40000"/>
              </a:spcBef>
            </a:pPr>
            <a:r>
              <a:rPr lang="en-US" altLang="en-US" sz="1800" smtClean="0"/>
              <a:t>Dynamics, one-pass, patterns, clustering, classification, outlier detection</a:t>
            </a:r>
          </a:p>
        </p:txBody>
      </p:sp>
    </p:spTree>
  </p:cSld>
  <p:clrMapOvr>
    <a:masterClrMapping/>
  </p:clrMapOvr>
  <p:transition>
    <p:newsfla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1090E1A-534B-4CA9-AD9B-26415DEF8342}" type="slidenum">
              <a:rPr lang="en-US" altLang="en-US" sz="1200"/>
              <a:pPr>
                <a:spcBef>
                  <a:spcPct val="0"/>
                </a:spcBef>
                <a:buClrTx/>
                <a:buSzTx/>
                <a:buFontTx/>
                <a:buNone/>
              </a:pPr>
              <a:t>8</a:t>
            </a:fld>
            <a:endParaRPr lang="en-US" altLang="en-US" sz="1200"/>
          </a:p>
        </p:txBody>
      </p:sp>
      <p:sp>
        <p:nvSpPr>
          <p:cNvPr id="21507"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21508"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7543800" y="22828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7C85ED8-CF74-4D87-B70A-87FCEF4F3A22}" type="slidenum">
              <a:rPr lang="en-US" altLang="en-US" sz="1200"/>
              <a:pPr>
                <a:spcBef>
                  <a:spcPct val="0"/>
                </a:spcBef>
                <a:buClrTx/>
                <a:buSzTx/>
                <a:buFontTx/>
                <a:buNone/>
              </a:pPr>
              <a:t>9</a:t>
            </a:fld>
            <a:endParaRPr lang="en-US" altLang="en-US" sz="1200"/>
          </a:p>
        </p:txBody>
      </p:sp>
      <p:sp>
        <p:nvSpPr>
          <p:cNvPr id="22531"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lnSpc>
                <a:spcPct val="120000"/>
              </a:lnSpc>
              <a:spcBef>
                <a:spcPct val="40000"/>
              </a:spcBef>
            </a:pPr>
            <a:r>
              <a:rPr lang="en-US" altLang="en-US" smtClean="0"/>
              <a:t>Other Methodologies of Data Mining</a:t>
            </a:r>
          </a:p>
        </p:txBody>
      </p:sp>
      <p:sp>
        <p:nvSpPr>
          <p:cNvPr id="22532"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Statistical Data Mining </a:t>
            </a:r>
          </a:p>
          <a:p>
            <a:pPr eaLnBrk="1" hangingPunct="1">
              <a:lnSpc>
                <a:spcPct val="120000"/>
              </a:lnSpc>
              <a:spcBef>
                <a:spcPct val="40000"/>
              </a:spcBef>
            </a:pPr>
            <a:r>
              <a:rPr lang="en-US" altLang="en-US" sz="3200" smtClean="0"/>
              <a:t>Views on Data Mining Foundations</a:t>
            </a:r>
          </a:p>
          <a:p>
            <a:pPr eaLnBrk="1" hangingPunct="1">
              <a:lnSpc>
                <a:spcPct val="120000"/>
              </a:lnSpc>
              <a:spcBef>
                <a:spcPct val="40000"/>
              </a:spcBef>
            </a:pPr>
            <a:r>
              <a:rPr lang="en-US" altLang="en-US" sz="3200" smtClean="0"/>
              <a:t>Visual and Audio Data Mining  </a:t>
            </a:r>
          </a:p>
        </p:txBody>
      </p:sp>
      <p:sp>
        <p:nvSpPr>
          <p:cNvPr id="2" name="Striped Right Arrow 1"/>
          <p:cNvSpPr/>
          <p:nvPr/>
        </p:nvSpPr>
        <p:spPr bwMode="auto">
          <a:xfrm rot="8649741">
            <a:off x="5181600" y="1597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5242BB7-AD0B-4A8D-9A3A-EA00D0512A70}" type="slidenum">
              <a:rPr lang="en-US" altLang="en-US" sz="1200"/>
              <a:pPr>
                <a:spcBef>
                  <a:spcPct val="0"/>
                </a:spcBef>
                <a:buClrTx/>
                <a:buSzTx/>
                <a:buFontTx/>
                <a:buNone/>
              </a:pPr>
              <a:t>10</a:t>
            </a:fld>
            <a:endParaRPr lang="en-US" altLang="en-US" sz="1200"/>
          </a:p>
        </p:txBody>
      </p:sp>
      <p:sp>
        <p:nvSpPr>
          <p:cNvPr id="23555" name="Rectangle 2"/>
          <p:cNvSpPr>
            <a:spLocks noGrp="1" noChangeArrowheads="1"/>
          </p:cNvSpPr>
          <p:nvPr>
            <p:ph type="title"/>
          </p:nvPr>
        </p:nvSpPr>
        <p:spPr>
          <a:xfrm>
            <a:off x="0" y="152400"/>
            <a:ext cx="9144000" cy="914400"/>
          </a:xfrm>
          <a:noFill/>
        </p:spPr>
        <p:txBody>
          <a:bodyPr lIns="92075" tIns="46038" rIns="92075" bIns="46038" anchor="ctr"/>
          <a:lstStyle/>
          <a:p>
            <a:pPr eaLnBrk="1" hangingPunct="1">
              <a:lnSpc>
                <a:spcPct val="120000"/>
              </a:lnSpc>
              <a:spcBef>
                <a:spcPct val="40000"/>
              </a:spcBef>
            </a:pPr>
            <a:r>
              <a:rPr lang="en-US" altLang="en-US" smtClean="0"/>
              <a:t>Major Statistical Data Mining Methods </a:t>
            </a:r>
          </a:p>
        </p:txBody>
      </p:sp>
      <p:sp>
        <p:nvSpPr>
          <p:cNvPr id="23556"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mtClean="0"/>
              <a:t>Regression</a:t>
            </a:r>
          </a:p>
          <a:p>
            <a:pPr eaLnBrk="1" hangingPunct="1">
              <a:lnSpc>
                <a:spcPct val="120000"/>
              </a:lnSpc>
              <a:spcBef>
                <a:spcPct val="40000"/>
              </a:spcBef>
            </a:pPr>
            <a:r>
              <a:rPr lang="en-US" altLang="en-US" smtClean="0"/>
              <a:t>Generalized Linear Model</a:t>
            </a:r>
          </a:p>
          <a:p>
            <a:pPr eaLnBrk="1" hangingPunct="1">
              <a:lnSpc>
                <a:spcPct val="120000"/>
              </a:lnSpc>
              <a:spcBef>
                <a:spcPct val="40000"/>
              </a:spcBef>
            </a:pPr>
            <a:r>
              <a:rPr lang="en-US" altLang="en-US" smtClean="0"/>
              <a:t>Analysis of Variance</a:t>
            </a:r>
          </a:p>
          <a:p>
            <a:pPr eaLnBrk="1" hangingPunct="1">
              <a:lnSpc>
                <a:spcPct val="120000"/>
              </a:lnSpc>
              <a:spcBef>
                <a:spcPct val="40000"/>
              </a:spcBef>
            </a:pPr>
            <a:r>
              <a:rPr lang="en-US" altLang="en-US" smtClean="0"/>
              <a:t>Mixed-Effect Models</a:t>
            </a:r>
          </a:p>
          <a:p>
            <a:pPr eaLnBrk="1" hangingPunct="1">
              <a:lnSpc>
                <a:spcPct val="120000"/>
              </a:lnSpc>
              <a:spcBef>
                <a:spcPct val="40000"/>
              </a:spcBef>
            </a:pPr>
            <a:r>
              <a:rPr lang="en-US" altLang="en-US" smtClean="0"/>
              <a:t>Factor Analysis</a:t>
            </a:r>
          </a:p>
          <a:p>
            <a:pPr eaLnBrk="1" hangingPunct="1">
              <a:lnSpc>
                <a:spcPct val="120000"/>
              </a:lnSpc>
              <a:spcBef>
                <a:spcPct val="40000"/>
              </a:spcBef>
            </a:pPr>
            <a:r>
              <a:rPr lang="en-US" altLang="en-US" smtClean="0"/>
              <a:t>Discriminant Analysis</a:t>
            </a:r>
          </a:p>
          <a:p>
            <a:pPr eaLnBrk="1" hangingPunct="1">
              <a:lnSpc>
                <a:spcPct val="120000"/>
              </a:lnSpc>
              <a:spcBef>
                <a:spcPct val="40000"/>
              </a:spcBef>
            </a:pPr>
            <a:r>
              <a:rPr lang="en-US" altLang="en-US" smtClean="0"/>
              <a:t>Survival Analysis</a:t>
            </a:r>
          </a:p>
        </p:txBody>
      </p:sp>
    </p:spTree>
  </p:cSld>
  <p:clrMapOvr>
    <a:masterClrMapping/>
  </p:clrMapOvr>
  <p:transition>
    <p:newsfla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A20C344-1D73-4749-911D-0FE1EFDF95BA}" type="slidenum">
              <a:rPr lang="en-US" altLang="en-US" sz="1200"/>
              <a:pPr>
                <a:spcBef>
                  <a:spcPct val="0"/>
                </a:spcBef>
                <a:buClrTx/>
                <a:buSzTx/>
                <a:buFontTx/>
                <a:buNone/>
              </a:pPr>
              <a:t>11</a:t>
            </a:fld>
            <a:endParaRPr lang="en-US" altLang="en-US" sz="1200"/>
          </a:p>
        </p:txBody>
      </p:sp>
      <p:sp>
        <p:nvSpPr>
          <p:cNvPr id="24579" name="Rectangle 2"/>
          <p:cNvSpPr>
            <a:spLocks noGrp="1" noChangeArrowheads="1"/>
          </p:cNvSpPr>
          <p:nvPr>
            <p:ph type="title"/>
          </p:nvPr>
        </p:nvSpPr>
        <p:spPr>
          <a:xfrm>
            <a:off x="0" y="228600"/>
            <a:ext cx="9144000" cy="838200"/>
          </a:xfrm>
        </p:spPr>
        <p:txBody>
          <a:bodyPr/>
          <a:lstStyle/>
          <a:p>
            <a:pPr eaLnBrk="1" hangingPunct="1"/>
            <a:r>
              <a:rPr lang="en-US" altLang="en-US" sz="3200" smtClean="0"/>
              <a:t>Statistical Data Mining (1)</a:t>
            </a:r>
          </a:p>
        </p:txBody>
      </p:sp>
      <p:sp>
        <p:nvSpPr>
          <p:cNvPr id="24580" name="Rectangle 3"/>
          <p:cNvSpPr>
            <a:spLocks noGrp="1" noChangeArrowheads="1"/>
          </p:cNvSpPr>
          <p:nvPr>
            <p:ph type="body" idx="1"/>
          </p:nvPr>
        </p:nvSpPr>
        <p:spPr>
          <a:xfrm>
            <a:off x="457200" y="1600200"/>
            <a:ext cx="8305800" cy="4876800"/>
          </a:xfrm>
        </p:spPr>
        <p:txBody>
          <a:bodyPr/>
          <a:lstStyle/>
          <a:p>
            <a:pPr eaLnBrk="1" hangingPunct="1"/>
            <a:r>
              <a:rPr lang="en-US" altLang="en-US" sz="2000" smtClean="0"/>
              <a:t>There are many well-established statistical techniques for data analysis, particularly for numeric data</a:t>
            </a:r>
          </a:p>
          <a:p>
            <a:pPr lvl="1" eaLnBrk="1" hangingPunct="1"/>
            <a:r>
              <a:rPr lang="en-US" altLang="en-US" sz="2000" smtClean="0"/>
              <a:t>applied extensively to data from scientific experiments and data from economics and the social sciences</a:t>
            </a:r>
          </a:p>
        </p:txBody>
      </p:sp>
      <p:pic>
        <p:nvPicPr>
          <p:cNvPr id="24581" name="Picture 4" descr="regres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3124200"/>
            <a:ext cx="3352800" cy="278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5"/>
          <p:cNvSpPr>
            <a:spLocks noChangeArrowheads="1"/>
          </p:cNvSpPr>
          <p:nvPr/>
        </p:nvSpPr>
        <p:spPr bwMode="auto">
          <a:xfrm>
            <a:off x="304800" y="3048000"/>
            <a:ext cx="50292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pPr>
            <a:r>
              <a:rPr lang="en-US" altLang="en-US" sz="2000" b="1"/>
              <a:t>     Regression </a:t>
            </a:r>
          </a:p>
          <a:p>
            <a:pPr lvl="1" eaLnBrk="1" hangingPunct="1">
              <a:spcBef>
                <a:spcPct val="50000"/>
              </a:spcBef>
            </a:pPr>
            <a:r>
              <a:rPr lang="en-US" altLang="en-US" sz="2000"/>
              <a:t> predict the value of a </a:t>
            </a:r>
            <a:r>
              <a:rPr lang="en-US" altLang="en-US" sz="2000">
                <a:solidFill>
                  <a:schemeClr val="hlink"/>
                </a:solidFill>
              </a:rPr>
              <a:t>response</a:t>
            </a:r>
            <a:r>
              <a:rPr lang="en-US" altLang="en-US" sz="2000"/>
              <a:t> (dependent) variable from one or more </a:t>
            </a:r>
            <a:r>
              <a:rPr lang="en-US" altLang="en-US" sz="2000">
                <a:solidFill>
                  <a:schemeClr val="hlink"/>
                </a:solidFill>
              </a:rPr>
              <a:t>predictor</a:t>
            </a:r>
            <a:r>
              <a:rPr lang="en-US" altLang="en-US" sz="2000"/>
              <a:t> (independent) variables where the variables are numeric </a:t>
            </a:r>
          </a:p>
          <a:p>
            <a:pPr lvl="1" eaLnBrk="1" hangingPunct="1">
              <a:spcBef>
                <a:spcPct val="50000"/>
              </a:spcBef>
            </a:pPr>
            <a:r>
              <a:rPr lang="en-US" altLang="en-US" sz="2000"/>
              <a:t> forms of regression: linear, multiple, weighted, polynomial, nonparametric, and robust</a:t>
            </a:r>
          </a:p>
        </p:txBody>
      </p:sp>
    </p:spTree>
  </p:cSld>
  <p:clrMapOvr>
    <a:masterClrMapping/>
  </p:clrMapOvr>
  <p:transition>
    <p:newsfla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348E3B6-E242-45C5-9FFE-3DDADDE8C5EB}" type="slidenum">
              <a:rPr lang="en-US" altLang="en-US" sz="1200"/>
              <a:pPr>
                <a:spcBef>
                  <a:spcPct val="0"/>
                </a:spcBef>
                <a:buClrTx/>
                <a:buSzTx/>
                <a:buFontTx/>
                <a:buNone/>
              </a:pPr>
              <a:t>12</a:t>
            </a:fld>
            <a:endParaRPr lang="en-US" altLang="en-US" sz="1200"/>
          </a:p>
        </p:txBody>
      </p:sp>
      <p:sp>
        <p:nvSpPr>
          <p:cNvPr id="25603" name="Rectangle 2"/>
          <p:cNvSpPr>
            <a:spLocks noGrp="1" noChangeArrowheads="1"/>
          </p:cNvSpPr>
          <p:nvPr>
            <p:ph type="title"/>
          </p:nvPr>
        </p:nvSpPr>
        <p:spPr/>
        <p:txBody>
          <a:bodyPr/>
          <a:lstStyle/>
          <a:p>
            <a:pPr eaLnBrk="1" hangingPunct="1"/>
            <a:r>
              <a:rPr lang="en-US" altLang="en-US" sz="3200" smtClean="0"/>
              <a:t>Scientific and Statistical Data Mining (2)</a:t>
            </a:r>
          </a:p>
        </p:txBody>
      </p:sp>
      <p:sp>
        <p:nvSpPr>
          <p:cNvPr id="25604" name="Rectangle 3"/>
          <p:cNvSpPr>
            <a:spLocks noGrp="1" noChangeArrowheads="1"/>
          </p:cNvSpPr>
          <p:nvPr>
            <p:ph type="body" sz="half" idx="1"/>
          </p:nvPr>
        </p:nvSpPr>
        <p:spPr>
          <a:xfrm>
            <a:off x="228600" y="1905000"/>
            <a:ext cx="5562600" cy="3048000"/>
          </a:xfrm>
        </p:spPr>
        <p:txBody>
          <a:bodyPr/>
          <a:lstStyle/>
          <a:p>
            <a:pPr eaLnBrk="1" hangingPunct="1"/>
            <a:r>
              <a:rPr lang="en-US" altLang="en-US" sz="2000" b="1" smtClean="0"/>
              <a:t>Generalized linear models</a:t>
            </a:r>
          </a:p>
          <a:p>
            <a:pPr lvl="1" eaLnBrk="1" hangingPunct="1"/>
            <a:r>
              <a:rPr lang="en-US" altLang="en-US" sz="2000" smtClean="0"/>
              <a:t>allow a categorical response variable (or some transformation of it) to be related to a set of predictor variables </a:t>
            </a:r>
          </a:p>
          <a:p>
            <a:pPr lvl="1" eaLnBrk="1" hangingPunct="1"/>
            <a:r>
              <a:rPr lang="en-US" altLang="en-US" sz="2000" smtClean="0"/>
              <a:t>similar to the modeling of a numeric response variable using linear regression</a:t>
            </a:r>
          </a:p>
          <a:p>
            <a:pPr lvl="1" eaLnBrk="1" hangingPunct="1"/>
            <a:r>
              <a:rPr lang="en-US" altLang="en-US" sz="2000" smtClean="0"/>
              <a:t>include logistic regression and Poisson regression </a:t>
            </a:r>
          </a:p>
          <a:p>
            <a:pPr eaLnBrk="1" hangingPunct="1"/>
            <a:endParaRPr lang="en-US" altLang="en-US" sz="2000" smtClean="0"/>
          </a:p>
        </p:txBody>
      </p:sp>
      <p:pic>
        <p:nvPicPr>
          <p:cNvPr id="25605" name="Picture 4" descr="gl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447800"/>
            <a:ext cx="33528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5"/>
          <p:cNvSpPr>
            <a:spLocks noChangeArrowheads="1"/>
          </p:cNvSpPr>
          <p:nvPr/>
        </p:nvSpPr>
        <p:spPr bwMode="auto">
          <a:xfrm>
            <a:off x="266700" y="4648200"/>
            <a:ext cx="8610600"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80000"/>
              </a:lnSpc>
              <a:spcBef>
                <a:spcPct val="50000"/>
              </a:spcBef>
            </a:pPr>
            <a:r>
              <a:rPr lang="en-US" altLang="en-US" sz="2000" b="1"/>
              <a:t>     Mixed-effect models</a:t>
            </a:r>
          </a:p>
          <a:p>
            <a:pPr lvl="1" eaLnBrk="1" hangingPunct="1">
              <a:lnSpc>
                <a:spcPct val="80000"/>
              </a:lnSpc>
              <a:spcBef>
                <a:spcPct val="50000"/>
              </a:spcBef>
            </a:pPr>
            <a:r>
              <a:rPr lang="en-US" altLang="en-US" sz="2000"/>
              <a:t>   For analyzing </a:t>
            </a:r>
            <a:r>
              <a:rPr lang="en-US" altLang="en-US" sz="2000">
                <a:solidFill>
                  <a:schemeClr val="hlink"/>
                </a:solidFill>
              </a:rPr>
              <a:t>grouped data</a:t>
            </a:r>
            <a:r>
              <a:rPr lang="en-US" altLang="en-US" sz="2000"/>
              <a:t>, i.e. data that can be classified according to one or more grouping variables</a:t>
            </a:r>
          </a:p>
          <a:p>
            <a:pPr lvl="1" eaLnBrk="1" hangingPunct="1">
              <a:lnSpc>
                <a:spcPct val="80000"/>
              </a:lnSpc>
              <a:spcBef>
                <a:spcPct val="50000"/>
              </a:spcBef>
            </a:pPr>
            <a:r>
              <a:rPr lang="en-US" altLang="en-US" sz="2000"/>
              <a:t>   Typically describe relationships between a response variable and some covariates in data grouped according to one or more factors</a:t>
            </a:r>
          </a:p>
        </p:txBody>
      </p:sp>
    </p:spTree>
  </p:cSld>
  <p:clrMapOvr>
    <a:masterClrMapping/>
  </p:clrMapOvr>
  <p:transition>
    <p:newsfla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B4FB731-7792-45A9-9488-FE83CF370AF8}" type="slidenum">
              <a:rPr lang="en-US" altLang="en-US" sz="1200"/>
              <a:pPr>
                <a:spcBef>
                  <a:spcPct val="0"/>
                </a:spcBef>
                <a:buClrTx/>
                <a:buSzTx/>
                <a:buFontTx/>
                <a:buNone/>
              </a:pPr>
              <a:t>13</a:t>
            </a:fld>
            <a:endParaRPr lang="en-US" altLang="en-US" sz="1200"/>
          </a:p>
        </p:txBody>
      </p:sp>
      <p:sp>
        <p:nvSpPr>
          <p:cNvPr id="26627" name="Rectangle 2"/>
          <p:cNvSpPr>
            <a:spLocks noGrp="1" noChangeArrowheads="1"/>
          </p:cNvSpPr>
          <p:nvPr>
            <p:ph type="title"/>
          </p:nvPr>
        </p:nvSpPr>
        <p:spPr/>
        <p:txBody>
          <a:bodyPr/>
          <a:lstStyle/>
          <a:p>
            <a:pPr eaLnBrk="1" hangingPunct="1"/>
            <a:r>
              <a:rPr lang="en-US" altLang="en-US" sz="3200" smtClean="0"/>
              <a:t>Scientific and Statistical Data Mining (3)</a:t>
            </a:r>
          </a:p>
        </p:txBody>
      </p:sp>
      <p:sp>
        <p:nvSpPr>
          <p:cNvPr id="26628" name="Rectangle 3"/>
          <p:cNvSpPr>
            <a:spLocks noGrp="1" noChangeArrowheads="1"/>
          </p:cNvSpPr>
          <p:nvPr>
            <p:ph type="body" idx="1"/>
          </p:nvPr>
        </p:nvSpPr>
        <p:spPr>
          <a:xfrm>
            <a:off x="152400" y="1524000"/>
            <a:ext cx="5181600" cy="4876800"/>
          </a:xfrm>
        </p:spPr>
        <p:txBody>
          <a:bodyPr/>
          <a:lstStyle/>
          <a:p>
            <a:pPr eaLnBrk="1" hangingPunct="1"/>
            <a:r>
              <a:rPr lang="en-US" altLang="en-US" sz="2000" b="1" smtClean="0"/>
              <a:t>Regression trees</a:t>
            </a:r>
          </a:p>
          <a:p>
            <a:pPr lvl="1" eaLnBrk="1" hangingPunct="1">
              <a:lnSpc>
                <a:spcPct val="110000"/>
              </a:lnSpc>
            </a:pPr>
            <a:r>
              <a:rPr lang="en-US" altLang="en-US" sz="2000" smtClean="0"/>
              <a:t>Binary trees used for classification and prediction</a:t>
            </a:r>
          </a:p>
          <a:p>
            <a:pPr lvl="1" eaLnBrk="1" hangingPunct="1">
              <a:lnSpc>
                <a:spcPct val="110000"/>
              </a:lnSpc>
            </a:pPr>
            <a:r>
              <a:rPr lang="en-US" altLang="en-US" sz="2000" smtClean="0"/>
              <a:t>Similar to decision trees:Tests are performed at the internal nodes</a:t>
            </a:r>
          </a:p>
          <a:p>
            <a:pPr lvl="1" eaLnBrk="1" hangingPunct="1">
              <a:lnSpc>
                <a:spcPct val="110000"/>
              </a:lnSpc>
            </a:pPr>
            <a:r>
              <a:rPr lang="en-US" altLang="en-US" sz="2000" smtClean="0"/>
              <a:t>In a regression tree the mean of the objective attribute is computed and used as the predicted value</a:t>
            </a:r>
          </a:p>
          <a:p>
            <a:pPr eaLnBrk="1" hangingPunct="1"/>
            <a:r>
              <a:rPr lang="en-US" altLang="en-US" sz="2000" b="1" smtClean="0"/>
              <a:t>Analysis of variance</a:t>
            </a:r>
          </a:p>
          <a:p>
            <a:pPr lvl="1" eaLnBrk="1" hangingPunct="1">
              <a:lnSpc>
                <a:spcPct val="110000"/>
              </a:lnSpc>
            </a:pPr>
            <a:r>
              <a:rPr lang="en-US" altLang="en-US" sz="2000" smtClean="0"/>
              <a:t>Analyze experimental data for two or more populations described by a numeric response variable and one or more categorical variables (factors)</a:t>
            </a:r>
          </a:p>
        </p:txBody>
      </p:sp>
      <p:pic>
        <p:nvPicPr>
          <p:cNvPr id="26629" name="Picture 4" descr="img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295400"/>
            <a:ext cx="35814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5" descr="Imag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038600"/>
            <a:ext cx="36195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newsfla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6A82737-985D-4023-9D89-58DD728C7B0A}" type="slidenum">
              <a:rPr lang="en-US" altLang="en-US" sz="1200"/>
              <a:pPr>
                <a:spcBef>
                  <a:spcPct val="0"/>
                </a:spcBef>
                <a:buClrTx/>
                <a:buSzTx/>
                <a:buFontTx/>
                <a:buNone/>
              </a:pPr>
              <a:t>14</a:t>
            </a:fld>
            <a:endParaRPr lang="en-US" altLang="en-US" sz="1200"/>
          </a:p>
        </p:txBody>
      </p:sp>
      <p:sp>
        <p:nvSpPr>
          <p:cNvPr id="28675" name="Rectangle 2"/>
          <p:cNvSpPr>
            <a:spLocks noGrp="1" noChangeArrowheads="1"/>
          </p:cNvSpPr>
          <p:nvPr>
            <p:ph type="title"/>
          </p:nvPr>
        </p:nvSpPr>
        <p:spPr>
          <a:xfrm>
            <a:off x="152400" y="304800"/>
            <a:ext cx="8783638" cy="609600"/>
          </a:xfrm>
        </p:spPr>
        <p:txBody>
          <a:bodyPr/>
          <a:lstStyle/>
          <a:p>
            <a:pPr eaLnBrk="1" hangingPunct="1"/>
            <a:r>
              <a:rPr lang="en-US" altLang="en-US" sz="3200" smtClean="0"/>
              <a:t>Statistical Data Mining (4)</a:t>
            </a:r>
          </a:p>
        </p:txBody>
      </p:sp>
      <p:sp>
        <p:nvSpPr>
          <p:cNvPr id="28676" name="Rectangle 3"/>
          <p:cNvSpPr>
            <a:spLocks noGrp="1" noChangeArrowheads="1"/>
          </p:cNvSpPr>
          <p:nvPr>
            <p:ph type="body" idx="1"/>
          </p:nvPr>
        </p:nvSpPr>
        <p:spPr>
          <a:xfrm>
            <a:off x="152400" y="1371600"/>
            <a:ext cx="5029200" cy="4953000"/>
          </a:xfrm>
        </p:spPr>
        <p:txBody>
          <a:bodyPr/>
          <a:lstStyle/>
          <a:p>
            <a:pPr eaLnBrk="1" hangingPunct="1">
              <a:lnSpc>
                <a:spcPct val="90000"/>
              </a:lnSpc>
            </a:pPr>
            <a:r>
              <a:rPr lang="en-US" altLang="en-US" sz="2000" b="1" smtClean="0"/>
              <a:t>Factor analysis</a:t>
            </a:r>
          </a:p>
          <a:p>
            <a:pPr lvl="1" eaLnBrk="1" hangingPunct="1">
              <a:lnSpc>
                <a:spcPct val="90000"/>
              </a:lnSpc>
            </a:pPr>
            <a:r>
              <a:rPr lang="en-US" altLang="en-US" sz="2000" smtClean="0"/>
              <a:t>determine which variables are combined to generate a given factor</a:t>
            </a:r>
          </a:p>
          <a:p>
            <a:pPr lvl="1" eaLnBrk="1" hangingPunct="1">
              <a:lnSpc>
                <a:spcPct val="90000"/>
              </a:lnSpc>
            </a:pPr>
            <a:r>
              <a:rPr lang="en-US" altLang="en-US" sz="2000" smtClean="0"/>
              <a:t>e.g., for many psychiatric data, one can indirectly measure other quantities (such as test scores) that reflect the factor of interest</a:t>
            </a:r>
          </a:p>
          <a:p>
            <a:pPr eaLnBrk="1" hangingPunct="1">
              <a:lnSpc>
                <a:spcPct val="90000"/>
              </a:lnSpc>
            </a:pPr>
            <a:r>
              <a:rPr lang="en-US" altLang="en-US" sz="2000" b="1" smtClean="0"/>
              <a:t>Discriminant analysis</a:t>
            </a:r>
          </a:p>
          <a:p>
            <a:pPr lvl="1" eaLnBrk="1" hangingPunct="1">
              <a:lnSpc>
                <a:spcPct val="90000"/>
              </a:lnSpc>
            </a:pPr>
            <a:r>
              <a:rPr lang="en-US" altLang="en-US" sz="2000" smtClean="0"/>
              <a:t>predict a categorical response variable, commonly used in social science</a:t>
            </a:r>
          </a:p>
          <a:p>
            <a:pPr lvl="1" eaLnBrk="1" hangingPunct="1">
              <a:lnSpc>
                <a:spcPct val="90000"/>
              </a:lnSpc>
            </a:pPr>
            <a:r>
              <a:rPr lang="en-US" altLang="en-US" sz="2000" smtClean="0"/>
              <a:t>Attempts to determine several discriminant functions (linear combinations of the independent variables) that discriminate among the groups defined by the response variable</a:t>
            </a:r>
          </a:p>
        </p:txBody>
      </p:sp>
      <p:pic>
        <p:nvPicPr>
          <p:cNvPr id="28677" name="Picture 4" descr="discri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7013" y="3810000"/>
            <a:ext cx="3733800"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5" descr="fac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7013" y="1295400"/>
            <a:ext cx="37338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Rectangle 6"/>
          <p:cNvSpPr>
            <a:spLocks noChangeArrowheads="1"/>
          </p:cNvSpPr>
          <p:nvPr/>
        </p:nvSpPr>
        <p:spPr bwMode="auto">
          <a:xfrm>
            <a:off x="5300663" y="6248400"/>
            <a:ext cx="38433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000">
                <a:latin typeface="Times New Roman" panose="02020603050405020304" pitchFamily="18" charset="0"/>
                <a:hlinkClick r:id="rId4"/>
              </a:rPr>
              <a:t>www.spss.com/datamine/factor.htm</a:t>
            </a:r>
            <a:endParaRPr lang="en-US" altLang="en-US" sz="2000">
              <a:latin typeface="Times New Roman" panose="02020603050405020304" pitchFamily="18" charset="0"/>
            </a:endParaRPr>
          </a:p>
        </p:txBody>
      </p:sp>
    </p:spTree>
  </p:cSld>
  <p:clrMapOvr>
    <a:masterClrMapping/>
  </p:clrMapOvr>
  <p:transition>
    <p:newsfla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8A5CFB96-5E9F-4A9E-925A-71E9D2D34927}" type="slidenum">
              <a:rPr lang="en-US" altLang="en-US" sz="1200"/>
              <a:pPr>
                <a:spcBef>
                  <a:spcPct val="0"/>
                </a:spcBef>
                <a:buClrTx/>
                <a:buSzTx/>
                <a:buFontTx/>
                <a:buNone/>
              </a:pPr>
              <a:t>15</a:t>
            </a:fld>
            <a:endParaRPr lang="en-US" altLang="en-US" sz="1200"/>
          </a:p>
        </p:txBody>
      </p:sp>
      <p:sp>
        <p:nvSpPr>
          <p:cNvPr id="29699" name="Rectangle 2"/>
          <p:cNvSpPr>
            <a:spLocks noGrp="1" noChangeArrowheads="1"/>
          </p:cNvSpPr>
          <p:nvPr>
            <p:ph type="title"/>
          </p:nvPr>
        </p:nvSpPr>
        <p:spPr/>
        <p:txBody>
          <a:bodyPr/>
          <a:lstStyle/>
          <a:p>
            <a:pPr eaLnBrk="1" hangingPunct="1"/>
            <a:r>
              <a:rPr lang="en-US" altLang="en-US" sz="3200" smtClean="0"/>
              <a:t>Statistical Data Mining (5)</a:t>
            </a:r>
          </a:p>
        </p:txBody>
      </p:sp>
      <p:sp>
        <p:nvSpPr>
          <p:cNvPr id="29700" name="Rectangle 3"/>
          <p:cNvSpPr>
            <a:spLocks noGrp="1" noChangeArrowheads="1"/>
          </p:cNvSpPr>
          <p:nvPr>
            <p:ph type="body" idx="1"/>
          </p:nvPr>
        </p:nvSpPr>
        <p:spPr>
          <a:xfrm>
            <a:off x="457200" y="1371600"/>
            <a:ext cx="8305800" cy="1828800"/>
          </a:xfrm>
        </p:spPr>
        <p:txBody>
          <a:bodyPr/>
          <a:lstStyle/>
          <a:p>
            <a:pPr eaLnBrk="1" hangingPunct="1">
              <a:lnSpc>
                <a:spcPct val="110000"/>
              </a:lnSpc>
            </a:pPr>
            <a:r>
              <a:rPr lang="en-US" altLang="en-US" sz="2400" b="1" smtClean="0"/>
              <a:t>Time series</a:t>
            </a:r>
            <a:r>
              <a:rPr lang="en-US" altLang="en-US" sz="2400" smtClean="0"/>
              <a:t>: many methods such as autoregression, ARIMA (Autoregressive integrated moving-average modeling), long memory time-series modeling</a:t>
            </a:r>
          </a:p>
          <a:p>
            <a:pPr eaLnBrk="1" hangingPunct="1">
              <a:lnSpc>
                <a:spcPct val="110000"/>
              </a:lnSpc>
            </a:pPr>
            <a:r>
              <a:rPr lang="en-US" altLang="en-US" sz="2400" b="1" smtClean="0"/>
              <a:t>Quality control: </a:t>
            </a:r>
            <a:r>
              <a:rPr lang="en-US" altLang="en-US" sz="2400" smtClean="0"/>
              <a:t>displays group summary charts</a:t>
            </a:r>
          </a:p>
          <a:p>
            <a:pPr eaLnBrk="1" hangingPunct="1"/>
            <a:endParaRPr lang="en-US" altLang="en-US" smtClean="0"/>
          </a:p>
        </p:txBody>
      </p:sp>
      <p:sp>
        <p:nvSpPr>
          <p:cNvPr id="1102852" name="Rectangle 4"/>
          <p:cNvSpPr>
            <a:spLocks noChangeArrowheads="1"/>
          </p:cNvSpPr>
          <p:nvPr/>
        </p:nvSpPr>
        <p:spPr bwMode="auto">
          <a:xfrm>
            <a:off x="0" y="3411538"/>
            <a:ext cx="4267200"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1" hangingPunct="1">
              <a:spcBef>
                <a:spcPts val="300"/>
              </a:spcBef>
              <a:spcAft>
                <a:spcPts val="600"/>
              </a:spcAft>
              <a:buClr>
                <a:schemeClr val="folHlink"/>
              </a:buClr>
              <a:buSzPct val="60000"/>
              <a:buFont typeface="Wingdings" pitchFamily="2" charset="2"/>
              <a:buChar char="n"/>
              <a:defRPr/>
            </a:pPr>
            <a:r>
              <a:rPr lang="en-US" b="1" dirty="0"/>
              <a:t>  Survival analysis</a:t>
            </a:r>
          </a:p>
          <a:p>
            <a:pPr marL="914400" lvl="1" indent="-342900" eaLnBrk="1" hangingPunct="1">
              <a:spcBef>
                <a:spcPts val="300"/>
              </a:spcBef>
              <a:spcAft>
                <a:spcPts val="600"/>
              </a:spcAft>
              <a:buClr>
                <a:schemeClr val="hlink"/>
              </a:buClr>
              <a:buSzPct val="55000"/>
              <a:buFont typeface="Wingdings" pitchFamily="2" charset="2"/>
              <a:buChar char="q"/>
              <a:defRPr/>
            </a:pPr>
            <a:r>
              <a:rPr lang="en-US" dirty="0"/>
              <a:t>Predicts the probability that a patient undergoing a medical treatment would survive at least to time </a:t>
            </a:r>
            <a:r>
              <a:rPr lang="en-US" i="1" dirty="0"/>
              <a:t>t </a:t>
            </a:r>
            <a:r>
              <a:rPr lang="en-US" dirty="0"/>
              <a:t>(life span prediction)</a:t>
            </a:r>
          </a:p>
        </p:txBody>
      </p:sp>
      <p:pic>
        <p:nvPicPr>
          <p:cNvPr id="29702" name="Picture 5" descr="surviv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276600"/>
            <a:ext cx="48768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newsfla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39EAF2A-1324-41E9-AAF8-9B08CB8373D0}" type="slidenum">
              <a:rPr lang="en-US" altLang="en-US" sz="1200"/>
              <a:pPr>
                <a:spcBef>
                  <a:spcPct val="0"/>
                </a:spcBef>
                <a:buClrTx/>
                <a:buSzTx/>
                <a:buFontTx/>
                <a:buNone/>
              </a:pPr>
              <a:t>16</a:t>
            </a:fld>
            <a:endParaRPr lang="en-US" altLang="en-US" sz="1200"/>
          </a:p>
        </p:txBody>
      </p:sp>
      <p:sp>
        <p:nvSpPr>
          <p:cNvPr id="30723"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lnSpc>
                <a:spcPct val="120000"/>
              </a:lnSpc>
              <a:spcBef>
                <a:spcPct val="40000"/>
              </a:spcBef>
            </a:pPr>
            <a:r>
              <a:rPr lang="en-US" altLang="en-US" smtClean="0"/>
              <a:t>Other Methodologies of Data Mining</a:t>
            </a:r>
          </a:p>
        </p:txBody>
      </p:sp>
      <p:sp>
        <p:nvSpPr>
          <p:cNvPr id="30724"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Statistical Data Mining </a:t>
            </a:r>
          </a:p>
          <a:p>
            <a:pPr eaLnBrk="1" hangingPunct="1">
              <a:lnSpc>
                <a:spcPct val="120000"/>
              </a:lnSpc>
              <a:spcBef>
                <a:spcPct val="40000"/>
              </a:spcBef>
            </a:pPr>
            <a:r>
              <a:rPr lang="en-US" altLang="en-US" sz="3200" smtClean="0"/>
              <a:t>Views on Data Mining Foundations</a:t>
            </a:r>
          </a:p>
          <a:p>
            <a:pPr eaLnBrk="1" hangingPunct="1">
              <a:lnSpc>
                <a:spcPct val="120000"/>
              </a:lnSpc>
              <a:spcBef>
                <a:spcPct val="40000"/>
              </a:spcBef>
            </a:pPr>
            <a:r>
              <a:rPr lang="en-US" altLang="en-US" sz="3200" smtClean="0"/>
              <a:t>Visual and Audio Data Mining  </a:t>
            </a:r>
          </a:p>
        </p:txBody>
      </p:sp>
      <p:sp>
        <p:nvSpPr>
          <p:cNvPr id="2" name="Striped Right Arrow 1"/>
          <p:cNvSpPr/>
          <p:nvPr/>
        </p:nvSpPr>
        <p:spPr bwMode="auto">
          <a:xfrm rot="8649741">
            <a:off x="7315200" y="2359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0BFDBC2-E49A-431F-8014-AB2667AC5821}" type="slidenum">
              <a:rPr lang="en-US" altLang="en-US" sz="1200"/>
              <a:pPr>
                <a:spcBef>
                  <a:spcPct val="0"/>
                </a:spcBef>
                <a:buClrTx/>
                <a:buSzTx/>
                <a:buFontTx/>
                <a:buNone/>
              </a:pPr>
              <a:t>17</a:t>
            </a:fld>
            <a:endParaRPr lang="en-US" altLang="en-US" sz="1200"/>
          </a:p>
        </p:txBody>
      </p:sp>
      <p:sp>
        <p:nvSpPr>
          <p:cNvPr id="31747" name="Rectangle 2"/>
          <p:cNvSpPr>
            <a:spLocks noGrp="1" noChangeArrowheads="1"/>
          </p:cNvSpPr>
          <p:nvPr>
            <p:ph type="title"/>
          </p:nvPr>
        </p:nvSpPr>
        <p:spPr/>
        <p:txBody>
          <a:bodyPr/>
          <a:lstStyle/>
          <a:p>
            <a:pPr eaLnBrk="1" hangingPunct="1">
              <a:lnSpc>
                <a:spcPct val="120000"/>
              </a:lnSpc>
              <a:spcBef>
                <a:spcPct val="40000"/>
              </a:spcBef>
            </a:pPr>
            <a:r>
              <a:rPr lang="en-US" altLang="en-US" sz="3200" smtClean="0"/>
              <a:t>Views on Data Mining Foundations (I)</a:t>
            </a:r>
          </a:p>
        </p:txBody>
      </p:sp>
      <p:sp>
        <p:nvSpPr>
          <p:cNvPr id="31748" name="Rectangle 3"/>
          <p:cNvSpPr>
            <a:spLocks noGrp="1" noChangeArrowheads="1"/>
          </p:cNvSpPr>
          <p:nvPr>
            <p:ph type="body" idx="1"/>
          </p:nvPr>
        </p:nvSpPr>
        <p:spPr>
          <a:xfrm>
            <a:off x="381000" y="1447800"/>
            <a:ext cx="8458200" cy="5029200"/>
          </a:xfrm>
        </p:spPr>
        <p:txBody>
          <a:bodyPr/>
          <a:lstStyle/>
          <a:p>
            <a:pPr eaLnBrk="1" hangingPunct="1">
              <a:spcBef>
                <a:spcPts val="600"/>
              </a:spcBef>
              <a:spcAft>
                <a:spcPts val="600"/>
              </a:spcAft>
            </a:pPr>
            <a:r>
              <a:rPr lang="en-US" altLang="en-US" sz="2400" smtClean="0"/>
              <a:t>Data reduction</a:t>
            </a:r>
          </a:p>
          <a:p>
            <a:pPr lvl="1" eaLnBrk="1" hangingPunct="1">
              <a:spcBef>
                <a:spcPts val="600"/>
              </a:spcBef>
              <a:spcAft>
                <a:spcPts val="600"/>
              </a:spcAft>
            </a:pPr>
            <a:r>
              <a:rPr lang="en-US" altLang="en-US" sz="2400" smtClean="0"/>
              <a:t>Basis of data mining: Reduce data representation</a:t>
            </a:r>
          </a:p>
          <a:p>
            <a:pPr lvl="1" eaLnBrk="1" hangingPunct="1">
              <a:spcBef>
                <a:spcPts val="600"/>
              </a:spcBef>
              <a:spcAft>
                <a:spcPts val="600"/>
              </a:spcAft>
            </a:pPr>
            <a:r>
              <a:rPr lang="en-US" altLang="en-US" sz="2400" smtClean="0"/>
              <a:t>Trades accuracy for speed in response </a:t>
            </a:r>
          </a:p>
          <a:p>
            <a:pPr eaLnBrk="1" hangingPunct="1">
              <a:spcBef>
                <a:spcPts val="600"/>
              </a:spcBef>
              <a:spcAft>
                <a:spcPts val="600"/>
              </a:spcAft>
            </a:pPr>
            <a:r>
              <a:rPr lang="en-US" altLang="en-US" sz="2400" smtClean="0"/>
              <a:t>Data compression</a:t>
            </a:r>
          </a:p>
          <a:p>
            <a:pPr lvl="1" eaLnBrk="1" hangingPunct="1">
              <a:spcBef>
                <a:spcPts val="600"/>
              </a:spcBef>
              <a:spcAft>
                <a:spcPts val="600"/>
              </a:spcAft>
            </a:pPr>
            <a:r>
              <a:rPr lang="en-US" altLang="en-US" sz="2400" smtClean="0"/>
              <a:t>Basis of data mining: Compress the given data by encoding in terms of bits, association rules, decision trees, clusters, etc.</a:t>
            </a:r>
          </a:p>
          <a:p>
            <a:pPr eaLnBrk="1" hangingPunct="1">
              <a:spcBef>
                <a:spcPts val="600"/>
              </a:spcBef>
              <a:spcAft>
                <a:spcPts val="300"/>
              </a:spcAft>
            </a:pPr>
            <a:r>
              <a:rPr lang="en-US" altLang="en-US" sz="2400" smtClean="0"/>
              <a:t>Probability and statistical theory</a:t>
            </a:r>
          </a:p>
          <a:p>
            <a:pPr lvl="1" eaLnBrk="1" hangingPunct="1">
              <a:spcBef>
                <a:spcPts val="600"/>
              </a:spcBef>
              <a:spcAft>
                <a:spcPts val="300"/>
              </a:spcAft>
            </a:pPr>
            <a:r>
              <a:rPr lang="en-US" altLang="en-US" sz="2400" smtClean="0"/>
              <a:t>Basis of data mining: Discover joint probability distributions of random variables</a:t>
            </a:r>
          </a:p>
        </p:txBody>
      </p:sp>
    </p:spTree>
  </p:cSld>
  <p:clrMapOvr>
    <a:masterClrMapping/>
  </p:clrMapOvr>
  <p:transition>
    <p:newsfla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1E82F11-61E4-402A-A1C8-5037B52F7EB6}" type="slidenum">
              <a:rPr lang="en-US" altLang="en-US" sz="1200"/>
              <a:pPr>
                <a:spcBef>
                  <a:spcPct val="0"/>
                </a:spcBef>
                <a:buClrTx/>
                <a:buSzTx/>
                <a:buFontTx/>
                <a:buNone/>
              </a:pPr>
              <a:t>18</a:t>
            </a:fld>
            <a:endParaRPr lang="en-US" altLang="en-US" sz="1200"/>
          </a:p>
        </p:txBody>
      </p:sp>
      <p:sp>
        <p:nvSpPr>
          <p:cNvPr id="32771" name="Rectangle 3"/>
          <p:cNvSpPr>
            <a:spLocks noGrp="1" noChangeArrowheads="1"/>
          </p:cNvSpPr>
          <p:nvPr>
            <p:ph type="body" idx="1"/>
          </p:nvPr>
        </p:nvSpPr>
        <p:spPr>
          <a:xfrm>
            <a:off x="304800" y="1371600"/>
            <a:ext cx="8534400" cy="5181600"/>
          </a:xfrm>
        </p:spPr>
        <p:txBody>
          <a:bodyPr/>
          <a:lstStyle/>
          <a:p>
            <a:pPr eaLnBrk="1" hangingPunct="1">
              <a:spcBef>
                <a:spcPts val="600"/>
              </a:spcBef>
              <a:spcAft>
                <a:spcPts val="300"/>
              </a:spcAft>
            </a:pPr>
            <a:r>
              <a:rPr lang="en-US" altLang="en-US" sz="2000" smtClean="0"/>
              <a:t>Microeconomic view</a:t>
            </a:r>
          </a:p>
          <a:p>
            <a:pPr lvl="1" eaLnBrk="1" hangingPunct="1">
              <a:spcBef>
                <a:spcPts val="600"/>
              </a:spcBef>
              <a:spcAft>
                <a:spcPts val="300"/>
              </a:spcAft>
            </a:pPr>
            <a:r>
              <a:rPr lang="en-US" altLang="en-US" sz="2000" smtClean="0"/>
              <a:t>A view of utility: Finding patterns that are interesting only to the extent in that they can be used in the decision-making process of some enterprise</a:t>
            </a:r>
          </a:p>
          <a:p>
            <a:pPr eaLnBrk="1" hangingPunct="1">
              <a:spcBef>
                <a:spcPts val="600"/>
              </a:spcBef>
              <a:spcAft>
                <a:spcPts val="300"/>
              </a:spcAft>
            </a:pPr>
            <a:r>
              <a:rPr lang="en-US" altLang="en-US" sz="2000" smtClean="0"/>
              <a:t>Pattern Discovery and Inductive databases</a:t>
            </a:r>
          </a:p>
          <a:p>
            <a:pPr lvl="1" eaLnBrk="1" hangingPunct="1">
              <a:spcBef>
                <a:spcPts val="600"/>
              </a:spcBef>
              <a:spcAft>
                <a:spcPts val="600"/>
              </a:spcAft>
            </a:pPr>
            <a:r>
              <a:rPr lang="en-US" altLang="en-US" sz="2000" smtClean="0"/>
              <a:t>Basis of data mining: Discover patterns occurring in the database, such as associations, classification models, sequential patterns, etc.</a:t>
            </a:r>
          </a:p>
          <a:p>
            <a:pPr lvl="1" eaLnBrk="1" hangingPunct="1">
              <a:spcBef>
                <a:spcPts val="600"/>
              </a:spcBef>
              <a:spcAft>
                <a:spcPts val="300"/>
              </a:spcAft>
            </a:pPr>
            <a:r>
              <a:rPr lang="en-US" altLang="en-US" sz="2000" smtClean="0"/>
              <a:t>Data mining is the problem of performing inductive logic on databases</a:t>
            </a:r>
          </a:p>
          <a:p>
            <a:pPr lvl="1" eaLnBrk="1" hangingPunct="1">
              <a:spcBef>
                <a:spcPts val="600"/>
              </a:spcBef>
              <a:spcAft>
                <a:spcPts val="300"/>
              </a:spcAft>
            </a:pPr>
            <a:r>
              <a:rPr lang="en-US" altLang="en-US" sz="2000" smtClean="0"/>
              <a:t>The task is to query the data and the theory (i.e., patterns) of the database</a:t>
            </a:r>
          </a:p>
          <a:p>
            <a:pPr lvl="1" eaLnBrk="1" hangingPunct="1">
              <a:spcBef>
                <a:spcPts val="600"/>
              </a:spcBef>
              <a:spcAft>
                <a:spcPts val="300"/>
              </a:spcAft>
            </a:pPr>
            <a:r>
              <a:rPr lang="en-US" altLang="en-US" sz="2000" smtClean="0"/>
              <a:t>Popular among many researchers in database systems</a:t>
            </a:r>
          </a:p>
        </p:txBody>
      </p:sp>
      <p:sp>
        <p:nvSpPr>
          <p:cNvPr id="32772" name="Rectangle 2"/>
          <p:cNvSpPr txBox="1">
            <a:spLocks noChangeArrowheads="1"/>
          </p:cNvSpPr>
          <p:nvPr/>
        </p:nvSpPr>
        <p:spPr bwMode="auto">
          <a:xfrm>
            <a:off x="0" y="381000"/>
            <a:ext cx="9144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lnSpc>
                <a:spcPct val="120000"/>
              </a:lnSpc>
              <a:spcBef>
                <a:spcPct val="40000"/>
              </a:spcBef>
              <a:buClrTx/>
              <a:buSzTx/>
              <a:buFontTx/>
              <a:buNone/>
            </a:pPr>
            <a:r>
              <a:rPr lang="en-US" altLang="en-US" sz="3200" b="1">
                <a:solidFill>
                  <a:schemeClr val="tx2"/>
                </a:solidFill>
              </a:rPr>
              <a:t>Views on Data Mining Foundations (II)</a:t>
            </a:r>
          </a:p>
        </p:txBody>
      </p:sp>
    </p:spTree>
  </p:cSld>
  <p:clrMapOvr>
    <a:masterClrMapping/>
  </p:clrMapOvr>
  <p:transition>
    <p:newsfla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BFD42FE-3CC9-41CF-8838-DF8A50F8387A}" type="slidenum">
              <a:rPr lang="en-US" altLang="en-US" sz="1200"/>
              <a:pPr>
                <a:spcBef>
                  <a:spcPct val="0"/>
                </a:spcBef>
                <a:buClrTx/>
                <a:buSzTx/>
                <a:buFontTx/>
                <a:buNone/>
              </a:pPr>
              <a:t>19</a:t>
            </a:fld>
            <a:endParaRPr lang="en-US" altLang="en-US" sz="1200"/>
          </a:p>
        </p:txBody>
      </p:sp>
      <p:sp>
        <p:nvSpPr>
          <p:cNvPr id="33795"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lnSpc>
                <a:spcPct val="120000"/>
              </a:lnSpc>
              <a:spcBef>
                <a:spcPct val="40000"/>
              </a:spcBef>
            </a:pPr>
            <a:r>
              <a:rPr lang="en-US" altLang="en-US" smtClean="0"/>
              <a:t>Other Methodologies of Data Mining</a:t>
            </a:r>
          </a:p>
        </p:txBody>
      </p:sp>
      <p:sp>
        <p:nvSpPr>
          <p:cNvPr id="33796"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Statistical Data Mining </a:t>
            </a:r>
          </a:p>
          <a:p>
            <a:pPr eaLnBrk="1" hangingPunct="1">
              <a:lnSpc>
                <a:spcPct val="120000"/>
              </a:lnSpc>
              <a:spcBef>
                <a:spcPct val="40000"/>
              </a:spcBef>
            </a:pPr>
            <a:r>
              <a:rPr lang="en-US" altLang="en-US" sz="3200" smtClean="0"/>
              <a:t>Views on Data Mining Foundations</a:t>
            </a:r>
          </a:p>
          <a:p>
            <a:pPr eaLnBrk="1" hangingPunct="1">
              <a:lnSpc>
                <a:spcPct val="120000"/>
              </a:lnSpc>
              <a:spcBef>
                <a:spcPct val="40000"/>
              </a:spcBef>
            </a:pPr>
            <a:r>
              <a:rPr lang="en-US" altLang="en-US" sz="3200" smtClean="0"/>
              <a:t>Visual and Audio Data Mining  </a:t>
            </a:r>
          </a:p>
        </p:txBody>
      </p:sp>
      <p:sp>
        <p:nvSpPr>
          <p:cNvPr id="2" name="Striped Right Arrow 1"/>
          <p:cNvSpPr/>
          <p:nvPr/>
        </p:nvSpPr>
        <p:spPr bwMode="auto">
          <a:xfrm rot="8649741">
            <a:off x="6400800" y="3121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6FD379A-D913-49B9-AD9E-A8F366E255DF}" type="slidenum">
              <a:rPr lang="en-US" altLang="en-US" sz="1200"/>
              <a:pPr>
                <a:spcBef>
                  <a:spcPct val="0"/>
                </a:spcBef>
                <a:buClrTx/>
                <a:buSzTx/>
                <a:buFontTx/>
                <a:buNone/>
              </a:pPr>
              <a:t>20</a:t>
            </a:fld>
            <a:endParaRPr lang="en-US" altLang="en-US" sz="1200"/>
          </a:p>
        </p:txBody>
      </p:sp>
      <p:sp>
        <p:nvSpPr>
          <p:cNvPr id="34819" name="Rectangle 2"/>
          <p:cNvSpPr>
            <a:spLocks noGrp="1" noChangeArrowheads="1"/>
          </p:cNvSpPr>
          <p:nvPr>
            <p:ph type="title"/>
          </p:nvPr>
        </p:nvSpPr>
        <p:spPr>
          <a:xfrm>
            <a:off x="1524000" y="381000"/>
            <a:ext cx="5943600" cy="609600"/>
          </a:xfrm>
        </p:spPr>
        <p:txBody>
          <a:bodyPr/>
          <a:lstStyle/>
          <a:p>
            <a:pPr eaLnBrk="1" hangingPunct="1"/>
            <a:r>
              <a:rPr lang="en-US" altLang="en-US" smtClean="0"/>
              <a:t>Visual Data Mining</a:t>
            </a:r>
          </a:p>
        </p:txBody>
      </p:sp>
      <p:sp>
        <p:nvSpPr>
          <p:cNvPr id="34820" name="Rectangle 3"/>
          <p:cNvSpPr>
            <a:spLocks noGrp="1" noChangeArrowheads="1"/>
          </p:cNvSpPr>
          <p:nvPr>
            <p:ph type="body" idx="1"/>
          </p:nvPr>
        </p:nvSpPr>
        <p:spPr>
          <a:xfrm>
            <a:off x="304800" y="1295400"/>
            <a:ext cx="8610600" cy="2362200"/>
          </a:xfrm>
        </p:spPr>
        <p:txBody>
          <a:bodyPr/>
          <a:lstStyle/>
          <a:p>
            <a:pPr eaLnBrk="1" hangingPunct="1"/>
            <a:r>
              <a:rPr lang="en-US" altLang="en-US" sz="2400" smtClean="0">
                <a:solidFill>
                  <a:schemeClr val="hlink"/>
                </a:solidFill>
              </a:rPr>
              <a:t>Visualization</a:t>
            </a:r>
            <a:r>
              <a:rPr lang="en-US" altLang="en-US" sz="2400" smtClean="0"/>
              <a:t>: Use of computer graphics to create visual images which aid in the understanding of complex, often massive representations of data</a:t>
            </a:r>
          </a:p>
          <a:p>
            <a:pPr eaLnBrk="1" hangingPunct="1"/>
            <a:r>
              <a:rPr lang="en-US" altLang="en-US" sz="2400" smtClean="0">
                <a:solidFill>
                  <a:schemeClr val="hlink"/>
                </a:solidFill>
              </a:rPr>
              <a:t>Visual Data Mining</a:t>
            </a:r>
            <a:r>
              <a:rPr lang="en-US" altLang="en-US" sz="2400" smtClean="0"/>
              <a:t>: discovering implicit but useful knowledge from large data sets using visualization techniques</a:t>
            </a:r>
          </a:p>
        </p:txBody>
      </p:sp>
      <p:sp>
        <p:nvSpPr>
          <p:cNvPr id="34821" name="Text Box 4"/>
          <p:cNvSpPr txBox="1">
            <a:spLocks noChangeArrowheads="1"/>
          </p:cNvSpPr>
          <p:nvPr/>
        </p:nvSpPr>
        <p:spPr bwMode="auto">
          <a:xfrm>
            <a:off x="990600" y="3886200"/>
            <a:ext cx="1600200" cy="831850"/>
          </a:xfrm>
          <a:prstGeom prst="rect">
            <a:avLst/>
          </a:prstGeom>
          <a:solidFill>
            <a:srgbClr val="FFFF99">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t>Computer Graphics</a:t>
            </a:r>
          </a:p>
        </p:txBody>
      </p:sp>
      <p:sp>
        <p:nvSpPr>
          <p:cNvPr id="34822" name="Text Box 5"/>
          <p:cNvSpPr txBox="1">
            <a:spLocks noChangeArrowheads="1"/>
          </p:cNvSpPr>
          <p:nvPr/>
        </p:nvSpPr>
        <p:spPr bwMode="auto">
          <a:xfrm>
            <a:off x="914400" y="5257800"/>
            <a:ext cx="2133600" cy="1196975"/>
          </a:xfrm>
          <a:prstGeom prst="rect">
            <a:avLst/>
          </a:prstGeom>
          <a:solidFill>
            <a:srgbClr val="FFFF99">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t>High Performance Computing</a:t>
            </a:r>
          </a:p>
        </p:txBody>
      </p:sp>
      <p:sp>
        <p:nvSpPr>
          <p:cNvPr id="34823" name="Text Box 6"/>
          <p:cNvSpPr txBox="1">
            <a:spLocks noChangeArrowheads="1"/>
          </p:cNvSpPr>
          <p:nvPr/>
        </p:nvSpPr>
        <p:spPr bwMode="auto">
          <a:xfrm>
            <a:off x="6096000" y="5440363"/>
            <a:ext cx="1752600" cy="831850"/>
          </a:xfrm>
          <a:prstGeom prst="rect">
            <a:avLst/>
          </a:prstGeom>
          <a:solidFill>
            <a:srgbClr val="FFFF99">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t>Pattern Recognition</a:t>
            </a:r>
          </a:p>
        </p:txBody>
      </p:sp>
      <p:sp>
        <p:nvSpPr>
          <p:cNvPr id="34824" name="Text Box 7"/>
          <p:cNvSpPr txBox="1">
            <a:spLocks noChangeArrowheads="1"/>
          </p:cNvSpPr>
          <p:nvPr/>
        </p:nvSpPr>
        <p:spPr bwMode="auto">
          <a:xfrm>
            <a:off x="6096000" y="3759200"/>
            <a:ext cx="1600200" cy="1201738"/>
          </a:xfrm>
          <a:prstGeom prst="rect">
            <a:avLst/>
          </a:prstGeom>
          <a:solidFill>
            <a:srgbClr val="FFFF99">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t>Human Computer Interfaces</a:t>
            </a:r>
          </a:p>
        </p:txBody>
      </p:sp>
      <p:sp>
        <p:nvSpPr>
          <p:cNvPr id="34825" name="Text Box 8"/>
          <p:cNvSpPr txBox="1">
            <a:spLocks noChangeArrowheads="1"/>
          </p:cNvSpPr>
          <p:nvPr/>
        </p:nvSpPr>
        <p:spPr bwMode="auto">
          <a:xfrm>
            <a:off x="3429000" y="3597275"/>
            <a:ext cx="1828800" cy="831850"/>
          </a:xfrm>
          <a:prstGeom prst="rect">
            <a:avLst/>
          </a:prstGeom>
          <a:solidFill>
            <a:srgbClr val="FFFF99">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a:t>Multimedia Systems</a:t>
            </a:r>
          </a:p>
        </p:txBody>
      </p:sp>
      <p:sp>
        <p:nvSpPr>
          <p:cNvPr id="34826" name="Text Box 6"/>
          <p:cNvSpPr txBox="1">
            <a:spLocks noChangeArrowheads="1"/>
          </p:cNvSpPr>
          <p:nvPr/>
        </p:nvSpPr>
        <p:spPr bwMode="auto">
          <a:xfrm>
            <a:off x="3429000" y="4841875"/>
            <a:ext cx="1981200" cy="831850"/>
          </a:xfrm>
          <a:prstGeom prst="rect">
            <a:avLst/>
          </a:prstGeom>
          <a:solidFill>
            <a:srgbClr val="00B050">
              <a:alpha val="50195"/>
            </a:srgbClr>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b="1">
                <a:latin typeface="Rockwell" pitchFamily="18" charset="0"/>
              </a:rPr>
              <a:t>Visual Data Mining</a:t>
            </a:r>
          </a:p>
        </p:txBody>
      </p:sp>
      <p:sp>
        <p:nvSpPr>
          <p:cNvPr id="2" name="Striped Right Arrow 1"/>
          <p:cNvSpPr/>
          <p:nvPr/>
        </p:nvSpPr>
        <p:spPr bwMode="auto">
          <a:xfrm rot="1474086">
            <a:off x="2743200" y="4572000"/>
            <a:ext cx="533400" cy="358775"/>
          </a:xfrm>
          <a:prstGeom prst="striped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defRPr/>
            </a:pPr>
            <a:endParaRPr lang="en-US"/>
          </a:p>
        </p:txBody>
      </p:sp>
      <p:sp>
        <p:nvSpPr>
          <p:cNvPr id="14" name="Striped Right Arrow 13"/>
          <p:cNvSpPr/>
          <p:nvPr/>
        </p:nvSpPr>
        <p:spPr bwMode="auto">
          <a:xfrm rot="19862149">
            <a:off x="3117850" y="5260975"/>
            <a:ext cx="266700" cy="358775"/>
          </a:xfrm>
          <a:prstGeom prst="striped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defRPr/>
            </a:pPr>
            <a:endParaRPr lang="en-US"/>
          </a:p>
        </p:txBody>
      </p:sp>
      <p:sp>
        <p:nvSpPr>
          <p:cNvPr id="15" name="Striped Right Arrow 14"/>
          <p:cNvSpPr/>
          <p:nvPr/>
        </p:nvSpPr>
        <p:spPr bwMode="auto">
          <a:xfrm rot="12411448">
            <a:off x="5484813" y="5411788"/>
            <a:ext cx="525462" cy="358775"/>
          </a:xfrm>
          <a:prstGeom prst="striped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defRPr/>
            </a:pPr>
            <a:endParaRPr lang="en-US"/>
          </a:p>
        </p:txBody>
      </p:sp>
      <p:sp>
        <p:nvSpPr>
          <p:cNvPr id="16" name="Striped Right Arrow 15"/>
          <p:cNvSpPr/>
          <p:nvPr/>
        </p:nvSpPr>
        <p:spPr bwMode="auto">
          <a:xfrm rot="8794440">
            <a:off x="5514975" y="4441825"/>
            <a:ext cx="525463" cy="358775"/>
          </a:xfrm>
          <a:prstGeom prst="striped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defRPr/>
            </a:pPr>
            <a:endParaRPr lang="en-US"/>
          </a:p>
        </p:txBody>
      </p:sp>
      <p:sp>
        <p:nvSpPr>
          <p:cNvPr id="17" name="Striped Right Arrow 16"/>
          <p:cNvSpPr/>
          <p:nvPr/>
        </p:nvSpPr>
        <p:spPr bwMode="auto">
          <a:xfrm rot="5400000">
            <a:off x="4178300" y="4432300"/>
            <a:ext cx="384175" cy="358775"/>
          </a:xfrm>
          <a:prstGeom prst="striped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B52B67A2-BD64-4E46-A640-7C2C98F44352}" type="slidenum">
              <a:rPr lang="en-US" altLang="en-US" sz="1200"/>
              <a:pPr>
                <a:spcBef>
                  <a:spcPct val="0"/>
                </a:spcBef>
                <a:buClrTx/>
                <a:buSzTx/>
                <a:buFontTx/>
                <a:buNone/>
              </a:pPr>
              <a:t>21</a:t>
            </a:fld>
            <a:endParaRPr lang="en-US" altLang="en-US" sz="1200"/>
          </a:p>
        </p:txBody>
      </p:sp>
      <p:sp>
        <p:nvSpPr>
          <p:cNvPr id="35843" name="Rectangle 2"/>
          <p:cNvSpPr>
            <a:spLocks noGrp="1" noChangeArrowheads="1"/>
          </p:cNvSpPr>
          <p:nvPr>
            <p:ph type="title"/>
          </p:nvPr>
        </p:nvSpPr>
        <p:spPr/>
        <p:txBody>
          <a:bodyPr/>
          <a:lstStyle/>
          <a:p>
            <a:pPr eaLnBrk="1" hangingPunct="1"/>
            <a:r>
              <a:rPr lang="en-US" altLang="en-US" smtClean="0"/>
              <a:t>Visualization</a:t>
            </a:r>
          </a:p>
        </p:txBody>
      </p:sp>
      <p:sp>
        <p:nvSpPr>
          <p:cNvPr id="35844" name="Rectangle 3"/>
          <p:cNvSpPr>
            <a:spLocks noGrp="1" noChangeArrowheads="1"/>
          </p:cNvSpPr>
          <p:nvPr>
            <p:ph type="body" idx="1"/>
          </p:nvPr>
        </p:nvSpPr>
        <p:spPr/>
        <p:txBody>
          <a:bodyPr/>
          <a:lstStyle/>
          <a:p>
            <a:pPr eaLnBrk="1" hangingPunct="1"/>
            <a:r>
              <a:rPr lang="en-US" altLang="en-US" smtClean="0"/>
              <a:t>Purpose of Visualization</a:t>
            </a:r>
          </a:p>
          <a:p>
            <a:pPr lvl="1" eaLnBrk="1" hangingPunct="1"/>
            <a:r>
              <a:rPr lang="en-US" altLang="en-US" sz="2400" smtClean="0">
                <a:solidFill>
                  <a:schemeClr val="tx2"/>
                </a:solidFill>
              </a:rPr>
              <a:t>Gain insight</a:t>
            </a:r>
            <a:r>
              <a:rPr lang="en-US" altLang="en-US" sz="2400" smtClean="0"/>
              <a:t> into an information space by mapping data onto graphical primitives</a:t>
            </a:r>
          </a:p>
          <a:p>
            <a:pPr lvl="1" eaLnBrk="1" hangingPunct="1"/>
            <a:r>
              <a:rPr lang="en-US" altLang="en-US" sz="2400" smtClean="0">
                <a:solidFill>
                  <a:schemeClr val="tx2"/>
                </a:solidFill>
              </a:rPr>
              <a:t>Provide qualitative overview</a:t>
            </a:r>
            <a:r>
              <a:rPr lang="en-US" altLang="en-US" sz="2400" smtClean="0"/>
              <a:t> of large data sets</a:t>
            </a:r>
          </a:p>
          <a:p>
            <a:pPr lvl="1" eaLnBrk="1" hangingPunct="1"/>
            <a:r>
              <a:rPr lang="en-US" altLang="en-US" sz="2400" smtClean="0">
                <a:solidFill>
                  <a:schemeClr val="tx2"/>
                </a:solidFill>
              </a:rPr>
              <a:t>Search</a:t>
            </a:r>
            <a:r>
              <a:rPr lang="en-US" altLang="en-US" sz="2400" smtClean="0"/>
              <a:t> for patterns, trends, structure, irregularities, relationships among data.</a:t>
            </a:r>
          </a:p>
          <a:p>
            <a:pPr lvl="1" eaLnBrk="1" hangingPunct="1"/>
            <a:r>
              <a:rPr lang="en-US" altLang="en-US" sz="2400" smtClean="0">
                <a:solidFill>
                  <a:schemeClr val="tx2"/>
                </a:solidFill>
              </a:rPr>
              <a:t>Help find interesting regions and suitable parameters</a:t>
            </a:r>
            <a:r>
              <a:rPr lang="en-US" altLang="en-US" sz="2400" smtClean="0"/>
              <a:t> for further quantitative analysis.</a:t>
            </a:r>
          </a:p>
          <a:p>
            <a:pPr lvl="1" eaLnBrk="1" hangingPunct="1"/>
            <a:r>
              <a:rPr lang="en-US" altLang="en-US" sz="2400" smtClean="0">
                <a:solidFill>
                  <a:schemeClr val="tx2"/>
                </a:solidFill>
              </a:rPr>
              <a:t>Provide a visual proof</a:t>
            </a:r>
            <a:r>
              <a:rPr lang="en-US" altLang="en-US" sz="2400" smtClean="0"/>
              <a:t> of computer representations derived</a:t>
            </a:r>
            <a:endParaRPr lang="en-US" altLang="en-US" smtClean="0"/>
          </a:p>
          <a:p>
            <a:pPr eaLnBrk="1" hangingPunct="1"/>
            <a:endParaRPr lang="en-US" altLang="en-US" smtClean="0"/>
          </a:p>
        </p:txBody>
      </p:sp>
    </p:spTree>
  </p:cSld>
  <p:clrMapOvr>
    <a:masterClrMapping/>
  </p:clrMapOvr>
  <p:transition>
    <p:newsfla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A4A280B-DE5F-499B-90DB-E01DFFF8A4FE}" type="slidenum">
              <a:rPr lang="en-US" altLang="en-US" sz="1200"/>
              <a:pPr>
                <a:spcBef>
                  <a:spcPct val="0"/>
                </a:spcBef>
                <a:buClrTx/>
                <a:buSzTx/>
                <a:buFontTx/>
                <a:buNone/>
              </a:pPr>
              <a:t>22</a:t>
            </a:fld>
            <a:endParaRPr lang="en-US" altLang="en-US" sz="1200"/>
          </a:p>
        </p:txBody>
      </p:sp>
      <p:sp>
        <p:nvSpPr>
          <p:cNvPr id="36867" name="Rectangle 2"/>
          <p:cNvSpPr>
            <a:spLocks noGrp="1" noChangeArrowheads="1"/>
          </p:cNvSpPr>
          <p:nvPr>
            <p:ph type="title"/>
          </p:nvPr>
        </p:nvSpPr>
        <p:spPr>
          <a:xfrm>
            <a:off x="-76200" y="381000"/>
            <a:ext cx="9220200" cy="609600"/>
          </a:xfrm>
        </p:spPr>
        <p:txBody>
          <a:bodyPr/>
          <a:lstStyle/>
          <a:p>
            <a:pPr eaLnBrk="1" hangingPunct="1"/>
            <a:r>
              <a:rPr lang="en-US" altLang="en-US" sz="3200" smtClean="0"/>
              <a:t>Visual Data Mining &amp; Data Visualization</a:t>
            </a:r>
            <a:endParaRPr lang="en-US" altLang="en-US" smtClean="0"/>
          </a:p>
        </p:txBody>
      </p:sp>
      <p:sp>
        <p:nvSpPr>
          <p:cNvPr id="36868" name="Rectangle 3"/>
          <p:cNvSpPr>
            <a:spLocks noGrp="1" noChangeArrowheads="1"/>
          </p:cNvSpPr>
          <p:nvPr>
            <p:ph type="body" idx="1"/>
          </p:nvPr>
        </p:nvSpPr>
        <p:spPr>
          <a:xfrm>
            <a:off x="457200" y="1524000"/>
            <a:ext cx="8305800" cy="4800600"/>
          </a:xfrm>
        </p:spPr>
        <p:txBody>
          <a:bodyPr/>
          <a:lstStyle/>
          <a:p>
            <a:pPr eaLnBrk="1" hangingPunct="1"/>
            <a:r>
              <a:rPr lang="en-US" altLang="en-US" sz="2400" smtClean="0"/>
              <a:t>Integration of visualization and data mining</a:t>
            </a:r>
          </a:p>
          <a:p>
            <a:pPr lvl="1" eaLnBrk="1" hangingPunct="1"/>
            <a:r>
              <a:rPr lang="en-US" altLang="en-US" sz="2400" smtClean="0"/>
              <a:t>data visualization</a:t>
            </a:r>
          </a:p>
          <a:p>
            <a:pPr lvl="1" eaLnBrk="1" hangingPunct="1"/>
            <a:r>
              <a:rPr lang="en-US" altLang="en-US" sz="2400" smtClean="0"/>
              <a:t>data mining result visualization</a:t>
            </a:r>
          </a:p>
          <a:p>
            <a:pPr lvl="1" eaLnBrk="1" hangingPunct="1"/>
            <a:r>
              <a:rPr lang="en-US" altLang="en-US" sz="2400" smtClean="0"/>
              <a:t>data mining process visualization</a:t>
            </a:r>
          </a:p>
          <a:p>
            <a:pPr lvl="1" eaLnBrk="1" hangingPunct="1"/>
            <a:r>
              <a:rPr lang="en-US" altLang="en-US" sz="2400" smtClean="0"/>
              <a:t>interactive visual data mining</a:t>
            </a:r>
          </a:p>
          <a:p>
            <a:pPr eaLnBrk="1" hangingPunct="1"/>
            <a:r>
              <a:rPr lang="en-US" altLang="en-US" sz="2400" smtClean="0"/>
              <a:t>Data visualization</a:t>
            </a:r>
          </a:p>
          <a:p>
            <a:pPr lvl="1" eaLnBrk="1" hangingPunct="1"/>
            <a:r>
              <a:rPr lang="en-US" altLang="en-US" sz="2400" smtClean="0"/>
              <a:t>Data in a database or data warehouse can be viewed </a:t>
            </a:r>
          </a:p>
          <a:p>
            <a:pPr lvl="2" eaLnBrk="1" hangingPunct="1"/>
            <a:r>
              <a:rPr lang="en-US" altLang="en-US" smtClean="0"/>
              <a:t>at different levels of abstraction</a:t>
            </a:r>
          </a:p>
          <a:p>
            <a:pPr lvl="2" eaLnBrk="1" hangingPunct="1"/>
            <a:r>
              <a:rPr lang="en-US" altLang="en-US" smtClean="0"/>
              <a:t>as different combinations of attributes or dimensions</a:t>
            </a:r>
          </a:p>
          <a:p>
            <a:pPr lvl="1" eaLnBrk="1" hangingPunct="1"/>
            <a:r>
              <a:rPr lang="en-US" altLang="en-US" sz="2400" smtClean="0"/>
              <a:t>Data can be presented in various visual forms</a:t>
            </a:r>
          </a:p>
        </p:txBody>
      </p:sp>
    </p:spTree>
  </p:cSld>
  <p:clrMapOvr>
    <a:masterClrMapping/>
  </p:clrMapOvr>
  <p:transition>
    <p:newsfla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98289A2-135C-43F8-A0BE-8B351DBE3A02}" type="slidenum">
              <a:rPr lang="en-US" altLang="en-US" sz="1200"/>
              <a:pPr>
                <a:spcBef>
                  <a:spcPct val="0"/>
                </a:spcBef>
                <a:buClrTx/>
                <a:buSzTx/>
                <a:buFontTx/>
                <a:buNone/>
              </a:pPr>
              <a:t>23</a:t>
            </a:fld>
            <a:endParaRPr lang="en-US" altLang="en-US" sz="1200"/>
          </a:p>
        </p:txBody>
      </p:sp>
      <p:sp>
        <p:nvSpPr>
          <p:cNvPr id="37891" name="Rectangle 2"/>
          <p:cNvSpPr>
            <a:spLocks noGrp="1" noChangeArrowheads="1"/>
          </p:cNvSpPr>
          <p:nvPr>
            <p:ph type="title"/>
          </p:nvPr>
        </p:nvSpPr>
        <p:spPr/>
        <p:txBody>
          <a:bodyPr/>
          <a:lstStyle/>
          <a:p>
            <a:pPr eaLnBrk="1" hangingPunct="1"/>
            <a:r>
              <a:rPr lang="en-US" altLang="en-US" sz="3200" smtClean="0"/>
              <a:t>Data Mining Result Visualization</a:t>
            </a:r>
          </a:p>
        </p:txBody>
      </p:sp>
      <p:sp>
        <p:nvSpPr>
          <p:cNvPr id="37892" name="Rectangle 3"/>
          <p:cNvSpPr>
            <a:spLocks noGrp="1" noChangeArrowheads="1"/>
          </p:cNvSpPr>
          <p:nvPr>
            <p:ph type="body" idx="1"/>
          </p:nvPr>
        </p:nvSpPr>
        <p:spPr>
          <a:xfrm>
            <a:off x="381000" y="1447800"/>
            <a:ext cx="8382000" cy="5029200"/>
          </a:xfrm>
        </p:spPr>
        <p:txBody>
          <a:bodyPr/>
          <a:lstStyle/>
          <a:p>
            <a:pPr eaLnBrk="1" hangingPunct="1">
              <a:lnSpc>
                <a:spcPct val="110000"/>
              </a:lnSpc>
              <a:spcBef>
                <a:spcPct val="30000"/>
              </a:spcBef>
            </a:pPr>
            <a:r>
              <a:rPr lang="en-US" altLang="en-US" sz="2400" smtClean="0"/>
              <a:t>Presentation of the </a:t>
            </a:r>
            <a:r>
              <a:rPr lang="en-US" altLang="en-US" sz="2400" smtClean="0">
                <a:solidFill>
                  <a:srgbClr val="170981"/>
                </a:solidFill>
              </a:rPr>
              <a:t>results or knowledge</a:t>
            </a:r>
            <a:r>
              <a:rPr lang="en-US" altLang="en-US" sz="2400" smtClean="0"/>
              <a:t> obtained from data mining in visual forms</a:t>
            </a:r>
          </a:p>
          <a:p>
            <a:pPr eaLnBrk="1" hangingPunct="1">
              <a:lnSpc>
                <a:spcPct val="110000"/>
              </a:lnSpc>
              <a:spcBef>
                <a:spcPct val="30000"/>
              </a:spcBef>
            </a:pPr>
            <a:r>
              <a:rPr lang="en-US" altLang="en-US" sz="2400" smtClean="0"/>
              <a:t>Examples</a:t>
            </a:r>
          </a:p>
          <a:p>
            <a:pPr lvl="1" eaLnBrk="1" hangingPunct="1">
              <a:lnSpc>
                <a:spcPct val="110000"/>
              </a:lnSpc>
              <a:spcBef>
                <a:spcPct val="30000"/>
              </a:spcBef>
            </a:pPr>
            <a:r>
              <a:rPr lang="en-US" altLang="en-US" sz="2400" smtClean="0"/>
              <a:t>Scatter plots and boxplots (obtained from descriptive data mining)</a:t>
            </a:r>
          </a:p>
          <a:p>
            <a:pPr lvl="1" eaLnBrk="1" hangingPunct="1">
              <a:lnSpc>
                <a:spcPct val="110000"/>
              </a:lnSpc>
              <a:spcBef>
                <a:spcPct val="30000"/>
              </a:spcBef>
            </a:pPr>
            <a:r>
              <a:rPr lang="en-US" altLang="en-US" sz="2400" smtClean="0"/>
              <a:t>Decision trees</a:t>
            </a:r>
          </a:p>
          <a:p>
            <a:pPr lvl="1" eaLnBrk="1" hangingPunct="1">
              <a:lnSpc>
                <a:spcPct val="110000"/>
              </a:lnSpc>
              <a:spcBef>
                <a:spcPct val="30000"/>
              </a:spcBef>
            </a:pPr>
            <a:r>
              <a:rPr lang="en-US" altLang="en-US" sz="2400" smtClean="0"/>
              <a:t>Association rules</a:t>
            </a:r>
          </a:p>
          <a:p>
            <a:pPr lvl="1" eaLnBrk="1" hangingPunct="1">
              <a:lnSpc>
                <a:spcPct val="110000"/>
              </a:lnSpc>
              <a:spcBef>
                <a:spcPct val="30000"/>
              </a:spcBef>
            </a:pPr>
            <a:r>
              <a:rPr lang="en-US" altLang="en-US" sz="2400" smtClean="0"/>
              <a:t>Clusters</a:t>
            </a:r>
          </a:p>
          <a:p>
            <a:pPr lvl="1" eaLnBrk="1" hangingPunct="1">
              <a:lnSpc>
                <a:spcPct val="110000"/>
              </a:lnSpc>
              <a:spcBef>
                <a:spcPct val="30000"/>
              </a:spcBef>
            </a:pPr>
            <a:r>
              <a:rPr lang="en-US" altLang="en-US" sz="2400" smtClean="0"/>
              <a:t>Outliers</a:t>
            </a:r>
          </a:p>
          <a:p>
            <a:pPr lvl="1" eaLnBrk="1" hangingPunct="1">
              <a:lnSpc>
                <a:spcPct val="110000"/>
              </a:lnSpc>
              <a:spcBef>
                <a:spcPct val="30000"/>
              </a:spcBef>
            </a:pPr>
            <a:r>
              <a:rPr lang="en-US" altLang="en-US" sz="2400" smtClean="0"/>
              <a:t>Generalized rules</a:t>
            </a:r>
          </a:p>
        </p:txBody>
      </p:sp>
    </p:spTree>
  </p:cSld>
  <p:clrMapOvr>
    <a:masterClrMapping/>
  </p:clrMapOvr>
  <p:transition>
    <p:newsfla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2AC6BE1-FA1C-4278-BD4A-D8F64BE4F232}" type="slidenum">
              <a:rPr lang="en-US" altLang="en-US" sz="1200"/>
              <a:pPr>
                <a:spcBef>
                  <a:spcPct val="0"/>
                </a:spcBef>
                <a:buClrTx/>
                <a:buSzTx/>
                <a:buFontTx/>
                <a:buNone/>
              </a:pPr>
              <a:t>24</a:t>
            </a:fld>
            <a:endParaRPr lang="en-US" altLang="en-US" sz="1200"/>
          </a:p>
        </p:txBody>
      </p:sp>
      <p:sp>
        <p:nvSpPr>
          <p:cNvPr id="38915" name="Rectangle 2"/>
          <p:cNvSpPr>
            <a:spLocks noGrp="1" noChangeArrowheads="1"/>
          </p:cNvSpPr>
          <p:nvPr>
            <p:ph type="title"/>
          </p:nvPr>
        </p:nvSpPr>
        <p:spPr>
          <a:xfrm>
            <a:off x="0" y="152400"/>
            <a:ext cx="9144000" cy="990600"/>
          </a:xfrm>
        </p:spPr>
        <p:txBody>
          <a:bodyPr/>
          <a:lstStyle/>
          <a:p>
            <a:pPr eaLnBrk="1" hangingPunct="1"/>
            <a:r>
              <a:rPr lang="en-US" altLang="en-US" smtClean="0">
                <a:solidFill>
                  <a:schemeClr val="hlink"/>
                </a:solidFill>
              </a:rPr>
              <a:t>Boxplots </a:t>
            </a:r>
            <a:r>
              <a:rPr lang="en-US" altLang="en-US" smtClean="0"/>
              <a:t>from Statsoft: Multiple Variable Combinations</a:t>
            </a:r>
          </a:p>
        </p:txBody>
      </p:sp>
      <p:pic>
        <p:nvPicPr>
          <p:cNvPr id="389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8686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65B3D39-9CF6-4DA5-AB02-50CC4D9DFE9E}" type="slidenum">
              <a:rPr lang="en-US" altLang="en-US" sz="1200"/>
              <a:pPr>
                <a:spcBef>
                  <a:spcPct val="0"/>
                </a:spcBef>
                <a:buClrTx/>
                <a:buSzTx/>
                <a:buFontTx/>
                <a:buNone/>
              </a:pPr>
              <a:t>25</a:t>
            </a:fld>
            <a:endParaRPr lang="en-US" altLang="en-US" sz="1200"/>
          </a:p>
        </p:txBody>
      </p:sp>
      <p:sp>
        <p:nvSpPr>
          <p:cNvPr id="39939" name="Rectangle 2"/>
          <p:cNvSpPr>
            <a:spLocks noGrp="1" noChangeArrowheads="1"/>
          </p:cNvSpPr>
          <p:nvPr>
            <p:ph type="title"/>
          </p:nvPr>
        </p:nvSpPr>
        <p:spPr>
          <a:xfrm>
            <a:off x="0" y="0"/>
            <a:ext cx="8936038" cy="990600"/>
          </a:xfrm>
        </p:spPr>
        <p:txBody>
          <a:bodyPr/>
          <a:lstStyle/>
          <a:p>
            <a:pPr eaLnBrk="1" hangingPunct="1"/>
            <a:r>
              <a:rPr lang="en-US" altLang="en-US" sz="3200" smtClean="0">
                <a:solidFill>
                  <a:srgbClr val="121328"/>
                </a:solidFill>
              </a:rPr>
              <a:t>Visualization of Data Mining Results in SAS Enterprise Miner:</a:t>
            </a:r>
            <a:r>
              <a:rPr lang="en-US" altLang="en-US" sz="3200" smtClean="0"/>
              <a:t> </a:t>
            </a:r>
            <a:r>
              <a:rPr lang="en-US" altLang="en-US" sz="3200" smtClean="0">
                <a:solidFill>
                  <a:schemeClr val="hlink"/>
                </a:solidFill>
              </a:rPr>
              <a:t>Scatter Plots</a:t>
            </a:r>
            <a:endParaRPr lang="en-US" altLang="en-US" sz="3200" smtClean="0">
              <a:solidFill>
                <a:schemeClr val="accent1"/>
              </a:solidFill>
            </a:endParaRPr>
          </a:p>
        </p:txBody>
      </p:sp>
      <p:sp>
        <p:nvSpPr>
          <p:cNvPr id="39940" name="Rectangle 3"/>
          <p:cNvSpPr>
            <a:spLocks noGrp="1" noChangeArrowheads="1"/>
          </p:cNvSpPr>
          <p:nvPr>
            <p:ph type="body" idx="1"/>
          </p:nvPr>
        </p:nvSpPr>
        <p:spPr>
          <a:xfrm>
            <a:off x="614363" y="1447800"/>
            <a:ext cx="7521575" cy="685800"/>
          </a:xfrm>
        </p:spPr>
        <p:txBody>
          <a:bodyPr/>
          <a:lstStyle/>
          <a:p>
            <a:pPr algn="ctr" eaLnBrk="1" hangingPunct="1">
              <a:lnSpc>
                <a:spcPct val="90000"/>
              </a:lnSpc>
              <a:buFont typeface="Wingdings" panose="05000000000000000000" pitchFamily="2" charset="2"/>
              <a:buNone/>
            </a:pPr>
            <a:r>
              <a:rPr lang="en-US" altLang="en-US" sz="2400" smtClean="0"/>
              <a:t>	</a:t>
            </a:r>
            <a:endParaRPr lang="en-US" altLang="en-US" sz="2400" smtClean="0">
              <a:solidFill>
                <a:schemeClr val="accent1"/>
              </a:solidFill>
            </a:endParaRPr>
          </a:p>
        </p:txBody>
      </p:sp>
      <p:pic>
        <p:nvPicPr>
          <p:cNvPr id="3994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91440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4769125-3B53-47D1-A662-7725032609FD}" type="slidenum">
              <a:rPr lang="en-US" altLang="en-US" sz="1200"/>
              <a:pPr>
                <a:spcBef>
                  <a:spcPct val="0"/>
                </a:spcBef>
                <a:buClrTx/>
                <a:buSzTx/>
                <a:buFontTx/>
                <a:buNone/>
              </a:pPr>
              <a:t>26</a:t>
            </a:fld>
            <a:endParaRPr lang="en-US" altLang="en-US" sz="1200"/>
          </a:p>
        </p:txBody>
      </p:sp>
      <p:sp>
        <p:nvSpPr>
          <p:cNvPr id="40963" name="Rectangle 2"/>
          <p:cNvSpPr>
            <a:spLocks noGrp="1" noChangeArrowheads="1"/>
          </p:cNvSpPr>
          <p:nvPr>
            <p:ph type="title"/>
          </p:nvPr>
        </p:nvSpPr>
        <p:spPr>
          <a:xfrm>
            <a:off x="0" y="76200"/>
            <a:ext cx="8686800" cy="1066800"/>
          </a:xfrm>
        </p:spPr>
        <p:txBody>
          <a:bodyPr/>
          <a:lstStyle/>
          <a:p>
            <a:pPr eaLnBrk="1" hangingPunct="1"/>
            <a:r>
              <a:rPr lang="en-US" altLang="en-US" smtClean="0"/>
              <a:t>Visualization of Association Rules in SGI/MineSet 3.0</a:t>
            </a:r>
          </a:p>
        </p:txBody>
      </p:sp>
      <p:pic>
        <p:nvPicPr>
          <p:cNvPr id="4096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636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D06EF9E7-A499-4C69-913A-09DEF2FB3DA1}" type="slidenum">
              <a:rPr lang="en-US" altLang="en-US" sz="1200"/>
              <a:pPr>
                <a:spcBef>
                  <a:spcPct val="0"/>
                </a:spcBef>
                <a:buClrTx/>
                <a:buSzTx/>
                <a:buFontTx/>
                <a:buNone/>
              </a:pPr>
              <a:t>27</a:t>
            </a:fld>
            <a:endParaRPr lang="en-US" altLang="en-US" sz="1200"/>
          </a:p>
        </p:txBody>
      </p:sp>
      <p:sp>
        <p:nvSpPr>
          <p:cNvPr id="41987" name="Rectangle 2"/>
          <p:cNvSpPr>
            <a:spLocks noGrp="1" noChangeArrowheads="1"/>
          </p:cNvSpPr>
          <p:nvPr>
            <p:ph type="title"/>
          </p:nvPr>
        </p:nvSpPr>
        <p:spPr>
          <a:xfrm>
            <a:off x="0" y="76200"/>
            <a:ext cx="8936038" cy="990600"/>
          </a:xfrm>
        </p:spPr>
        <p:txBody>
          <a:bodyPr/>
          <a:lstStyle/>
          <a:p>
            <a:pPr eaLnBrk="1" hangingPunct="1"/>
            <a:r>
              <a:rPr lang="en-US" altLang="en-US" sz="3200" smtClean="0">
                <a:solidFill>
                  <a:srgbClr val="121328"/>
                </a:solidFill>
              </a:rPr>
              <a:t>Visualization of a</a:t>
            </a:r>
            <a:r>
              <a:rPr lang="en-US" altLang="en-US" sz="3200" smtClean="0"/>
              <a:t> </a:t>
            </a:r>
            <a:r>
              <a:rPr lang="en-US" altLang="en-US" sz="3200" smtClean="0">
                <a:solidFill>
                  <a:schemeClr val="hlink"/>
                </a:solidFill>
              </a:rPr>
              <a:t>Decision Tree</a:t>
            </a:r>
            <a:r>
              <a:rPr lang="en-US" altLang="en-US" sz="3200" smtClean="0"/>
              <a:t> </a:t>
            </a:r>
            <a:r>
              <a:rPr lang="en-US" altLang="en-US" sz="3200" smtClean="0">
                <a:solidFill>
                  <a:srgbClr val="121328"/>
                </a:solidFill>
              </a:rPr>
              <a:t>in SGI/MineSet 3.0</a:t>
            </a:r>
          </a:p>
        </p:txBody>
      </p:sp>
      <p:pic>
        <p:nvPicPr>
          <p:cNvPr id="419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5344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4AD18D1-81F7-42B4-A58F-4B2353F74A91}" type="slidenum">
              <a:rPr lang="en-US" altLang="en-US" sz="1200"/>
              <a:pPr>
                <a:spcBef>
                  <a:spcPct val="0"/>
                </a:spcBef>
                <a:buClrTx/>
                <a:buSzTx/>
                <a:buFontTx/>
                <a:buNone/>
              </a:pPr>
              <a:t>28</a:t>
            </a:fld>
            <a:endParaRPr lang="en-US" altLang="en-US" sz="1200"/>
          </a:p>
        </p:txBody>
      </p:sp>
      <p:sp>
        <p:nvSpPr>
          <p:cNvPr id="43011" name="Rectangle 2"/>
          <p:cNvSpPr>
            <a:spLocks noGrp="1" noChangeArrowheads="1"/>
          </p:cNvSpPr>
          <p:nvPr>
            <p:ph type="title"/>
          </p:nvPr>
        </p:nvSpPr>
        <p:spPr>
          <a:xfrm>
            <a:off x="0" y="152400"/>
            <a:ext cx="8763000" cy="990600"/>
          </a:xfrm>
        </p:spPr>
        <p:txBody>
          <a:bodyPr/>
          <a:lstStyle/>
          <a:p>
            <a:pPr eaLnBrk="1" hangingPunct="1"/>
            <a:r>
              <a:rPr lang="en-US" altLang="en-US" sz="3200" smtClean="0">
                <a:solidFill>
                  <a:srgbClr val="121328"/>
                </a:solidFill>
              </a:rPr>
              <a:t>Visualization of </a:t>
            </a:r>
            <a:r>
              <a:rPr lang="en-US" altLang="en-US" sz="3200" smtClean="0">
                <a:solidFill>
                  <a:schemeClr val="hlink"/>
                </a:solidFill>
              </a:rPr>
              <a:t>Cluster Grouping</a:t>
            </a:r>
            <a:r>
              <a:rPr lang="en-US" altLang="en-US" sz="3200" smtClean="0">
                <a:solidFill>
                  <a:srgbClr val="121328"/>
                </a:solidFill>
              </a:rPr>
              <a:t> in IBM Intelligent Miner</a:t>
            </a:r>
          </a:p>
        </p:txBody>
      </p:sp>
      <p:pic>
        <p:nvPicPr>
          <p:cNvPr id="430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D8F51FE-26F7-45C9-87B7-35216CC61A8C}" type="slidenum">
              <a:rPr lang="en-US" altLang="en-US" sz="1200"/>
              <a:pPr>
                <a:spcBef>
                  <a:spcPct val="0"/>
                </a:spcBef>
                <a:buClrTx/>
                <a:buSzTx/>
                <a:buFontTx/>
                <a:buNone/>
              </a:pPr>
              <a:t>29</a:t>
            </a:fld>
            <a:endParaRPr lang="en-US" altLang="en-US" sz="1200"/>
          </a:p>
        </p:txBody>
      </p:sp>
      <p:sp>
        <p:nvSpPr>
          <p:cNvPr id="44035" name="Rectangle 2"/>
          <p:cNvSpPr>
            <a:spLocks noGrp="1" noChangeArrowheads="1"/>
          </p:cNvSpPr>
          <p:nvPr>
            <p:ph type="title"/>
          </p:nvPr>
        </p:nvSpPr>
        <p:spPr>
          <a:xfrm>
            <a:off x="0" y="304800"/>
            <a:ext cx="9144000" cy="609600"/>
          </a:xfrm>
        </p:spPr>
        <p:txBody>
          <a:bodyPr/>
          <a:lstStyle/>
          <a:p>
            <a:pPr eaLnBrk="1" hangingPunct="1"/>
            <a:r>
              <a:rPr lang="en-US" altLang="en-US" sz="3200" smtClean="0"/>
              <a:t>Data Mining Process Visualization</a:t>
            </a:r>
          </a:p>
        </p:txBody>
      </p:sp>
      <p:sp>
        <p:nvSpPr>
          <p:cNvPr id="44036" name="Rectangle 3"/>
          <p:cNvSpPr>
            <a:spLocks noGrp="1" noChangeArrowheads="1"/>
          </p:cNvSpPr>
          <p:nvPr>
            <p:ph type="body" idx="1"/>
          </p:nvPr>
        </p:nvSpPr>
        <p:spPr>
          <a:xfrm>
            <a:off x="457200" y="1524000"/>
            <a:ext cx="8148638" cy="4800600"/>
          </a:xfrm>
        </p:spPr>
        <p:txBody>
          <a:bodyPr/>
          <a:lstStyle/>
          <a:p>
            <a:pPr eaLnBrk="1" hangingPunct="1">
              <a:lnSpc>
                <a:spcPct val="120000"/>
              </a:lnSpc>
              <a:spcBef>
                <a:spcPct val="30000"/>
              </a:spcBef>
            </a:pPr>
            <a:r>
              <a:rPr lang="en-US" altLang="en-US" sz="2400" smtClean="0"/>
              <a:t>Presentation of the </a:t>
            </a:r>
            <a:r>
              <a:rPr lang="en-US" altLang="en-US" sz="2400" smtClean="0">
                <a:solidFill>
                  <a:srgbClr val="170981"/>
                </a:solidFill>
              </a:rPr>
              <a:t>various processes of data mining</a:t>
            </a:r>
            <a:r>
              <a:rPr lang="en-US" altLang="en-US" sz="2400" smtClean="0"/>
              <a:t> in visual forms so that users can see</a:t>
            </a:r>
          </a:p>
          <a:p>
            <a:pPr lvl="1" eaLnBrk="1" hangingPunct="1">
              <a:lnSpc>
                <a:spcPct val="120000"/>
              </a:lnSpc>
              <a:spcBef>
                <a:spcPct val="30000"/>
              </a:spcBef>
            </a:pPr>
            <a:r>
              <a:rPr lang="en-US" altLang="en-US" sz="2400" smtClean="0"/>
              <a:t>Data extraction process</a:t>
            </a:r>
          </a:p>
          <a:p>
            <a:pPr lvl="1" eaLnBrk="1" hangingPunct="1">
              <a:lnSpc>
                <a:spcPct val="120000"/>
              </a:lnSpc>
              <a:spcBef>
                <a:spcPct val="30000"/>
              </a:spcBef>
            </a:pPr>
            <a:r>
              <a:rPr lang="en-US" altLang="en-US" sz="2400" smtClean="0"/>
              <a:t>Where the data is extracted</a:t>
            </a:r>
          </a:p>
          <a:p>
            <a:pPr lvl="1" eaLnBrk="1" hangingPunct="1">
              <a:lnSpc>
                <a:spcPct val="120000"/>
              </a:lnSpc>
              <a:spcBef>
                <a:spcPct val="30000"/>
              </a:spcBef>
            </a:pPr>
            <a:r>
              <a:rPr lang="en-US" altLang="en-US" sz="2400" smtClean="0"/>
              <a:t>How the data is cleaned, integrated, preprocessed, and mined</a:t>
            </a:r>
          </a:p>
          <a:p>
            <a:pPr lvl="1" eaLnBrk="1" hangingPunct="1">
              <a:lnSpc>
                <a:spcPct val="120000"/>
              </a:lnSpc>
              <a:spcBef>
                <a:spcPct val="30000"/>
              </a:spcBef>
            </a:pPr>
            <a:r>
              <a:rPr lang="en-US" altLang="en-US" sz="2400" smtClean="0"/>
              <a:t>Method selected for data mining</a:t>
            </a:r>
          </a:p>
          <a:p>
            <a:pPr lvl="1" eaLnBrk="1" hangingPunct="1">
              <a:lnSpc>
                <a:spcPct val="120000"/>
              </a:lnSpc>
              <a:spcBef>
                <a:spcPct val="30000"/>
              </a:spcBef>
            </a:pPr>
            <a:r>
              <a:rPr lang="en-US" altLang="en-US" sz="2400" smtClean="0"/>
              <a:t>Where the results are stored</a:t>
            </a:r>
          </a:p>
          <a:p>
            <a:pPr lvl="1" eaLnBrk="1" hangingPunct="1">
              <a:lnSpc>
                <a:spcPct val="120000"/>
              </a:lnSpc>
              <a:spcBef>
                <a:spcPct val="30000"/>
              </a:spcBef>
            </a:pPr>
            <a:r>
              <a:rPr lang="en-US" altLang="en-US" sz="2400" smtClean="0"/>
              <a:t>How they may be viewed</a:t>
            </a:r>
          </a:p>
        </p:txBody>
      </p:sp>
    </p:spTree>
  </p:cSld>
  <p:clrMapOvr>
    <a:masterClrMapping/>
  </p:clrMapOvr>
  <p:transition>
    <p:newsfla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5E825B7-A0D4-49AA-9872-7B947A2A5D15}" type="slidenum">
              <a:rPr lang="en-US" altLang="en-US" sz="1200"/>
              <a:pPr>
                <a:spcBef>
                  <a:spcPct val="0"/>
                </a:spcBef>
                <a:buClrTx/>
                <a:buSzTx/>
                <a:buFontTx/>
                <a:buNone/>
              </a:pPr>
              <a:t>30</a:t>
            </a:fld>
            <a:endParaRPr lang="en-US" altLang="en-US" sz="1200"/>
          </a:p>
        </p:txBody>
      </p:sp>
      <p:sp>
        <p:nvSpPr>
          <p:cNvPr id="45059" name="Rectangle 2"/>
          <p:cNvSpPr>
            <a:spLocks noGrp="1" noChangeArrowheads="1"/>
          </p:cNvSpPr>
          <p:nvPr>
            <p:ph type="title"/>
          </p:nvPr>
        </p:nvSpPr>
        <p:spPr>
          <a:xfrm>
            <a:off x="0" y="228600"/>
            <a:ext cx="9144000" cy="1066800"/>
          </a:xfrm>
        </p:spPr>
        <p:txBody>
          <a:bodyPr/>
          <a:lstStyle/>
          <a:p>
            <a:pPr eaLnBrk="1" hangingPunct="1"/>
            <a:r>
              <a:rPr lang="en-US" altLang="en-US" smtClean="0">
                <a:solidFill>
                  <a:srgbClr val="121328"/>
                </a:solidFill>
              </a:rPr>
              <a:t>Visualization of </a:t>
            </a:r>
            <a:r>
              <a:rPr lang="en-US" altLang="en-US" smtClean="0">
                <a:solidFill>
                  <a:schemeClr val="hlink"/>
                </a:solidFill>
              </a:rPr>
              <a:t>Data Mining Processes</a:t>
            </a:r>
            <a:r>
              <a:rPr lang="en-US" altLang="en-US" smtClean="0">
                <a:solidFill>
                  <a:srgbClr val="121328"/>
                </a:solidFill>
              </a:rPr>
              <a:t> by Clementine</a:t>
            </a:r>
          </a:p>
        </p:txBody>
      </p:sp>
      <p:sp>
        <p:nvSpPr>
          <p:cNvPr id="45060" name="Rectangle 3"/>
          <p:cNvSpPr>
            <a:spLocks noChangeArrowheads="1"/>
          </p:cNvSpPr>
          <p:nvPr/>
        </p:nvSpPr>
        <p:spPr bwMode="auto">
          <a:xfrm>
            <a:off x="990600" y="1676400"/>
            <a:ext cx="7620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buClrTx/>
              <a:buSzPct val="75000"/>
              <a:buFont typeface="Wingdings" panose="05000000000000000000" pitchFamily="2" charset="2"/>
              <a:buNone/>
            </a:pPr>
            <a:r>
              <a:rPr lang="en-US" altLang="en-US" sz="2400" b="1">
                <a:solidFill>
                  <a:srgbClr val="121328"/>
                </a:solidFill>
                <a:latin typeface="Arial" panose="020B0604020202020204" pitchFamily="34" charset="0"/>
              </a:rPr>
              <a:t> </a:t>
            </a:r>
          </a:p>
        </p:txBody>
      </p:sp>
      <p:pic>
        <p:nvPicPr>
          <p:cNvPr id="45061" name="Picture 4" descr="flo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4267200"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5" descr="graph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962400"/>
            <a:ext cx="42672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3" name="Rectangle 6"/>
          <p:cNvSpPr>
            <a:spLocks noChangeArrowheads="1"/>
          </p:cNvSpPr>
          <p:nvPr/>
        </p:nvSpPr>
        <p:spPr bwMode="auto">
          <a:xfrm>
            <a:off x="2362200" y="4343400"/>
            <a:ext cx="2209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Arial" panose="020B0604020202020204" pitchFamily="34" charset="0"/>
                <a:cs typeface="Arial" panose="020B0604020202020204" pitchFamily="34" charset="0"/>
              </a:rPr>
              <a:t>Understand variations with visualized data</a:t>
            </a:r>
            <a:r>
              <a:rPr lang="en-US" altLang="en-US" sz="1200">
                <a:latin typeface="Arial" panose="020B0604020202020204" pitchFamily="34" charset="0"/>
                <a:cs typeface="Arial" panose="020B0604020202020204" pitchFamily="34" charset="0"/>
              </a:rPr>
              <a:t/>
            </a:r>
            <a:br>
              <a:rPr lang="en-US" altLang="en-US" sz="1200">
                <a:latin typeface="Arial" panose="020B0604020202020204" pitchFamily="34" charset="0"/>
                <a:cs typeface="Arial" panose="020B0604020202020204" pitchFamily="34" charset="0"/>
              </a:rPr>
            </a:br>
            <a:endParaRPr lang="en-US" altLang="en-US" sz="1200">
              <a:latin typeface="Arial" panose="020B0604020202020204" pitchFamily="34" charset="0"/>
              <a:cs typeface="Arial" panose="020B0604020202020204" pitchFamily="34" charset="0"/>
            </a:endParaRPr>
          </a:p>
          <a:p>
            <a:pPr>
              <a:spcBef>
                <a:spcPct val="0"/>
              </a:spcBef>
              <a:buClrTx/>
              <a:buSzTx/>
              <a:buFontTx/>
              <a:buNone/>
            </a:pPr>
            <a:endParaRPr lang="en-US" altLang="en-US" sz="2400">
              <a:latin typeface="Times New Roman" panose="02020603050405020304" pitchFamily="18" charset="0"/>
            </a:endParaRPr>
          </a:p>
        </p:txBody>
      </p:sp>
      <p:sp>
        <p:nvSpPr>
          <p:cNvPr id="45064" name="Rectangle 7"/>
          <p:cNvSpPr>
            <a:spLocks noChangeArrowheads="1"/>
          </p:cNvSpPr>
          <p:nvPr/>
        </p:nvSpPr>
        <p:spPr bwMode="auto">
          <a:xfrm>
            <a:off x="4572000" y="1828800"/>
            <a:ext cx="2362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b="1">
                <a:latin typeface="Arial" panose="020B0604020202020204" pitchFamily="34" charset="0"/>
                <a:cs typeface="Arial" panose="020B0604020202020204" pitchFamily="34" charset="0"/>
              </a:rPr>
              <a:t>See your solution discovery process clearly</a:t>
            </a:r>
            <a:r>
              <a:rPr lang="en-US" altLang="en-US" sz="2000">
                <a:latin typeface="Arial" panose="020B0604020202020204" pitchFamily="34" charset="0"/>
                <a:cs typeface="Arial" panose="020B0604020202020204" pitchFamily="34" charset="0"/>
              </a:rPr>
              <a:t/>
            </a:r>
            <a:br>
              <a:rPr lang="en-US" altLang="en-US" sz="2000">
                <a:latin typeface="Arial" panose="020B0604020202020204" pitchFamily="34" charset="0"/>
                <a:cs typeface="Arial" panose="020B0604020202020204" pitchFamily="34" charset="0"/>
              </a:rPr>
            </a:br>
            <a:endParaRPr lang="en-US" altLang="en-US" sz="2000">
              <a:latin typeface="Arial" panose="020B0604020202020204" pitchFamily="34" charset="0"/>
              <a:cs typeface="Arial" panose="020B0604020202020204" pitchFamily="34" charset="0"/>
            </a:endParaRPr>
          </a:p>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transition>
    <p:newsfla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43ED0C8-4FFA-451C-8AB4-8E83A52A4E92}" type="slidenum">
              <a:rPr lang="en-US" altLang="en-US" sz="1200"/>
              <a:pPr>
                <a:spcBef>
                  <a:spcPct val="0"/>
                </a:spcBef>
                <a:buClrTx/>
                <a:buSzTx/>
                <a:buFontTx/>
                <a:buNone/>
              </a:pPr>
              <a:t>31</a:t>
            </a:fld>
            <a:endParaRPr lang="en-US" altLang="en-US" sz="1200"/>
          </a:p>
        </p:txBody>
      </p:sp>
      <p:sp>
        <p:nvSpPr>
          <p:cNvPr id="47107" name="Rectangle 2"/>
          <p:cNvSpPr>
            <a:spLocks noGrp="1" noChangeArrowheads="1"/>
          </p:cNvSpPr>
          <p:nvPr>
            <p:ph type="title"/>
          </p:nvPr>
        </p:nvSpPr>
        <p:spPr>
          <a:xfrm>
            <a:off x="0" y="304800"/>
            <a:ext cx="9144000" cy="609600"/>
          </a:xfrm>
        </p:spPr>
        <p:txBody>
          <a:bodyPr/>
          <a:lstStyle/>
          <a:p>
            <a:pPr eaLnBrk="1" hangingPunct="1"/>
            <a:r>
              <a:rPr lang="en-US" altLang="en-US" sz="3200" smtClean="0"/>
              <a:t>Interactive Visual Data Mining</a:t>
            </a:r>
          </a:p>
        </p:txBody>
      </p:sp>
      <p:sp>
        <p:nvSpPr>
          <p:cNvPr id="47108" name="Rectangle 3"/>
          <p:cNvSpPr>
            <a:spLocks noGrp="1" noChangeArrowheads="1"/>
          </p:cNvSpPr>
          <p:nvPr>
            <p:ph type="body" idx="1"/>
          </p:nvPr>
        </p:nvSpPr>
        <p:spPr>
          <a:xfrm>
            <a:off x="457200" y="1447800"/>
            <a:ext cx="8305800" cy="4800600"/>
          </a:xfrm>
        </p:spPr>
        <p:txBody>
          <a:bodyPr/>
          <a:lstStyle/>
          <a:p>
            <a:pPr eaLnBrk="1" hangingPunct="1">
              <a:lnSpc>
                <a:spcPct val="110000"/>
              </a:lnSpc>
              <a:spcBef>
                <a:spcPct val="30000"/>
              </a:spcBef>
            </a:pPr>
            <a:r>
              <a:rPr lang="en-US" altLang="en-US" sz="2400" smtClean="0"/>
              <a:t>Using visualization tools in the data mining process to </a:t>
            </a:r>
            <a:r>
              <a:rPr lang="en-US" altLang="en-US" sz="2400" smtClean="0">
                <a:solidFill>
                  <a:srgbClr val="170981"/>
                </a:solidFill>
              </a:rPr>
              <a:t>help users make smart data mining decisions</a:t>
            </a:r>
            <a:r>
              <a:rPr lang="en-US" altLang="en-US" sz="2400" smtClean="0"/>
              <a:t> </a:t>
            </a:r>
          </a:p>
          <a:p>
            <a:pPr eaLnBrk="1" hangingPunct="1">
              <a:lnSpc>
                <a:spcPct val="110000"/>
              </a:lnSpc>
              <a:spcBef>
                <a:spcPct val="30000"/>
              </a:spcBef>
            </a:pPr>
            <a:r>
              <a:rPr lang="en-US" altLang="en-US" sz="2400" smtClean="0"/>
              <a:t>Example</a:t>
            </a:r>
          </a:p>
          <a:p>
            <a:pPr lvl="1" eaLnBrk="1" hangingPunct="1">
              <a:lnSpc>
                <a:spcPct val="110000"/>
              </a:lnSpc>
              <a:spcBef>
                <a:spcPct val="30000"/>
              </a:spcBef>
            </a:pPr>
            <a:r>
              <a:rPr lang="en-US" altLang="en-US" sz="2400" smtClean="0"/>
              <a:t>Display the data distribution in a set of attributes using </a:t>
            </a:r>
            <a:r>
              <a:rPr lang="en-US" altLang="en-US" sz="2400" smtClean="0">
                <a:solidFill>
                  <a:srgbClr val="170981"/>
                </a:solidFill>
              </a:rPr>
              <a:t>colored sectors or columns</a:t>
            </a:r>
            <a:r>
              <a:rPr lang="en-US" altLang="en-US" sz="2400" smtClean="0"/>
              <a:t> (depending on whether the whole space is represented by either a circle or a set of columns)</a:t>
            </a:r>
          </a:p>
          <a:p>
            <a:pPr lvl="1" eaLnBrk="1" hangingPunct="1">
              <a:lnSpc>
                <a:spcPct val="110000"/>
              </a:lnSpc>
              <a:spcBef>
                <a:spcPct val="30000"/>
              </a:spcBef>
            </a:pPr>
            <a:r>
              <a:rPr lang="en-US" altLang="en-US" sz="2400" smtClean="0"/>
              <a:t>Use the display to which sector should first be selected for classification and where a good split point for this sector may be</a:t>
            </a:r>
          </a:p>
        </p:txBody>
      </p:sp>
    </p:spTree>
  </p:cSld>
  <p:clrMapOvr>
    <a:masterClrMapping/>
  </p:clrMapOvr>
  <p:transition>
    <p:newsfla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14730FD-E4F4-4971-B9CC-1AB2B41E22EF}" type="slidenum">
              <a:rPr lang="en-US" altLang="en-US" sz="1200"/>
              <a:pPr>
                <a:spcBef>
                  <a:spcPct val="0"/>
                </a:spcBef>
                <a:buClrTx/>
                <a:buSzTx/>
                <a:buFontTx/>
                <a:buNone/>
              </a:pPr>
              <a:t>32</a:t>
            </a:fld>
            <a:endParaRPr lang="en-US" altLang="en-US" sz="1200"/>
          </a:p>
        </p:txBody>
      </p:sp>
      <p:sp>
        <p:nvSpPr>
          <p:cNvPr id="48131" name="Rectangle 2"/>
          <p:cNvSpPr>
            <a:spLocks noGrp="1" noChangeArrowheads="1"/>
          </p:cNvSpPr>
          <p:nvPr>
            <p:ph type="title"/>
          </p:nvPr>
        </p:nvSpPr>
        <p:spPr>
          <a:xfrm>
            <a:off x="0" y="152400"/>
            <a:ext cx="9144000" cy="990600"/>
          </a:xfrm>
        </p:spPr>
        <p:txBody>
          <a:bodyPr/>
          <a:lstStyle/>
          <a:p>
            <a:pPr eaLnBrk="1" hangingPunct="1"/>
            <a:r>
              <a:rPr lang="en-US" altLang="en-US" smtClean="0">
                <a:solidFill>
                  <a:schemeClr val="hlink"/>
                </a:solidFill>
              </a:rPr>
              <a:t>Interactive Visual Mining</a:t>
            </a:r>
            <a:r>
              <a:rPr lang="en-US" altLang="en-US" smtClean="0"/>
              <a:t> by Perception-Based Classification (PBC)</a:t>
            </a:r>
          </a:p>
        </p:txBody>
      </p:sp>
      <p:pic>
        <p:nvPicPr>
          <p:cNvPr id="481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77724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newsfla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B3058D3-53E5-48C0-8C98-0EE32F1A1F0D}" type="slidenum">
              <a:rPr lang="en-US" altLang="en-US" sz="1200"/>
              <a:pPr>
                <a:spcBef>
                  <a:spcPct val="0"/>
                </a:spcBef>
                <a:buClrTx/>
                <a:buSzTx/>
                <a:buFontTx/>
                <a:buNone/>
              </a:pPr>
              <a:t>33</a:t>
            </a:fld>
            <a:endParaRPr lang="en-US" altLang="en-US" sz="1200"/>
          </a:p>
        </p:txBody>
      </p:sp>
      <p:sp>
        <p:nvSpPr>
          <p:cNvPr id="49155" name="Rectangle 2"/>
          <p:cNvSpPr>
            <a:spLocks noGrp="1" noChangeArrowheads="1"/>
          </p:cNvSpPr>
          <p:nvPr>
            <p:ph type="title"/>
          </p:nvPr>
        </p:nvSpPr>
        <p:spPr>
          <a:xfrm>
            <a:off x="0" y="304800"/>
            <a:ext cx="9144000" cy="609600"/>
          </a:xfrm>
        </p:spPr>
        <p:txBody>
          <a:bodyPr/>
          <a:lstStyle/>
          <a:p>
            <a:pPr eaLnBrk="1" hangingPunct="1"/>
            <a:r>
              <a:rPr lang="en-US" altLang="en-US" sz="3200" smtClean="0"/>
              <a:t>Audio Data Mining</a:t>
            </a:r>
          </a:p>
        </p:txBody>
      </p:sp>
      <p:sp>
        <p:nvSpPr>
          <p:cNvPr id="49156" name="Rectangle 3"/>
          <p:cNvSpPr>
            <a:spLocks noGrp="1" noChangeArrowheads="1"/>
          </p:cNvSpPr>
          <p:nvPr>
            <p:ph type="body" idx="1"/>
          </p:nvPr>
        </p:nvSpPr>
        <p:spPr>
          <a:xfrm>
            <a:off x="457200" y="1447800"/>
            <a:ext cx="8228013" cy="4953000"/>
          </a:xfrm>
        </p:spPr>
        <p:txBody>
          <a:bodyPr/>
          <a:lstStyle/>
          <a:p>
            <a:pPr marL="457200" eaLnBrk="1" hangingPunct="1">
              <a:spcBef>
                <a:spcPts val="600"/>
              </a:spcBef>
              <a:spcAft>
                <a:spcPts val="600"/>
              </a:spcAft>
            </a:pPr>
            <a:r>
              <a:rPr lang="en-US" altLang="en-US" sz="2400" smtClean="0"/>
              <a:t>Uses audio signals to indicate the patterns of data or the features of data mining results</a:t>
            </a:r>
          </a:p>
          <a:p>
            <a:pPr marL="457200" eaLnBrk="1" hangingPunct="1">
              <a:spcBef>
                <a:spcPts val="600"/>
              </a:spcBef>
              <a:spcAft>
                <a:spcPts val="600"/>
              </a:spcAft>
            </a:pPr>
            <a:r>
              <a:rPr lang="en-US" altLang="en-US" sz="2400" smtClean="0"/>
              <a:t>An interesting alternative to visual mining</a:t>
            </a:r>
          </a:p>
          <a:p>
            <a:pPr marL="457200" eaLnBrk="1" hangingPunct="1">
              <a:spcBef>
                <a:spcPts val="600"/>
              </a:spcBef>
              <a:spcAft>
                <a:spcPts val="600"/>
              </a:spcAft>
            </a:pPr>
            <a:r>
              <a:rPr lang="en-US" altLang="en-US" sz="2400" smtClean="0"/>
              <a:t>An inverse task of mining audio (such as music) databases which is to find patterns from audio data</a:t>
            </a:r>
          </a:p>
          <a:p>
            <a:pPr marL="457200" eaLnBrk="1" hangingPunct="1">
              <a:spcBef>
                <a:spcPts val="600"/>
              </a:spcBef>
              <a:spcAft>
                <a:spcPts val="600"/>
              </a:spcAft>
            </a:pPr>
            <a:r>
              <a:rPr lang="en-US" altLang="en-US" sz="2400" smtClean="0"/>
              <a:t>Visual data mining may disclose interesting patterns using graphical displays, but requires users to concentrate on watching patterns </a:t>
            </a:r>
          </a:p>
          <a:p>
            <a:pPr marL="457200" eaLnBrk="1" hangingPunct="1">
              <a:spcBef>
                <a:spcPts val="600"/>
              </a:spcBef>
              <a:spcAft>
                <a:spcPts val="600"/>
              </a:spcAft>
            </a:pPr>
            <a:r>
              <a:rPr lang="en-US" altLang="en-US" sz="2400" smtClean="0"/>
              <a:t>Instead, transform patterns into sound and music and listen to pitches, rhythms, tune, and melody in order to identify anything interesting or unusual</a:t>
            </a:r>
          </a:p>
        </p:txBody>
      </p:sp>
    </p:spTree>
  </p:cSld>
  <p:clrMapOvr>
    <a:masterClrMapping/>
  </p:clrMapOvr>
  <p:transition>
    <p:newsfla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4ADFC88-D4C4-4162-837A-FF047A0E6CB9}" type="slidenum">
              <a:rPr lang="en-US" altLang="en-US" sz="1200"/>
              <a:pPr>
                <a:spcBef>
                  <a:spcPct val="0"/>
                </a:spcBef>
                <a:buClrTx/>
                <a:buSzTx/>
                <a:buFontTx/>
                <a:buNone/>
              </a:pPr>
              <a:t>34</a:t>
            </a:fld>
            <a:endParaRPr lang="en-US" altLang="en-US" sz="1200"/>
          </a:p>
        </p:txBody>
      </p:sp>
      <p:sp>
        <p:nvSpPr>
          <p:cNvPr id="50179"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50180"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5562600" y="3121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9ED3A8A4-8050-4850-8815-B5D1723E2189}" type="slidenum">
              <a:rPr lang="en-US" altLang="en-US" sz="1200"/>
              <a:pPr>
                <a:spcBef>
                  <a:spcPct val="0"/>
                </a:spcBef>
                <a:buClrTx/>
                <a:buSzTx/>
                <a:buFontTx/>
                <a:buNone/>
              </a:pPr>
              <a:t>35</a:t>
            </a:fld>
            <a:endParaRPr lang="en-US" altLang="en-US" sz="1200"/>
          </a:p>
        </p:txBody>
      </p:sp>
      <p:sp>
        <p:nvSpPr>
          <p:cNvPr id="51203" name="Rectangle 1026"/>
          <p:cNvSpPr>
            <a:spLocks noGrp="1" noChangeArrowheads="1"/>
          </p:cNvSpPr>
          <p:nvPr>
            <p:ph type="title"/>
          </p:nvPr>
        </p:nvSpPr>
        <p:spPr/>
        <p:txBody>
          <a:bodyPr/>
          <a:lstStyle/>
          <a:p>
            <a:pPr eaLnBrk="1" hangingPunct="1"/>
            <a:r>
              <a:rPr lang="en-US" altLang="en-US" smtClean="0"/>
              <a:t>Data Mining Applications</a:t>
            </a:r>
          </a:p>
        </p:txBody>
      </p:sp>
      <p:sp>
        <p:nvSpPr>
          <p:cNvPr id="51204" name="Rectangle 1027"/>
          <p:cNvSpPr>
            <a:spLocks noGrp="1" noChangeArrowheads="1"/>
          </p:cNvSpPr>
          <p:nvPr>
            <p:ph type="body" idx="1"/>
          </p:nvPr>
        </p:nvSpPr>
        <p:spPr>
          <a:xfrm>
            <a:off x="381000" y="1371600"/>
            <a:ext cx="8382000" cy="5181600"/>
          </a:xfrm>
        </p:spPr>
        <p:txBody>
          <a:bodyPr/>
          <a:lstStyle/>
          <a:p>
            <a:pPr eaLnBrk="1" hangingPunct="1">
              <a:spcBef>
                <a:spcPts val="300"/>
              </a:spcBef>
              <a:spcAft>
                <a:spcPts val="300"/>
              </a:spcAft>
            </a:pPr>
            <a:r>
              <a:rPr lang="en-US" altLang="en-US" sz="2400" smtClean="0"/>
              <a:t>Data mining: A young discipline with broad and diverse applications</a:t>
            </a:r>
          </a:p>
          <a:p>
            <a:pPr lvl="1" eaLnBrk="1" hangingPunct="1">
              <a:spcBef>
                <a:spcPts val="300"/>
              </a:spcBef>
              <a:spcAft>
                <a:spcPts val="300"/>
              </a:spcAft>
            </a:pPr>
            <a:r>
              <a:rPr lang="en-US" altLang="en-US" sz="2400" smtClean="0"/>
              <a:t>There still exists a nontrivial gap between generic data mining methods and effective and scalable data mining tools for domain-specific applications</a:t>
            </a:r>
          </a:p>
          <a:p>
            <a:pPr eaLnBrk="1" hangingPunct="1">
              <a:spcBef>
                <a:spcPts val="300"/>
              </a:spcBef>
              <a:spcAft>
                <a:spcPts val="300"/>
              </a:spcAft>
            </a:pPr>
            <a:r>
              <a:rPr lang="en-US" altLang="en-US" sz="2400" smtClean="0"/>
              <a:t>Some application domains (briefly discussed here)</a:t>
            </a:r>
          </a:p>
          <a:p>
            <a:pPr lvl="1" eaLnBrk="1" hangingPunct="1">
              <a:spcBef>
                <a:spcPts val="300"/>
              </a:spcBef>
              <a:spcAft>
                <a:spcPts val="300"/>
              </a:spcAft>
            </a:pPr>
            <a:r>
              <a:rPr lang="en-US" altLang="en-US" sz="2400" smtClean="0"/>
              <a:t>Data Mining for Financial data analysis</a:t>
            </a:r>
          </a:p>
          <a:p>
            <a:pPr lvl="1" eaLnBrk="1" hangingPunct="1">
              <a:spcBef>
                <a:spcPts val="300"/>
              </a:spcBef>
              <a:spcAft>
                <a:spcPts val="300"/>
              </a:spcAft>
            </a:pPr>
            <a:r>
              <a:rPr lang="en-US" altLang="en-US" sz="2400" smtClean="0"/>
              <a:t>Data Mining for Retail and Telecommunication Industries</a:t>
            </a:r>
          </a:p>
          <a:p>
            <a:pPr lvl="1" eaLnBrk="1" hangingPunct="1">
              <a:spcBef>
                <a:spcPts val="300"/>
              </a:spcBef>
              <a:spcAft>
                <a:spcPts val="300"/>
              </a:spcAft>
            </a:pPr>
            <a:r>
              <a:rPr lang="en-US" altLang="en-US" sz="2400" smtClean="0"/>
              <a:t>Data Mining in Science and Engineering</a:t>
            </a:r>
          </a:p>
          <a:p>
            <a:pPr lvl="1" eaLnBrk="1" hangingPunct="1">
              <a:spcBef>
                <a:spcPts val="300"/>
              </a:spcBef>
              <a:spcAft>
                <a:spcPts val="300"/>
              </a:spcAft>
            </a:pPr>
            <a:r>
              <a:rPr lang="en-US" altLang="en-US" sz="2400" smtClean="0"/>
              <a:t>Data Mining for Intrusion Detection and Prevention</a:t>
            </a:r>
          </a:p>
          <a:p>
            <a:pPr lvl="1" eaLnBrk="1" hangingPunct="1">
              <a:spcBef>
                <a:spcPts val="300"/>
              </a:spcBef>
              <a:spcAft>
                <a:spcPts val="300"/>
              </a:spcAft>
            </a:pPr>
            <a:r>
              <a:rPr lang="en-US" altLang="en-US" sz="2400" smtClean="0"/>
              <a:t>Data Mining and Recommender Systems</a:t>
            </a:r>
          </a:p>
          <a:p>
            <a:pPr lvl="1" eaLnBrk="1" hangingPunct="1"/>
            <a:endParaRPr lang="en-US" altLang="en-US" sz="2400" smtClean="0"/>
          </a:p>
          <a:p>
            <a:pPr lvl="1" eaLnBrk="1" hangingPunct="1"/>
            <a:endParaRPr lang="en-US" altLang="en-US" sz="2400" smtClean="0"/>
          </a:p>
          <a:p>
            <a:pPr lvl="1" eaLnBrk="1" hangingPunct="1"/>
            <a:endParaRPr lang="en-US" altLang="en-US" sz="2400" smtClean="0"/>
          </a:p>
          <a:p>
            <a:pPr lvl="1" eaLnBrk="1" hangingPunct="1"/>
            <a:endParaRPr lang="en-US" altLang="en-US" sz="2400" smtClean="0"/>
          </a:p>
          <a:p>
            <a:pPr lvl="1" eaLnBrk="1" hangingPunct="1"/>
            <a:endParaRPr lang="en-US" altLang="en-US" sz="2400" smtClean="0"/>
          </a:p>
        </p:txBody>
      </p:sp>
    </p:spTree>
  </p:cSld>
  <p:clrMapOvr>
    <a:masterClrMapping/>
  </p:clrMapOvr>
  <p:transition>
    <p:newsfla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C42E4A0-3CE3-4ECC-A48F-36D36E0A17C3}" type="slidenum">
              <a:rPr lang="en-US" altLang="en-US" sz="1200"/>
              <a:pPr>
                <a:spcBef>
                  <a:spcPct val="0"/>
                </a:spcBef>
                <a:buClrTx/>
                <a:buSzTx/>
                <a:buFontTx/>
                <a:buNone/>
              </a:pPr>
              <a:t>36</a:t>
            </a:fld>
            <a:endParaRPr lang="en-US" altLang="en-US" sz="1200"/>
          </a:p>
        </p:txBody>
      </p:sp>
      <p:sp>
        <p:nvSpPr>
          <p:cNvPr id="52227" name="Rectangle 2"/>
          <p:cNvSpPr>
            <a:spLocks noGrp="1" noChangeArrowheads="1"/>
          </p:cNvSpPr>
          <p:nvPr>
            <p:ph type="title"/>
          </p:nvPr>
        </p:nvSpPr>
        <p:spPr>
          <a:xfrm>
            <a:off x="0" y="304800"/>
            <a:ext cx="9144000" cy="685800"/>
          </a:xfrm>
        </p:spPr>
        <p:txBody>
          <a:bodyPr/>
          <a:lstStyle/>
          <a:p>
            <a:pPr eaLnBrk="1" hangingPunct="1"/>
            <a:r>
              <a:rPr lang="en-US" altLang="en-US" sz="3200" smtClean="0"/>
              <a:t>Data Mining for Financial Data Analysis (I)</a:t>
            </a:r>
          </a:p>
        </p:txBody>
      </p:sp>
      <p:sp>
        <p:nvSpPr>
          <p:cNvPr id="52228" name="Rectangle 3"/>
          <p:cNvSpPr>
            <a:spLocks noGrp="1" noChangeArrowheads="1"/>
          </p:cNvSpPr>
          <p:nvPr>
            <p:ph type="body" idx="1"/>
          </p:nvPr>
        </p:nvSpPr>
        <p:spPr>
          <a:xfrm>
            <a:off x="381000" y="1371600"/>
            <a:ext cx="8305800" cy="5105400"/>
          </a:xfrm>
        </p:spPr>
        <p:txBody>
          <a:bodyPr/>
          <a:lstStyle/>
          <a:p>
            <a:pPr eaLnBrk="1" hangingPunct="1">
              <a:spcBef>
                <a:spcPct val="25000"/>
              </a:spcBef>
            </a:pPr>
            <a:r>
              <a:rPr lang="en-US" altLang="en-US" sz="2400" smtClean="0"/>
              <a:t>Financial data collected in banks and financial institutions are often relatively complete, reliable, and of high quality</a:t>
            </a:r>
          </a:p>
          <a:p>
            <a:pPr eaLnBrk="1" hangingPunct="1">
              <a:spcBef>
                <a:spcPct val="25000"/>
              </a:spcBef>
            </a:pPr>
            <a:r>
              <a:rPr lang="en-US" altLang="en-US" sz="2400" smtClean="0"/>
              <a:t>Design and construction of data warehouses for multidimensional data analysis and data mining</a:t>
            </a:r>
          </a:p>
          <a:p>
            <a:pPr lvl="1" eaLnBrk="1" hangingPunct="1">
              <a:spcBef>
                <a:spcPct val="25000"/>
              </a:spcBef>
            </a:pPr>
            <a:r>
              <a:rPr lang="en-US" altLang="en-US" sz="2400" smtClean="0"/>
              <a:t>View the debt and revenue changes by month, by region, by sector, and by other factors</a:t>
            </a:r>
          </a:p>
          <a:p>
            <a:pPr lvl="1" eaLnBrk="1" hangingPunct="1">
              <a:spcBef>
                <a:spcPct val="25000"/>
              </a:spcBef>
            </a:pPr>
            <a:r>
              <a:rPr lang="en-US" altLang="en-US" sz="2400" smtClean="0"/>
              <a:t>Access statistical information such as max, min, total, average, trend, etc.</a:t>
            </a:r>
          </a:p>
          <a:p>
            <a:pPr eaLnBrk="1" hangingPunct="1"/>
            <a:r>
              <a:rPr lang="en-US" altLang="en-US" sz="2400" smtClean="0"/>
              <a:t>Loan payment prediction/consumer credit policy analysis</a:t>
            </a:r>
          </a:p>
          <a:p>
            <a:pPr lvl="1" eaLnBrk="1" hangingPunct="1"/>
            <a:r>
              <a:rPr lang="en-US" altLang="en-US" sz="2400" smtClean="0"/>
              <a:t>feature selection and attribute relevance ranking</a:t>
            </a:r>
          </a:p>
          <a:p>
            <a:pPr lvl="1" eaLnBrk="1" hangingPunct="1"/>
            <a:r>
              <a:rPr lang="en-US" altLang="en-US" sz="2400" smtClean="0"/>
              <a:t>Loan payment performance</a:t>
            </a:r>
          </a:p>
          <a:p>
            <a:pPr lvl="1" eaLnBrk="1" hangingPunct="1"/>
            <a:r>
              <a:rPr lang="en-US" altLang="en-US" sz="2400" smtClean="0"/>
              <a:t>Consumer credit rating</a:t>
            </a:r>
          </a:p>
        </p:txBody>
      </p:sp>
    </p:spTree>
  </p:cSld>
  <p:clrMapOvr>
    <a:masterClrMapping/>
  </p:clrMapOvr>
  <p:transition>
    <p:newsfla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AEC98FB-33C6-4F9D-ABF8-D76E850EDDFF}" type="slidenum">
              <a:rPr lang="en-US" altLang="en-US" sz="1200"/>
              <a:pPr>
                <a:spcBef>
                  <a:spcPct val="0"/>
                </a:spcBef>
                <a:buClrTx/>
                <a:buSzTx/>
                <a:buFontTx/>
                <a:buNone/>
              </a:pPr>
              <a:t>37</a:t>
            </a:fld>
            <a:endParaRPr lang="en-US" altLang="en-US" sz="1200"/>
          </a:p>
        </p:txBody>
      </p:sp>
      <p:sp>
        <p:nvSpPr>
          <p:cNvPr id="53251" name="Rectangle 3"/>
          <p:cNvSpPr>
            <a:spLocks noGrp="1" noChangeArrowheads="1"/>
          </p:cNvSpPr>
          <p:nvPr>
            <p:ph type="body" idx="1"/>
          </p:nvPr>
        </p:nvSpPr>
        <p:spPr>
          <a:xfrm>
            <a:off x="381000" y="1295400"/>
            <a:ext cx="8305800" cy="5257800"/>
          </a:xfrm>
        </p:spPr>
        <p:txBody>
          <a:bodyPr/>
          <a:lstStyle/>
          <a:p>
            <a:pPr eaLnBrk="1" hangingPunct="1">
              <a:spcBef>
                <a:spcPts val="600"/>
              </a:spcBef>
            </a:pPr>
            <a:r>
              <a:rPr lang="en-US" altLang="en-US" sz="2400" smtClean="0"/>
              <a:t>Classification and clustering of customers for targeted marketing</a:t>
            </a:r>
          </a:p>
          <a:p>
            <a:pPr lvl="1" eaLnBrk="1" hangingPunct="1">
              <a:spcBef>
                <a:spcPts val="600"/>
              </a:spcBef>
            </a:pPr>
            <a:r>
              <a:rPr lang="en-US" altLang="en-US" sz="2400" smtClean="0"/>
              <a:t>multidimensional segmentation by nearest-neighbor, classification, decision trees, etc. to identify customer groups or associate a new customer to an appropriate customer group</a:t>
            </a:r>
          </a:p>
          <a:p>
            <a:pPr eaLnBrk="1" hangingPunct="1">
              <a:spcBef>
                <a:spcPts val="600"/>
              </a:spcBef>
            </a:pPr>
            <a:r>
              <a:rPr lang="en-US" altLang="en-US" sz="2400" smtClean="0"/>
              <a:t>Detection of money laundering and other financial crimes</a:t>
            </a:r>
          </a:p>
          <a:p>
            <a:pPr lvl="1" eaLnBrk="1" hangingPunct="1">
              <a:spcBef>
                <a:spcPts val="600"/>
              </a:spcBef>
            </a:pPr>
            <a:r>
              <a:rPr lang="en-US" altLang="en-US" sz="2400" smtClean="0"/>
              <a:t>integration of from multiple DBs (e.g., bank transactions, federal/state crime history DBs)</a:t>
            </a:r>
          </a:p>
          <a:p>
            <a:pPr lvl="1" eaLnBrk="1" hangingPunct="1">
              <a:spcBef>
                <a:spcPts val="600"/>
              </a:spcBef>
            </a:pPr>
            <a:r>
              <a:rPr lang="en-US" altLang="en-US" sz="2400" smtClean="0"/>
              <a:t>Tools: data visualization, linkage analysis, classification, clustering tools, outlier analysis, and sequential pattern analysis tools (find unusual access sequences)</a:t>
            </a:r>
            <a:endParaRPr lang="en-US" altLang="en-US" sz="2000" smtClean="0"/>
          </a:p>
          <a:p>
            <a:pPr eaLnBrk="1" hangingPunct="1">
              <a:lnSpc>
                <a:spcPct val="90000"/>
              </a:lnSpc>
            </a:pPr>
            <a:endParaRPr lang="en-US" altLang="en-US" sz="2400" smtClean="0"/>
          </a:p>
        </p:txBody>
      </p:sp>
      <p:sp>
        <p:nvSpPr>
          <p:cNvPr id="53252" name="Rectangle 2"/>
          <p:cNvSpPr txBox="1">
            <a:spLocks noChangeArrowheads="1"/>
          </p:cNvSpPr>
          <p:nvPr/>
        </p:nvSpPr>
        <p:spPr bwMode="auto">
          <a:xfrm>
            <a:off x="0" y="304800"/>
            <a:ext cx="9144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3200" b="1">
                <a:solidFill>
                  <a:schemeClr val="tx2"/>
                </a:solidFill>
              </a:rPr>
              <a:t>Data Mining for Financial Data Analysis (II)</a:t>
            </a:r>
          </a:p>
        </p:txBody>
      </p:sp>
    </p:spTree>
  </p:cSld>
  <p:clrMapOvr>
    <a:masterClrMapping/>
  </p:clrMapOvr>
  <p:transition>
    <p:newsfla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A04D668-9463-44F4-AB46-CDF105DC40BE}" type="slidenum">
              <a:rPr lang="en-US" altLang="en-US" sz="1200"/>
              <a:pPr>
                <a:spcBef>
                  <a:spcPct val="0"/>
                </a:spcBef>
                <a:buClrTx/>
                <a:buSzTx/>
                <a:buFontTx/>
                <a:buNone/>
              </a:pPr>
              <a:t>38</a:t>
            </a:fld>
            <a:endParaRPr lang="en-US" altLang="en-US" sz="1200"/>
          </a:p>
        </p:txBody>
      </p:sp>
      <p:sp>
        <p:nvSpPr>
          <p:cNvPr id="54275" name="Rectangle 2"/>
          <p:cNvSpPr>
            <a:spLocks noGrp="1" noChangeArrowheads="1"/>
          </p:cNvSpPr>
          <p:nvPr>
            <p:ph type="title"/>
          </p:nvPr>
        </p:nvSpPr>
        <p:spPr>
          <a:xfrm>
            <a:off x="-76200" y="304800"/>
            <a:ext cx="9372600" cy="609600"/>
          </a:xfrm>
        </p:spPr>
        <p:txBody>
          <a:bodyPr/>
          <a:lstStyle/>
          <a:p>
            <a:pPr eaLnBrk="1" hangingPunct="1"/>
            <a:r>
              <a:rPr lang="en-US" altLang="en-US" sz="2800" smtClean="0"/>
              <a:t>Data Mining for Retail &amp; Telcomm. Industries (I)</a:t>
            </a:r>
          </a:p>
        </p:txBody>
      </p:sp>
      <p:sp>
        <p:nvSpPr>
          <p:cNvPr id="54276" name="Rectangle 3"/>
          <p:cNvSpPr>
            <a:spLocks noGrp="1" noChangeArrowheads="1"/>
          </p:cNvSpPr>
          <p:nvPr>
            <p:ph type="body" idx="1"/>
          </p:nvPr>
        </p:nvSpPr>
        <p:spPr>
          <a:xfrm>
            <a:off x="381000" y="1295400"/>
            <a:ext cx="8610600" cy="5334000"/>
          </a:xfrm>
        </p:spPr>
        <p:txBody>
          <a:bodyPr/>
          <a:lstStyle/>
          <a:p>
            <a:pPr eaLnBrk="1" hangingPunct="1">
              <a:spcBef>
                <a:spcPts val="600"/>
              </a:spcBef>
              <a:spcAft>
                <a:spcPts val="300"/>
              </a:spcAft>
            </a:pPr>
            <a:r>
              <a:rPr lang="en-US" altLang="en-US" sz="2400" smtClean="0"/>
              <a:t>Retail industry: huge amounts of data on sales, customer shopping history, e-commerce, etc.</a:t>
            </a:r>
          </a:p>
          <a:p>
            <a:pPr eaLnBrk="1" hangingPunct="1">
              <a:spcBef>
                <a:spcPts val="600"/>
              </a:spcBef>
              <a:spcAft>
                <a:spcPts val="300"/>
              </a:spcAft>
            </a:pPr>
            <a:r>
              <a:rPr lang="en-US" altLang="en-US" sz="2400" smtClean="0"/>
              <a:t>Applications of retail data mining </a:t>
            </a:r>
          </a:p>
          <a:p>
            <a:pPr lvl="1" eaLnBrk="1" hangingPunct="1">
              <a:spcBef>
                <a:spcPts val="600"/>
              </a:spcBef>
              <a:spcAft>
                <a:spcPts val="300"/>
              </a:spcAft>
            </a:pPr>
            <a:r>
              <a:rPr lang="en-US" altLang="en-US" sz="2400" smtClean="0"/>
              <a:t>Identify customer buying behaviors</a:t>
            </a:r>
          </a:p>
          <a:p>
            <a:pPr lvl="1" eaLnBrk="1" hangingPunct="1">
              <a:spcBef>
                <a:spcPts val="600"/>
              </a:spcBef>
              <a:spcAft>
                <a:spcPts val="300"/>
              </a:spcAft>
            </a:pPr>
            <a:r>
              <a:rPr lang="en-US" altLang="en-US" sz="2400" smtClean="0"/>
              <a:t>Discover customer shopping patterns and trends</a:t>
            </a:r>
          </a:p>
          <a:p>
            <a:pPr lvl="1" eaLnBrk="1" hangingPunct="1">
              <a:spcBef>
                <a:spcPts val="600"/>
              </a:spcBef>
              <a:spcAft>
                <a:spcPts val="300"/>
              </a:spcAft>
            </a:pPr>
            <a:r>
              <a:rPr lang="en-US" altLang="en-US" sz="2400" smtClean="0"/>
              <a:t>Improve the quality of customer service</a:t>
            </a:r>
          </a:p>
          <a:p>
            <a:pPr lvl="1" eaLnBrk="1" hangingPunct="1">
              <a:spcBef>
                <a:spcPts val="600"/>
              </a:spcBef>
              <a:spcAft>
                <a:spcPts val="300"/>
              </a:spcAft>
            </a:pPr>
            <a:r>
              <a:rPr lang="en-US" altLang="en-US" sz="2400" smtClean="0"/>
              <a:t>Achieve better customer retention and satisfaction</a:t>
            </a:r>
          </a:p>
          <a:p>
            <a:pPr lvl="1" eaLnBrk="1" hangingPunct="1">
              <a:spcBef>
                <a:spcPts val="600"/>
              </a:spcBef>
              <a:spcAft>
                <a:spcPts val="300"/>
              </a:spcAft>
            </a:pPr>
            <a:r>
              <a:rPr lang="en-US" altLang="en-US" sz="2400" smtClean="0"/>
              <a:t>Enhance goods consumption ratios</a:t>
            </a:r>
          </a:p>
          <a:p>
            <a:pPr lvl="1" eaLnBrk="1" hangingPunct="1">
              <a:spcBef>
                <a:spcPts val="600"/>
              </a:spcBef>
              <a:spcAft>
                <a:spcPts val="300"/>
              </a:spcAft>
            </a:pPr>
            <a:r>
              <a:rPr lang="en-US" altLang="en-US" sz="2400" smtClean="0"/>
              <a:t>Design more effective goods transportation and distribution policies</a:t>
            </a:r>
          </a:p>
          <a:p>
            <a:pPr eaLnBrk="1" hangingPunct="1">
              <a:spcBef>
                <a:spcPts val="600"/>
              </a:spcBef>
              <a:spcAft>
                <a:spcPts val="300"/>
              </a:spcAft>
            </a:pPr>
            <a:r>
              <a:rPr lang="en-US" altLang="en-US" sz="2400" smtClean="0"/>
              <a:t>Telcomm. and many other industries: Share many similar goals and expectations of retail data mining</a:t>
            </a:r>
          </a:p>
        </p:txBody>
      </p:sp>
    </p:spTree>
  </p:cSld>
  <p:clrMapOvr>
    <a:masterClrMapping/>
  </p:clrMapOvr>
  <p:transition>
    <p:newsfla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B6565A3-2253-445C-BD1F-9FD0908A75BD}" type="slidenum">
              <a:rPr lang="en-US" altLang="en-US" sz="1200"/>
              <a:pPr>
                <a:spcBef>
                  <a:spcPct val="0"/>
                </a:spcBef>
                <a:buClrTx/>
                <a:buSzTx/>
                <a:buFontTx/>
                <a:buNone/>
              </a:pPr>
              <a:t>39</a:t>
            </a:fld>
            <a:endParaRPr lang="en-US" altLang="en-US" sz="1200"/>
          </a:p>
        </p:txBody>
      </p:sp>
      <p:sp>
        <p:nvSpPr>
          <p:cNvPr id="55299" name="Rectangle 2"/>
          <p:cNvSpPr>
            <a:spLocks noGrp="1" noChangeArrowheads="1"/>
          </p:cNvSpPr>
          <p:nvPr>
            <p:ph type="title"/>
          </p:nvPr>
        </p:nvSpPr>
        <p:spPr/>
        <p:txBody>
          <a:bodyPr/>
          <a:lstStyle/>
          <a:p>
            <a:pPr eaLnBrk="1" hangingPunct="1"/>
            <a:r>
              <a:rPr lang="en-US" altLang="en-US" sz="3200" smtClean="0"/>
              <a:t>Data Mining Practice for Retail Industry</a:t>
            </a:r>
          </a:p>
        </p:txBody>
      </p:sp>
      <p:sp>
        <p:nvSpPr>
          <p:cNvPr id="55300" name="Rectangle 3"/>
          <p:cNvSpPr>
            <a:spLocks noGrp="1" noChangeArrowheads="1"/>
          </p:cNvSpPr>
          <p:nvPr>
            <p:ph type="body" idx="1"/>
          </p:nvPr>
        </p:nvSpPr>
        <p:spPr>
          <a:xfrm>
            <a:off x="304800" y="1295400"/>
            <a:ext cx="8458200" cy="5181600"/>
          </a:xfrm>
        </p:spPr>
        <p:txBody>
          <a:bodyPr/>
          <a:lstStyle/>
          <a:p>
            <a:pPr marL="457200" eaLnBrk="1" hangingPunct="1">
              <a:spcBef>
                <a:spcPts val="600"/>
              </a:spcBef>
              <a:spcAft>
                <a:spcPts val="300"/>
              </a:spcAft>
            </a:pPr>
            <a:r>
              <a:rPr lang="en-US" altLang="en-US" sz="2000" smtClean="0"/>
              <a:t>Design and construction of data warehouses </a:t>
            </a:r>
          </a:p>
          <a:p>
            <a:pPr marL="457200" eaLnBrk="1" hangingPunct="1">
              <a:spcBef>
                <a:spcPts val="600"/>
              </a:spcBef>
              <a:spcAft>
                <a:spcPts val="300"/>
              </a:spcAft>
            </a:pPr>
            <a:r>
              <a:rPr lang="en-US" altLang="en-US" sz="2000" smtClean="0"/>
              <a:t>Multidimensional analysis of sales, customers, products, time, and region</a:t>
            </a:r>
          </a:p>
          <a:p>
            <a:pPr marL="457200" eaLnBrk="1" hangingPunct="1">
              <a:spcBef>
                <a:spcPts val="600"/>
              </a:spcBef>
              <a:spcAft>
                <a:spcPts val="300"/>
              </a:spcAft>
            </a:pPr>
            <a:r>
              <a:rPr lang="en-US" altLang="en-US" sz="2000" smtClean="0"/>
              <a:t>Analysis of the effectiveness of sales campaigns</a:t>
            </a:r>
          </a:p>
          <a:p>
            <a:pPr marL="457200" eaLnBrk="1" hangingPunct="1">
              <a:spcBef>
                <a:spcPts val="600"/>
              </a:spcBef>
              <a:spcAft>
                <a:spcPts val="300"/>
              </a:spcAft>
            </a:pPr>
            <a:r>
              <a:rPr lang="en-US" altLang="en-US" sz="2000" smtClean="0"/>
              <a:t>Customer retention: Analysis of customer loyalty</a:t>
            </a:r>
          </a:p>
          <a:p>
            <a:pPr marL="914400" lvl="1" eaLnBrk="1" hangingPunct="1">
              <a:spcBef>
                <a:spcPts val="600"/>
              </a:spcBef>
              <a:spcAft>
                <a:spcPts val="300"/>
              </a:spcAft>
            </a:pPr>
            <a:r>
              <a:rPr lang="en-US" altLang="en-US" sz="2000" smtClean="0"/>
              <a:t>Use customer loyalty card information to register sequences of purchases of particular customers</a:t>
            </a:r>
          </a:p>
          <a:p>
            <a:pPr marL="914400" lvl="1" eaLnBrk="1" hangingPunct="1">
              <a:spcBef>
                <a:spcPts val="600"/>
              </a:spcBef>
              <a:spcAft>
                <a:spcPts val="300"/>
              </a:spcAft>
            </a:pPr>
            <a:r>
              <a:rPr lang="en-US" altLang="en-US" sz="2000" smtClean="0"/>
              <a:t>Use sequential pattern mining to investigate changes in customer consumption or loyalty</a:t>
            </a:r>
          </a:p>
          <a:p>
            <a:pPr marL="914400" lvl="1" eaLnBrk="1" hangingPunct="1">
              <a:spcBef>
                <a:spcPts val="600"/>
              </a:spcBef>
              <a:spcAft>
                <a:spcPts val="300"/>
              </a:spcAft>
            </a:pPr>
            <a:r>
              <a:rPr lang="en-US" altLang="en-US" sz="2000" smtClean="0"/>
              <a:t>Suggest adjustments on the pricing and variety of goods</a:t>
            </a:r>
          </a:p>
          <a:p>
            <a:pPr marL="457200" eaLnBrk="1" hangingPunct="1">
              <a:spcBef>
                <a:spcPts val="600"/>
              </a:spcBef>
              <a:spcAft>
                <a:spcPts val="300"/>
              </a:spcAft>
            </a:pPr>
            <a:r>
              <a:rPr lang="en-US" altLang="en-US" sz="2000" smtClean="0"/>
              <a:t>Product recommendation and cross-reference of items</a:t>
            </a:r>
          </a:p>
          <a:p>
            <a:pPr marL="457200" eaLnBrk="1" hangingPunct="1">
              <a:spcBef>
                <a:spcPts val="600"/>
              </a:spcBef>
              <a:spcAft>
                <a:spcPts val="300"/>
              </a:spcAft>
            </a:pPr>
            <a:r>
              <a:rPr lang="en-US" altLang="en-US" sz="2000" smtClean="0"/>
              <a:t>Fraudulent analysis and the identification of usual patterns</a:t>
            </a:r>
          </a:p>
          <a:p>
            <a:pPr marL="457200" eaLnBrk="1" hangingPunct="1">
              <a:spcBef>
                <a:spcPts val="600"/>
              </a:spcBef>
              <a:spcAft>
                <a:spcPts val="300"/>
              </a:spcAft>
            </a:pPr>
            <a:r>
              <a:rPr lang="en-US" altLang="en-US" sz="2000" smtClean="0"/>
              <a:t>Use of visualization tools in data analysis</a:t>
            </a:r>
          </a:p>
        </p:txBody>
      </p:sp>
    </p:spTree>
  </p:cSld>
  <p:clrMapOvr>
    <a:masterClrMapping/>
  </p:clrMapOvr>
  <p:transition>
    <p:newsfla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3106851-DD57-4B6E-91A4-6486D1B9C456}" type="slidenum">
              <a:rPr lang="en-US" altLang="en-US" sz="1200"/>
              <a:pPr>
                <a:spcBef>
                  <a:spcPct val="0"/>
                </a:spcBef>
                <a:buClrTx/>
                <a:buSzTx/>
                <a:buFontTx/>
                <a:buNone/>
              </a:pPr>
              <a:t>40</a:t>
            </a:fld>
            <a:endParaRPr lang="en-US" altLang="en-US" sz="1200"/>
          </a:p>
        </p:txBody>
      </p:sp>
      <p:sp>
        <p:nvSpPr>
          <p:cNvPr id="56323" name="Rectangle 2"/>
          <p:cNvSpPr>
            <a:spLocks noGrp="1" noChangeArrowheads="1"/>
          </p:cNvSpPr>
          <p:nvPr>
            <p:ph type="title"/>
          </p:nvPr>
        </p:nvSpPr>
        <p:spPr>
          <a:xfrm>
            <a:off x="0" y="304800"/>
            <a:ext cx="9144000" cy="609600"/>
          </a:xfrm>
        </p:spPr>
        <p:txBody>
          <a:bodyPr/>
          <a:lstStyle/>
          <a:p>
            <a:pPr eaLnBrk="1" hangingPunct="1"/>
            <a:r>
              <a:rPr lang="en-US" altLang="en-US" sz="3200" smtClean="0"/>
              <a:t>Data Mining in Science and Engineering</a:t>
            </a:r>
          </a:p>
        </p:txBody>
      </p:sp>
      <p:sp>
        <p:nvSpPr>
          <p:cNvPr id="56324" name="Rectangle 3"/>
          <p:cNvSpPr>
            <a:spLocks noGrp="1" noChangeArrowheads="1"/>
          </p:cNvSpPr>
          <p:nvPr>
            <p:ph type="body" idx="1"/>
          </p:nvPr>
        </p:nvSpPr>
        <p:spPr>
          <a:xfrm>
            <a:off x="304800" y="1295400"/>
            <a:ext cx="8458200" cy="5181600"/>
          </a:xfrm>
        </p:spPr>
        <p:txBody>
          <a:bodyPr/>
          <a:lstStyle/>
          <a:p>
            <a:pPr marL="457200" eaLnBrk="1" hangingPunct="1">
              <a:spcBef>
                <a:spcPts val="600"/>
              </a:spcBef>
              <a:spcAft>
                <a:spcPts val="300"/>
              </a:spcAft>
            </a:pPr>
            <a:r>
              <a:rPr lang="en-US" altLang="en-US" sz="2000" smtClean="0"/>
              <a:t>Data warehouses and data preprocessing</a:t>
            </a:r>
          </a:p>
          <a:p>
            <a:pPr marL="857250" lvl="1" eaLnBrk="1" hangingPunct="1">
              <a:spcBef>
                <a:spcPts val="600"/>
              </a:spcBef>
              <a:spcAft>
                <a:spcPts val="300"/>
              </a:spcAft>
            </a:pPr>
            <a:r>
              <a:rPr lang="en-US" altLang="en-US" sz="2000" smtClean="0"/>
              <a:t>Resolving inconsistencies or incompatible data collected in diverse environments and different periods (e.g. eco-system studies) </a:t>
            </a:r>
          </a:p>
          <a:p>
            <a:pPr marL="457200" eaLnBrk="1" hangingPunct="1">
              <a:spcBef>
                <a:spcPts val="600"/>
              </a:spcBef>
              <a:spcAft>
                <a:spcPts val="300"/>
              </a:spcAft>
            </a:pPr>
            <a:r>
              <a:rPr lang="en-US" altLang="en-US" sz="2000" smtClean="0"/>
              <a:t>Mining complex data types</a:t>
            </a:r>
          </a:p>
          <a:p>
            <a:pPr marL="857250" lvl="1" eaLnBrk="1" hangingPunct="1">
              <a:spcBef>
                <a:spcPts val="600"/>
              </a:spcBef>
              <a:spcAft>
                <a:spcPts val="300"/>
              </a:spcAft>
            </a:pPr>
            <a:r>
              <a:rPr lang="en-US" altLang="en-US" sz="2000" smtClean="0"/>
              <a:t>Spatiotemporal, biological, diverse semantics and relationships</a:t>
            </a:r>
          </a:p>
          <a:p>
            <a:pPr marL="457200" eaLnBrk="1" hangingPunct="1">
              <a:spcBef>
                <a:spcPts val="600"/>
              </a:spcBef>
              <a:spcAft>
                <a:spcPts val="300"/>
              </a:spcAft>
            </a:pPr>
            <a:r>
              <a:rPr lang="en-US" altLang="en-US" sz="2000" smtClean="0"/>
              <a:t>Graph-based and network-based mining</a:t>
            </a:r>
          </a:p>
          <a:p>
            <a:pPr marL="857250" lvl="1" eaLnBrk="1" hangingPunct="1">
              <a:spcBef>
                <a:spcPts val="600"/>
              </a:spcBef>
              <a:spcAft>
                <a:spcPts val="300"/>
              </a:spcAft>
            </a:pPr>
            <a:r>
              <a:rPr lang="en-US" altLang="en-US" sz="2000" smtClean="0"/>
              <a:t>Links, relationships, data flow, etc.</a:t>
            </a:r>
          </a:p>
          <a:p>
            <a:pPr marL="457200" eaLnBrk="1" hangingPunct="1">
              <a:spcBef>
                <a:spcPts val="600"/>
              </a:spcBef>
              <a:spcAft>
                <a:spcPts val="300"/>
              </a:spcAft>
            </a:pPr>
            <a:r>
              <a:rPr lang="en-US" altLang="en-US" sz="2000" smtClean="0"/>
              <a:t>Visualization tools and domain-specific knowledge</a:t>
            </a:r>
          </a:p>
          <a:p>
            <a:pPr marL="457200" eaLnBrk="1" hangingPunct="1">
              <a:spcBef>
                <a:spcPts val="600"/>
              </a:spcBef>
              <a:spcAft>
                <a:spcPts val="300"/>
              </a:spcAft>
            </a:pPr>
            <a:r>
              <a:rPr lang="en-US" altLang="en-US" sz="2000" smtClean="0"/>
              <a:t>Other issues</a:t>
            </a:r>
          </a:p>
          <a:p>
            <a:pPr marL="857250" lvl="1" eaLnBrk="1" hangingPunct="1">
              <a:spcBef>
                <a:spcPts val="600"/>
              </a:spcBef>
              <a:spcAft>
                <a:spcPts val="300"/>
              </a:spcAft>
            </a:pPr>
            <a:r>
              <a:rPr lang="en-US" altLang="en-US" sz="2000" smtClean="0"/>
              <a:t>Data mining in social sciences and social studies: text and social media</a:t>
            </a:r>
          </a:p>
          <a:p>
            <a:pPr marL="857250" lvl="1" eaLnBrk="1" hangingPunct="1">
              <a:spcBef>
                <a:spcPts val="600"/>
              </a:spcBef>
              <a:spcAft>
                <a:spcPts val="300"/>
              </a:spcAft>
            </a:pPr>
            <a:r>
              <a:rPr lang="en-US" altLang="en-US" sz="2000" smtClean="0"/>
              <a:t>Data mining in computer science: monitoring systems, software bugs, network intrusion</a:t>
            </a:r>
          </a:p>
        </p:txBody>
      </p:sp>
    </p:spTree>
  </p:cSld>
  <p:clrMapOvr>
    <a:masterClrMapping/>
  </p:clrMapOvr>
  <p:transition>
    <p:newsfla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0556CA8-4091-45F7-9D27-705B6D359F3F}" type="slidenum">
              <a:rPr lang="en-US" altLang="en-US" sz="1200"/>
              <a:pPr>
                <a:spcBef>
                  <a:spcPct val="0"/>
                </a:spcBef>
                <a:buClrTx/>
                <a:buSzTx/>
                <a:buFontTx/>
                <a:buNone/>
              </a:pPr>
              <a:t>41</a:t>
            </a:fld>
            <a:endParaRPr lang="en-US" altLang="en-US" sz="1200"/>
          </a:p>
        </p:txBody>
      </p:sp>
      <p:sp>
        <p:nvSpPr>
          <p:cNvPr id="57347" name="Rectangle 2"/>
          <p:cNvSpPr>
            <a:spLocks noGrp="1" noChangeArrowheads="1"/>
          </p:cNvSpPr>
          <p:nvPr>
            <p:ph type="title"/>
          </p:nvPr>
        </p:nvSpPr>
        <p:spPr>
          <a:xfrm>
            <a:off x="0" y="152400"/>
            <a:ext cx="9144000" cy="1066800"/>
          </a:xfrm>
        </p:spPr>
        <p:txBody>
          <a:bodyPr/>
          <a:lstStyle/>
          <a:p>
            <a:pPr eaLnBrk="1" hangingPunct="1"/>
            <a:r>
              <a:rPr lang="en-US" altLang="en-US" sz="3200" smtClean="0"/>
              <a:t>Data Mining for Intrusion Detection and Prevention</a:t>
            </a:r>
          </a:p>
        </p:txBody>
      </p:sp>
      <p:sp>
        <p:nvSpPr>
          <p:cNvPr id="57348" name="Rectangle 3"/>
          <p:cNvSpPr>
            <a:spLocks noGrp="1" noChangeArrowheads="1"/>
          </p:cNvSpPr>
          <p:nvPr>
            <p:ph type="body" idx="1"/>
          </p:nvPr>
        </p:nvSpPr>
        <p:spPr>
          <a:xfrm>
            <a:off x="228600" y="1295400"/>
            <a:ext cx="8610600" cy="5181600"/>
          </a:xfrm>
        </p:spPr>
        <p:txBody>
          <a:bodyPr/>
          <a:lstStyle/>
          <a:p>
            <a:pPr marL="457200" eaLnBrk="1" hangingPunct="1">
              <a:spcBef>
                <a:spcPts val="300"/>
              </a:spcBef>
              <a:spcAft>
                <a:spcPts val="600"/>
              </a:spcAft>
            </a:pPr>
            <a:r>
              <a:rPr lang="en-US" altLang="en-US" sz="2000" smtClean="0"/>
              <a:t>Majority of intrusion detection and prevention systems use</a:t>
            </a:r>
          </a:p>
          <a:p>
            <a:pPr marL="857250" lvl="1" eaLnBrk="1" hangingPunct="1">
              <a:spcBef>
                <a:spcPts val="300"/>
              </a:spcBef>
              <a:spcAft>
                <a:spcPts val="600"/>
              </a:spcAft>
            </a:pPr>
            <a:r>
              <a:rPr lang="en-US" altLang="en-US" sz="2000" smtClean="0"/>
              <a:t>Signature-based detection: use signatures, attack patterns that are preconfigured and predetermined by domain experts</a:t>
            </a:r>
          </a:p>
          <a:p>
            <a:pPr marL="857250" lvl="1" eaLnBrk="1" hangingPunct="1">
              <a:spcBef>
                <a:spcPts val="300"/>
              </a:spcBef>
              <a:spcAft>
                <a:spcPts val="600"/>
              </a:spcAft>
            </a:pPr>
            <a:r>
              <a:rPr lang="en-US" altLang="en-US" sz="2000" smtClean="0"/>
              <a:t>Anomaly-based detection: build profiles (models of normal behavior) and detect those that are substantially deviate from the profiles</a:t>
            </a:r>
          </a:p>
          <a:p>
            <a:pPr marL="457200" eaLnBrk="1" hangingPunct="1">
              <a:spcBef>
                <a:spcPts val="300"/>
              </a:spcBef>
              <a:spcAft>
                <a:spcPts val="600"/>
              </a:spcAft>
            </a:pPr>
            <a:r>
              <a:rPr lang="en-US" altLang="en-US" sz="2000" smtClean="0"/>
              <a:t>What data mining can help</a:t>
            </a:r>
          </a:p>
          <a:p>
            <a:pPr marL="857250" lvl="1" eaLnBrk="1" hangingPunct="1">
              <a:spcBef>
                <a:spcPts val="300"/>
              </a:spcBef>
              <a:spcAft>
                <a:spcPts val="600"/>
              </a:spcAft>
            </a:pPr>
            <a:r>
              <a:rPr lang="en-US" altLang="en-US" sz="2000" smtClean="0"/>
              <a:t>New data mining algorithms for intrusion detection</a:t>
            </a:r>
          </a:p>
          <a:p>
            <a:pPr marL="857250" lvl="1" eaLnBrk="1" hangingPunct="1">
              <a:spcBef>
                <a:spcPts val="300"/>
              </a:spcBef>
              <a:spcAft>
                <a:spcPts val="600"/>
              </a:spcAft>
            </a:pPr>
            <a:r>
              <a:rPr lang="en-US" altLang="en-US" sz="2000" smtClean="0"/>
              <a:t>Association, correlation, and discriminative pattern analysis help select and build discriminative classifiers</a:t>
            </a:r>
          </a:p>
          <a:p>
            <a:pPr marL="857250" lvl="1" eaLnBrk="1" hangingPunct="1">
              <a:spcBef>
                <a:spcPts val="300"/>
              </a:spcBef>
              <a:spcAft>
                <a:spcPts val="600"/>
              </a:spcAft>
            </a:pPr>
            <a:r>
              <a:rPr lang="en-US" altLang="en-US" sz="2000" smtClean="0"/>
              <a:t>Analysis of stream data: outlier detection, clustering, model shifting</a:t>
            </a:r>
          </a:p>
          <a:p>
            <a:pPr marL="857250" lvl="1" eaLnBrk="1" hangingPunct="1">
              <a:spcBef>
                <a:spcPts val="300"/>
              </a:spcBef>
              <a:spcAft>
                <a:spcPts val="600"/>
              </a:spcAft>
            </a:pPr>
            <a:r>
              <a:rPr lang="en-US" altLang="en-US" sz="2000" smtClean="0"/>
              <a:t>Distributed data mining</a:t>
            </a:r>
          </a:p>
          <a:p>
            <a:pPr marL="857250" lvl="1" eaLnBrk="1" hangingPunct="1">
              <a:spcBef>
                <a:spcPts val="300"/>
              </a:spcBef>
              <a:spcAft>
                <a:spcPts val="600"/>
              </a:spcAft>
            </a:pPr>
            <a:r>
              <a:rPr lang="en-US" altLang="en-US" sz="2000" smtClean="0"/>
              <a:t>Visualization and querying tools</a:t>
            </a:r>
          </a:p>
        </p:txBody>
      </p:sp>
    </p:spTree>
  </p:cSld>
  <p:clrMapOvr>
    <a:masterClrMapping/>
  </p:clrMapOvr>
  <p:transition>
    <p:newsfla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3E7DFE09-D94A-4FAB-B556-BA8DE2D2D390}" type="slidenum">
              <a:rPr lang="en-US" altLang="en-US" sz="1200"/>
              <a:pPr>
                <a:spcBef>
                  <a:spcPct val="0"/>
                </a:spcBef>
                <a:buClrTx/>
                <a:buSzTx/>
                <a:buFontTx/>
                <a:buNone/>
              </a:pPr>
              <a:t>42</a:t>
            </a:fld>
            <a:endParaRPr lang="en-US" altLang="en-US" sz="1200"/>
          </a:p>
        </p:txBody>
      </p:sp>
      <p:sp>
        <p:nvSpPr>
          <p:cNvPr id="58371" name="Rectangle 2"/>
          <p:cNvSpPr>
            <a:spLocks noGrp="1" noChangeArrowheads="1"/>
          </p:cNvSpPr>
          <p:nvPr>
            <p:ph type="title"/>
          </p:nvPr>
        </p:nvSpPr>
        <p:spPr>
          <a:xfrm>
            <a:off x="0" y="228600"/>
            <a:ext cx="9144000" cy="685800"/>
          </a:xfrm>
        </p:spPr>
        <p:txBody>
          <a:bodyPr/>
          <a:lstStyle/>
          <a:p>
            <a:pPr eaLnBrk="1" hangingPunct="1"/>
            <a:r>
              <a:rPr lang="en-US" altLang="en-US" sz="3200" smtClean="0"/>
              <a:t>Data Mining and Recommender Systems</a:t>
            </a:r>
          </a:p>
        </p:txBody>
      </p:sp>
      <p:sp>
        <p:nvSpPr>
          <p:cNvPr id="58372" name="Rectangle 3"/>
          <p:cNvSpPr>
            <a:spLocks noGrp="1" noChangeArrowheads="1"/>
          </p:cNvSpPr>
          <p:nvPr>
            <p:ph type="body" idx="1"/>
          </p:nvPr>
        </p:nvSpPr>
        <p:spPr>
          <a:xfrm>
            <a:off x="228600" y="1295400"/>
            <a:ext cx="8610600" cy="5181600"/>
          </a:xfrm>
        </p:spPr>
        <p:txBody>
          <a:bodyPr/>
          <a:lstStyle/>
          <a:p>
            <a:pPr marL="457200" eaLnBrk="1" hangingPunct="1">
              <a:spcBef>
                <a:spcPts val="300"/>
              </a:spcBef>
              <a:spcAft>
                <a:spcPts val="300"/>
              </a:spcAft>
            </a:pPr>
            <a:r>
              <a:rPr lang="en-US" altLang="en-US" sz="2000" smtClean="0"/>
              <a:t>Recommender systems: Personalization, making product recommendations that are likely to be of interest to a user</a:t>
            </a:r>
          </a:p>
          <a:p>
            <a:pPr marL="457200" eaLnBrk="1" hangingPunct="1">
              <a:spcBef>
                <a:spcPts val="300"/>
              </a:spcBef>
              <a:spcAft>
                <a:spcPts val="300"/>
              </a:spcAft>
            </a:pPr>
            <a:r>
              <a:rPr lang="en-US" altLang="en-US" sz="2000" smtClean="0"/>
              <a:t>Approaches: Content-based, collaborative, or their hybrid </a:t>
            </a:r>
          </a:p>
          <a:p>
            <a:pPr marL="857250" lvl="1" eaLnBrk="1" hangingPunct="1">
              <a:spcBef>
                <a:spcPts val="300"/>
              </a:spcBef>
              <a:spcAft>
                <a:spcPts val="300"/>
              </a:spcAft>
            </a:pPr>
            <a:r>
              <a:rPr lang="en-US" altLang="en-US" sz="2000" smtClean="0"/>
              <a:t>Content-based: Recommends items that are similar to items the user preferred or queried in the past</a:t>
            </a:r>
          </a:p>
          <a:p>
            <a:pPr marL="857250" lvl="1" eaLnBrk="1" hangingPunct="1">
              <a:spcBef>
                <a:spcPts val="300"/>
              </a:spcBef>
              <a:spcAft>
                <a:spcPts val="300"/>
              </a:spcAft>
            </a:pPr>
            <a:r>
              <a:rPr lang="en-US" altLang="en-US" sz="2000" smtClean="0"/>
              <a:t>Collaborative filtering: Consider a user's social environment, opinions of other customers who have similar tastes or preferences</a:t>
            </a:r>
          </a:p>
          <a:p>
            <a:pPr marL="457200" eaLnBrk="1" hangingPunct="1">
              <a:spcBef>
                <a:spcPts val="300"/>
              </a:spcBef>
              <a:spcAft>
                <a:spcPts val="300"/>
              </a:spcAft>
            </a:pPr>
            <a:r>
              <a:rPr lang="en-US" altLang="en-US" sz="2000" smtClean="0"/>
              <a:t>Data mining and recommender systems</a:t>
            </a:r>
          </a:p>
          <a:p>
            <a:pPr marL="857250" lvl="1" eaLnBrk="1" hangingPunct="1">
              <a:spcBef>
                <a:spcPts val="300"/>
              </a:spcBef>
              <a:spcAft>
                <a:spcPts val="300"/>
              </a:spcAft>
            </a:pPr>
            <a:r>
              <a:rPr lang="en-US" altLang="en-US" sz="2000" smtClean="0"/>
              <a:t>Users C × items S: extract from known to unknown ratings to predict user-item combinations</a:t>
            </a:r>
          </a:p>
          <a:p>
            <a:pPr marL="857250" lvl="1" eaLnBrk="1" hangingPunct="1">
              <a:spcBef>
                <a:spcPts val="300"/>
              </a:spcBef>
              <a:spcAft>
                <a:spcPts val="300"/>
              </a:spcAft>
            </a:pPr>
            <a:r>
              <a:rPr lang="en-US" altLang="en-US" sz="2000" smtClean="0"/>
              <a:t>Memory-based method often uses k-nearest neighbor approach</a:t>
            </a:r>
          </a:p>
          <a:p>
            <a:pPr marL="857250" lvl="1" eaLnBrk="1" hangingPunct="1">
              <a:spcBef>
                <a:spcPts val="300"/>
              </a:spcBef>
              <a:spcAft>
                <a:spcPts val="300"/>
              </a:spcAft>
            </a:pPr>
            <a:r>
              <a:rPr lang="en-US" altLang="en-US" sz="2000" smtClean="0"/>
              <a:t>Model-based method uses a collection of ratings to learn a model (e.g., probabilistic models, clustering, Bayesian networks, etc.)</a:t>
            </a:r>
          </a:p>
          <a:p>
            <a:pPr marL="857250" lvl="1" eaLnBrk="1" hangingPunct="1">
              <a:spcBef>
                <a:spcPts val="300"/>
              </a:spcBef>
              <a:spcAft>
                <a:spcPts val="300"/>
              </a:spcAft>
            </a:pPr>
            <a:r>
              <a:rPr lang="en-US" altLang="en-US" sz="2000" smtClean="0"/>
              <a:t>Hybrid approaches integrate both to improve performance (e.g., using ensemble)</a:t>
            </a:r>
          </a:p>
        </p:txBody>
      </p:sp>
    </p:spTree>
  </p:cSld>
  <p:clrMapOvr>
    <a:masterClrMapping/>
  </p:clrMapOvr>
  <p:transition>
    <p:newsfla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F819B0A4-4985-4143-B8D3-0F4251529743}" type="slidenum">
              <a:rPr lang="en-US" altLang="en-US" sz="1200"/>
              <a:pPr>
                <a:spcBef>
                  <a:spcPct val="0"/>
                </a:spcBef>
                <a:buClrTx/>
                <a:buSzTx/>
                <a:buFontTx/>
                <a:buNone/>
              </a:pPr>
              <a:t>43</a:t>
            </a:fld>
            <a:endParaRPr lang="en-US" altLang="en-US" sz="1200"/>
          </a:p>
        </p:txBody>
      </p:sp>
      <p:sp>
        <p:nvSpPr>
          <p:cNvPr id="59395"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59396"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5410200" y="3883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44AA34E0-EB03-4240-BA57-0D3AEADD192B}" type="slidenum">
              <a:rPr lang="en-US" altLang="en-US" sz="1200"/>
              <a:pPr>
                <a:spcBef>
                  <a:spcPct val="0"/>
                </a:spcBef>
                <a:buClrTx/>
                <a:buSzTx/>
                <a:buFontTx/>
                <a:buNone/>
              </a:pPr>
              <a:t>44</a:t>
            </a:fld>
            <a:endParaRPr lang="en-US" altLang="en-US" sz="1200"/>
          </a:p>
        </p:txBody>
      </p:sp>
      <p:sp>
        <p:nvSpPr>
          <p:cNvPr id="60419" name="Rectangle 2"/>
          <p:cNvSpPr>
            <a:spLocks noGrp="1" noChangeArrowheads="1"/>
          </p:cNvSpPr>
          <p:nvPr>
            <p:ph type="title"/>
          </p:nvPr>
        </p:nvSpPr>
        <p:spPr>
          <a:xfrm>
            <a:off x="0" y="304800"/>
            <a:ext cx="9144000" cy="609600"/>
          </a:xfrm>
        </p:spPr>
        <p:txBody>
          <a:bodyPr/>
          <a:lstStyle/>
          <a:p>
            <a:pPr eaLnBrk="1" hangingPunct="1"/>
            <a:r>
              <a:rPr lang="en-US" altLang="en-US" sz="3200" smtClean="0"/>
              <a:t>Ubiquitous and Invisible Data Mining</a:t>
            </a:r>
          </a:p>
        </p:txBody>
      </p:sp>
      <p:sp>
        <p:nvSpPr>
          <p:cNvPr id="60420" name="Rectangle 3"/>
          <p:cNvSpPr>
            <a:spLocks noGrp="1" noChangeArrowheads="1"/>
          </p:cNvSpPr>
          <p:nvPr>
            <p:ph type="body" idx="1"/>
          </p:nvPr>
        </p:nvSpPr>
        <p:spPr>
          <a:xfrm>
            <a:off x="304800" y="1295400"/>
            <a:ext cx="8458200" cy="5181600"/>
          </a:xfrm>
        </p:spPr>
        <p:txBody>
          <a:bodyPr/>
          <a:lstStyle/>
          <a:p>
            <a:pPr marL="457200" eaLnBrk="1" hangingPunct="1">
              <a:spcBef>
                <a:spcPts val="600"/>
              </a:spcBef>
              <a:spcAft>
                <a:spcPts val="300"/>
              </a:spcAft>
            </a:pPr>
            <a:r>
              <a:rPr lang="en-US" altLang="en-US" sz="2000" smtClean="0"/>
              <a:t>Ubiquitous Data Mining</a:t>
            </a:r>
          </a:p>
          <a:p>
            <a:pPr marL="857250" lvl="1" eaLnBrk="1" hangingPunct="1">
              <a:spcBef>
                <a:spcPts val="600"/>
              </a:spcBef>
              <a:spcAft>
                <a:spcPts val="300"/>
              </a:spcAft>
            </a:pPr>
            <a:r>
              <a:rPr lang="en-US" altLang="en-US" sz="2000" smtClean="0"/>
              <a:t>Data mining is used everywhere, e.g., online shopping</a:t>
            </a:r>
          </a:p>
          <a:p>
            <a:pPr marL="857250" lvl="1" eaLnBrk="1" hangingPunct="1">
              <a:spcBef>
                <a:spcPts val="600"/>
              </a:spcBef>
              <a:spcAft>
                <a:spcPts val="300"/>
              </a:spcAft>
            </a:pPr>
            <a:r>
              <a:rPr lang="en-US" altLang="en-US" sz="2000" smtClean="0"/>
              <a:t>Ex. Customer relationship management (CRM)</a:t>
            </a:r>
          </a:p>
          <a:p>
            <a:pPr marL="457200" eaLnBrk="1" hangingPunct="1">
              <a:spcBef>
                <a:spcPts val="600"/>
              </a:spcBef>
              <a:spcAft>
                <a:spcPts val="300"/>
              </a:spcAft>
            </a:pPr>
            <a:r>
              <a:rPr lang="en-US" altLang="en-US" sz="2000" smtClean="0"/>
              <a:t>Invisible Data Mining </a:t>
            </a:r>
          </a:p>
          <a:p>
            <a:pPr marL="857250" lvl="1" eaLnBrk="1" hangingPunct="1">
              <a:spcBef>
                <a:spcPts val="600"/>
              </a:spcBef>
              <a:spcAft>
                <a:spcPts val="300"/>
              </a:spcAft>
            </a:pPr>
            <a:r>
              <a:rPr lang="en-US" altLang="en-US" sz="2000" smtClean="0"/>
              <a:t>Invisible:  Data mining functions are built in daily life operations</a:t>
            </a:r>
          </a:p>
          <a:p>
            <a:pPr marL="857250" lvl="1" eaLnBrk="1" hangingPunct="1">
              <a:spcBef>
                <a:spcPts val="600"/>
              </a:spcBef>
              <a:spcAft>
                <a:spcPts val="300"/>
              </a:spcAft>
            </a:pPr>
            <a:r>
              <a:rPr lang="en-US" altLang="en-US" sz="2000" smtClean="0"/>
              <a:t>Ex. Google search: Users may be unaware that they are examining results returned by data </a:t>
            </a:r>
          </a:p>
          <a:p>
            <a:pPr marL="857250" lvl="1" eaLnBrk="1" hangingPunct="1">
              <a:spcBef>
                <a:spcPts val="600"/>
              </a:spcBef>
              <a:spcAft>
                <a:spcPts val="300"/>
              </a:spcAft>
            </a:pPr>
            <a:r>
              <a:rPr lang="en-US" altLang="en-US" sz="2000" smtClean="0"/>
              <a:t>Invisible data mining is highly desirable </a:t>
            </a:r>
          </a:p>
          <a:p>
            <a:pPr marL="857250" lvl="1" eaLnBrk="1" hangingPunct="1">
              <a:spcBef>
                <a:spcPts val="600"/>
              </a:spcBef>
              <a:spcAft>
                <a:spcPts val="300"/>
              </a:spcAft>
            </a:pPr>
            <a:r>
              <a:rPr lang="en-US" altLang="en-US" sz="2000" smtClean="0"/>
              <a:t>Invisible mining needs to consider efficiency and scalability, user interaction, incorporation of background knowledge and visualization techniques, finding interesting patterns, real-time, …</a:t>
            </a:r>
          </a:p>
          <a:p>
            <a:pPr marL="857250" lvl="1" eaLnBrk="1" hangingPunct="1">
              <a:spcBef>
                <a:spcPts val="600"/>
              </a:spcBef>
              <a:spcAft>
                <a:spcPts val="300"/>
              </a:spcAft>
            </a:pPr>
            <a:r>
              <a:rPr lang="en-US" altLang="en-US" sz="2000" smtClean="0"/>
              <a:t>Further work: Integration of data mining into existing business and scientific technologies to provide domain-specific data mining tools </a:t>
            </a:r>
          </a:p>
        </p:txBody>
      </p:sp>
    </p:spTree>
  </p:cSld>
  <p:clrMapOvr>
    <a:masterClrMapping/>
  </p:clrMapOvr>
  <p:transition>
    <p:newsfla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7F8F103-C827-4179-81C2-F4108C3F27B3}" type="slidenum">
              <a:rPr lang="en-US" altLang="en-US" sz="1200"/>
              <a:pPr>
                <a:spcBef>
                  <a:spcPct val="0"/>
                </a:spcBef>
                <a:buClrTx/>
                <a:buSzTx/>
                <a:buFontTx/>
                <a:buNone/>
              </a:pPr>
              <a:t>45</a:t>
            </a:fld>
            <a:endParaRPr lang="en-US" altLang="en-US" sz="1200"/>
          </a:p>
        </p:txBody>
      </p:sp>
      <p:sp>
        <p:nvSpPr>
          <p:cNvPr id="61443" name="Rectangle 2"/>
          <p:cNvSpPr>
            <a:spLocks noGrp="1" noChangeArrowheads="1"/>
          </p:cNvSpPr>
          <p:nvPr>
            <p:ph type="title"/>
          </p:nvPr>
        </p:nvSpPr>
        <p:spPr>
          <a:xfrm>
            <a:off x="0" y="76200"/>
            <a:ext cx="9144000" cy="1066800"/>
          </a:xfrm>
        </p:spPr>
        <p:txBody>
          <a:bodyPr/>
          <a:lstStyle/>
          <a:p>
            <a:pPr eaLnBrk="1" hangingPunct="1"/>
            <a:r>
              <a:rPr lang="en-US" altLang="en-US" sz="3200" smtClean="0"/>
              <a:t>Privacy, Security and Social Impacts of Data Mining</a:t>
            </a:r>
          </a:p>
        </p:txBody>
      </p:sp>
      <p:sp>
        <p:nvSpPr>
          <p:cNvPr id="61444" name="Rectangle 3"/>
          <p:cNvSpPr>
            <a:spLocks noGrp="1" noChangeArrowheads="1"/>
          </p:cNvSpPr>
          <p:nvPr>
            <p:ph type="body" idx="1"/>
          </p:nvPr>
        </p:nvSpPr>
        <p:spPr>
          <a:xfrm>
            <a:off x="304800" y="1371600"/>
            <a:ext cx="8686800" cy="5029200"/>
          </a:xfrm>
        </p:spPr>
        <p:txBody>
          <a:bodyPr/>
          <a:lstStyle/>
          <a:p>
            <a:pPr eaLnBrk="1" hangingPunct="1">
              <a:spcAft>
                <a:spcPts val="300"/>
              </a:spcAft>
            </a:pPr>
            <a:r>
              <a:rPr lang="en-US" altLang="en-US" sz="2000" smtClean="0"/>
              <a:t>Many data mining applications do not touch personal data</a:t>
            </a:r>
          </a:p>
          <a:p>
            <a:pPr lvl="1" eaLnBrk="1" hangingPunct="1">
              <a:spcAft>
                <a:spcPts val="300"/>
              </a:spcAft>
            </a:pPr>
            <a:r>
              <a:rPr lang="en-US" altLang="en-US" sz="2000" smtClean="0"/>
              <a:t>E.g., meteorology, astronomy, geography, geology, biology, and other scientific and engineering data</a:t>
            </a:r>
          </a:p>
          <a:p>
            <a:pPr eaLnBrk="1" hangingPunct="1">
              <a:spcAft>
                <a:spcPts val="300"/>
              </a:spcAft>
            </a:pPr>
            <a:r>
              <a:rPr lang="en-US" altLang="en-US" sz="2000" smtClean="0"/>
              <a:t>Many DM studies are on developing scalable algorithms to find general or statistically significant patterns, not touching  individuals</a:t>
            </a:r>
          </a:p>
          <a:p>
            <a:pPr eaLnBrk="1" hangingPunct="1">
              <a:spcAft>
                <a:spcPts val="300"/>
              </a:spcAft>
            </a:pPr>
            <a:r>
              <a:rPr lang="en-US" altLang="en-US" sz="2000" smtClean="0"/>
              <a:t>The real privacy concern: unconstrained access of individual records, especially privacy-sensitive information</a:t>
            </a:r>
          </a:p>
          <a:p>
            <a:pPr eaLnBrk="1" hangingPunct="1">
              <a:spcAft>
                <a:spcPts val="300"/>
              </a:spcAft>
            </a:pPr>
            <a:r>
              <a:rPr lang="en-US" altLang="en-US" sz="2000" smtClean="0"/>
              <a:t>Method 1: Removing sensitive IDs associated with the data</a:t>
            </a:r>
          </a:p>
          <a:p>
            <a:pPr eaLnBrk="1" hangingPunct="1">
              <a:spcAft>
                <a:spcPts val="300"/>
              </a:spcAft>
            </a:pPr>
            <a:r>
              <a:rPr lang="en-US" altLang="en-US" sz="2000" smtClean="0"/>
              <a:t>Method 2: Data security-enhancing methods</a:t>
            </a:r>
          </a:p>
          <a:p>
            <a:pPr lvl="1" eaLnBrk="1" hangingPunct="1">
              <a:spcAft>
                <a:spcPts val="300"/>
              </a:spcAft>
            </a:pPr>
            <a:r>
              <a:rPr lang="en-US" altLang="en-US" sz="2000" smtClean="0"/>
              <a:t>Multi-level security model: permit to access to only authorized level</a:t>
            </a:r>
          </a:p>
          <a:p>
            <a:pPr lvl="1" eaLnBrk="1" hangingPunct="1">
              <a:spcAft>
                <a:spcPts val="300"/>
              </a:spcAft>
            </a:pPr>
            <a:r>
              <a:rPr lang="en-US" altLang="en-US" sz="2000" smtClean="0"/>
              <a:t>Encryption: e.g., </a:t>
            </a:r>
            <a:r>
              <a:rPr lang="en-US" altLang="en-US" sz="2000" i="1" smtClean="0"/>
              <a:t>blind signatures</a:t>
            </a:r>
            <a:r>
              <a:rPr lang="en-US" altLang="en-US" sz="2000" smtClean="0"/>
              <a:t>, </a:t>
            </a:r>
            <a:r>
              <a:rPr lang="en-US" altLang="en-US" sz="2000" i="1" smtClean="0"/>
              <a:t>biometric encryption</a:t>
            </a:r>
            <a:r>
              <a:rPr lang="en-US" altLang="en-US" sz="2000" smtClean="0"/>
              <a:t>, and </a:t>
            </a:r>
            <a:r>
              <a:rPr lang="en-US" altLang="en-US" sz="2000" i="1" smtClean="0"/>
              <a:t>anonymous databases </a:t>
            </a:r>
            <a:r>
              <a:rPr lang="en-US" altLang="en-US" sz="2000" smtClean="0"/>
              <a:t>(personal information is encrypted and stored at different locations)</a:t>
            </a:r>
          </a:p>
          <a:p>
            <a:pPr eaLnBrk="1" hangingPunct="1">
              <a:spcAft>
                <a:spcPts val="300"/>
              </a:spcAft>
            </a:pPr>
            <a:r>
              <a:rPr lang="en-US" altLang="en-US" sz="2000" smtClean="0"/>
              <a:t>Method 3: Privacy-preserving data mining methods</a:t>
            </a:r>
          </a:p>
        </p:txBody>
      </p:sp>
    </p:spTree>
  </p:cSld>
  <p:clrMapOvr>
    <a:masterClrMapping/>
  </p:clrMapOvr>
  <p:transition>
    <p:newsfla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1066738-16CE-4F60-B6B0-9CEE5F4C8EB9}" type="slidenum">
              <a:rPr lang="en-US" altLang="en-US" sz="1200"/>
              <a:pPr>
                <a:spcBef>
                  <a:spcPct val="0"/>
                </a:spcBef>
                <a:buClrTx/>
                <a:buSzTx/>
                <a:buFontTx/>
                <a:buNone/>
              </a:pPr>
              <a:t>46</a:t>
            </a:fld>
            <a:endParaRPr lang="en-US" altLang="en-US" sz="1200"/>
          </a:p>
        </p:txBody>
      </p:sp>
      <p:sp>
        <p:nvSpPr>
          <p:cNvPr id="63491" name="Rectangle 2"/>
          <p:cNvSpPr>
            <a:spLocks noGrp="1" noChangeArrowheads="1"/>
          </p:cNvSpPr>
          <p:nvPr>
            <p:ph type="title"/>
          </p:nvPr>
        </p:nvSpPr>
        <p:spPr>
          <a:xfrm>
            <a:off x="0" y="304800"/>
            <a:ext cx="9144000" cy="685800"/>
          </a:xfrm>
        </p:spPr>
        <p:txBody>
          <a:bodyPr/>
          <a:lstStyle/>
          <a:p>
            <a:pPr eaLnBrk="1" hangingPunct="1"/>
            <a:r>
              <a:rPr lang="en-US" altLang="en-US" smtClean="0"/>
              <a:t>Privacy-Preserving Data Mining</a:t>
            </a:r>
          </a:p>
        </p:txBody>
      </p:sp>
      <p:sp>
        <p:nvSpPr>
          <p:cNvPr id="63492" name="Rectangle 3"/>
          <p:cNvSpPr>
            <a:spLocks noGrp="1" noChangeArrowheads="1"/>
          </p:cNvSpPr>
          <p:nvPr>
            <p:ph type="body" idx="1"/>
          </p:nvPr>
        </p:nvSpPr>
        <p:spPr>
          <a:xfrm>
            <a:off x="381000" y="1219200"/>
            <a:ext cx="8382000" cy="5562600"/>
          </a:xfrm>
        </p:spPr>
        <p:txBody>
          <a:bodyPr/>
          <a:lstStyle/>
          <a:p>
            <a:pPr eaLnBrk="1" hangingPunct="1">
              <a:spcBef>
                <a:spcPts val="300"/>
              </a:spcBef>
            </a:pPr>
            <a:r>
              <a:rPr lang="en-US" altLang="en-US" sz="2000" smtClean="0"/>
              <a:t>Privacy-preserving (privacy-enhanced or privacy-sensitive) mining:</a:t>
            </a:r>
          </a:p>
          <a:p>
            <a:pPr lvl="1" eaLnBrk="1" hangingPunct="1">
              <a:spcBef>
                <a:spcPts val="300"/>
              </a:spcBef>
            </a:pPr>
            <a:r>
              <a:rPr lang="en-US" altLang="en-US" sz="2000" smtClean="0"/>
              <a:t>Obtaining valid mining results without disclosing the underlying sensitive data values </a:t>
            </a:r>
          </a:p>
          <a:p>
            <a:pPr lvl="1" eaLnBrk="1" hangingPunct="1">
              <a:spcBef>
                <a:spcPts val="300"/>
              </a:spcBef>
            </a:pPr>
            <a:r>
              <a:rPr lang="en-US" altLang="en-US" sz="2000" smtClean="0"/>
              <a:t>Often needs trade-off between information loss and privacy</a:t>
            </a:r>
          </a:p>
          <a:p>
            <a:pPr eaLnBrk="1" hangingPunct="1">
              <a:spcBef>
                <a:spcPts val="300"/>
              </a:spcBef>
            </a:pPr>
            <a:r>
              <a:rPr lang="en-US" altLang="en-US" sz="2000" smtClean="0"/>
              <a:t>Privacy-preserving data mining methods:</a:t>
            </a:r>
          </a:p>
          <a:p>
            <a:pPr lvl="1" eaLnBrk="1" hangingPunct="1">
              <a:spcBef>
                <a:spcPts val="300"/>
              </a:spcBef>
            </a:pPr>
            <a:r>
              <a:rPr lang="en-US" altLang="en-US" sz="2000" smtClean="0"/>
              <a:t>Randomization (e.g., perturbation): Add noise to the data in order to mask some attribute values of records </a:t>
            </a:r>
          </a:p>
          <a:p>
            <a:pPr lvl="1" eaLnBrk="1" hangingPunct="1">
              <a:spcBef>
                <a:spcPts val="300"/>
              </a:spcBef>
            </a:pPr>
            <a:r>
              <a:rPr lang="en-US" altLang="en-US" sz="2000" smtClean="0"/>
              <a:t>K-anonymity and l-diversity: Alter individual records so that they cannot be uniquely identified</a:t>
            </a:r>
          </a:p>
          <a:p>
            <a:pPr lvl="2" eaLnBrk="1" hangingPunct="1">
              <a:spcBef>
                <a:spcPts val="300"/>
              </a:spcBef>
            </a:pPr>
            <a:r>
              <a:rPr lang="en-US" altLang="en-US" sz="1800" smtClean="0"/>
              <a:t>k-anonymity: Any given record maps onto at least k other records </a:t>
            </a:r>
          </a:p>
          <a:p>
            <a:pPr lvl="2" eaLnBrk="1" hangingPunct="1">
              <a:spcBef>
                <a:spcPts val="300"/>
              </a:spcBef>
            </a:pPr>
            <a:r>
              <a:rPr lang="en-US" altLang="en-US" sz="1800" smtClean="0"/>
              <a:t>l-diversity: enforcing intra-group diversity of sensitive values  </a:t>
            </a:r>
          </a:p>
          <a:p>
            <a:pPr lvl="1" eaLnBrk="1" hangingPunct="1">
              <a:spcBef>
                <a:spcPts val="300"/>
              </a:spcBef>
            </a:pPr>
            <a:r>
              <a:rPr lang="en-US" altLang="en-US" sz="2000" smtClean="0"/>
              <a:t>Distributed privacy preservation: Data partitioned and distributed either horizontally, vertically, or a combination of both</a:t>
            </a:r>
          </a:p>
          <a:p>
            <a:pPr lvl="1" eaLnBrk="1" hangingPunct="1">
              <a:spcBef>
                <a:spcPts val="300"/>
              </a:spcBef>
            </a:pPr>
            <a:r>
              <a:rPr lang="en-US" altLang="en-US" sz="2000" smtClean="0"/>
              <a:t>Downgrading the effectiveness of data mining: The output of data mining may violate privacy</a:t>
            </a:r>
          </a:p>
          <a:p>
            <a:pPr lvl="2" eaLnBrk="1" hangingPunct="1">
              <a:spcBef>
                <a:spcPts val="300"/>
              </a:spcBef>
            </a:pPr>
            <a:r>
              <a:rPr lang="en-US" altLang="en-US" sz="1600" smtClean="0"/>
              <a:t>Modify data or mining results, e.g., hiding some association rules or slightly distorting some classification models</a:t>
            </a:r>
          </a:p>
        </p:txBody>
      </p:sp>
    </p:spTree>
  </p:cSld>
  <p:clrMapOvr>
    <a:masterClrMapping/>
  </p:clrMapOvr>
  <p:transition>
    <p:newsfla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7BF1C28C-5D1C-438C-A160-723D5E1A7240}" type="slidenum">
              <a:rPr lang="en-US" altLang="en-US" sz="1200"/>
              <a:pPr>
                <a:spcBef>
                  <a:spcPct val="0"/>
                </a:spcBef>
                <a:buClrTx/>
                <a:buSzTx/>
                <a:buFontTx/>
                <a:buNone/>
              </a:pPr>
              <a:t>47</a:t>
            </a:fld>
            <a:endParaRPr lang="en-US" altLang="en-US" sz="1200"/>
          </a:p>
        </p:txBody>
      </p:sp>
      <p:sp>
        <p:nvSpPr>
          <p:cNvPr id="64515"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64516"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4572000" y="46450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54FBB5F7-9EF3-4392-9937-715395C8DF8D}" type="slidenum">
              <a:rPr lang="en-US" altLang="en-US" sz="1200"/>
              <a:pPr>
                <a:spcBef>
                  <a:spcPct val="0"/>
                </a:spcBef>
                <a:buClrTx/>
                <a:buSzTx/>
                <a:buFontTx/>
                <a:buNone/>
              </a:pPr>
              <a:t>48</a:t>
            </a:fld>
            <a:endParaRPr lang="en-US" altLang="en-US" sz="1200"/>
          </a:p>
        </p:txBody>
      </p:sp>
      <p:sp>
        <p:nvSpPr>
          <p:cNvPr id="65539" name="Rectangle 2"/>
          <p:cNvSpPr>
            <a:spLocks noGrp="1" noChangeArrowheads="1"/>
          </p:cNvSpPr>
          <p:nvPr>
            <p:ph type="title"/>
          </p:nvPr>
        </p:nvSpPr>
        <p:spPr>
          <a:xfrm>
            <a:off x="0" y="304800"/>
            <a:ext cx="9144000" cy="685800"/>
          </a:xfrm>
        </p:spPr>
        <p:txBody>
          <a:bodyPr/>
          <a:lstStyle/>
          <a:p>
            <a:pPr eaLnBrk="1" hangingPunct="1"/>
            <a:r>
              <a:rPr lang="en-US" altLang="en-US" smtClean="0"/>
              <a:t>Trends of Data Mining</a:t>
            </a:r>
          </a:p>
        </p:txBody>
      </p:sp>
      <p:sp>
        <p:nvSpPr>
          <p:cNvPr id="65540" name="Rectangle 3"/>
          <p:cNvSpPr>
            <a:spLocks noGrp="1" noChangeArrowheads="1"/>
          </p:cNvSpPr>
          <p:nvPr>
            <p:ph type="body" idx="1"/>
          </p:nvPr>
        </p:nvSpPr>
        <p:spPr>
          <a:xfrm>
            <a:off x="381000" y="1447800"/>
            <a:ext cx="8382000" cy="5029200"/>
          </a:xfrm>
        </p:spPr>
        <p:txBody>
          <a:bodyPr/>
          <a:lstStyle/>
          <a:p>
            <a:pPr eaLnBrk="1" hangingPunct="1">
              <a:spcBef>
                <a:spcPts val="300"/>
              </a:spcBef>
              <a:spcAft>
                <a:spcPts val="600"/>
              </a:spcAft>
            </a:pPr>
            <a:r>
              <a:rPr lang="en-US" altLang="en-US" sz="2000" smtClean="0"/>
              <a:t>Application exploration: Dealing with application-specific problems </a:t>
            </a:r>
          </a:p>
          <a:p>
            <a:pPr eaLnBrk="1" hangingPunct="1">
              <a:spcBef>
                <a:spcPts val="300"/>
              </a:spcBef>
              <a:spcAft>
                <a:spcPts val="600"/>
              </a:spcAft>
            </a:pPr>
            <a:r>
              <a:rPr lang="en-US" altLang="en-US" sz="2000" smtClean="0"/>
              <a:t>Scalable and interactive data mining methods</a:t>
            </a:r>
          </a:p>
          <a:p>
            <a:pPr eaLnBrk="1" hangingPunct="1">
              <a:spcBef>
                <a:spcPts val="300"/>
              </a:spcBef>
              <a:spcAft>
                <a:spcPts val="600"/>
              </a:spcAft>
            </a:pPr>
            <a:r>
              <a:rPr lang="en-US" altLang="en-US" sz="2000" smtClean="0"/>
              <a:t>Integration of data mining with Web search engines, database systems, data warehouse systems and cloud computing systems</a:t>
            </a:r>
          </a:p>
          <a:p>
            <a:pPr eaLnBrk="1" hangingPunct="1">
              <a:spcBef>
                <a:spcPts val="300"/>
              </a:spcBef>
              <a:spcAft>
                <a:spcPts val="600"/>
              </a:spcAft>
            </a:pPr>
            <a:r>
              <a:rPr lang="en-US" altLang="en-US" sz="2000" smtClean="0"/>
              <a:t>Mining social and information networks</a:t>
            </a:r>
          </a:p>
          <a:p>
            <a:pPr eaLnBrk="1" hangingPunct="1">
              <a:spcBef>
                <a:spcPts val="300"/>
              </a:spcBef>
              <a:spcAft>
                <a:spcPts val="600"/>
              </a:spcAft>
            </a:pPr>
            <a:r>
              <a:rPr lang="en-US" altLang="en-US" sz="2000" smtClean="0"/>
              <a:t>Mining spatiotemporal, moving objects and cyber-physical systems</a:t>
            </a:r>
          </a:p>
          <a:p>
            <a:pPr eaLnBrk="1" hangingPunct="1">
              <a:spcBef>
                <a:spcPts val="300"/>
              </a:spcBef>
              <a:spcAft>
                <a:spcPts val="600"/>
              </a:spcAft>
            </a:pPr>
            <a:r>
              <a:rPr lang="en-US" altLang="en-US" sz="2000" smtClean="0"/>
              <a:t>Mining multimedia, text and web data</a:t>
            </a:r>
          </a:p>
          <a:p>
            <a:pPr eaLnBrk="1" hangingPunct="1">
              <a:spcBef>
                <a:spcPts val="300"/>
              </a:spcBef>
              <a:spcAft>
                <a:spcPts val="600"/>
              </a:spcAft>
            </a:pPr>
            <a:r>
              <a:rPr lang="en-US" altLang="en-US" sz="2000" smtClean="0"/>
              <a:t>Mining biological and biomedical data</a:t>
            </a:r>
          </a:p>
          <a:p>
            <a:pPr eaLnBrk="1" hangingPunct="1">
              <a:spcBef>
                <a:spcPts val="300"/>
              </a:spcBef>
              <a:spcAft>
                <a:spcPts val="600"/>
              </a:spcAft>
            </a:pPr>
            <a:r>
              <a:rPr lang="en-US" altLang="en-US" sz="2000" smtClean="0"/>
              <a:t>Data mining with software engineering and system engineering </a:t>
            </a:r>
          </a:p>
          <a:p>
            <a:pPr eaLnBrk="1" hangingPunct="1">
              <a:spcBef>
                <a:spcPts val="300"/>
              </a:spcBef>
              <a:spcAft>
                <a:spcPts val="600"/>
              </a:spcAft>
            </a:pPr>
            <a:r>
              <a:rPr lang="en-US" altLang="en-US" sz="2000" smtClean="0"/>
              <a:t>Visual and audio data mining</a:t>
            </a:r>
          </a:p>
          <a:p>
            <a:pPr eaLnBrk="1" hangingPunct="1">
              <a:spcBef>
                <a:spcPts val="300"/>
              </a:spcBef>
              <a:spcAft>
                <a:spcPts val="600"/>
              </a:spcAft>
            </a:pPr>
            <a:r>
              <a:rPr lang="en-US" altLang="en-US" sz="2000" smtClean="0"/>
              <a:t>Distributed data mining and real-time data stream mining</a:t>
            </a:r>
          </a:p>
          <a:p>
            <a:pPr eaLnBrk="1" hangingPunct="1">
              <a:spcBef>
                <a:spcPts val="300"/>
              </a:spcBef>
              <a:spcAft>
                <a:spcPts val="600"/>
              </a:spcAft>
            </a:pPr>
            <a:r>
              <a:rPr lang="en-US" altLang="en-US" sz="2000" smtClean="0"/>
              <a:t>Privacy protection and information security in data mining</a:t>
            </a:r>
          </a:p>
        </p:txBody>
      </p:sp>
    </p:spTree>
  </p:cSld>
  <p:clrMapOvr>
    <a:masterClrMapping/>
  </p:clrMapOvr>
  <p:transition>
    <p:newsfla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17DCC960-80D2-4264-812D-DDBEA943931F}" type="slidenum">
              <a:rPr lang="en-US" altLang="en-US" sz="1200"/>
              <a:pPr>
                <a:spcBef>
                  <a:spcPct val="0"/>
                </a:spcBef>
                <a:buClrTx/>
                <a:buSzTx/>
                <a:buFontTx/>
                <a:buNone/>
              </a:pPr>
              <a:t>49</a:t>
            </a:fld>
            <a:endParaRPr lang="en-US" altLang="en-US" sz="1200"/>
          </a:p>
        </p:txBody>
      </p:sp>
      <p:sp>
        <p:nvSpPr>
          <p:cNvPr id="66563" name="Rectangle 2"/>
          <p:cNvSpPr>
            <a:spLocks noGrp="1" noChangeArrowheads="1"/>
          </p:cNvSpPr>
          <p:nvPr>
            <p:ph type="title"/>
          </p:nvPr>
        </p:nvSpPr>
        <p:spPr>
          <a:xfrm>
            <a:off x="304800" y="152400"/>
            <a:ext cx="8610600" cy="914400"/>
          </a:xfrm>
          <a:noFill/>
        </p:spPr>
        <p:txBody>
          <a:bodyPr lIns="92075" tIns="46038" rIns="92075" bIns="46038" anchor="ctr"/>
          <a:lstStyle/>
          <a:p>
            <a:pPr eaLnBrk="1" hangingPunct="1"/>
            <a:r>
              <a:rPr lang="en-US" altLang="en-US" smtClean="0"/>
              <a:t>Chapter 13: </a:t>
            </a:r>
            <a:r>
              <a:rPr lang="en-AU" altLang="zh-TW" smtClean="0">
                <a:ea typeface="新細明體" panose="02020500000000000000" pitchFamily="18" charset="-120"/>
              </a:rPr>
              <a:t>Data Mining Trends and Research Frontiers </a:t>
            </a:r>
            <a:endParaRPr lang="en-US" altLang="en-US" smtClean="0">
              <a:ea typeface="新細明體" panose="02020500000000000000" pitchFamily="18" charset="-120"/>
            </a:endParaRPr>
          </a:p>
        </p:txBody>
      </p:sp>
      <p:sp>
        <p:nvSpPr>
          <p:cNvPr id="66564" name="Rectangle 3"/>
          <p:cNvSpPr>
            <a:spLocks noGrp="1" noChangeArrowheads="1"/>
          </p:cNvSpPr>
          <p:nvPr>
            <p:ph type="body" idx="1"/>
          </p:nvPr>
        </p:nvSpPr>
        <p:spPr>
          <a:xfrm>
            <a:off x="457200" y="1600200"/>
            <a:ext cx="8305800" cy="4495800"/>
          </a:xfrm>
          <a:noFill/>
        </p:spPr>
        <p:txBody>
          <a:bodyPr lIns="92075" tIns="46038" rIns="92075" bIns="46038"/>
          <a:lstStyle/>
          <a:p>
            <a:pPr eaLnBrk="1" hangingPunct="1">
              <a:lnSpc>
                <a:spcPct val="120000"/>
              </a:lnSpc>
              <a:spcBef>
                <a:spcPct val="40000"/>
              </a:spcBef>
            </a:pPr>
            <a:r>
              <a:rPr lang="en-US" altLang="en-US" sz="3200" smtClean="0"/>
              <a:t>Mining Complex Types of Data</a:t>
            </a:r>
          </a:p>
          <a:p>
            <a:pPr eaLnBrk="1" hangingPunct="1">
              <a:lnSpc>
                <a:spcPct val="120000"/>
              </a:lnSpc>
              <a:spcBef>
                <a:spcPct val="40000"/>
              </a:spcBef>
            </a:pPr>
            <a:r>
              <a:rPr lang="en-US" altLang="en-US" sz="3200" smtClean="0"/>
              <a:t>Other Methodologies of Data Mining</a:t>
            </a:r>
          </a:p>
          <a:p>
            <a:pPr eaLnBrk="1" hangingPunct="1">
              <a:lnSpc>
                <a:spcPct val="120000"/>
              </a:lnSpc>
              <a:spcBef>
                <a:spcPct val="40000"/>
              </a:spcBef>
            </a:pPr>
            <a:r>
              <a:rPr lang="en-US" altLang="en-US" sz="3200" smtClean="0"/>
              <a:t>Data Mining Applications</a:t>
            </a:r>
          </a:p>
          <a:p>
            <a:pPr eaLnBrk="1" hangingPunct="1">
              <a:lnSpc>
                <a:spcPct val="120000"/>
              </a:lnSpc>
              <a:spcBef>
                <a:spcPct val="40000"/>
              </a:spcBef>
            </a:pPr>
            <a:r>
              <a:rPr lang="en-US" altLang="en-US" sz="3200" smtClean="0"/>
              <a:t>Data Mining and Society</a:t>
            </a:r>
          </a:p>
          <a:p>
            <a:pPr eaLnBrk="1" hangingPunct="1">
              <a:lnSpc>
                <a:spcPct val="120000"/>
              </a:lnSpc>
              <a:spcBef>
                <a:spcPct val="40000"/>
              </a:spcBef>
            </a:pPr>
            <a:r>
              <a:rPr lang="en-US" altLang="en-US" sz="3200" smtClean="0"/>
              <a:t>Data Mining Trends</a:t>
            </a:r>
          </a:p>
          <a:p>
            <a:pPr eaLnBrk="1" hangingPunct="1">
              <a:lnSpc>
                <a:spcPct val="140000"/>
              </a:lnSpc>
            </a:pPr>
            <a:r>
              <a:rPr lang="en-US" altLang="en-US" sz="3200" smtClean="0"/>
              <a:t>Summary</a:t>
            </a:r>
          </a:p>
        </p:txBody>
      </p:sp>
      <p:sp>
        <p:nvSpPr>
          <p:cNvPr id="2" name="Striped Right Arrow 1"/>
          <p:cNvSpPr/>
          <p:nvPr/>
        </p:nvSpPr>
        <p:spPr bwMode="auto">
          <a:xfrm rot="8649741">
            <a:off x="2819400" y="5483225"/>
            <a:ext cx="371475" cy="381000"/>
          </a:xfrm>
          <a:prstGeom prst="stripedRightArrow">
            <a:avLst/>
          </a:prstGeom>
          <a:solidFill>
            <a:srgbClr val="882828"/>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US"/>
          </a:p>
        </p:txBody>
      </p:sp>
    </p:spTree>
  </p:cSld>
  <p:clrMapOvr>
    <a:masterClrMapping/>
  </p:clrMapOvr>
  <p:transition>
    <p:newsfla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CEC4AC0A-66D3-40D2-BD0B-F6E7F6EB3FBC}" type="slidenum">
              <a:rPr lang="en-US" altLang="en-US" sz="1200"/>
              <a:pPr>
                <a:spcBef>
                  <a:spcPct val="0"/>
                </a:spcBef>
                <a:buClrTx/>
                <a:buSzTx/>
                <a:buFontTx/>
                <a:buNone/>
              </a:pPr>
              <a:t>50</a:t>
            </a:fld>
            <a:endParaRPr lang="en-US" altLang="en-US" sz="1200"/>
          </a:p>
        </p:txBody>
      </p:sp>
      <p:sp>
        <p:nvSpPr>
          <p:cNvPr id="67587" name="Rectangle 2"/>
          <p:cNvSpPr>
            <a:spLocks noGrp="1" noChangeArrowheads="1"/>
          </p:cNvSpPr>
          <p:nvPr>
            <p:ph type="title"/>
          </p:nvPr>
        </p:nvSpPr>
        <p:spPr>
          <a:xfrm>
            <a:off x="1752600" y="457200"/>
            <a:ext cx="4821238" cy="609600"/>
          </a:xfrm>
        </p:spPr>
        <p:txBody>
          <a:bodyPr/>
          <a:lstStyle/>
          <a:p>
            <a:pPr eaLnBrk="1" hangingPunct="1"/>
            <a:r>
              <a:rPr lang="en-US" altLang="en-US" smtClean="0"/>
              <a:t>Summary</a:t>
            </a:r>
          </a:p>
        </p:txBody>
      </p:sp>
      <p:sp>
        <p:nvSpPr>
          <p:cNvPr id="67588" name="Rectangle 3"/>
          <p:cNvSpPr>
            <a:spLocks noGrp="1" noChangeArrowheads="1"/>
          </p:cNvSpPr>
          <p:nvPr>
            <p:ph type="body" idx="1"/>
          </p:nvPr>
        </p:nvSpPr>
        <p:spPr>
          <a:xfrm>
            <a:off x="304800" y="1371600"/>
            <a:ext cx="8534400" cy="5257800"/>
          </a:xfrm>
        </p:spPr>
        <p:txBody>
          <a:bodyPr/>
          <a:lstStyle/>
          <a:p>
            <a:pPr eaLnBrk="1" hangingPunct="1">
              <a:spcBef>
                <a:spcPts val="600"/>
              </a:spcBef>
              <a:spcAft>
                <a:spcPts val="600"/>
              </a:spcAft>
            </a:pPr>
            <a:r>
              <a:rPr lang="en-US" altLang="en-US" sz="2000" smtClean="0"/>
              <a:t>We present a high-level overview of </a:t>
            </a:r>
            <a:r>
              <a:rPr lang="en-US" altLang="en-US" sz="2000" smtClean="0">
                <a:solidFill>
                  <a:srgbClr val="FF0000"/>
                </a:solidFill>
              </a:rPr>
              <a:t>mining complex data types</a:t>
            </a:r>
          </a:p>
          <a:p>
            <a:pPr eaLnBrk="1" hangingPunct="1">
              <a:spcBef>
                <a:spcPts val="600"/>
              </a:spcBef>
              <a:spcAft>
                <a:spcPts val="600"/>
              </a:spcAft>
            </a:pPr>
            <a:r>
              <a:rPr lang="en-US" altLang="en-US" sz="2000" smtClean="0">
                <a:solidFill>
                  <a:srgbClr val="FF0000"/>
                </a:solidFill>
              </a:rPr>
              <a:t>Statistical data mining </a:t>
            </a:r>
            <a:r>
              <a:rPr lang="en-US" altLang="en-US" sz="2000" smtClean="0"/>
              <a:t>methods, such as regression, generalized linear models, analysis of variance, etc., are popularly adopted  </a:t>
            </a:r>
          </a:p>
          <a:p>
            <a:pPr eaLnBrk="1" hangingPunct="1">
              <a:spcBef>
                <a:spcPts val="600"/>
              </a:spcBef>
              <a:spcAft>
                <a:spcPts val="600"/>
              </a:spcAft>
            </a:pPr>
            <a:r>
              <a:rPr lang="en-US" altLang="en-US" sz="2000" smtClean="0"/>
              <a:t>Researchers also try to build </a:t>
            </a:r>
            <a:r>
              <a:rPr lang="en-US" altLang="en-US" sz="2000" smtClean="0">
                <a:solidFill>
                  <a:srgbClr val="FF0000"/>
                </a:solidFill>
              </a:rPr>
              <a:t>theoretical foundations </a:t>
            </a:r>
            <a:r>
              <a:rPr lang="en-US" altLang="en-US" sz="2000" smtClean="0"/>
              <a:t>for data mining</a:t>
            </a:r>
          </a:p>
          <a:p>
            <a:pPr eaLnBrk="1" hangingPunct="1">
              <a:spcBef>
                <a:spcPts val="600"/>
              </a:spcBef>
              <a:spcAft>
                <a:spcPts val="600"/>
              </a:spcAft>
            </a:pPr>
            <a:r>
              <a:rPr lang="en-US" altLang="en-US" sz="2000" smtClean="0">
                <a:solidFill>
                  <a:srgbClr val="FF0000"/>
                </a:solidFill>
              </a:rPr>
              <a:t>Visual/audio data mining </a:t>
            </a:r>
            <a:r>
              <a:rPr lang="en-US" altLang="en-US" sz="2000" smtClean="0"/>
              <a:t>has been popular and effective</a:t>
            </a:r>
          </a:p>
          <a:p>
            <a:pPr eaLnBrk="1" hangingPunct="1">
              <a:spcBef>
                <a:spcPts val="600"/>
              </a:spcBef>
              <a:spcAft>
                <a:spcPts val="600"/>
              </a:spcAft>
            </a:pPr>
            <a:r>
              <a:rPr lang="en-US" altLang="en-US" sz="2000" smtClean="0">
                <a:solidFill>
                  <a:srgbClr val="FF0000"/>
                </a:solidFill>
              </a:rPr>
              <a:t>Application-based mining </a:t>
            </a:r>
            <a:r>
              <a:rPr lang="en-US" altLang="en-US" sz="2000" smtClean="0"/>
              <a:t>integrates domain-specific knowledge with data analysis techniques and provide mission-specific solutions</a:t>
            </a:r>
          </a:p>
          <a:p>
            <a:pPr eaLnBrk="1" hangingPunct="1">
              <a:spcBef>
                <a:spcPts val="600"/>
              </a:spcBef>
              <a:spcAft>
                <a:spcPts val="600"/>
              </a:spcAft>
            </a:pPr>
            <a:r>
              <a:rPr lang="en-US" altLang="en-US" sz="2000" smtClean="0">
                <a:solidFill>
                  <a:srgbClr val="FF0000"/>
                </a:solidFill>
              </a:rPr>
              <a:t>Ubiquitous data mining</a:t>
            </a:r>
            <a:r>
              <a:rPr lang="en-US" altLang="en-US" sz="2000" smtClean="0"/>
              <a:t> and </a:t>
            </a:r>
            <a:r>
              <a:rPr lang="en-US" altLang="en-US" sz="2000" smtClean="0">
                <a:solidFill>
                  <a:srgbClr val="FF0000"/>
                </a:solidFill>
              </a:rPr>
              <a:t>invisible data mining </a:t>
            </a:r>
            <a:r>
              <a:rPr lang="en-US" altLang="en-US" sz="2000" smtClean="0"/>
              <a:t>are penetrating our data lives</a:t>
            </a:r>
          </a:p>
          <a:p>
            <a:pPr eaLnBrk="1" hangingPunct="1">
              <a:spcBef>
                <a:spcPts val="600"/>
              </a:spcBef>
              <a:spcAft>
                <a:spcPts val="600"/>
              </a:spcAft>
            </a:pPr>
            <a:r>
              <a:rPr lang="en-US" altLang="en-US" sz="2000" smtClean="0">
                <a:solidFill>
                  <a:srgbClr val="FF0000"/>
                </a:solidFill>
              </a:rPr>
              <a:t>Privacy and data security </a:t>
            </a:r>
            <a:r>
              <a:rPr lang="en-US" altLang="en-US" sz="2000" smtClean="0"/>
              <a:t>are importance issues in data mining, and </a:t>
            </a:r>
            <a:r>
              <a:rPr lang="en-US" altLang="en-US" sz="2000" smtClean="0">
                <a:solidFill>
                  <a:srgbClr val="FF0000"/>
                </a:solidFill>
              </a:rPr>
              <a:t>privacy-preserving data mining </a:t>
            </a:r>
            <a:r>
              <a:rPr lang="en-US" altLang="en-US" sz="2000" smtClean="0"/>
              <a:t>has been developed recently</a:t>
            </a:r>
          </a:p>
          <a:p>
            <a:pPr eaLnBrk="1" hangingPunct="1">
              <a:spcBef>
                <a:spcPts val="600"/>
              </a:spcBef>
              <a:spcAft>
                <a:spcPts val="600"/>
              </a:spcAft>
            </a:pPr>
            <a:r>
              <a:rPr lang="en-US" altLang="en-US" sz="2000" smtClean="0"/>
              <a:t>Our discussion on </a:t>
            </a:r>
            <a:r>
              <a:rPr lang="en-US" altLang="en-US" sz="2000" smtClean="0">
                <a:solidFill>
                  <a:srgbClr val="FF0000"/>
                </a:solidFill>
              </a:rPr>
              <a:t>trends in data mining </a:t>
            </a:r>
            <a:r>
              <a:rPr lang="en-US" altLang="en-US" sz="2000" smtClean="0"/>
              <a:t>shows that data mining is a promising, young field, with great, strategic importance</a:t>
            </a:r>
          </a:p>
        </p:txBody>
      </p:sp>
    </p:spTree>
  </p:cSld>
  <p:clrMapOvr>
    <a:masterClrMapping/>
  </p:clrMapOvr>
  <p:transition>
    <p:newsfla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6034B36-677B-4FD8-890B-EDB1DB04FF97}" type="slidenum">
              <a:rPr lang="en-US" altLang="en-US" sz="1200"/>
              <a:pPr>
                <a:spcBef>
                  <a:spcPct val="0"/>
                </a:spcBef>
                <a:buClrTx/>
                <a:buSzTx/>
                <a:buFontTx/>
                <a:buNone/>
              </a:pPr>
              <a:t>51</a:t>
            </a:fld>
            <a:endParaRPr lang="en-US" altLang="en-US" sz="1200"/>
          </a:p>
        </p:txBody>
      </p:sp>
      <p:sp>
        <p:nvSpPr>
          <p:cNvPr id="68611" name="Rectangle 2"/>
          <p:cNvSpPr>
            <a:spLocks noGrp="1" noChangeArrowheads="1"/>
          </p:cNvSpPr>
          <p:nvPr>
            <p:ph type="title"/>
          </p:nvPr>
        </p:nvSpPr>
        <p:spPr>
          <a:xfrm>
            <a:off x="0" y="228600"/>
            <a:ext cx="9144000" cy="609600"/>
          </a:xfrm>
        </p:spPr>
        <p:txBody>
          <a:bodyPr/>
          <a:lstStyle/>
          <a:p>
            <a:pPr eaLnBrk="1" hangingPunct="1"/>
            <a:r>
              <a:rPr lang="en-US" altLang="en-US" smtClean="0"/>
              <a:t>References and Further Reading  </a:t>
            </a:r>
          </a:p>
        </p:txBody>
      </p:sp>
      <p:sp>
        <p:nvSpPr>
          <p:cNvPr id="68612" name="Rectangle 3"/>
          <p:cNvSpPr>
            <a:spLocks noGrp="1" noChangeArrowheads="1"/>
          </p:cNvSpPr>
          <p:nvPr>
            <p:ph type="body" idx="1"/>
          </p:nvPr>
        </p:nvSpPr>
        <p:spPr>
          <a:xfrm>
            <a:off x="304800" y="914400"/>
            <a:ext cx="8534400" cy="304800"/>
          </a:xfrm>
        </p:spPr>
        <p:txBody>
          <a:bodyPr/>
          <a:lstStyle/>
          <a:p>
            <a:pPr eaLnBrk="1" hangingPunct="1">
              <a:buFont typeface="Wingdings" panose="05000000000000000000" pitchFamily="2" charset="2"/>
              <a:buChar char="v"/>
            </a:pPr>
            <a:r>
              <a:rPr lang="en-US" altLang="en-US" sz="1600" smtClean="0"/>
              <a:t>The books lists a lot of references for further reading.  Here we only list a few books</a:t>
            </a:r>
          </a:p>
        </p:txBody>
      </p:sp>
      <p:sp>
        <p:nvSpPr>
          <p:cNvPr id="68613" name="Rectangle 3"/>
          <p:cNvSpPr txBox="1">
            <a:spLocks noChangeArrowheads="1"/>
          </p:cNvSpPr>
          <p:nvPr/>
        </p:nvSpPr>
        <p:spPr bwMode="auto">
          <a:xfrm>
            <a:off x="304800" y="1371600"/>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ts val="300"/>
              </a:spcBef>
              <a:spcAft>
                <a:spcPts val="600"/>
              </a:spcAft>
            </a:pPr>
            <a:r>
              <a:rPr lang="en-US" altLang="en-US" sz="1400"/>
              <a:t>E. Alpaydin. </a:t>
            </a:r>
            <a:r>
              <a:rPr lang="en-US" altLang="en-US" sz="1400" i="1"/>
              <a:t>Introduction to Machine Learning</a:t>
            </a:r>
            <a:r>
              <a:rPr lang="en-US" altLang="en-US" sz="1400"/>
              <a:t>, 2</a:t>
            </a:r>
            <a:r>
              <a:rPr lang="en-US" altLang="en-US" sz="1400" baseline="30000"/>
              <a:t>nd</a:t>
            </a:r>
            <a:r>
              <a:rPr lang="en-US" altLang="en-US" sz="1400"/>
              <a:t> ed., MIT Press, 2011 </a:t>
            </a:r>
          </a:p>
          <a:p>
            <a:pPr eaLnBrk="1" hangingPunct="1">
              <a:spcBef>
                <a:spcPts val="300"/>
              </a:spcBef>
              <a:spcAft>
                <a:spcPts val="600"/>
              </a:spcAft>
            </a:pPr>
            <a:r>
              <a:rPr lang="en-US" altLang="en-US" sz="1400"/>
              <a:t>S. Chakrabarti. </a:t>
            </a:r>
            <a:r>
              <a:rPr lang="en-US" altLang="en-US" sz="1400" i="1"/>
              <a:t>Mining the Web: Statistical Analysis of Hypertex and Semi-Structured Data</a:t>
            </a:r>
            <a:r>
              <a:rPr lang="en-US" altLang="en-US" sz="1400"/>
              <a:t>. Morgan Kaufmann, 2002</a:t>
            </a:r>
          </a:p>
          <a:p>
            <a:pPr eaLnBrk="1" hangingPunct="1">
              <a:spcBef>
                <a:spcPts val="300"/>
              </a:spcBef>
              <a:spcAft>
                <a:spcPts val="600"/>
              </a:spcAft>
            </a:pPr>
            <a:r>
              <a:rPr lang="en-US" altLang="en-US" sz="1400"/>
              <a:t>R. O. Duda, P. E. Hart, and D. G. Stork. </a:t>
            </a:r>
            <a:r>
              <a:rPr lang="en-US" altLang="en-US" sz="1400" i="1"/>
              <a:t>Pattern Classification</a:t>
            </a:r>
            <a:r>
              <a:rPr lang="en-US" altLang="en-US" sz="1400"/>
              <a:t>, 2ed., Wiley-Interscience, 2000</a:t>
            </a:r>
          </a:p>
          <a:p>
            <a:pPr eaLnBrk="1" hangingPunct="1">
              <a:spcBef>
                <a:spcPts val="300"/>
              </a:spcBef>
              <a:spcAft>
                <a:spcPts val="600"/>
              </a:spcAft>
            </a:pPr>
            <a:r>
              <a:rPr lang="en-US" altLang="en-US" sz="1400"/>
              <a:t>D. Easley and J. Kleinberg. </a:t>
            </a:r>
            <a:r>
              <a:rPr lang="en-US" altLang="en-US" sz="1400" i="1"/>
              <a:t>Networks, Crowds, and Markets: Reasoning about a Highly Connected World</a:t>
            </a:r>
            <a:r>
              <a:rPr lang="en-US" altLang="en-US" sz="1400"/>
              <a:t>. Cambridge University Press, 2010.</a:t>
            </a:r>
          </a:p>
          <a:p>
            <a:pPr eaLnBrk="1" hangingPunct="1">
              <a:spcBef>
                <a:spcPts val="300"/>
              </a:spcBef>
              <a:spcAft>
                <a:spcPts val="600"/>
              </a:spcAft>
            </a:pPr>
            <a:r>
              <a:rPr lang="en-US" altLang="en-US" sz="1400"/>
              <a:t>U. Fayyad, G. Grinstein, and A. Wierse (eds.), </a:t>
            </a:r>
            <a:r>
              <a:rPr lang="en-US" altLang="en-US" sz="1400" i="1"/>
              <a:t>Information Visualization in Data Mining and Knowledge Discovery</a:t>
            </a:r>
            <a:r>
              <a:rPr lang="en-US" altLang="en-US" sz="1400"/>
              <a:t>, Morgan Kaufmann, 2001</a:t>
            </a:r>
          </a:p>
          <a:p>
            <a:pPr eaLnBrk="1" hangingPunct="1">
              <a:spcBef>
                <a:spcPts val="300"/>
              </a:spcBef>
              <a:spcAft>
                <a:spcPts val="600"/>
              </a:spcAft>
            </a:pPr>
            <a:r>
              <a:rPr lang="en-US" altLang="en-US" sz="1400"/>
              <a:t>J. Han, M. Kamber, J. Pei. </a:t>
            </a:r>
            <a:r>
              <a:rPr lang="en-US" altLang="en-US" sz="1400" i="1"/>
              <a:t>Data Mining: Concepts and Techniques</a:t>
            </a:r>
            <a:r>
              <a:rPr lang="en-US" altLang="en-US" sz="1400"/>
              <a:t>. Morgan Kaufmann, 3</a:t>
            </a:r>
            <a:r>
              <a:rPr lang="en-US" altLang="en-US" sz="1400" baseline="30000"/>
              <a:t>rd</a:t>
            </a:r>
            <a:r>
              <a:rPr lang="en-US" altLang="en-US" sz="1400"/>
              <a:t> ed. 2011 </a:t>
            </a:r>
          </a:p>
          <a:p>
            <a:pPr eaLnBrk="1" hangingPunct="1">
              <a:spcBef>
                <a:spcPts val="300"/>
              </a:spcBef>
              <a:spcAft>
                <a:spcPts val="600"/>
              </a:spcAft>
            </a:pPr>
            <a:r>
              <a:rPr lang="en-US" altLang="en-US" sz="1400"/>
              <a:t>T. Hastie, R. Tibshirani, and J. Friedman. </a:t>
            </a:r>
            <a:r>
              <a:rPr lang="en-US" altLang="en-US" sz="1400" i="1"/>
              <a:t>The Elements of Statistical Learning: Data Mining, Inference, and Prediction</a:t>
            </a:r>
            <a:r>
              <a:rPr lang="en-US" altLang="en-US" sz="1400"/>
              <a:t>, 2</a:t>
            </a:r>
            <a:r>
              <a:rPr lang="en-US" altLang="en-US" sz="1400" baseline="30000"/>
              <a:t>nd</a:t>
            </a:r>
            <a:r>
              <a:rPr lang="en-US" altLang="en-US" sz="1400"/>
              <a:t> ed., Springer-Verlag, 2009</a:t>
            </a:r>
          </a:p>
          <a:p>
            <a:pPr eaLnBrk="1" hangingPunct="1">
              <a:spcBef>
                <a:spcPts val="300"/>
              </a:spcBef>
              <a:spcAft>
                <a:spcPts val="600"/>
              </a:spcAft>
            </a:pPr>
            <a:r>
              <a:rPr lang="en-US" altLang="en-US" sz="1400"/>
              <a:t>D. Koller and N. Friedman. </a:t>
            </a:r>
            <a:r>
              <a:rPr lang="en-US" altLang="en-US" sz="1400" i="1"/>
              <a:t>Probabilistic Graphical Models: Principles and Techniques</a:t>
            </a:r>
            <a:r>
              <a:rPr lang="en-US" altLang="en-US" sz="1400"/>
              <a:t>. MIT Press, 2009.</a:t>
            </a:r>
          </a:p>
          <a:p>
            <a:pPr eaLnBrk="1" hangingPunct="1">
              <a:spcBef>
                <a:spcPts val="300"/>
              </a:spcBef>
              <a:spcAft>
                <a:spcPts val="600"/>
              </a:spcAft>
            </a:pPr>
            <a:r>
              <a:rPr lang="en-US" altLang="en-US" sz="1400"/>
              <a:t>B. Liu. </a:t>
            </a:r>
            <a:r>
              <a:rPr lang="en-US" altLang="en-US" sz="1400" i="1"/>
              <a:t>Web Data Mining</a:t>
            </a:r>
            <a:r>
              <a:rPr lang="en-US" altLang="en-US" sz="1400"/>
              <a:t>, Springer 2006.</a:t>
            </a:r>
          </a:p>
          <a:p>
            <a:pPr eaLnBrk="1" hangingPunct="1">
              <a:spcBef>
                <a:spcPts val="300"/>
              </a:spcBef>
              <a:spcAft>
                <a:spcPts val="600"/>
              </a:spcAft>
            </a:pPr>
            <a:r>
              <a:rPr lang="en-US" altLang="en-US" sz="1400"/>
              <a:t>T. M. Mitchell. </a:t>
            </a:r>
            <a:r>
              <a:rPr lang="en-US" altLang="en-US" sz="1400" i="1"/>
              <a:t>Machine Learning</a:t>
            </a:r>
            <a:r>
              <a:rPr lang="en-US" altLang="en-US" sz="1400"/>
              <a:t>, McGraw Hill, 1997</a:t>
            </a:r>
          </a:p>
          <a:p>
            <a:pPr eaLnBrk="1" hangingPunct="1">
              <a:spcBef>
                <a:spcPts val="300"/>
              </a:spcBef>
              <a:spcAft>
                <a:spcPts val="600"/>
              </a:spcAft>
            </a:pPr>
            <a:r>
              <a:rPr lang="en-US" altLang="en-US" sz="1400"/>
              <a:t>M. Newman. </a:t>
            </a:r>
            <a:r>
              <a:rPr lang="en-US" altLang="en-US" sz="1400" i="1"/>
              <a:t>Networks: An Introduction</a:t>
            </a:r>
            <a:r>
              <a:rPr lang="en-US" altLang="en-US" sz="1400"/>
              <a:t>. Oxford University Press, 2010.</a:t>
            </a:r>
          </a:p>
          <a:p>
            <a:pPr eaLnBrk="1" hangingPunct="1">
              <a:spcBef>
                <a:spcPts val="300"/>
              </a:spcBef>
              <a:spcAft>
                <a:spcPts val="600"/>
              </a:spcAft>
            </a:pPr>
            <a:r>
              <a:rPr lang="en-US" altLang="en-US" sz="1400"/>
              <a:t>P.-N. Tan, M. Steinbach and V. Kumar, </a:t>
            </a:r>
            <a:r>
              <a:rPr lang="en-US" altLang="en-US" sz="1400" i="1"/>
              <a:t>Introduction to Data Mining</a:t>
            </a:r>
            <a:r>
              <a:rPr lang="en-US" altLang="en-US" sz="1400"/>
              <a:t>, Wiley, 2005</a:t>
            </a:r>
          </a:p>
          <a:p>
            <a:pPr eaLnBrk="1" hangingPunct="1">
              <a:spcBef>
                <a:spcPts val="300"/>
              </a:spcBef>
              <a:spcAft>
                <a:spcPts val="600"/>
              </a:spcAft>
            </a:pPr>
            <a:r>
              <a:rPr lang="en-US" altLang="en-US" sz="1400"/>
              <a:t>I. H. Witten and E. Frank, </a:t>
            </a:r>
            <a:r>
              <a:rPr lang="en-US" altLang="en-US" sz="1400" i="1"/>
              <a:t>Data Mining: Practical Machine Learning Tools and Techniques with Java Implementations</a:t>
            </a:r>
            <a:r>
              <a:rPr lang="en-US" altLang="en-US" sz="1400"/>
              <a:t>, Morgan Kaufmann, 2</a:t>
            </a:r>
            <a:r>
              <a:rPr lang="en-US" altLang="en-US" sz="1400" baseline="30000"/>
              <a:t>nd</a:t>
            </a:r>
            <a:r>
              <a:rPr lang="en-US" altLang="en-US" sz="1400"/>
              <a:t> ed. 2005</a:t>
            </a:r>
          </a:p>
        </p:txBody>
      </p:sp>
    </p:spTree>
  </p:cSld>
  <p:clrMapOvr>
    <a:masterClrMapping/>
  </p:clrMapOvr>
  <p:transition>
    <p:newsfla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eaLnBrk="1" hangingPunct="1"/>
            <a:endParaRPr lang="en-US" altLang="en-US" smtClean="0"/>
          </a:p>
        </p:txBody>
      </p:sp>
      <p:sp>
        <p:nvSpPr>
          <p:cNvPr id="69635" name="Content Placeholder 2"/>
          <p:cNvSpPr>
            <a:spLocks noGrp="1"/>
          </p:cNvSpPr>
          <p:nvPr>
            <p:ph idx="1"/>
          </p:nvPr>
        </p:nvSpPr>
        <p:spPr/>
        <p:txBody>
          <a:bodyPr/>
          <a:lstStyle/>
          <a:p>
            <a:pPr eaLnBrk="1" hangingPunct="1"/>
            <a:endParaRPr lang="en-US" altLang="en-US" smtClean="0"/>
          </a:p>
        </p:txBody>
      </p:sp>
      <p:sp>
        <p:nvSpPr>
          <p:cNvPr id="69636" name="Slide Number Placeholder 3"/>
          <p:cNvSpPr>
            <a:spLocks noGrp="1"/>
          </p:cNvSpPr>
          <p:nvPr>
            <p:ph type="sldNum" sz="quarter" idx="10"/>
          </p:nvPr>
        </p:nvSpPr>
        <p:spPr>
          <a:noFill/>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0C3B4200-C76D-45A9-B29E-6FAF923379B5}" type="slidenum">
              <a:rPr lang="en-US" altLang="en-US" sz="1200"/>
              <a:pPr>
                <a:spcBef>
                  <a:spcPct val="0"/>
                </a:spcBef>
                <a:buClrTx/>
                <a:buSzTx/>
                <a:buFontTx/>
                <a:buNone/>
              </a:pPr>
              <a:t>52</a:t>
            </a:fld>
            <a:endParaRPr lang="en-US" altLang="en-US" sz="1200"/>
          </a:p>
        </p:txBody>
      </p:sp>
      <p:pic>
        <p:nvPicPr>
          <p:cNvPr id="69637" name="Picture 2" descr="C:\Users\Han\Pictures\2011\2011_05_Arizona_NM\2011-05-29 2011-May_GrandCanyon\2011-May_GrandCanyon 13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9574213" cy="718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6710</TotalTime>
  <Words>3880</Words>
  <Application>Microsoft Office PowerPoint</Application>
  <PresentationFormat>On-screen Show (4:3)</PresentationFormat>
  <Paragraphs>442</Paragraphs>
  <Slides>52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Tahoma</vt:lpstr>
      <vt:lpstr>Arial</vt:lpstr>
      <vt:lpstr>Wingdings</vt:lpstr>
      <vt:lpstr>Times New Roman</vt:lpstr>
      <vt:lpstr>SimSun</vt:lpstr>
      <vt:lpstr>新細明體</vt:lpstr>
      <vt:lpstr>Rockwell</vt:lpstr>
      <vt:lpstr>Blends</vt:lpstr>
      <vt:lpstr>Data Mining:  Concepts and Techniques  (3rd ed.)  — Chapter 13 —</vt:lpstr>
      <vt:lpstr>PowerPoint Presentation</vt:lpstr>
      <vt:lpstr>Chapter 13: Data Mining Trends and Research Frontiers </vt:lpstr>
      <vt:lpstr>Mining Complex Types of Data</vt:lpstr>
      <vt:lpstr>Mining Sequence Data</vt:lpstr>
      <vt:lpstr>Mining Graphs and Networks</vt:lpstr>
      <vt:lpstr>Mining Other Kinds of Data</vt:lpstr>
      <vt:lpstr>Chapter 13: Data Mining Trends and Research Frontiers </vt:lpstr>
      <vt:lpstr>Other Methodologies of Data Mining</vt:lpstr>
      <vt:lpstr>Major Statistical Data Mining Methods </vt:lpstr>
      <vt:lpstr>Statistical Data Mining (1)</vt:lpstr>
      <vt:lpstr>Scientific and Statistical Data Mining (2)</vt:lpstr>
      <vt:lpstr>Scientific and Statistical Data Mining (3)</vt:lpstr>
      <vt:lpstr>Statistical Data Mining (4)</vt:lpstr>
      <vt:lpstr>Statistical Data Mining (5)</vt:lpstr>
      <vt:lpstr>Other Methodologies of Data Mining</vt:lpstr>
      <vt:lpstr>Views on Data Mining Foundations (I)</vt:lpstr>
      <vt:lpstr>PowerPoint Presentation</vt:lpstr>
      <vt:lpstr>Other Methodologies of Data Mining</vt:lpstr>
      <vt:lpstr>Visual Data Mining</vt:lpstr>
      <vt:lpstr>Visualization</vt:lpstr>
      <vt:lpstr>Visual Data Mining &amp; Data Visualization</vt:lpstr>
      <vt:lpstr>Data Mining Result Visualization</vt:lpstr>
      <vt:lpstr>Boxplots from Statsoft: Multiple Variable Combinations</vt:lpstr>
      <vt:lpstr>Visualization of Data Mining Results in SAS Enterprise Miner: Scatter Plots</vt:lpstr>
      <vt:lpstr>Visualization of Association Rules in SGI/MineSet 3.0</vt:lpstr>
      <vt:lpstr>Visualization of a Decision Tree in SGI/MineSet 3.0</vt:lpstr>
      <vt:lpstr>Visualization of Cluster Grouping in IBM Intelligent Miner</vt:lpstr>
      <vt:lpstr>Data Mining Process Visualization</vt:lpstr>
      <vt:lpstr>Visualization of Data Mining Processes by Clementine</vt:lpstr>
      <vt:lpstr>Interactive Visual Data Mining</vt:lpstr>
      <vt:lpstr>Interactive Visual Mining by Perception-Based Classification (PBC)</vt:lpstr>
      <vt:lpstr>Audio Data Mining</vt:lpstr>
      <vt:lpstr>Chapter 13: Data Mining Trends and Research Frontiers </vt:lpstr>
      <vt:lpstr>Data Mining Applications</vt:lpstr>
      <vt:lpstr>Data Mining for Financial Data Analysis (I)</vt:lpstr>
      <vt:lpstr>PowerPoint Presentation</vt:lpstr>
      <vt:lpstr>Data Mining for Retail &amp; Telcomm. Industries (I)</vt:lpstr>
      <vt:lpstr>Data Mining Practice for Retail Industry</vt:lpstr>
      <vt:lpstr>Data Mining in Science and Engineering</vt:lpstr>
      <vt:lpstr>Data Mining for Intrusion Detection and Prevention</vt:lpstr>
      <vt:lpstr>Data Mining and Recommender Systems</vt:lpstr>
      <vt:lpstr>Chapter 13: Data Mining Trends and Research Frontiers </vt:lpstr>
      <vt:lpstr>Ubiquitous and Invisible Data Mining</vt:lpstr>
      <vt:lpstr>Privacy, Security and Social Impacts of Data Mining</vt:lpstr>
      <vt:lpstr>Privacy-Preserving Data Mining</vt:lpstr>
      <vt:lpstr>Chapter 13: Data Mining Trends and Research Frontiers </vt:lpstr>
      <vt:lpstr>Trends of Data Mining</vt:lpstr>
      <vt:lpstr>Chapter 13: Data Mining Trends and Research Frontiers </vt:lpstr>
      <vt:lpstr>Summary</vt:lpstr>
      <vt:lpstr>References and Further Reading  </vt:lpstr>
      <vt:lpstr>PowerPoint Presentation</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word</cp:lastModifiedBy>
  <cp:revision>258</cp:revision>
  <cp:lastPrinted>1999-09-10T20:38:56Z</cp:lastPrinted>
  <dcterms:created xsi:type="dcterms:W3CDTF">1998-06-19T04:38:52Z</dcterms:created>
  <dcterms:modified xsi:type="dcterms:W3CDTF">2026-04-27T17:29:48Z</dcterms:modified>
</cp:coreProperties>
</file>