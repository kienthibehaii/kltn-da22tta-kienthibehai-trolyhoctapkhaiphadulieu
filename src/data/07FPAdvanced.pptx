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82"/>
  </p:notesMasterIdLst>
  <p:handoutMasterIdLst>
    <p:handoutMasterId r:id="rId83"/>
  </p:handoutMasterIdLst>
  <p:sldIdLst>
    <p:sldId id="1366" r:id="rId2"/>
    <p:sldId id="1406" r:id="rId3"/>
    <p:sldId id="1413" r:id="rId4"/>
    <p:sldId id="1434" r:id="rId5"/>
    <p:sldId id="1435" r:id="rId6"/>
    <p:sldId id="1201" r:id="rId7"/>
    <p:sldId id="873" r:id="rId8"/>
    <p:sldId id="1436" r:id="rId9"/>
    <p:sldId id="1202" r:id="rId10"/>
    <p:sldId id="1437" r:id="rId11"/>
    <p:sldId id="1203" r:id="rId12"/>
    <p:sldId id="880" r:id="rId13"/>
    <p:sldId id="1430" r:id="rId14"/>
    <p:sldId id="1438" r:id="rId15"/>
    <p:sldId id="1462" r:id="rId16"/>
    <p:sldId id="1468" r:id="rId17"/>
    <p:sldId id="1469" r:id="rId18"/>
    <p:sldId id="1439" r:id="rId19"/>
    <p:sldId id="1440" r:id="rId20"/>
    <p:sldId id="1441" r:id="rId21"/>
    <p:sldId id="1470" r:id="rId22"/>
    <p:sldId id="1442" r:id="rId23"/>
    <p:sldId id="1443" r:id="rId24"/>
    <p:sldId id="1444" r:id="rId25"/>
    <p:sldId id="1445" r:id="rId26"/>
    <p:sldId id="1446" r:id="rId27"/>
    <p:sldId id="1447" r:id="rId28"/>
    <p:sldId id="1448" r:id="rId29"/>
    <p:sldId id="1449" r:id="rId30"/>
    <p:sldId id="1450" r:id="rId31"/>
    <p:sldId id="1451" r:id="rId32"/>
    <p:sldId id="1452" r:id="rId33"/>
    <p:sldId id="1453" r:id="rId34"/>
    <p:sldId id="1454" r:id="rId35"/>
    <p:sldId id="1455" r:id="rId36"/>
    <p:sldId id="1456" r:id="rId37"/>
    <p:sldId id="1458" r:id="rId38"/>
    <p:sldId id="1457" r:id="rId39"/>
    <p:sldId id="1460" r:id="rId40"/>
    <p:sldId id="1384" r:id="rId41"/>
    <p:sldId id="1385" r:id="rId42"/>
    <p:sldId id="1386" r:id="rId43"/>
    <p:sldId id="1387" r:id="rId44"/>
    <p:sldId id="1388" r:id="rId45"/>
    <p:sldId id="1389" r:id="rId46"/>
    <p:sldId id="1390" r:id="rId47"/>
    <p:sldId id="1391" r:id="rId48"/>
    <p:sldId id="1392" r:id="rId49"/>
    <p:sldId id="1393" r:id="rId50"/>
    <p:sldId id="1394" r:id="rId51"/>
    <p:sldId id="1395" r:id="rId52"/>
    <p:sldId id="1396" r:id="rId53"/>
    <p:sldId id="1397" r:id="rId54"/>
    <p:sldId id="1398" r:id="rId55"/>
    <p:sldId id="1399" r:id="rId56"/>
    <p:sldId id="1400" r:id="rId57"/>
    <p:sldId id="1401" r:id="rId58"/>
    <p:sldId id="1402" r:id="rId59"/>
    <p:sldId id="1403" r:id="rId60"/>
    <p:sldId id="1461" r:id="rId61"/>
    <p:sldId id="1432" r:id="rId62"/>
    <p:sldId id="1433" r:id="rId63"/>
    <p:sldId id="1463" r:id="rId64"/>
    <p:sldId id="1473" r:id="rId65"/>
    <p:sldId id="1471" r:id="rId66"/>
    <p:sldId id="1475" r:id="rId67"/>
    <p:sldId id="1476" r:id="rId68"/>
    <p:sldId id="1464" r:id="rId69"/>
    <p:sldId id="1465" r:id="rId70"/>
    <p:sldId id="1277" r:id="rId71"/>
    <p:sldId id="1279" r:id="rId72"/>
    <p:sldId id="1280" r:id="rId73"/>
    <p:sldId id="1281" r:id="rId74"/>
    <p:sldId id="1282" r:id="rId75"/>
    <p:sldId id="1283" r:id="rId76"/>
    <p:sldId id="1286" r:id="rId77"/>
    <p:sldId id="1287" r:id="rId78"/>
    <p:sldId id="1288" r:id="rId79"/>
    <p:sldId id="1405" r:id="rId80"/>
    <p:sldId id="1414" r:id="rId8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aozhu Mei" initials="Q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6EA"/>
    <a:srgbClr val="FAE2F6"/>
    <a:srgbClr val="170981"/>
    <a:srgbClr val="121328"/>
    <a:srgbClr val="D7FDF9"/>
    <a:srgbClr val="003366"/>
    <a:srgbClr val="0066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2" autoAdjust="0"/>
    <p:restoredTop sz="94667" autoAdjust="0"/>
  </p:normalViewPr>
  <p:slideViewPr>
    <p:cSldViewPr>
      <p:cViewPr varScale="1">
        <p:scale>
          <a:sx n="71" d="100"/>
          <a:sy n="71" d="100"/>
        </p:scale>
        <p:origin x="1248" y="60"/>
      </p:cViewPr>
      <p:guideLst>
        <p:guide orient="horz" pos="4319"/>
        <p:guide pos="5759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7226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ommentAuthors" Target="commentAuthor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1.xml"/><Relationship Id="rId13" Type="http://schemas.openxmlformats.org/officeDocument/2006/relationships/slide" Target="slides/slide60.xml"/><Relationship Id="rId3" Type="http://schemas.openxmlformats.org/officeDocument/2006/relationships/slide" Target="slides/slide6.xml"/><Relationship Id="rId7" Type="http://schemas.openxmlformats.org/officeDocument/2006/relationships/slide" Target="slides/slide10.xml"/><Relationship Id="rId12" Type="http://schemas.openxmlformats.org/officeDocument/2006/relationships/slide" Target="slides/slide39.xml"/><Relationship Id="rId17" Type="http://schemas.openxmlformats.org/officeDocument/2006/relationships/slide" Target="slides/slide80.xml"/><Relationship Id="rId2" Type="http://schemas.openxmlformats.org/officeDocument/2006/relationships/slide" Target="slides/slide5.xml"/><Relationship Id="rId16" Type="http://schemas.openxmlformats.org/officeDocument/2006/relationships/slide" Target="slides/slide69.xml"/><Relationship Id="rId1" Type="http://schemas.openxmlformats.org/officeDocument/2006/relationships/slide" Target="slides/slide3.xml"/><Relationship Id="rId6" Type="http://schemas.openxmlformats.org/officeDocument/2006/relationships/slide" Target="slides/slide9.xml"/><Relationship Id="rId11" Type="http://schemas.openxmlformats.org/officeDocument/2006/relationships/slide" Target="slides/slide18.xml"/><Relationship Id="rId5" Type="http://schemas.openxmlformats.org/officeDocument/2006/relationships/slide" Target="slides/slide8.xml"/><Relationship Id="rId15" Type="http://schemas.openxmlformats.org/officeDocument/2006/relationships/slide" Target="slides/slide68.xml"/><Relationship Id="rId10" Type="http://schemas.openxmlformats.org/officeDocument/2006/relationships/slide" Target="slides/slide14.xml"/><Relationship Id="rId4" Type="http://schemas.openxmlformats.org/officeDocument/2006/relationships/slide" Target="slides/slide7.xml"/><Relationship Id="rId9" Type="http://schemas.openxmlformats.org/officeDocument/2006/relationships/slide" Target="slides/slide12.xml"/><Relationship Id="rId14" Type="http://schemas.openxmlformats.org/officeDocument/2006/relationships/slide" Target="slides/slide6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06-08-18T18:04:24.984" idx="1">
    <p:pos x="1" y="10"/>
    <p:text>put this earlier, following the example...
our work is motivated by the analogy...
remove the sentence, make the figure larger.
show only one definition box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4CCC82A9-F1D9-46D1-B95C-FFBCFD5D72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5" tIns="46153" rIns="92305" bIns="46153" numCol="1" anchor="t" anchorCtr="0" compatLnSpc="1">
            <a:prstTxWarp prst="textNoShape">
              <a:avLst/>
            </a:prstTxWarp>
          </a:bodyPr>
          <a:lstStyle>
            <a:lvl1pPr defTabSz="92233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29DD5A44-7FA3-453A-8998-AA35DCD7869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5" tIns="46153" rIns="92305" bIns="46153" numCol="1" anchor="t" anchorCtr="0" compatLnSpc="1">
            <a:prstTxWarp prst="textNoShape">
              <a:avLst/>
            </a:prstTxWarp>
          </a:bodyPr>
          <a:lstStyle>
            <a:lvl1pPr algn="r" defTabSz="92233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id="{D14C4928-4179-4C41-9DB3-8D31CE9114E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5" tIns="46153" rIns="92305" bIns="46153" numCol="1" anchor="b" anchorCtr="0" compatLnSpc="1">
            <a:prstTxWarp prst="textNoShape">
              <a:avLst/>
            </a:prstTxWarp>
          </a:bodyPr>
          <a:lstStyle>
            <a:lvl1pPr defTabSz="92233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5A6D6A9F-E0D4-4298-8DE6-C1D9AB036BF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5" tIns="46153" rIns="92305" bIns="46153" numCol="1" anchor="b" anchorCtr="0" compatLnSpc="1">
            <a:prstTxWarp prst="textNoShape">
              <a:avLst/>
            </a:prstTxWarp>
          </a:bodyPr>
          <a:lstStyle>
            <a:lvl1pPr algn="r" defTabSz="922338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EA81BEDE-DE1E-4664-87DF-AA56E81E0A2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FE51C06-5C50-4E54-A0C9-50732D40AA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5" tIns="46153" rIns="92305" bIns="46153" numCol="1" anchor="t" anchorCtr="0" compatLnSpc="1">
            <a:prstTxWarp prst="textNoShape">
              <a:avLst/>
            </a:prstTxWarp>
          </a:bodyPr>
          <a:lstStyle>
            <a:lvl1pPr defTabSz="92233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5849902-9116-4943-A26E-9C515E98D51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5" tIns="46153" rIns="92305" bIns="46153" numCol="1" anchor="t" anchorCtr="0" compatLnSpc="1">
            <a:prstTxWarp prst="textNoShape">
              <a:avLst/>
            </a:prstTxWarp>
          </a:bodyPr>
          <a:lstStyle>
            <a:lvl1pPr algn="r" defTabSz="92233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933553BB-03A9-4D5B-AB70-A9A0F51529F3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25EC6F01-3CE4-4AEE-9976-8BF6FEB0FE0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5" tIns="46153" rIns="92305" bIns="46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3B3E0420-E70E-4196-A7D2-14C04672F8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5" tIns="46153" rIns="92305" bIns="46153" numCol="1" anchor="b" anchorCtr="0" compatLnSpc="1">
            <a:prstTxWarp prst="textNoShape">
              <a:avLst/>
            </a:prstTxWarp>
          </a:bodyPr>
          <a:lstStyle>
            <a:lvl1pPr defTabSz="92233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88E10CD7-A069-461F-9B03-9B0F6117E9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5" tIns="46153" rIns="92305" bIns="46153" numCol="1" anchor="b" anchorCtr="0" compatLnSpc="1">
            <a:prstTxWarp prst="textNoShape">
              <a:avLst/>
            </a:prstTxWarp>
          </a:bodyPr>
          <a:lstStyle>
            <a:lvl1pPr algn="r" defTabSz="922338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8D1B7D2D-D143-40CD-9286-016FC4248E1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2944B0C2-72FD-451F-9E67-665E382344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50701D6-664C-41AC-8EBD-6F4B85E04EB3}" type="slidenum">
              <a:rPr lang="en-US" altLang="en-US" sz="120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7043" name="Rectangle 7">
            <a:extLst>
              <a:ext uri="{FF2B5EF4-FFF2-40B4-BE49-F238E27FC236}">
                <a16:creationId xmlns:a16="http://schemas.microsoft.com/office/drawing/2014/main" id="{6F3CD2C4-76D9-4D6B-A197-3CDF28565B5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E12027B0-5F9D-452B-83C2-625467EDA6C9}" type="slidenum">
              <a:rPr lang="zh-CN" altLang="en-US" sz="1200">
                <a:latin typeface="Times New Roman" panose="02020603050405020304" pitchFamily="18" charset="0"/>
              </a:rPr>
              <a:pPr algn="r"/>
              <a:t>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F5501560-E2DD-478B-85E7-56404A2D628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40C779FD-E15A-4FD0-8A31-D47552A82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3170" tIns="46586" rIns="93170" bIns="4658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1C6B4081-3DE0-4120-BB56-1D5E540B0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59C2971-596F-4EE1-A6EA-E4E27DAB2CBB}" type="slidenum">
              <a:rPr lang="en-US" altLang="en-US" sz="1200">
                <a:latin typeface="Times New Roman" panose="02020603050405020304" pitchFamily="18" charset="0"/>
              </a:rPr>
              <a:pPr/>
              <a:t>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8DE5C35-ECCB-4580-A694-5782D937E53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4E9DBF45-9A56-4F07-9167-B0D222527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z="1600" b="1"/>
              <a:t>Sacre Coeur in Montmartre</a:t>
            </a:r>
          </a:p>
          <a:p>
            <a:endParaRPr lang="en-US" altLang="en-US" sz="1600" b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D86373DD-AD06-4DC9-BC42-FA8782DCDD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5602E46-F8AC-46B0-8B48-7FC7E8E2E03D}" type="slidenum">
              <a:rPr lang="en-US" altLang="en-US" sz="1200">
                <a:latin typeface="Times New Roman" panose="02020603050405020304" pitchFamily="18" charset="0"/>
              </a:rPr>
              <a:pPr/>
              <a:t>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22931AE9-4FE6-4011-BB41-47A1A5FA3F6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F414D29B-85B0-40D5-A1F6-7532BA826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7153773A-2490-4726-BABD-E6D766CB052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A920DEE3-D218-4E1D-870A-7CE32C201C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8586FC5E-BA9A-462D-B5CC-DF14B4CA83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146DCB3-849D-459B-8FA7-D30B4FC54B29}" type="slidenum">
              <a:rPr lang="en-US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4FC98B96-C617-4F34-B285-F41DFC18899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08C6B162-B91D-48C9-9BF4-512910ED33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FCE3BCF7-C006-4266-AB99-D783E387A8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57F2167-E140-4DEB-86F5-FFC3533450DB}" type="slidenum">
              <a:rPr lang="en-US" altLang="en-US" sz="1200">
                <a:latin typeface="Times New Roman" panose="02020603050405020304" pitchFamily="18" charset="0"/>
              </a:rPr>
              <a:pPr/>
              <a:t>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B869A39A-EF85-43DF-9D7C-648C0A9AACF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F4B4B261-9E8E-4910-AD6A-82FE5DD6AC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89CD3F7-1AD5-4261-A10E-090D1B32AB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BDC0665-3519-4094-AC00-0380E7753810}" type="slidenum">
              <a:rPr lang="en-US" altLang="en-US" sz="1200">
                <a:latin typeface="Times New Roman" panose="02020603050405020304" pitchFamily="18" charset="0"/>
              </a:rPr>
              <a:pPr/>
              <a:t>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51A51A5-9536-40DC-9498-C0223EE525B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99E0E81-5D40-43BB-A748-1C1277DB24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5670B2E5-1898-463A-BE84-9D8AB2F3A8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CC10A1C-6552-453B-BCBE-8D01C5CF1170}" type="slidenum">
              <a:rPr lang="en-US" altLang="en-US" sz="1200">
                <a:latin typeface="Times New Roman" panose="02020603050405020304" pitchFamily="18" charset="0"/>
              </a:rPr>
              <a:pPr/>
              <a:t>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1A107E3C-8B11-46F4-B43C-ED438F13AA4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930B057C-01B9-42ED-9AC2-2F0C81396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8D60CABE-F2E9-4F22-97A9-A76E8DCACC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835CCD2-67DA-490B-B186-BB945EDC887D}" type="slidenum">
              <a:rPr lang="en-US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CF17C615-0328-4B49-BAEA-3CC56207C78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BD8D247E-2C41-4C29-B275-D5136753A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73464B68-F008-46BE-86F4-C7597318B2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2EF91BE-8F3B-42AB-8D0A-38B545009209}" type="slidenum">
              <a:rPr lang="en-US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FF074A04-4114-4D66-A3DC-5F335D3F910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80C05F33-F15D-483C-B677-F96BE4BAC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9A315DB7-D9C1-4E3D-846A-C8266AB52C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62B294E-D778-4FE7-8328-18097BE7257E}" type="slidenum">
              <a:rPr lang="en-US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9FB26B73-CFF2-4F67-8502-18B67BF9BA7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0A630F75-5379-44DE-8F40-A08A2E071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286" tIns="46144" rIns="92286" bIns="46144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5D9E609E-000B-4495-AEF4-3B70A9015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B158D97-9E6F-4A8D-8003-1CA7C6E2A869}" type="slidenum">
              <a:rPr lang="en-US" altLang="en-US" sz="1200">
                <a:latin typeface="Times New Roman" panose="02020603050405020304" pitchFamily="18" charset="0"/>
              </a:rPr>
              <a:pPr/>
              <a:t>12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043508C6-8E5C-45BC-B783-DF2D9FCF4BA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6E8A8168-98A5-4052-BD9D-CC1A0DBDD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8C607B8-FE89-4703-938F-7E05E1DF55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AF6444A-B38B-48B4-B433-3A8A41038414}" type="slidenum">
              <a:rPr lang="en-US" altLang="en-US" sz="1200">
                <a:latin typeface="Times New Roman" panose="02020603050405020304" pitchFamily="18" charset="0"/>
              </a:rPr>
              <a:pPr/>
              <a:t>13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9E8F3653-08E7-4ADF-A19A-DF0822302A3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39BB3FB3-6776-4187-A73C-325FB8464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52476501-4EFA-4A7E-BC5C-32C1086C89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8145CDD-6FE8-44D0-9BAA-A2F6A1F345B1}" type="slidenum">
              <a:rPr lang="en-US" altLang="en-US" sz="1200">
                <a:latin typeface="Times New Roman" panose="02020603050405020304" pitchFamily="18" charset="0"/>
              </a:rPr>
              <a:pPr/>
              <a:t>14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25130671-F8C0-4911-A956-F68E0406E66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4D711A5D-4F97-412E-8448-87D399CFD2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FCD455B-21C7-4D29-A146-8FD352F2D1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EB10142-8FC4-4CA6-8548-0ACDFAD28ED8}" type="slidenum">
              <a:rPr lang="en-US" altLang="en-US" sz="1200">
                <a:latin typeface="Times New Roman" panose="02020603050405020304" pitchFamily="18" charset="0"/>
              </a:rPr>
              <a:pPr/>
              <a:t>15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D1855EE3-5BD4-4C98-B148-0CA031983A1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A6999F0B-A2E8-47DD-A4ED-6E2610ACE6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18B31E46-F337-47B7-8BA5-0942E586173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305" tIns="46153" rIns="92305" bIns="46153" anchor="b"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2B2C6246-71E1-44CA-9F5D-2A8412034139}" type="slidenum">
              <a:rPr lang="en-US" altLang="en-US" sz="1200">
                <a:latin typeface="Times New Roman" panose="02020603050405020304" pitchFamily="18" charset="0"/>
              </a:rPr>
              <a:pPr algn="r"/>
              <a:t>16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55E92F5-8F79-4BD2-AD58-EEA6B336427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70E55413-05EA-47B5-BD1A-C65EF73021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F2243A3B-800D-4627-A43A-E24A12C6EA4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305" tIns="46153" rIns="92305" bIns="46153" anchor="b"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EE30C4CF-4C56-4977-B9C7-B5FFB2EBB581}" type="slidenum">
              <a:rPr lang="en-US" altLang="en-US" sz="1200">
                <a:latin typeface="Times New Roman" panose="02020603050405020304" pitchFamily="18" charset="0"/>
              </a:rPr>
              <a:pPr algn="r"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1F7EF659-EC03-492D-9FD9-B86E8906B6D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A083B163-C304-4414-89FC-6BDC6CF6DA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8285CB75-665B-46EA-89A9-2B93C80FF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752C12E-1B27-4E31-93B0-CC04DA52EC34}" type="slidenum">
              <a:rPr lang="en-US" altLang="en-US" sz="1200">
                <a:latin typeface="Times New Roman" panose="02020603050405020304" pitchFamily="18" charset="0"/>
              </a:rPr>
              <a:pPr/>
              <a:t>18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A0775EE6-8EB6-4C41-9093-3FD5863B0AA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7516B808-C9DD-4D98-950B-5F724F5364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4158F4A4-2740-421F-9363-FDAE875CE7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954670D-9FDA-4816-A00A-376EA552F914}" type="slidenum">
              <a:rPr lang="en-US" altLang="en-US" sz="1200">
                <a:latin typeface="Times New Roman" panose="02020603050405020304" pitchFamily="18" charset="0"/>
              </a:rPr>
              <a:pPr/>
              <a:t>19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FE4FD941-DDFF-48BD-A649-FBC8E4E9779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B2B3FE51-F044-4F63-BE4A-B22AA6DBDC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D0AAB926-A73C-4AD1-A63E-DE2194A68C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9A6FD4B-DEAA-426C-A016-A8D176488AB2}" type="slidenum">
              <a:rPr lang="en-US" altLang="en-US" sz="1200">
                <a:latin typeface="Times New Roman" panose="02020603050405020304" pitchFamily="18" charset="0"/>
              </a:rPr>
              <a:pPr/>
              <a:t>20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C7CC1E6-AEFA-4DA0-8440-4D2060962C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32FD71E2-AB56-4D6C-A9B3-13474192CA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77535A5B-8153-429C-95F0-C4ADAD00381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1ACDD965-C897-4DCA-BE41-7E28C2FD8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14E08EE4-7722-47C3-BBD2-585B273740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B313A7C-631D-45ED-8C41-889F5A0AE593}" type="slidenum">
              <a:rPr lang="en-US" altLang="en-US" sz="1200">
                <a:latin typeface="Times New Roman" panose="02020603050405020304" pitchFamily="18" charset="0"/>
              </a:rPr>
              <a:pPr/>
              <a:t>22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AFE62326-F3CB-4CA3-9731-E18BAF3063B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84781E68-01FE-4678-A276-773477D82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1EFD72E9-F98F-4D0B-B635-742231618E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AE52B07-2365-405C-8E16-9C205FF2E2BC}" type="slidenum">
              <a:rPr lang="en-US" altLang="en-US" sz="1200">
                <a:latin typeface="Times New Roman" panose="02020603050405020304" pitchFamily="18" charset="0"/>
              </a:rPr>
              <a:pPr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817199E-7633-46B1-998A-CB8CFA55C6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B8DB2A88-4A98-46F1-9FBA-AAA49000F5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9C677BA2-AB7B-48D8-AB06-36F267B1BA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43C173B-1D8D-45BF-A48D-6D7A745C35DB}" type="slidenum">
              <a:rPr lang="en-US" altLang="en-US" sz="1200">
                <a:latin typeface="Times New Roman" panose="02020603050405020304" pitchFamily="18" charset="0"/>
              </a:rPr>
              <a:pPr/>
              <a:t>24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E3EE507-7090-4151-A329-97014447B87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C938B4A1-1597-4F19-BA26-6FA701CD9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E3B9067-438D-4394-89CE-117FB42B9B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C4B0A2F-FCF2-420F-9B90-72BF89E0C108}" type="slidenum">
              <a:rPr lang="en-US" altLang="en-US" sz="1200">
                <a:latin typeface="Times New Roman" panose="02020603050405020304" pitchFamily="18" charset="0"/>
              </a:rPr>
              <a:pPr/>
              <a:t>25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9EBA7CD8-768D-4DDC-8D18-A8AFE3C3443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E0B00DD-51B2-4BC3-99BB-4B254F6B67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1DB5EAF1-309C-47DD-B589-62741A8707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A1458BF-59ED-4E75-8CC5-DA3E2BB7045D}" type="slidenum">
              <a:rPr lang="en-US" altLang="en-US" sz="1200">
                <a:latin typeface="Times New Roman" panose="02020603050405020304" pitchFamily="18" charset="0"/>
              </a:rPr>
              <a:pPr/>
              <a:t>26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BAA208A1-2CBE-40FD-A3FC-419DEA0E109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5A5B4C68-649C-470B-B4C4-798F00062B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BED87433-C3F3-4F1C-8FBF-F55A263C00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A470E00-91C9-47B9-9569-DA805C1BFF91}" type="slidenum">
              <a:rPr lang="en-US" altLang="en-US" sz="1200">
                <a:latin typeface="Times New Roman" panose="02020603050405020304" pitchFamily="18" charset="0"/>
              </a:rPr>
              <a:pPr/>
              <a:t>27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FAFA5BE1-B4E2-4C5F-83C3-C742E6462DB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A6954D9B-2434-41C1-ADCE-144A249060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882ACB08-8D17-47BD-AFD7-5D6BE1B5E2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9723704-9710-47AC-835B-B5EC607BD5B9}" type="slidenum">
              <a:rPr lang="en-US" altLang="en-US" sz="1200">
                <a:latin typeface="Times New Roman" panose="02020603050405020304" pitchFamily="18" charset="0"/>
              </a:rPr>
              <a:pPr/>
              <a:t>28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59D75F2A-BC40-4A46-A31D-8B26E408620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43D96659-7347-4C6B-90D1-130BC0D7A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0352F90E-0BCC-47E3-9DDE-0E48FC56D7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6FEDB30-9964-4928-BC99-BE34E5DD723B}" type="slidenum">
              <a:rPr lang="en-US" altLang="en-US" sz="1200">
                <a:latin typeface="Times New Roman" panose="02020603050405020304" pitchFamily="18" charset="0"/>
              </a:rPr>
              <a:pPr/>
              <a:t>29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C01B1108-24E0-46F6-BFC5-C69867C92C0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1B68F1A3-28E3-459B-8647-679D5F69A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EF2B4A92-864B-4B4C-A433-915A9194B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CDE8DB0-D25E-479F-A5EC-B8266E285EF1}" type="slidenum">
              <a:rPr lang="en-US" altLang="en-US" sz="1200">
                <a:latin typeface="Times New Roman" panose="02020603050405020304" pitchFamily="18" charset="0"/>
              </a:rPr>
              <a:pPr/>
              <a:t>30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517D6D41-37FF-42C7-BCE4-8A3D4E8490E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ABE34A00-1BFF-4258-B0B6-647152799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F7E9BB48-BD68-4FAA-A371-6798D47177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A59A9E2-76B0-4E5D-BD79-0B36C06FACA4}" type="slidenum">
              <a:rPr lang="en-US" altLang="en-US" sz="1200">
                <a:latin typeface="Times New Roman" panose="02020603050405020304" pitchFamily="18" charset="0"/>
              </a:rPr>
              <a:pPr/>
              <a:t>31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6DD97C6B-B560-42B3-874F-489CBB5B79F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CA3EF18A-41C6-428D-86F6-B4F287F61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466B10F7-77BA-4894-AD60-B8E828A57C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0808827-29B2-454B-945E-DFDDB8CC52B2}" type="slidenum">
              <a:rPr lang="en-US" altLang="en-US" sz="1200">
                <a:latin typeface="Times New Roman" panose="02020603050405020304" pitchFamily="18" charset="0"/>
              </a:rPr>
              <a:pPr/>
              <a:t>32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B1288978-177B-4C3B-BC45-01A189159C2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DF9E0CA7-123A-4B4D-BCAF-7A4DD3C84D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1450C996-CAD0-4B59-A09C-B30C227FBF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48FD309-DBC5-4484-99E4-81E01CC061D6}" type="slidenum">
              <a:rPr lang="en-US" altLang="en-US" sz="1200">
                <a:latin typeface="Times New Roman" panose="02020603050405020304" pitchFamily="18" charset="0"/>
              </a:rPr>
              <a:pPr/>
              <a:t>33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F135E5A5-20A8-453C-9257-771DF26C612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931EC491-D1E7-4D0F-87C3-342A98A903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8560A9D5-60B6-4B8D-9F59-E2DF7990E9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BBD365B-310E-4A90-80C2-C918D55C957A}" type="slidenum">
              <a:rPr lang="en-US" altLang="en-US" sz="1200">
                <a:latin typeface="Times New Roman" panose="02020603050405020304" pitchFamily="18" charset="0"/>
              </a:rPr>
              <a:pPr/>
              <a:t>34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3A2D7B64-D2B4-43A3-A8A3-3593E8FBA0D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22E9A74-B527-4929-B22E-3D5AE2DFA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FD16CC41-F9AD-430E-930E-C626B50F3D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CCFD22C-52A9-493B-91DB-0787A265816A}" type="slidenum">
              <a:rPr lang="en-US" altLang="en-US" sz="1200">
                <a:latin typeface="Times New Roman" panose="02020603050405020304" pitchFamily="18" charset="0"/>
              </a:rPr>
              <a:pPr/>
              <a:t>35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35259540-7564-4C70-98E5-C1110230B63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E8D3EA5A-02CE-4D53-AE9D-3A3A3C0B8F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F0520658-B3FF-4433-A8FF-45FA92D2F7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3A7A58D-D3C0-4A1F-A4A6-782CED8C251E}" type="slidenum">
              <a:rPr lang="en-US" altLang="en-US" sz="1200">
                <a:latin typeface="Times New Roman" panose="02020603050405020304" pitchFamily="18" charset="0"/>
              </a:rPr>
              <a:pPr/>
              <a:t>36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29910AB3-E85B-48E1-9D8B-58831511EB1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A456EE81-F903-45E4-90F8-68D403D817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0316DB9F-9F9E-490A-8FBB-F76BBCA304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9EF51B6-36BB-4BD3-8140-BD4E06CA4E4D}" type="slidenum">
              <a:rPr lang="en-US" altLang="en-US" sz="1200">
                <a:latin typeface="Times New Roman" panose="02020603050405020304" pitchFamily="18" charset="0"/>
              </a:rPr>
              <a:pPr/>
              <a:t>37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9B1DEBB1-2A59-469B-A1F5-64822C9A272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41E9F34C-0405-492B-B542-6B981937C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B3FDFD40-37D3-44F7-88D1-EFACF5B804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18CDF22-2776-48D2-9668-BD66A160D47B}" type="slidenum">
              <a:rPr lang="en-US" altLang="en-US" sz="1200">
                <a:latin typeface="Times New Roman" panose="02020603050405020304" pitchFamily="18" charset="0"/>
              </a:rPr>
              <a:pPr/>
              <a:t>38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9E5262DF-2ED8-4A99-BDB5-7A80C15059D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F6904F7E-1497-485C-891F-5DA02D2192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6D66FD13-8AF1-48D6-A9A7-AC79D8A415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575FE32-37AE-4505-91F9-84DF80EFF624}" type="slidenum">
              <a:rPr lang="en-US" altLang="en-US" sz="1200">
                <a:latin typeface="Times New Roman" panose="02020603050405020304" pitchFamily="18" charset="0"/>
              </a:rPr>
              <a:pPr/>
              <a:t>39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2F2350E3-8E05-4D17-9B9C-3D6C0BD2D85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BA0D8C3B-67C3-416E-A420-FE1EE95A79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BF4459B5-7817-4A5D-AD27-15C761CFD6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9462C15-BA44-4E6D-87A2-3335E0358DCD}" type="slidenum">
              <a:rPr lang="en-US" altLang="en-US" sz="1200">
                <a:latin typeface="Times New Roman" panose="02020603050405020304" pitchFamily="18" charset="0"/>
              </a:rPr>
              <a:pPr/>
              <a:t>40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E8B90557-CB26-4A31-BF5C-01CD394471E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FDC069FD-9BA7-43F7-81F8-BE487E6CE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8048CE06-2D62-4794-8F59-A4DC4BE58F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CAB10D7-B251-434C-AF4E-AAA0857F20E2}" type="slidenum">
              <a:rPr lang="en-US" altLang="en-US" sz="1200">
                <a:latin typeface="Times New Roman" panose="02020603050405020304" pitchFamily="18" charset="0"/>
              </a:rPr>
              <a:pPr/>
              <a:t>41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BC14909A-3612-4FB5-B375-44CC65A37D3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31606743-513E-44A6-9ED2-3D55BBFC4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D5EDD90B-34A0-47BE-987A-29087D984E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DF0FCDE-2C7C-4E59-8781-CECDD7302712}" type="slidenum">
              <a:rPr lang="en-US" altLang="en-US" sz="1200">
                <a:latin typeface="Times New Roman" panose="02020603050405020304" pitchFamily="18" charset="0"/>
              </a:rPr>
              <a:pPr/>
              <a:t>42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C38B507D-2B5B-4088-B25D-045844259D5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D1A0EEBC-4249-45E8-94D4-8A7F01DC5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0537C3C7-CC97-4359-B2F1-DE4FB7FB4B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CEAC2D1-C904-41A7-B171-AA6CD9A47A6A}" type="slidenum">
              <a:rPr lang="en-US" altLang="en-US" sz="1200">
                <a:latin typeface="Times New Roman" panose="02020603050405020304" pitchFamily="18" charset="0"/>
              </a:rPr>
              <a:pPr/>
              <a:t>43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4CE18688-B12F-4B6E-83A0-F32CDCD25DA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3A30F571-2CE9-419E-B673-9CF765C33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A7625857-55DE-4D53-A683-23A1D1BA7C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F4166CF-4C49-4047-815E-187EA6503A8E}" type="slidenum">
              <a:rPr lang="en-US" altLang="en-US" sz="1200">
                <a:latin typeface="Times New Roman" panose="02020603050405020304" pitchFamily="18" charset="0"/>
              </a:rPr>
              <a:pPr/>
              <a:t>44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8195BEF9-8E49-426B-9AA1-9582171DB70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DDDF3F0E-577D-4140-8C33-187E514C7D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F03FA4F6-83F5-43BD-8B8B-5B302D0FF1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0B8C013-94F6-4828-B610-D8B426C53143}" type="slidenum">
              <a:rPr lang="en-US" altLang="en-US" sz="1200">
                <a:latin typeface="Times New Roman" panose="02020603050405020304" pitchFamily="18" charset="0"/>
              </a:rPr>
              <a:pPr/>
              <a:t>45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20696AF6-4974-46FB-A35B-01182A3C51A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375D96DD-BF8D-41E2-AC4A-F7F58E7D21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r>
              <a:rPr lang="en-US" altLang="zh-CN"/>
              <a:t>Example in real life, like number of coauthors. 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A731E079-0662-44B2-8773-811D881369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C0694B4-EECF-40C5-AC2A-768CE5DCBEC4}" type="slidenum">
              <a:rPr lang="en-US" altLang="en-US" sz="1200">
                <a:latin typeface="Times New Roman" panose="02020603050405020304" pitchFamily="18" charset="0"/>
              </a:rPr>
              <a:pPr/>
              <a:t>46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9C290FAA-25BD-4929-9D4C-E9939984E04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CBFB0D65-A66F-4E09-B90A-AE5E0A2C01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37A6C46F-7017-4D45-AEE0-086BEEFEE7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6F6F914-4C57-4549-96E4-0871AF2FC02C}" type="slidenum">
              <a:rPr lang="en-US" altLang="en-US" sz="1200">
                <a:latin typeface="Times New Roman" panose="02020603050405020304" pitchFamily="18" charset="0"/>
              </a:rPr>
              <a:pPr/>
              <a:t>47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1253638C-F43E-4B86-8464-6C296BE4235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8C6D7D6E-8DF2-46A4-9662-1A3F71515E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CB9B2EE8-17F4-4913-90AF-64A9CDAC3C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26965D0-FB71-432B-928A-8696057053EE}" type="slidenum">
              <a:rPr lang="en-US" altLang="en-US" sz="1200">
                <a:latin typeface="Times New Roman" panose="02020603050405020304" pitchFamily="18" charset="0"/>
              </a:rPr>
              <a:pPr/>
              <a:t>48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101E88EF-C661-445D-9226-9D63FE79040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8098AC24-C94B-4DB0-A347-D7F28539E0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r>
              <a:rPr lang="en-US" altLang="zh-CN"/>
              <a:t>Example in real life, like number of coauthors. 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07959A51-9107-42F6-854E-C193615C6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2C05D24-4DF7-43D0-9EDA-4C6EBEEED8B2}" type="slidenum">
              <a:rPr lang="en-US" altLang="en-US" sz="1200">
                <a:latin typeface="Times New Roman" panose="02020603050405020304" pitchFamily="18" charset="0"/>
              </a:rPr>
              <a:pPr/>
              <a:t>49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D6EB6333-69E6-4E1D-86E8-0A9B2E39E1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AF1ECA4F-8DB7-429E-BDC6-D1916F27B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4D7558F2-D237-4009-B28D-6E86EBB46A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F6832BE-72F2-49E1-85D4-11D86882CE9C}" type="slidenum">
              <a:rPr lang="en-US" altLang="en-US" sz="1200">
                <a:latin typeface="Times New Roman" panose="02020603050405020304" pitchFamily="18" charset="0"/>
              </a:rPr>
              <a:pPr/>
              <a:t>50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B9BE1645-3F68-450C-B996-665B5A7AB67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947CE88A-CC58-40D4-B69F-097E2681E6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372D47BB-BDE9-4B5C-A79F-3A16017A78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D8E9175-A995-4D66-AD01-D1C6EA25F2F6}" type="slidenum">
              <a:rPr lang="en-US" altLang="en-US" sz="1200">
                <a:latin typeface="Times New Roman" panose="02020603050405020304" pitchFamily="18" charset="0"/>
              </a:rPr>
              <a:pPr/>
              <a:t>51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B6C155D8-CB43-4169-B9DB-ACB5DE138D8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F6206764-5346-4E84-8F1F-B283FDD104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7418B48D-C8BD-4E8D-BE78-4775A375DB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6F6B9FE-5455-4117-9D1E-78EF4C7BCA61}" type="slidenum">
              <a:rPr lang="en-US" altLang="en-US" sz="1200">
                <a:latin typeface="Times New Roman" panose="02020603050405020304" pitchFamily="18" charset="0"/>
              </a:rPr>
              <a:pPr/>
              <a:t>52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DE876B9F-ECE6-4753-8D02-0EF2DACC84C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842899E2-15A8-4B36-A7A9-EA0F2FCCE2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D6253D05-6921-4EC9-8645-9E32D7C2AF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93D1AFA-3427-4AC9-BDE3-12357AF752B6}" type="slidenum">
              <a:rPr lang="en-US" altLang="en-US" sz="1200">
                <a:latin typeface="Times New Roman" panose="02020603050405020304" pitchFamily="18" charset="0"/>
              </a:rPr>
              <a:pPr/>
              <a:t>53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52CEC946-5A78-441E-BA23-2475864FBF9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10B325ED-393E-4C64-8DC4-AE3551377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520C3AE6-DF83-4FFD-A604-08AC5B758A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DE766A8-1958-4ED1-A180-E09AEBB40812}" type="slidenum">
              <a:rPr lang="en-US" altLang="en-US" sz="1200">
                <a:latin typeface="Times New Roman" panose="02020603050405020304" pitchFamily="18" charset="0"/>
              </a:rPr>
              <a:pPr/>
              <a:t>54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793826D7-1162-40BB-9D89-B0011818644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CBA37539-A042-46E3-BA38-637B135F7E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D1A463A9-33B3-411D-97ED-6C25533ECC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89C68DC-666C-4E35-A396-882D57210264}" type="slidenum">
              <a:rPr lang="en-US" altLang="en-US" sz="1200">
                <a:latin typeface="Times New Roman" panose="02020603050405020304" pitchFamily="18" charset="0"/>
              </a:rPr>
              <a:pPr/>
              <a:t>55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FC69648F-B7D0-439C-BC7D-39EF36A7FEF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86671DEE-F724-4F3F-9711-7385107F8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>
            <a:extLst>
              <a:ext uri="{FF2B5EF4-FFF2-40B4-BE49-F238E27FC236}">
                <a16:creationId xmlns:a16="http://schemas.microsoft.com/office/drawing/2014/main" id="{03373680-ABED-4E93-8766-CD0D4D6FD8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A09C2C0-FF11-4764-B16D-1E0F857A7896}" type="slidenum">
              <a:rPr lang="en-US" altLang="en-US" sz="1200">
                <a:latin typeface="Times New Roman" panose="02020603050405020304" pitchFamily="18" charset="0"/>
              </a:rPr>
              <a:pPr/>
              <a:t>56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0753CAC4-D098-47D7-A785-B8102F90AFA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E1648F08-5847-4DD9-895D-D47548231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28094CA6-A204-42E8-9F1D-E1CEA64ED7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F88C9AE-A7DA-470A-A53C-59E02D0C2076}" type="slidenum">
              <a:rPr lang="en-US" altLang="en-US" sz="1200">
                <a:latin typeface="Times New Roman" panose="02020603050405020304" pitchFamily="18" charset="0"/>
              </a:rPr>
              <a:pPr/>
              <a:t>57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61D88522-DC8E-49A7-A5AC-654672AD67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F5C38307-7DA8-4094-A673-F00BFE8122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35554B70-36E4-45EA-81F5-B415CEFDA5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B1BF2D2-47D8-460B-8299-3783094011EA}" type="slidenum">
              <a:rPr lang="en-US" altLang="en-US" sz="1200">
                <a:latin typeface="Times New Roman" panose="02020603050405020304" pitchFamily="18" charset="0"/>
              </a:rPr>
              <a:pPr/>
              <a:t>58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8883E239-711A-4CA9-9E5C-8373801652E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6C3F87BB-12BF-4F10-9519-C31147C11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6F05C59F-0599-4678-8A3E-00DE529AE5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293EBA5-D8F7-4078-B01B-7CE8E5244173}" type="slidenum">
              <a:rPr lang="en-US" altLang="en-US" sz="1200">
                <a:latin typeface="Times New Roman" panose="02020603050405020304" pitchFamily="18" charset="0"/>
              </a:rPr>
              <a:pPr/>
              <a:t>59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3F543577-F20B-4A36-8017-C1F45141954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0025A927-82D8-477F-9C84-A72CF14FE5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9C08B4ED-E8F2-4CDC-B25F-5599823D5F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52AD50D-21C0-44B0-BBCE-A4B26CFA38A3}" type="slidenum">
              <a:rPr lang="en-US" altLang="en-US" sz="1200">
                <a:latin typeface="Times New Roman" panose="02020603050405020304" pitchFamily="18" charset="0"/>
              </a:rPr>
              <a:pPr/>
              <a:t>60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C0AC015F-B769-4578-BBF1-31DA83996E2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6478AAB8-8403-402E-8978-0BEB2EB4B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B3B5434D-F290-44FC-A37F-E8B7B49DE1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C822C14-69D7-4965-8A0E-E7913779A598}" type="slidenum">
              <a:rPr lang="en-US" altLang="en-US" sz="1200">
                <a:latin typeface="Times New Roman" panose="02020603050405020304" pitchFamily="18" charset="0"/>
              </a:rPr>
              <a:pPr/>
              <a:t>61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B7BA9DE2-01A1-4028-B29B-BE0A26F4220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2DDF1E42-2893-4330-A8E8-BE012A5AFE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>
            <a:extLst>
              <a:ext uri="{FF2B5EF4-FFF2-40B4-BE49-F238E27FC236}">
                <a16:creationId xmlns:a16="http://schemas.microsoft.com/office/drawing/2014/main" id="{FBE7596C-91B3-4F10-991F-51DECA5AA9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8648C16-8D49-4608-8656-B068649CEA7F}" type="slidenum">
              <a:rPr lang="en-US" altLang="en-US" sz="1200">
                <a:latin typeface="Times New Roman" panose="02020603050405020304" pitchFamily="18" charset="0"/>
              </a:rPr>
              <a:pPr/>
              <a:t>62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82ED0185-E76C-4DE5-ABFA-241CEA62A4C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12383915-BEDC-4E54-A914-222395AE0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F96FA7C8-4F53-41CA-A523-99BCE2D21E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294F450-217A-446C-BA10-847C64AABDF1}" type="slidenum">
              <a:rPr lang="en-US" altLang="en-US" sz="1200">
                <a:latin typeface="Times New Roman" panose="02020603050405020304" pitchFamily="18" charset="0"/>
              </a:rPr>
              <a:pPr/>
              <a:t>63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247118DF-E7CC-4229-AA59-7023E97A8C3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CF584CF1-A5D9-412B-B37D-76D9F771E6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374A2B12-0042-45DA-9E86-921014C5B23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39B0AA3B-2DC0-4711-9F1E-3CCA8E0284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5A760310-F6C6-4B3C-A934-F2481AE4AD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3C4207D-A4AC-4478-9751-8F98D48EDB7A}" type="slidenum">
              <a:rPr lang="en-US" altLang="zh-CN" sz="1200">
                <a:latin typeface="Times New Roman" panose="02020603050405020304" pitchFamily="18" charset="0"/>
              </a:rPr>
              <a:pPr/>
              <a:t>65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6E97EEA7-2B4E-4327-8626-2BBC9100C4B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4B6D2911-9506-4738-BB33-7E9E5F89D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>
            <a:extLst>
              <a:ext uri="{FF2B5EF4-FFF2-40B4-BE49-F238E27FC236}">
                <a16:creationId xmlns:a16="http://schemas.microsoft.com/office/drawing/2014/main" id="{09327623-D481-4E3D-9C85-12E28C929D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CBB98A5-DF86-4A31-B35F-C9545A1DB296}" type="slidenum">
              <a:rPr lang="en-US" altLang="zh-CN" sz="1200">
                <a:latin typeface="Times New Roman" panose="02020603050405020304" pitchFamily="18" charset="0"/>
              </a:rPr>
              <a:pPr/>
              <a:t>66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E8D5BC89-12B6-40EF-9697-A222507FAD3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6956F9A6-365F-485B-A428-DD82BCBC0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0FFC222D-29C0-4E73-BA79-72CEAC679AC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82FDD514-D84A-4EC9-BCB4-103F4D5E32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>
            <a:extLst>
              <a:ext uri="{FF2B5EF4-FFF2-40B4-BE49-F238E27FC236}">
                <a16:creationId xmlns:a16="http://schemas.microsoft.com/office/drawing/2014/main" id="{8716FF73-FC3F-48D9-AE43-9567D53F08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D56575D-A583-4D25-A4A2-3D2689943EB8}" type="slidenum">
              <a:rPr lang="en-US" altLang="en-US" sz="1200">
                <a:latin typeface="Times New Roman" panose="02020603050405020304" pitchFamily="18" charset="0"/>
              </a:rPr>
              <a:pPr/>
              <a:t>68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189E99CC-EA29-4D0F-96E0-F91799B696E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B7408891-CC14-4EC1-9742-A3CEB2659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3EC1764A-CC5B-4974-87EB-B1E4107A0A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5404CD8-6C52-4456-B83A-E184DB338475}" type="slidenum">
              <a:rPr lang="en-US" altLang="en-US" sz="1200">
                <a:latin typeface="Times New Roman" panose="02020603050405020304" pitchFamily="18" charset="0"/>
              </a:rPr>
              <a:pPr/>
              <a:t>69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72B6843B-64B3-4B9B-8A4F-786542B06B0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2E5851D0-92BC-4F7D-8CEC-C419C390C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>
            <a:extLst>
              <a:ext uri="{FF2B5EF4-FFF2-40B4-BE49-F238E27FC236}">
                <a16:creationId xmlns:a16="http://schemas.microsoft.com/office/drawing/2014/main" id="{6A70F9EC-99D1-429D-A7AB-AC8A6D7600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F79ED38-7896-4EDB-8D68-0E4247B4B27F}" type="slidenum">
              <a:rPr lang="en-US" altLang="en-US" sz="1200">
                <a:latin typeface="Times New Roman" panose="02020603050405020304" pitchFamily="18" charset="0"/>
              </a:rPr>
              <a:pPr/>
              <a:t>70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E92E7717-FA6B-410F-AFA9-47A19AD53C3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A8D3F35A-02CD-4D53-8734-F7C8745362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718EB7E9-A6D0-4090-B94D-69530DD501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5265666-16A8-4F1A-89D6-CE1D567DCFEF}" type="slidenum">
              <a:rPr lang="en-US" altLang="en-US" sz="1200">
                <a:latin typeface="Times New Roman" panose="02020603050405020304" pitchFamily="18" charset="0"/>
              </a:rPr>
              <a:pPr/>
              <a:t>71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AD6B7FE4-8F0A-4A1D-8530-28F75735C1C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08696F6F-FA44-4D17-B004-5CB7D09E37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>
            <a:extLst>
              <a:ext uri="{FF2B5EF4-FFF2-40B4-BE49-F238E27FC236}">
                <a16:creationId xmlns:a16="http://schemas.microsoft.com/office/drawing/2014/main" id="{3E0F545B-2184-4634-A671-7D0489430E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746D46A-3D14-427E-9D32-4C185123FD70}" type="slidenum">
              <a:rPr lang="en-US" altLang="en-US" sz="1200">
                <a:latin typeface="Times New Roman" panose="02020603050405020304" pitchFamily="18" charset="0"/>
              </a:rPr>
              <a:pPr/>
              <a:t>72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9747" name="Rectangle 2">
            <a:extLst>
              <a:ext uri="{FF2B5EF4-FFF2-40B4-BE49-F238E27FC236}">
                <a16:creationId xmlns:a16="http://schemas.microsoft.com/office/drawing/2014/main" id="{4BEAB452-F8E7-4C9E-AD41-5309682B5A7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>
            <a:extLst>
              <a:ext uri="{FF2B5EF4-FFF2-40B4-BE49-F238E27FC236}">
                <a16:creationId xmlns:a16="http://schemas.microsoft.com/office/drawing/2014/main" id="{0D6BC371-95CE-4877-8D59-E5CA5F0793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37E589C5-B140-4E02-B319-85DD0CE019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349DE82-7BB5-4696-8BF9-8C5C6B4FFDB6}" type="slidenum">
              <a:rPr lang="en-US" altLang="en-US" sz="1200">
                <a:latin typeface="Times New Roman" panose="02020603050405020304" pitchFamily="18" charset="0"/>
              </a:rPr>
              <a:pPr/>
              <a:t>73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82240856-B1E0-4CBE-AACC-CC0BE541F79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CA529478-E579-4366-9BB1-CBC903A9C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>
            <a:extLst>
              <a:ext uri="{FF2B5EF4-FFF2-40B4-BE49-F238E27FC236}">
                <a16:creationId xmlns:a16="http://schemas.microsoft.com/office/drawing/2014/main" id="{8468B1A8-F389-4677-85A9-DC74EF2C6C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20B487E-3058-4820-9BA8-ACF17AE1D785}" type="slidenum">
              <a:rPr lang="en-US" altLang="en-US" sz="1200">
                <a:latin typeface="Times New Roman" panose="02020603050405020304" pitchFamily="18" charset="0"/>
              </a:rPr>
              <a:pPr/>
              <a:t>74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1795" name="Rectangle 2">
            <a:extLst>
              <a:ext uri="{FF2B5EF4-FFF2-40B4-BE49-F238E27FC236}">
                <a16:creationId xmlns:a16="http://schemas.microsoft.com/office/drawing/2014/main" id="{52C4C787-4CF2-44D0-AB7C-857B1A2181D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CF965E4C-85DD-4536-AF72-34EC87937D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9E983E97-AE0E-4E9E-8776-1BB8136AAA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A7F4B66-B929-45FB-BC46-E18ED3FA0476}" type="slidenum">
              <a:rPr lang="en-US" altLang="en-US" sz="1200">
                <a:latin typeface="Times New Roman" panose="02020603050405020304" pitchFamily="18" charset="0"/>
              </a:rPr>
              <a:pPr/>
              <a:t>75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3C2B0BAA-1702-4B04-AED8-862B2A1C1DD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1EAAF044-FEBC-475E-86AA-716723233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C272C162-EF25-4C93-BDE8-F467CCF80B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E602F57-FC5D-496B-AF45-B6143D4B9B44}" type="slidenum">
              <a:rPr lang="en-US" altLang="en-US" sz="1200">
                <a:latin typeface="Times New Roman" panose="02020603050405020304" pitchFamily="18" charset="0"/>
              </a:rPr>
              <a:pPr/>
              <a:t>76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FEF5BAC5-487D-46FE-B8AD-7EAF98C4A1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98B606B4-89EA-46EF-9519-44310EAFB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C062AB76-534C-406C-919F-BCB68700EB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28CD186-C2C5-4A45-94D8-B450621CC317}" type="slidenum">
              <a:rPr lang="en-US" altLang="en-US" sz="1200">
                <a:latin typeface="Times New Roman" panose="02020603050405020304" pitchFamily="18" charset="0"/>
              </a:rPr>
              <a:pPr/>
              <a:t>77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BDE8B645-601B-4380-8A5B-4C8BAEAD9C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92E98991-2A7F-4ACB-974C-7FB6B1D9C4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>
            <a:extLst>
              <a:ext uri="{FF2B5EF4-FFF2-40B4-BE49-F238E27FC236}">
                <a16:creationId xmlns:a16="http://schemas.microsoft.com/office/drawing/2014/main" id="{BF164FA3-F700-4CBE-9F6D-930A83447B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C191D2C-E2AD-4DC3-A53D-4B8B2F524148}" type="slidenum">
              <a:rPr lang="en-US" altLang="en-US" sz="1200">
                <a:latin typeface="Times New Roman" panose="02020603050405020304" pitchFamily="18" charset="0"/>
              </a:rPr>
              <a:pPr/>
              <a:t>78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5891" name="Rectangle 2">
            <a:extLst>
              <a:ext uri="{FF2B5EF4-FFF2-40B4-BE49-F238E27FC236}">
                <a16:creationId xmlns:a16="http://schemas.microsoft.com/office/drawing/2014/main" id="{091F449C-C9B6-42D3-AE04-E786114506D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>
            <a:extLst>
              <a:ext uri="{FF2B5EF4-FFF2-40B4-BE49-F238E27FC236}">
                <a16:creationId xmlns:a16="http://schemas.microsoft.com/office/drawing/2014/main" id="{C7E0D9C4-6C2E-4F9E-880D-2756F33CFE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>
            <a:extLst>
              <a:ext uri="{FF2B5EF4-FFF2-40B4-BE49-F238E27FC236}">
                <a16:creationId xmlns:a16="http://schemas.microsoft.com/office/drawing/2014/main" id="{4F02AE3A-1320-4264-8F24-45AC22284B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953044B-7F22-4019-827C-07A69320EE35}" type="slidenum">
              <a:rPr lang="en-US" altLang="en-US" sz="1200">
                <a:latin typeface="Times New Roman" panose="02020603050405020304" pitchFamily="18" charset="0"/>
              </a:rPr>
              <a:pPr/>
              <a:t>79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6915" name="Rectangle 2">
            <a:extLst>
              <a:ext uri="{FF2B5EF4-FFF2-40B4-BE49-F238E27FC236}">
                <a16:creationId xmlns:a16="http://schemas.microsoft.com/office/drawing/2014/main" id="{6B17CA19-5D5B-4BF2-89A0-61836FA2C21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>
            <a:extLst>
              <a:ext uri="{FF2B5EF4-FFF2-40B4-BE49-F238E27FC236}">
                <a16:creationId xmlns:a16="http://schemas.microsoft.com/office/drawing/2014/main" id="{261ABA3B-7C94-46CD-9224-2DD3B26364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>
            <a:extLst>
              <a:ext uri="{FF2B5EF4-FFF2-40B4-BE49-F238E27FC236}">
                <a16:creationId xmlns:a16="http://schemas.microsoft.com/office/drawing/2014/main" id="{281ACC08-F0BA-4E96-A2A7-AEFC773C58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63209FF-3B4D-4411-A225-18DC6A511831}" type="slidenum">
              <a:rPr lang="en-US" altLang="en-US" sz="1200">
                <a:latin typeface="Times New Roman" panose="02020603050405020304" pitchFamily="18" charset="0"/>
              </a:rPr>
              <a:pPr/>
              <a:t>80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7939" name="Rectangle 2">
            <a:extLst>
              <a:ext uri="{FF2B5EF4-FFF2-40B4-BE49-F238E27FC236}">
                <a16:creationId xmlns:a16="http://schemas.microsoft.com/office/drawing/2014/main" id="{1FD06620-2B76-48ED-8BCE-A90E5AD654D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>
            <a:extLst>
              <a:ext uri="{FF2B5EF4-FFF2-40B4-BE49-F238E27FC236}">
                <a16:creationId xmlns:a16="http://schemas.microsoft.com/office/drawing/2014/main" id="{61C332EB-C947-44CD-B71B-3D1068D814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4AFFEEE6-2FE7-4B6A-8929-780B9A4ED2C9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CACE9DEE-488E-4647-9AFF-AC474BA6FC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DD81E021-DD4D-4CEC-8097-1CBEB3CFDC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FA6096F4-409B-4883-A070-BB10A2636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80FAD190-86FE-42C6-95CE-B2F58A8CDD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DD8060DA-23FD-44AB-BD44-8AF31A967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801CBB97-1E12-4F60-A404-7761B470D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E84BE112-9D7F-4F76-BE54-FB459C14D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CC218D77-70FB-402B-BBFA-8B33642EC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7C7AAC71-36CB-4DF2-8EC1-BE0D03E5FD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D9380066-62DC-41C3-B480-00752F06E4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096B84C-1811-4E17-83B0-9B48D4193530}" type="datetime4">
              <a:rPr lang="en-US"/>
              <a:pPr>
                <a:defRPr/>
              </a:pPr>
              <a:t>April 27, 2026</a:t>
            </a:fld>
            <a:endParaRPr 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77F2D960-A86F-43E2-85F9-EC5D778756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DF257242-E75D-4829-AD8C-3D50B3034E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fld id="{0E4FDC8E-A25C-42BB-B5E2-7AB6D01877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7184013"/>
      </p:ext>
    </p:extLst>
  </p:cSld>
  <p:clrMapOvr>
    <a:masterClrMapping/>
  </p:clrMapOvr>
  <p:transition spd="med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F4D0DF73-B102-4AFE-A3E4-3D762EB9D4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0EF548-E2F9-49D5-94E4-D74897629D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4335338"/>
      </p:ext>
    </p:extLst>
  </p:cSld>
  <p:clrMapOvr>
    <a:masterClrMapping/>
  </p:clrMapOvr>
  <p:transition spd="med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334B5738-1F40-49AB-987F-01EBF7F929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F0EDD4-1CB6-4709-9FA8-62388A1E23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108454"/>
      </p:ext>
    </p:extLst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114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BB295473-BBC7-4303-B93C-31ADFBF44F9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E5660A-157A-4FF4-B77B-8D09FDA639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6085710"/>
      </p:ext>
    </p:extLst>
  </p:cSld>
  <p:clrMapOvr>
    <a:masterClrMapping/>
  </p:clrMapOvr>
  <p:transition spd="med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AC831773-0BE2-45C1-ADF2-5FB2D7A8571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67629D-BE38-4DB4-802F-C72A3E6F70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9595347"/>
      </p:ext>
    </p:extLst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61">
            <a:extLst>
              <a:ext uri="{FF2B5EF4-FFF2-40B4-BE49-F238E27FC236}">
                <a16:creationId xmlns:a16="http://schemas.microsoft.com/office/drawing/2014/main" id="{B64F2EB1-FDB7-4709-AC6C-DC2D349E2AF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6000B8-D5E2-49A9-BCAA-114134C4FA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823657"/>
      </p:ext>
    </p:extLst>
  </p:cSld>
  <p:clrMapOvr>
    <a:masterClrMapping/>
  </p:clrMapOvr>
  <p:transition spd="med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61">
            <a:extLst>
              <a:ext uri="{FF2B5EF4-FFF2-40B4-BE49-F238E27FC236}">
                <a16:creationId xmlns:a16="http://schemas.microsoft.com/office/drawing/2014/main" id="{E1F7451C-2C8E-4627-AA3E-27700ED5B09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624B82-B71F-45DD-8D47-1A2FFE3809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1468501"/>
      </p:ext>
    </p:extLst>
  </p:cSld>
  <p:clrMapOvr>
    <a:masterClrMapping/>
  </p:clrMapOvr>
  <p:transition spd="med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F3EC67CE-DEC5-48BD-AE59-982517178A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FD4227-CA05-4FCB-AD71-7BFFEEA39C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0398498"/>
      </p:ext>
    </p:extLst>
  </p:cSld>
  <p:clrMapOvr>
    <a:masterClrMapping/>
  </p:clrMapOvr>
  <p:transition spd="med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0E262397-3423-4244-968C-39824867CA2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77F2E-2AE7-4F1A-89AF-B1AA8A23B4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591541"/>
      </p:ext>
    </p:extLst>
  </p:cSld>
  <p:clrMapOvr>
    <a:masterClrMapping/>
  </p:clrMapOvr>
  <p:transition spd="med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7A734F9E-0AB5-4E00-BFE7-D7C01AB902D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049800-1131-4700-AA84-578E13FF3A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3839086"/>
      </p:ext>
    </p:extLst>
  </p:cSld>
  <p:clrMapOvr>
    <a:masterClrMapping/>
  </p:clrMapOvr>
  <p:transition spd="med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81000"/>
            <a:ext cx="20955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1341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45EFB4ED-91E2-44D5-BEED-22C0F87B13E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67DE30-C9B0-48E3-8739-07E7AD17C9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301520"/>
      </p:ext>
    </p:extLst>
  </p:cSld>
  <p:clrMapOvr>
    <a:masterClrMapping/>
  </p:clrMapOvr>
  <p:transition spd="med"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3058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114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513ED2F0-C7E9-441B-9846-33ADC12627B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549D0C-6BED-4714-8992-76EAB78533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694718"/>
      </p:ext>
    </p:extLst>
  </p:cSld>
  <p:clrMapOvr>
    <a:masterClrMapping/>
  </p:clrMapOvr>
  <p:transition spd="med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3058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371600"/>
            <a:ext cx="41148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1148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A44FDB77-178F-4B61-B28D-4F3D101494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03F362-3D77-4245-8D1D-AA9A8894C9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4754299"/>
      </p:ext>
    </p:extLst>
  </p:cSld>
  <p:clrMapOvr>
    <a:masterClrMapping/>
  </p:clrMapOvr>
  <p:transition spd="med"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B197E-D8D4-425C-915C-2DABFB5E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16D8-EBC0-4512-BDA2-3BFF8D25D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2F7B7-CA8A-47A4-8A5F-2CF782D9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>
                <a:ea typeface="宋体" panose="020B0503020204020204" pitchFamily="2" charset="-122"/>
              </a:defRPr>
            </a:lvl1pPr>
          </a:lstStyle>
          <a:p>
            <a:fld id="{213C0F76-A2F4-4C1D-AA5D-4561CF4AA5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5643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6">
            <a:extLst>
              <a:ext uri="{FF2B5EF4-FFF2-40B4-BE49-F238E27FC236}">
                <a16:creationId xmlns:a16="http://schemas.microsoft.com/office/drawing/2014/main" id="{602ED2F2-C1FA-4A49-A797-E3DDAF419C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1000" y="1219200"/>
            <a:ext cx="8410575" cy="46038"/>
          </a:xfrm>
          <a:prstGeom prst="rect">
            <a:avLst/>
          </a:prstGeom>
          <a:gradFill rotWithShape="0">
            <a:gsLst>
              <a:gs pos="0">
                <a:schemeClr val="accent1">
                  <a:alpha val="50000"/>
                </a:schemeClr>
              </a:gs>
              <a:gs pos="100000">
                <a:schemeClr val="folHlink">
                  <a:alpha val="50000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en-US" altLang="en-US"/>
          </a:p>
        </p:txBody>
      </p:sp>
      <p:sp>
        <p:nvSpPr>
          <p:cNvPr id="1027" name="Rectangle 2057">
            <a:extLst>
              <a:ext uri="{FF2B5EF4-FFF2-40B4-BE49-F238E27FC236}">
                <a16:creationId xmlns:a16="http://schemas.microsoft.com/office/drawing/2014/main" id="{3A48BF1D-0CA0-45F7-BE44-C5A84A523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81000"/>
            <a:ext cx="830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2058">
            <a:extLst>
              <a:ext uri="{FF2B5EF4-FFF2-40B4-BE49-F238E27FC236}">
                <a16:creationId xmlns:a16="http://schemas.microsoft.com/office/drawing/2014/main" id="{65D9CCD6-F0F3-4011-B6A0-3C36695371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3820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28781" name="Rectangle 2061">
            <a:extLst>
              <a:ext uri="{FF2B5EF4-FFF2-40B4-BE49-F238E27FC236}">
                <a16:creationId xmlns:a16="http://schemas.microsoft.com/office/drawing/2014/main" id="{E1777045-E0FF-46C8-B12C-65ED6B4E1F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8200" y="6477000"/>
            <a:ext cx="68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56DF989-9005-4659-AAF9-DF1E04DC131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5" r:id="rId14"/>
  </p:sldLayoutIdLst>
  <p:transition spd="med">
    <p:zo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emf"/><Relationship Id="rId17" Type="http://schemas.openxmlformats.org/officeDocument/2006/relationships/oleObject" Target="../embeddings/oleObject8.bin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1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8.emf"/><Relationship Id="rId17" Type="http://schemas.openxmlformats.org/officeDocument/2006/relationships/oleObject" Target="../embeddings/oleObject16.bin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2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9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6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w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19.w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1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road.mit.edu/tools/data.html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35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>
            <a:extLst>
              <a:ext uri="{FF2B5EF4-FFF2-40B4-BE49-F238E27FC236}">
                <a16:creationId xmlns:a16="http://schemas.microsoft.com/office/drawing/2014/main" id="{151C2E43-DB88-431C-B3C6-7A67142462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259A47E-DFBC-49DF-857D-22126DDC397F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4099" name="Slide Number Placeholder 5">
            <a:extLst>
              <a:ext uri="{FF2B5EF4-FFF2-40B4-BE49-F238E27FC236}">
                <a16:creationId xmlns:a16="http://schemas.microsoft.com/office/drawing/2014/main" id="{1B09AFFF-894B-4C7C-AA8A-FC5D187F3F12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338783E1-6EE7-48F6-8D04-609D7C11753B}" type="slidenum">
              <a:rPr lang="zh-CN" altLang="en-US" sz="1200">
                <a:ea typeface="宋体" panose="020B0503020204020204" pitchFamily="2" charset="-122"/>
              </a:rPr>
              <a:pPr algn="r" eaLnBrk="1" hangingPunct="1"/>
              <a:t>1</a:t>
            </a:fld>
            <a:endParaRPr lang="en-US" altLang="zh-CN" sz="1200">
              <a:ea typeface="宋体" panose="020B0503020204020204" pitchFamily="2" charset="-122"/>
            </a:endParaRPr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D2659535-9897-4561-8652-E40BC3E2927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077200" cy="3886200"/>
          </a:xfrm>
        </p:spPr>
        <p:txBody>
          <a:bodyPr/>
          <a:lstStyle/>
          <a:p>
            <a:pPr eaLnBrk="1" hangingPunct="1"/>
            <a:r>
              <a:rPr lang="en-US" altLang="en-US" sz="6000"/>
              <a:t>Data Mining: </a:t>
            </a:r>
            <a:br>
              <a:rPr lang="en-US" altLang="en-US" sz="6000"/>
            </a:br>
            <a:r>
              <a:rPr lang="en-US" altLang="en-US" sz="6000"/>
              <a:t> </a:t>
            </a:r>
            <a:r>
              <a:rPr lang="en-US" altLang="en-US" sz="4800"/>
              <a:t>Concepts and Techniques</a:t>
            </a:r>
            <a:br>
              <a:rPr lang="en-US" altLang="en-US" sz="4800"/>
            </a:br>
            <a:r>
              <a:rPr lang="en-US" altLang="en-US" sz="4800"/>
              <a:t> </a:t>
            </a:r>
            <a:r>
              <a:rPr lang="en-US" altLang="en-US" sz="2800"/>
              <a:t>(3</a:t>
            </a:r>
            <a:r>
              <a:rPr lang="en-US" altLang="en-US" sz="2800" baseline="30000"/>
              <a:t>rd</a:t>
            </a:r>
            <a:r>
              <a:rPr lang="en-US" altLang="en-US" sz="2800"/>
              <a:t> ed.)</a:t>
            </a:r>
            <a:br>
              <a:rPr lang="en-US" altLang="en-US" sz="4800"/>
            </a:br>
            <a:br>
              <a:rPr lang="en-US" altLang="en-US" sz="4800"/>
            </a:br>
            <a:r>
              <a:rPr lang="en-US" altLang="en-US" sz="3200"/>
              <a:t>— Chapter 7</a:t>
            </a:r>
            <a:r>
              <a:rPr lang="en-US" altLang="en-US" sz="2800"/>
              <a:t> —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0BE9C6D3-E7D2-470D-BB96-953FA4B86FA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4419600"/>
            <a:ext cx="8610600" cy="1905000"/>
          </a:xfrm>
        </p:spPr>
        <p:txBody>
          <a:bodyPr/>
          <a:lstStyle/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Jiawei Han, Micheline Kamber, and Jian Pei</a:t>
            </a: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University of Illinois at Urbana-Champaign &amp;</a:t>
            </a: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Simon Fraser University</a:t>
            </a: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©2011 Han, Kamber &amp; Pei. 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1">
            <a:extLst>
              <a:ext uri="{FF2B5EF4-FFF2-40B4-BE49-F238E27FC236}">
                <a16:creationId xmlns:a16="http://schemas.microsoft.com/office/drawing/2014/main" id="{D18B67DD-D310-42E6-B8F1-0B5A0E886518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304800" y="6477000"/>
            <a:ext cx="1905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9A09F41-8670-4C27-84C1-68DC5BEBA9C8}" type="datetime4">
              <a:rPr lang="en-US" altLang="en-US" sz="1200"/>
              <a:pPr eaLnBrk="1" hangingPunct="1"/>
              <a:t>April 27, 2026</a:t>
            </a:fld>
            <a:endParaRPr lang="en-US" altLang="en-US" sz="1200"/>
          </a:p>
        </p:txBody>
      </p:sp>
      <p:sp>
        <p:nvSpPr>
          <p:cNvPr id="5123" name="Footer Placeholder 2">
            <a:extLst>
              <a:ext uri="{FF2B5EF4-FFF2-40B4-BE49-F238E27FC236}">
                <a16:creationId xmlns:a16="http://schemas.microsoft.com/office/drawing/2014/main" id="{0C695187-50DC-4D83-8E94-31820707C19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352800" y="6477000"/>
            <a:ext cx="28956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200"/>
              <a:t>Data Mining: Concepts and Techniques</a:t>
            </a:r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B170D5A3-9604-42B5-BA05-5AB774325B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5A8222E-B106-4954-B59A-EF42D846114A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pic>
        <p:nvPicPr>
          <p:cNvPr id="5125" name="Picture 2" descr="IMG_4153">
            <a:extLst>
              <a:ext uri="{FF2B5EF4-FFF2-40B4-BE49-F238E27FC236}">
                <a16:creationId xmlns:a16="http://schemas.microsoft.com/office/drawing/2014/main" id="{EE92E7CC-F8CC-4693-9699-577274B81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7150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6">
            <a:extLst>
              <a:ext uri="{FF2B5EF4-FFF2-40B4-BE49-F238E27FC236}">
                <a16:creationId xmlns:a16="http://schemas.microsoft.com/office/drawing/2014/main" id="{87AF010C-D16E-4909-B322-22DA2A68BA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0C96644-71DD-4788-BA66-29EB914C7BA6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D8EF036-81B0-443D-B768-FC820DF836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7 : Advanced Frequent Pattern Mining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8CC78BFF-2081-4452-B1D2-51859D30492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382000" cy="50292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Mining: A Road Map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 in Multi-Level, Multi-Dimensional Space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Constraint-Based Frequent Pattern Mining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High-Dimensional Data and Colossal Patterns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Compressed or Approximate Patterns 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Exploration and Application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Summary</a:t>
            </a:r>
          </a:p>
        </p:txBody>
      </p:sp>
      <p:sp>
        <p:nvSpPr>
          <p:cNvPr id="6149" name="AutoShape 4">
            <a:extLst>
              <a:ext uri="{FF2B5EF4-FFF2-40B4-BE49-F238E27FC236}">
                <a16:creationId xmlns:a16="http://schemas.microsoft.com/office/drawing/2014/main" id="{264CFA77-DB8F-4DBE-A81F-F927360AA37F}"/>
              </a:ext>
            </a:extLst>
          </p:cNvPr>
          <p:cNvSpPr>
            <a:spLocks noChangeArrowheads="1"/>
          </p:cNvSpPr>
          <p:nvPr/>
        </p:nvSpPr>
        <p:spPr bwMode="auto">
          <a:xfrm rot="-1988414">
            <a:off x="4894263" y="1308100"/>
            <a:ext cx="381000" cy="45720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Placeholder 2">
            <a:extLst>
              <a:ext uri="{FF2B5EF4-FFF2-40B4-BE49-F238E27FC236}">
                <a16:creationId xmlns:a16="http://schemas.microsoft.com/office/drawing/2014/main" id="{EF3BC4D8-81CE-4855-8BEF-C51DBBBD39A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 rot="16200000">
            <a:off x="-3048000" y="3124200"/>
            <a:ext cx="6781800" cy="533400"/>
          </a:xfrm>
        </p:spPr>
        <p:txBody>
          <a:bodyPr/>
          <a:lstStyle/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altLang="en-US" sz="2400" b="1"/>
              <a:t>Research on Pattern Mining: A Road Map</a:t>
            </a:r>
          </a:p>
        </p:txBody>
      </p:sp>
      <p:sp>
        <p:nvSpPr>
          <p:cNvPr id="7171" name="Slide Number Placeholder 6">
            <a:extLst>
              <a:ext uri="{FF2B5EF4-FFF2-40B4-BE49-F238E27FC236}">
                <a16:creationId xmlns:a16="http://schemas.microsoft.com/office/drawing/2014/main" id="{F03A16B1-2E78-421B-AC84-62E0BEA7F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76AE5E4-403D-4605-A7CC-CBC8C4312193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pic>
        <p:nvPicPr>
          <p:cNvPr id="7172" name="Picture 3">
            <a:extLst>
              <a:ext uri="{FF2B5EF4-FFF2-40B4-BE49-F238E27FC236}">
                <a16:creationId xmlns:a16="http://schemas.microsoft.com/office/drawing/2014/main" id="{5F3D2F9F-DDCB-4706-9DA5-67B834C5E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-76200"/>
            <a:ext cx="8534400" cy="693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6">
            <a:extLst>
              <a:ext uri="{FF2B5EF4-FFF2-40B4-BE49-F238E27FC236}">
                <a16:creationId xmlns:a16="http://schemas.microsoft.com/office/drawing/2014/main" id="{F9385A3B-C413-4E08-8456-7F9D2D84C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7BCA695-5D90-4455-B650-515FDBCCC37B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9F786143-166A-46DA-903A-F87E9F1EA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7 : Advanced Frequent Pattern Mining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6EB0C5EE-3BEC-47B0-A265-F9D82017E6F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95400"/>
            <a:ext cx="8382000" cy="52578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Mining: A Road Map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 in Multi-Level, Multi-Dimensional Space</a:t>
            </a:r>
          </a:p>
          <a:p>
            <a:pPr marL="914400" lvl="1" indent="-457200" eaLnBrk="1" hangingPunct="1"/>
            <a:r>
              <a:rPr lang="en-US" altLang="en-US" sz="2400"/>
              <a:t>Mining Multi-Level Association</a:t>
            </a:r>
          </a:p>
          <a:p>
            <a:pPr marL="914400" lvl="1" indent="-457200" eaLnBrk="1" hangingPunct="1"/>
            <a:r>
              <a:rPr lang="en-US" altLang="en-US" sz="2400"/>
              <a:t>Mining Multi-Dimensional Association</a:t>
            </a:r>
          </a:p>
          <a:p>
            <a:pPr marL="914400" lvl="1" indent="-457200" eaLnBrk="1" hangingPunct="1"/>
            <a:r>
              <a:rPr lang="en-US" altLang="en-US" sz="2400"/>
              <a:t>Mining Quantitative Association Rules</a:t>
            </a:r>
          </a:p>
          <a:p>
            <a:pPr marL="914400" lvl="1" indent="-457200" eaLnBrk="1" hangingPunct="1"/>
            <a:r>
              <a:rPr lang="en-US" altLang="en-US" sz="2400"/>
              <a:t>Mining Rare Patterns and Negative Patterns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Constraint-Based Frequent Pattern Mining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High-Dimensional Data and Colossal Patterns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Compressed or Approximate Patterns 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Exploration and Application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Summary</a:t>
            </a:r>
          </a:p>
        </p:txBody>
      </p:sp>
      <p:sp>
        <p:nvSpPr>
          <p:cNvPr id="8197" name="AutoShape 4">
            <a:extLst>
              <a:ext uri="{FF2B5EF4-FFF2-40B4-BE49-F238E27FC236}">
                <a16:creationId xmlns:a16="http://schemas.microsoft.com/office/drawing/2014/main" id="{D346A1C9-8D2E-4A9C-A66B-F03FF3DC03B4}"/>
              </a:ext>
            </a:extLst>
          </p:cNvPr>
          <p:cNvSpPr>
            <a:spLocks noChangeArrowheads="1"/>
          </p:cNvSpPr>
          <p:nvPr/>
        </p:nvSpPr>
        <p:spPr bwMode="auto">
          <a:xfrm rot="-1988414">
            <a:off x="8323263" y="1743075"/>
            <a:ext cx="381000" cy="45720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198" name="AutoShape 4">
            <a:extLst>
              <a:ext uri="{FF2B5EF4-FFF2-40B4-BE49-F238E27FC236}">
                <a16:creationId xmlns:a16="http://schemas.microsoft.com/office/drawing/2014/main" id="{2A23BC9A-6AAC-4312-8288-A06A1862FA9C}"/>
              </a:ext>
            </a:extLst>
          </p:cNvPr>
          <p:cNvSpPr>
            <a:spLocks noChangeArrowheads="1"/>
          </p:cNvSpPr>
          <p:nvPr/>
        </p:nvSpPr>
        <p:spPr bwMode="auto">
          <a:xfrm rot="-1988414">
            <a:off x="5634038" y="2271713"/>
            <a:ext cx="284162" cy="346075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3D2E6A9E-EDCD-43A3-B509-1CA3F9405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20DF23F-1A56-4097-B10C-B887046A0A0B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D4B347B-45CC-47B8-B6AA-5DCE4168F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381000"/>
            <a:ext cx="7845425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Mining Multiple-Level Association Rules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9D0CAAB-4DC3-419D-91C7-4688D1CAA0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Items often form hierarchies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Flexible support settings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Items at the lower level are expected to have lower support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Exploration of </a:t>
            </a:r>
            <a:r>
              <a:rPr lang="en-US" altLang="en-US" sz="2400" i="1">
                <a:solidFill>
                  <a:schemeClr val="folHlink"/>
                </a:solidFill>
              </a:rPr>
              <a:t>shared</a:t>
            </a:r>
            <a:r>
              <a:rPr lang="en-US" altLang="en-US" sz="2400"/>
              <a:t> multi-level mining (Agrawal &amp; Srikant@VLB’95, Han &amp; Fu@VLDB’95)</a:t>
            </a:r>
          </a:p>
        </p:txBody>
      </p:sp>
      <p:grpSp>
        <p:nvGrpSpPr>
          <p:cNvPr id="9221" name="Group 4">
            <a:extLst>
              <a:ext uri="{FF2B5EF4-FFF2-40B4-BE49-F238E27FC236}">
                <a16:creationId xmlns:a16="http://schemas.microsoft.com/office/drawing/2014/main" id="{2089B9AD-07BC-4D0D-8552-60A642F332BF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962400"/>
            <a:ext cx="7253288" cy="2249488"/>
            <a:chOff x="384" y="1392"/>
            <a:chExt cx="4569" cy="1230"/>
          </a:xfrm>
        </p:grpSpPr>
        <p:sp>
          <p:nvSpPr>
            <p:cNvPr id="9222" name="Rectangle 5">
              <a:extLst>
                <a:ext uri="{FF2B5EF4-FFF2-40B4-BE49-F238E27FC236}">
                  <a16:creationId xmlns:a16="http://schemas.microsoft.com/office/drawing/2014/main" id="{BC06DF7C-54EA-475F-B934-A30D0E75C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392"/>
              <a:ext cx="15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en-US">
                  <a:solidFill>
                    <a:schemeClr val="hlink"/>
                  </a:solidFill>
                </a:rPr>
                <a:t>uniform support</a:t>
              </a:r>
              <a:endParaRPr lang="en-US" altLang="en-US" sz="2000">
                <a:solidFill>
                  <a:schemeClr val="hlink"/>
                </a:solidFill>
              </a:endParaRPr>
            </a:p>
          </p:txBody>
        </p:sp>
        <p:sp>
          <p:nvSpPr>
            <p:cNvPr id="9223" name="Text Box 6">
              <a:extLst>
                <a:ext uri="{FF2B5EF4-FFF2-40B4-BE49-F238E27FC236}">
                  <a16:creationId xmlns:a16="http://schemas.microsoft.com/office/drawing/2014/main" id="{95921BBA-7DEC-4561-856C-192FAFF5C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776"/>
              <a:ext cx="1200" cy="31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800" b="1">
                  <a:latin typeface="Times New Roman" panose="02020603050405020304" pitchFamily="18" charset="0"/>
                </a:rPr>
                <a:t>Milk</a:t>
              </a:r>
            </a:p>
            <a:p>
              <a:pPr algn="ctr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800" b="1">
                  <a:latin typeface="Times New Roman" panose="02020603050405020304" pitchFamily="18" charset="0"/>
                </a:rPr>
                <a:t>[support = 10%]</a:t>
              </a:r>
            </a:p>
          </p:txBody>
        </p:sp>
        <p:sp>
          <p:nvSpPr>
            <p:cNvPr id="9224" name="Text Box 7">
              <a:extLst>
                <a:ext uri="{FF2B5EF4-FFF2-40B4-BE49-F238E27FC236}">
                  <a16:creationId xmlns:a16="http://schemas.microsoft.com/office/drawing/2014/main" id="{0489669D-B060-4750-9F0A-10D24BD41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304"/>
              <a:ext cx="1152" cy="31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800" b="1">
                  <a:latin typeface="Times New Roman" panose="02020603050405020304" pitchFamily="18" charset="0"/>
                </a:rPr>
                <a:t>2% Milk </a:t>
              </a:r>
            </a:p>
            <a:p>
              <a:pPr algn="ctr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800" b="1">
                  <a:latin typeface="Times New Roman" panose="02020603050405020304" pitchFamily="18" charset="0"/>
                </a:rPr>
                <a:t>[support = 6%]</a:t>
              </a:r>
            </a:p>
          </p:txBody>
        </p:sp>
        <p:sp>
          <p:nvSpPr>
            <p:cNvPr id="9225" name="Text Box 8">
              <a:extLst>
                <a:ext uri="{FF2B5EF4-FFF2-40B4-BE49-F238E27FC236}">
                  <a16:creationId xmlns:a16="http://schemas.microsoft.com/office/drawing/2014/main" id="{B5D2CD7A-51D0-4D5A-8B2E-F21EE8084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304"/>
              <a:ext cx="1104" cy="311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8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Skim Milk </a:t>
              </a:r>
            </a:p>
            <a:p>
              <a:pPr algn="ctr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8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[support = 4%]</a:t>
              </a:r>
              <a:endParaRPr lang="en-US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9226" name="Text Box 9">
              <a:extLst>
                <a:ext uri="{FF2B5EF4-FFF2-40B4-BE49-F238E27FC236}">
                  <a16:creationId xmlns:a16="http://schemas.microsoft.com/office/drawing/2014/main" id="{4F24AEFF-B842-474A-8512-4CB0BAFA7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680"/>
              <a:ext cx="915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Level 1</a:t>
              </a:r>
            </a:p>
            <a:p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min_sup = 5%</a:t>
              </a:r>
            </a:p>
          </p:txBody>
        </p:sp>
        <p:sp>
          <p:nvSpPr>
            <p:cNvPr id="9227" name="Text Box 10">
              <a:extLst>
                <a:ext uri="{FF2B5EF4-FFF2-40B4-BE49-F238E27FC236}">
                  <a16:creationId xmlns:a16="http://schemas.microsoft.com/office/drawing/2014/main" id="{9DCD26FF-52BC-47E5-AE0A-A04B92A75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304"/>
              <a:ext cx="915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Level 2</a:t>
              </a:r>
            </a:p>
            <a:p>
              <a:r>
                <a:rPr lang="en-US" altLang="en-US" sz="16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min_sup = 5%</a:t>
              </a:r>
            </a:p>
          </p:txBody>
        </p:sp>
        <p:sp>
          <p:nvSpPr>
            <p:cNvPr id="9228" name="Text Box 11">
              <a:extLst>
                <a:ext uri="{FF2B5EF4-FFF2-40B4-BE49-F238E27FC236}">
                  <a16:creationId xmlns:a16="http://schemas.microsoft.com/office/drawing/2014/main" id="{2ACEE2B7-4A1B-44F2-95C2-68FF813D2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762"/>
              <a:ext cx="915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16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Level 1</a:t>
              </a:r>
            </a:p>
            <a:p>
              <a:r>
                <a:rPr lang="en-US" altLang="en-US" sz="16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min_sup = 5%</a:t>
              </a:r>
            </a:p>
          </p:txBody>
        </p:sp>
        <p:sp>
          <p:nvSpPr>
            <p:cNvPr id="9229" name="Text Box 12">
              <a:extLst>
                <a:ext uri="{FF2B5EF4-FFF2-40B4-BE49-F238E27FC236}">
                  <a16:creationId xmlns:a16="http://schemas.microsoft.com/office/drawing/2014/main" id="{E8ABE3FB-AC18-44BC-8F43-2B4D99147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290"/>
              <a:ext cx="915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sz="16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Level 2</a:t>
              </a:r>
            </a:p>
            <a:p>
              <a:r>
                <a:rPr lang="en-US" altLang="en-US" sz="1600" b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min_sup = 3%</a:t>
              </a:r>
            </a:p>
          </p:txBody>
        </p:sp>
        <p:sp>
          <p:nvSpPr>
            <p:cNvPr id="9230" name="Rectangle 13">
              <a:extLst>
                <a:ext uri="{FF2B5EF4-FFF2-40B4-BE49-F238E27FC236}">
                  <a16:creationId xmlns:a16="http://schemas.microsoft.com/office/drawing/2014/main" id="{1FB61EF1-E615-4D90-B3C6-4D47F59A3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92"/>
              <a:ext cx="14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folHlink"/>
                  </a:solidFill>
                </a:rPr>
                <a:t>reduced support</a:t>
              </a:r>
            </a:p>
          </p:txBody>
        </p:sp>
        <p:cxnSp>
          <p:nvCxnSpPr>
            <p:cNvPr id="9231" name="AutoShape 14">
              <a:extLst>
                <a:ext uri="{FF2B5EF4-FFF2-40B4-BE49-F238E27FC236}">
                  <a16:creationId xmlns:a16="http://schemas.microsoft.com/office/drawing/2014/main" id="{EE6AE100-8BD3-437B-8010-8AF792FC1441}"/>
                </a:ext>
              </a:extLst>
            </p:cNvPr>
            <p:cNvCxnSpPr>
              <a:cxnSpLocks noChangeShapeType="1"/>
              <a:stCxn id="9223" idx="2"/>
              <a:endCxn id="9224" idx="0"/>
            </p:cNvCxnSpPr>
            <p:nvPr/>
          </p:nvCxnSpPr>
          <p:spPr bwMode="auto">
            <a:xfrm flipH="1">
              <a:off x="2112" y="2135"/>
              <a:ext cx="600" cy="1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32" name="AutoShape 15">
              <a:extLst>
                <a:ext uri="{FF2B5EF4-FFF2-40B4-BE49-F238E27FC236}">
                  <a16:creationId xmlns:a16="http://schemas.microsoft.com/office/drawing/2014/main" id="{929A5021-FF9B-4651-9E7B-892A2766B86C}"/>
                </a:ext>
              </a:extLst>
            </p:cNvPr>
            <p:cNvCxnSpPr>
              <a:cxnSpLocks noChangeShapeType="1"/>
              <a:stCxn id="9223" idx="2"/>
              <a:endCxn id="9225" idx="0"/>
            </p:cNvCxnSpPr>
            <p:nvPr/>
          </p:nvCxnSpPr>
          <p:spPr bwMode="auto">
            <a:xfrm>
              <a:off x="2712" y="2135"/>
              <a:ext cx="624" cy="1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 spd="med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1D2A887E-D7FE-4511-BB95-9926DD70F2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E69D393-4F16-4CC2-A512-1588230FA14D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1A0332C-6AF5-46E4-BD12-41E744B5C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458200" cy="1066800"/>
          </a:xfrm>
        </p:spPr>
        <p:txBody>
          <a:bodyPr/>
          <a:lstStyle/>
          <a:p>
            <a:pPr eaLnBrk="1" hangingPunct="1"/>
            <a:r>
              <a:rPr lang="en-US" altLang="en-US" sz="3200"/>
              <a:t>Multi-level Association: Flexible Support and Redundancy filtering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DB638664-BAC8-485B-939E-7C1B1A01A2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05800" cy="4814888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2000"/>
              <a:t>Flexible min-support thresholds: Some items are more valuable but less frequent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Use non-uniform, group-based min-support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E.g., {diamond, watch, camera}: 0.05%; {bread, milk}: 5%; …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Redundancy Filtering: Some rules may be redundant due to “ancestor” relationships between items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>
                <a:solidFill>
                  <a:schemeClr val="folHlink"/>
                </a:solidFill>
              </a:rPr>
              <a:t>milk </a:t>
            </a:r>
            <a:r>
              <a:rPr lang="en-US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 wheat bread  [support = 8%, confidence = 70%]</a:t>
            </a:r>
            <a:endParaRPr lang="en-US" altLang="en-US" sz="2000">
              <a:sym typeface="Symbol" panose="05050102010706020507" pitchFamily="18" charset="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2% milk  wheat bread [support = 2%, confidence = 72%]</a:t>
            </a:r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ym typeface="Symbol" panose="05050102010706020507" pitchFamily="18" charset="2"/>
              </a:rPr>
              <a:t>The first rule is an ancestor of the second rule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A rule is </a:t>
            </a:r>
            <a:r>
              <a:rPr lang="en-US" altLang="en-US" sz="2000" i="1"/>
              <a:t>redundant</a:t>
            </a:r>
            <a:r>
              <a:rPr lang="en-US" altLang="en-US" sz="2000"/>
              <a:t> if its support is close to the “expected” value, based on the rule’s ancestor</a:t>
            </a:r>
          </a:p>
        </p:txBody>
      </p:sp>
    </p:spTree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6">
            <a:extLst>
              <a:ext uri="{FF2B5EF4-FFF2-40B4-BE49-F238E27FC236}">
                <a16:creationId xmlns:a16="http://schemas.microsoft.com/office/drawing/2014/main" id="{792D4497-2674-4900-9633-4C693636F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D7A7B72-E426-4B3C-8471-30CC23B75008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00357120-5358-4C79-93A2-9B7F908DC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7 : Advanced Frequent Pattern Mining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5C289EE0-0F84-42DB-9E5E-D1DF893F03A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95400"/>
            <a:ext cx="8382000" cy="52578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Mining: A Road Map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 in Multi-Level, Multi-Dimensional Space</a:t>
            </a:r>
          </a:p>
          <a:p>
            <a:pPr marL="914400" lvl="1" indent="-457200" eaLnBrk="1" hangingPunct="1"/>
            <a:r>
              <a:rPr lang="en-US" altLang="en-US" sz="2400"/>
              <a:t>Mining Multi-Level Association</a:t>
            </a:r>
          </a:p>
          <a:p>
            <a:pPr marL="914400" lvl="1" indent="-457200" eaLnBrk="1" hangingPunct="1"/>
            <a:r>
              <a:rPr lang="en-US" altLang="en-US" sz="2400"/>
              <a:t>Mining Multi-Dimensional Association</a:t>
            </a:r>
          </a:p>
          <a:p>
            <a:pPr marL="914400" lvl="1" indent="-457200" eaLnBrk="1" hangingPunct="1"/>
            <a:r>
              <a:rPr lang="en-US" altLang="en-US" sz="2400"/>
              <a:t>Mining Quantitative Association Rules</a:t>
            </a:r>
          </a:p>
          <a:p>
            <a:pPr marL="914400" lvl="1" indent="-457200" eaLnBrk="1" hangingPunct="1"/>
            <a:r>
              <a:rPr lang="en-US" altLang="en-US" sz="2400"/>
              <a:t>Mining Rare Patterns and Negative Patterns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Constraint-Based Frequent Pattern Mining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High-Dimensional Data and Colossal Patterns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Compressed or Approximate Patterns 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Exploration and Application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Summary</a:t>
            </a:r>
          </a:p>
        </p:txBody>
      </p:sp>
      <p:sp>
        <p:nvSpPr>
          <p:cNvPr id="11269" name="AutoShape 4">
            <a:extLst>
              <a:ext uri="{FF2B5EF4-FFF2-40B4-BE49-F238E27FC236}">
                <a16:creationId xmlns:a16="http://schemas.microsoft.com/office/drawing/2014/main" id="{F85426B6-524B-4AA4-95D9-C527046A36E6}"/>
              </a:ext>
            </a:extLst>
          </p:cNvPr>
          <p:cNvSpPr>
            <a:spLocks noChangeArrowheads="1"/>
          </p:cNvSpPr>
          <p:nvPr/>
        </p:nvSpPr>
        <p:spPr bwMode="auto">
          <a:xfrm rot="-1988414">
            <a:off x="8323263" y="1743075"/>
            <a:ext cx="381000" cy="45720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70" name="AutoShape 4">
            <a:extLst>
              <a:ext uri="{FF2B5EF4-FFF2-40B4-BE49-F238E27FC236}">
                <a16:creationId xmlns:a16="http://schemas.microsoft.com/office/drawing/2014/main" id="{19A43920-E5C4-48FA-A596-5B3601474609}"/>
              </a:ext>
            </a:extLst>
          </p:cNvPr>
          <p:cNvSpPr>
            <a:spLocks noChangeArrowheads="1"/>
          </p:cNvSpPr>
          <p:nvPr/>
        </p:nvSpPr>
        <p:spPr bwMode="auto">
          <a:xfrm rot="-1988414">
            <a:off x="6548438" y="2717800"/>
            <a:ext cx="284162" cy="346075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CD100209-CD1F-422B-9A53-69FA9C3E39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03E6E6E-1078-4114-B947-E08B69DA1EA6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597FDE5-8496-4763-9BB8-5C9AF20E8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564438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Mining Multi-Dimensional Association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BFA89490-9623-4EED-B9EE-9BB58B7AA2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86800" cy="5181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Single-dimensional rules: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</a:rPr>
              <a:t>buys(X, “milk”) </a:t>
            </a:r>
            <a:r>
              <a:rPr lang="en-US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 buys(X, “bread”)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Multi-dimensional rules: </a:t>
            </a:r>
            <a:r>
              <a:rPr lang="en-US" altLang="en-US" sz="2400">
                <a:sym typeface="Symbol" panose="05050102010706020507" pitchFamily="18" charset="2"/>
              </a:rPr>
              <a:t></a:t>
            </a:r>
            <a:r>
              <a:rPr lang="en-US" altLang="en-US" sz="2400">
                <a:sym typeface="Math B" pitchFamily="2" charset="2"/>
              </a:rPr>
              <a:t> </a:t>
            </a:r>
            <a:r>
              <a:rPr lang="en-US" altLang="en-US" sz="2400"/>
              <a:t>2 dimensions or predicates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Inter-dimension assoc. rules (</a:t>
            </a:r>
            <a:r>
              <a:rPr lang="en-US" altLang="en-US" sz="2400" i="1"/>
              <a:t>no repeated predicates</a:t>
            </a:r>
            <a:r>
              <a:rPr lang="en-US" altLang="en-US" sz="2400"/>
              <a:t>)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</a:rPr>
              <a:t>age(X,”19-25”) </a:t>
            </a:r>
            <a:r>
              <a:rPr lang="en-US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 </a:t>
            </a:r>
            <a:r>
              <a:rPr lang="en-US" altLang="en-US" sz="2000">
                <a:solidFill>
                  <a:schemeClr val="folHlink"/>
                </a:solidFill>
              </a:rPr>
              <a:t>occupation(X,“student”) </a:t>
            </a:r>
            <a:r>
              <a:rPr lang="en-US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 buys(X, “coke”)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>
                <a:sym typeface="Symbol" panose="05050102010706020507" pitchFamily="18" charset="2"/>
              </a:rPr>
              <a:t>hybrid-dimension assoc. rules (</a:t>
            </a:r>
            <a:r>
              <a:rPr lang="en-US" altLang="en-US" sz="2400" i="1">
                <a:sym typeface="Symbol" panose="05050102010706020507" pitchFamily="18" charset="2"/>
              </a:rPr>
              <a:t>repeated predicates</a:t>
            </a:r>
            <a:r>
              <a:rPr lang="en-US" altLang="en-US" sz="2400">
                <a:sym typeface="Symbol" panose="05050102010706020507" pitchFamily="18" charset="2"/>
              </a:rPr>
              <a:t>)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chemeClr val="folHlink"/>
                </a:solidFill>
              </a:rPr>
              <a:t>age(X,”19-25”) </a:t>
            </a:r>
            <a:r>
              <a:rPr lang="en-US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  </a:t>
            </a:r>
            <a:r>
              <a:rPr lang="en-US" altLang="en-US" sz="2000">
                <a:solidFill>
                  <a:schemeClr val="folHlink"/>
                </a:solidFill>
              </a:rPr>
              <a:t>buys(X, “popcorn”) </a:t>
            </a:r>
            <a:r>
              <a:rPr lang="en-US" altLang="en-US" sz="2000">
                <a:solidFill>
                  <a:schemeClr val="folHlink"/>
                </a:solidFill>
                <a:sym typeface="Symbol" panose="05050102010706020507" pitchFamily="18" charset="2"/>
              </a:rPr>
              <a:t> buys(X, “coke”)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Categorical Attributes: finite number of possible values, no ordering among values—data cube approach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Quantitative Attributes: Numeric, implicit ordering among values—discretization, clustering, and gradient approaches</a:t>
            </a:r>
          </a:p>
          <a:p>
            <a:pPr eaLnBrk="1" hangingPunct="1">
              <a:lnSpc>
                <a:spcPct val="110000"/>
              </a:lnSpc>
            </a:pPr>
            <a:endParaRPr lang="en-US" altLang="en-US" sz="2400">
              <a:solidFill>
                <a:schemeClr val="folHlink"/>
              </a:solidFill>
              <a:sym typeface="Symbol" panose="05050102010706020507" pitchFamily="18" charset="2"/>
            </a:endParaRPr>
          </a:p>
        </p:txBody>
      </p:sp>
      <p:sp>
        <p:nvSpPr>
          <p:cNvPr id="1553412" name="Rectangle 4">
            <a:extLst>
              <a:ext uri="{FF2B5EF4-FFF2-40B4-BE49-F238E27FC236}">
                <a16:creationId xmlns:a16="http://schemas.microsoft.com/office/drawing/2014/main" id="{EF5D9648-ABCE-4EEC-9B2C-D9A78CFBD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86200"/>
            <a:ext cx="83820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800">
              <a:solidFill>
                <a:schemeClr val="folHlink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3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3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341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6">
            <a:extLst>
              <a:ext uri="{FF2B5EF4-FFF2-40B4-BE49-F238E27FC236}">
                <a16:creationId xmlns:a16="http://schemas.microsoft.com/office/drawing/2014/main" id="{9362DA0F-34BC-4ED5-8191-904FF0D5D4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908BE1F-625F-46E9-9437-4784785E81F6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6883904-E187-45F7-9FC1-FD411AC12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7 : Advanced Frequent Pattern Mining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35F5FAE7-1C69-4FDF-825F-EBE7A53D4F8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95400"/>
            <a:ext cx="8382000" cy="52578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Mining: A Road Map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 in Multi-Level, Multi-Dimensional Space</a:t>
            </a:r>
          </a:p>
          <a:p>
            <a:pPr marL="914400" lvl="1" indent="-457200" eaLnBrk="1" hangingPunct="1"/>
            <a:r>
              <a:rPr lang="en-US" altLang="en-US" sz="2400"/>
              <a:t>Mining Multi-Level Association</a:t>
            </a:r>
          </a:p>
          <a:p>
            <a:pPr marL="914400" lvl="1" indent="-457200" eaLnBrk="1" hangingPunct="1"/>
            <a:r>
              <a:rPr lang="en-US" altLang="en-US" sz="2400"/>
              <a:t>Mining Multi-Dimensional Association</a:t>
            </a:r>
          </a:p>
          <a:p>
            <a:pPr marL="914400" lvl="1" indent="-457200" eaLnBrk="1" hangingPunct="1"/>
            <a:r>
              <a:rPr lang="en-US" altLang="en-US" sz="2400"/>
              <a:t>Mining Quantitative Association Rules</a:t>
            </a:r>
          </a:p>
          <a:p>
            <a:pPr marL="914400" lvl="1" indent="-457200" eaLnBrk="1" hangingPunct="1"/>
            <a:r>
              <a:rPr lang="en-US" altLang="en-US" sz="2400"/>
              <a:t>Mining Rare Patterns and Negative Patterns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Constraint-Based Frequent Pattern Mining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High-Dimensional Data and Colossal Patterns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Compressed or Approximate Patterns 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Exploration and Application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Summary</a:t>
            </a:r>
          </a:p>
        </p:txBody>
      </p:sp>
      <p:sp>
        <p:nvSpPr>
          <p:cNvPr id="13317" name="AutoShape 4">
            <a:extLst>
              <a:ext uri="{FF2B5EF4-FFF2-40B4-BE49-F238E27FC236}">
                <a16:creationId xmlns:a16="http://schemas.microsoft.com/office/drawing/2014/main" id="{EE35A022-58D8-4E6E-AB20-0C4D98A33B30}"/>
              </a:ext>
            </a:extLst>
          </p:cNvPr>
          <p:cNvSpPr>
            <a:spLocks noChangeArrowheads="1"/>
          </p:cNvSpPr>
          <p:nvPr/>
        </p:nvSpPr>
        <p:spPr bwMode="auto">
          <a:xfrm rot="-1988414">
            <a:off x="8323263" y="1743075"/>
            <a:ext cx="381000" cy="45720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18" name="AutoShape 4">
            <a:extLst>
              <a:ext uri="{FF2B5EF4-FFF2-40B4-BE49-F238E27FC236}">
                <a16:creationId xmlns:a16="http://schemas.microsoft.com/office/drawing/2014/main" id="{B37192C9-8D8A-4C1C-B7F8-568FE3801A11}"/>
              </a:ext>
            </a:extLst>
          </p:cNvPr>
          <p:cNvSpPr>
            <a:spLocks noChangeArrowheads="1"/>
          </p:cNvSpPr>
          <p:nvPr/>
        </p:nvSpPr>
        <p:spPr bwMode="auto">
          <a:xfrm rot="-1988414">
            <a:off x="6548438" y="3097213"/>
            <a:ext cx="284162" cy="346075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60B56221-023F-4963-B7B1-844F8485CA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A00E731-C753-4ED6-A140-C5B91C6AF470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BE17DBE0-64ED-42BD-A98F-0AC6E9EDC7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001000" cy="762000"/>
          </a:xfrm>
        </p:spPr>
        <p:txBody>
          <a:bodyPr/>
          <a:lstStyle/>
          <a:p>
            <a:pPr eaLnBrk="1" hangingPunct="1"/>
            <a:r>
              <a:rPr lang="en-US" altLang="en-US" sz="3200"/>
              <a:t>Mining Quantitative Associations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0E63967-401E-4C1E-BE15-DC785B3990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82000" cy="502920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Techniques can be categorized by how numerical attributes, such as </a:t>
            </a:r>
            <a:r>
              <a:rPr lang="en-US" altLang="en-US" sz="2400">
                <a:solidFill>
                  <a:schemeClr val="folHlink"/>
                </a:solidFill>
              </a:rPr>
              <a:t>age </a:t>
            </a:r>
            <a:r>
              <a:rPr lang="en-US" altLang="en-US" sz="2400"/>
              <a:t>or</a:t>
            </a:r>
            <a:r>
              <a:rPr lang="en-US" altLang="en-US" sz="2400">
                <a:solidFill>
                  <a:schemeClr val="folHlink"/>
                </a:solidFill>
              </a:rPr>
              <a:t> salary</a:t>
            </a:r>
            <a:r>
              <a:rPr lang="en-US" altLang="en-US" sz="2400"/>
              <a:t> are treated</a:t>
            </a:r>
          </a:p>
          <a:p>
            <a:pPr marL="533400" indent="-533400" eaLnBrk="1" hangingPunct="1">
              <a:lnSpc>
                <a:spcPct val="110000"/>
              </a:lnSpc>
              <a:buSzTx/>
              <a:buFont typeface="Wingdings" panose="05000000000000000000" pitchFamily="2" charset="2"/>
              <a:buAutoNum type="arabicPeriod"/>
            </a:pPr>
            <a:r>
              <a:rPr lang="en-US" altLang="en-US" sz="2400"/>
              <a:t>Static discretization based on predefined concept hierarchies (data cube methods)</a:t>
            </a:r>
          </a:p>
          <a:p>
            <a:pPr marL="533400" indent="-533400" eaLnBrk="1" hangingPunct="1">
              <a:lnSpc>
                <a:spcPct val="110000"/>
              </a:lnSpc>
              <a:buSzTx/>
              <a:buFont typeface="Wingdings" panose="05000000000000000000" pitchFamily="2" charset="2"/>
              <a:buAutoNum type="arabicPeriod"/>
            </a:pPr>
            <a:r>
              <a:rPr lang="en-US" altLang="en-US" sz="2400"/>
              <a:t>Dynamic discretization based on data distribution (quantitative rules, e.g., Agrawal &amp; Srikant@SIGMOD96) </a:t>
            </a:r>
          </a:p>
          <a:p>
            <a:pPr marL="533400" indent="-533400" eaLnBrk="1" hangingPunct="1">
              <a:lnSpc>
                <a:spcPct val="110000"/>
              </a:lnSpc>
              <a:buSzTx/>
              <a:buFont typeface="Wingdings" panose="05000000000000000000" pitchFamily="2" charset="2"/>
              <a:buAutoNum type="arabicPeriod"/>
            </a:pPr>
            <a:r>
              <a:rPr lang="en-US" altLang="en-US" sz="2400"/>
              <a:t>Clustering: Distance-based association (e.g., Yang &amp; Miller@SIGMOD97) </a:t>
            </a:r>
          </a:p>
          <a:p>
            <a:pPr marL="990600" lvl="1" indent="-533400" eaLnBrk="1" hangingPunct="1">
              <a:lnSpc>
                <a:spcPct val="110000"/>
              </a:lnSpc>
              <a:buSzTx/>
            </a:pPr>
            <a:r>
              <a:rPr lang="en-US" altLang="en-US" sz="2400"/>
              <a:t>One dimensional clustering then association</a:t>
            </a:r>
          </a:p>
          <a:p>
            <a:pPr marL="533400" indent="-533400" eaLnBrk="1" hangingPunct="1">
              <a:lnSpc>
                <a:spcPct val="110000"/>
              </a:lnSpc>
              <a:buSzTx/>
              <a:buFont typeface="Wingdings" panose="05000000000000000000" pitchFamily="2" charset="2"/>
              <a:buAutoNum type="arabicPeriod"/>
            </a:pPr>
            <a:r>
              <a:rPr lang="en-US" altLang="en-US" sz="2400"/>
              <a:t>Deviation: (such as Aumann and Lindell@KDD99)</a:t>
            </a:r>
          </a:p>
          <a:p>
            <a:pPr marL="1371600" lvl="2" indent="-457200" eaLnBrk="1" hangingPunct="1">
              <a:lnSpc>
                <a:spcPct val="110000"/>
              </a:lnSpc>
              <a:buSzTx/>
              <a:buFont typeface="Wingdings" panose="05000000000000000000" pitchFamily="2" charset="2"/>
              <a:buNone/>
            </a:pPr>
            <a:r>
              <a:rPr lang="en-US" altLang="en-US" sz="2000"/>
              <a:t>Sex = female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 =&gt; </a:t>
            </a:r>
            <a:r>
              <a:rPr lang="en-US" altLang="en-US" sz="2000"/>
              <a:t>  Wage: mean=$7/hr (overall mean = $9)</a:t>
            </a:r>
          </a:p>
        </p:txBody>
      </p:sp>
    </p:spTree>
  </p:cSld>
  <p:clrMapOvr>
    <a:masterClrMapping/>
  </p:clrMapOvr>
  <p:transition spd="med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0185838D-EB8F-46E0-9A29-42FC167A1F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CE06C02-17F5-4574-BBBE-E6808318FA0D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15363" name="Rectangle 1026">
            <a:extLst>
              <a:ext uri="{FF2B5EF4-FFF2-40B4-BE49-F238E27FC236}">
                <a16:creationId xmlns:a16="http://schemas.microsoft.com/office/drawing/2014/main" id="{4EB52D30-7263-48DF-B0BF-99C43A823D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Static Discretization of Quantitative Attributes</a:t>
            </a:r>
            <a:endParaRPr lang="en-US" altLang="en-US" sz="4000"/>
          </a:p>
        </p:txBody>
      </p:sp>
      <p:sp>
        <p:nvSpPr>
          <p:cNvPr id="15364" name="Rectangle 1027">
            <a:extLst>
              <a:ext uri="{FF2B5EF4-FFF2-40B4-BE49-F238E27FC236}">
                <a16:creationId xmlns:a16="http://schemas.microsoft.com/office/drawing/2014/main" id="{96312990-5441-4D75-89FB-E6A80CB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71600"/>
            <a:ext cx="8458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Discretized prior to mining using concept hierarchy.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Numeric values are replaced by ranges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In relational database, finding all frequent k-predicate sets will require </a:t>
            </a:r>
            <a:r>
              <a:rPr lang="en-US" altLang="en-US" i="1"/>
              <a:t>k</a:t>
            </a:r>
            <a:r>
              <a:rPr lang="en-US" altLang="en-US"/>
              <a:t> or </a:t>
            </a:r>
            <a:r>
              <a:rPr lang="en-US" altLang="en-US" i="1"/>
              <a:t>k</a:t>
            </a:r>
            <a:r>
              <a:rPr lang="en-US" altLang="en-US"/>
              <a:t>+1 table scans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Data cube is well suited for mining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The cells of an n-dimensional 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3366"/>
                </a:solidFill>
              </a:rPr>
              <a:t>cuboid correspond to the 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3366"/>
                </a:solidFill>
              </a:rPr>
              <a:t>predicate sets</a:t>
            </a:r>
            <a:endParaRPr lang="en-US" altLang="en-US" sz="2000">
              <a:solidFill>
                <a:srgbClr val="003366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Mining from data cubes</a:t>
            </a:r>
            <a:br>
              <a:rPr lang="en-US" altLang="en-US"/>
            </a:br>
            <a:r>
              <a:rPr lang="en-US" altLang="en-US"/>
              <a:t>can be much faster</a:t>
            </a:r>
          </a:p>
        </p:txBody>
      </p:sp>
      <p:grpSp>
        <p:nvGrpSpPr>
          <p:cNvPr id="15365" name="Group 1028">
            <a:extLst>
              <a:ext uri="{FF2B5EF4-FFF2-40B4-BE49-F238E27FC236}">
                <a16:creationId xmlns:a16="http://schemas.microsoft.com/office/drawing/2014/main" id="{8610713B-C31D-4373-B47F-6B267BEE0A42}"/>
              </a:ext>
            </a:extLst>
          </p:cNvPr>
          <p:cNvGrpSpPr>
            <a:grpSpLocks/>
          </p:cNvGrpSpPr>
          <p:nvPr/>
        </p:nvGrpSpPr>
        <p:grpSpPr bwMode="auto">
          <a:xfrm>
            <a:off x="4610100" y="3429000"/>
            <a:ext cx="4229100" cy="3094038"/>
            <a:chOff x="2904" y="2160"/>
            <a:chExt cx="2664" cy="1949"/>
          </a:xfrm>
        </p:grpSpPr>
        <p:sp>
          <p:nvSpPr>
            <p:cNvPr id="15366" name="Line 1029">
              <a:extLst>
                <a:ext uri="{FF2B5EF4-FFF2-40B4-BE49-F238E27FC236}">
                  <a16:creationId xmlns:a16="http://schemas.microsoft.com/office/drawing/2014/main" id="{6788A40D-D4AB-460F-9A04-29A2DD0B76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6" y="3408"/>
              <a:ext cx="672" cy="480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67" name="Line 1030">
              <a:extLst>
                <a:ext uri="{FF2B5EF4-FFF2-40B4-BE49-F238E27FC236}">
                  <a16:creationId xmlns:a16="http://schemas.microsoft.com/office/drawing/2014/main" id="{EDF3FBB8-28FB-479A-83DC-59A207679D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76" y="3384"/>
              <a:ext cx="1" cy="528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68" name="Freeform 1031">
              <a:extLst>
                <a:ext uri="{FF2B5EF4-FFF2-40B4-BE49-F238E27FC236}">
                  <a16:creationId xmlns:a16="http://schemas.microsoft.com/office/drawing/2014/main" id="{66A1ECC7-3E4C-4520-B3A9-907C6FD1C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3432"/>
              <a:ext cx="664" cy="480"/>
            </a:xfrm>
            <a:custGeom>
              <a:avLst/>
              <a:gdLst>
                <a:gd name="T0" fmla="*/ 664 w 664"/>
                <a:gd name="T1" fmla="*/ 480 h 480"/>
                <a:gd name="T2" fmla="*/ 0 w 664"/>
                <a:gd name="T3" fmla="*/ 0 h 4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64" h="480">
                  <a:moveTo>
                    <a:pt x="664" y="48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69" name="Text Box 1032">
              <a:extLst>
                <a:ext uri="{FF2B5EF4-FFF2-40B4-BE49-F238E27FC236}">
                  <a16:creationId xmlns:a16="http://schemas.microsoft.com/office/drawing/2014/main" id="{D29E4439-F380-4BF8-867A-76AC483389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688"/>
              <a:ext cx="57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(income)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0" name="Line 1033">
              <a:extLst>
                <a:ext uri="{FF2B5EF4-FFF2-40B4-BE49-F238E27FC236}">
                  <a16:creationId xmlns:a16="http://schemas.microsoft.com/office/drawing/2014/main" id="{7200793A-921B-4439-A1C9-AFE9D9C81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808"/>
              <a:ext cx="1" cy="624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1" name="Line 1034">
              <a:extLst>
                <a:ext uri="{FF2B5EF4-FFF2-40B4-BE49-F238E27FC236}">
                  <a16:creationId xmlns:a16="http://schemas.microsoft.com/office/drawing/2014/main" id="{D3745A79-EEBE-4B3C-9E04-7B71CE517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2808"/>
              <a:ext cx="672" cy="576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2" name="Line 1035">
              <a:extLst>
                <a:ext uri="{FF2B5EF4-FFF2-40B4-BE49-F238E27FC236}">
                  <a16:creationId xmlns:a16="http://schemas.microsoft.com/office/drawing/2014/main" id="{46B59B8D-749C-4D17-B52A-60CAF32C0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8" y="2856"/>
              <a:ext cx="1" cy="576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3" name="Line 1036">
              <a:extLst>
                <a:ext uri="{FF2B5EF4-FFF2-40B4-BE49-F238E27FC236}">
                  <a16:creationId xmlns:a16="http://schemas.microsoft.com/office/drawing/2014/main" id="{556BB9F2-AEA6-48E9-A318-C1509DDAF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6" y="2808"/>
              <a:ext cx="672" cy="624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4" name="Line 1037">
              <a:extLst>
                <a:ext uri="{FF2B5EF4-FFF2-40B4-BE49-F238E27FC236}">
                  <a16:creationId xmlns:a16="http://schemas.microsoft.com/office/drawing/2014/main" id="{A8ED6F16-FE31-4BAF-8DC0-E12CCDDCED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24" y="2376"/>
              <a:ext cx="624" cy="480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5" name="Line 1038">
              <a:extLst>
                <a:ext uri="{FF2B5EF4-FFF2-40B4-BE49-F238E27FC236}">
                  <a16:creationId xmlns:a16="http://schemas.microsoft.com/office/drawing/2014/main" id="{4614CF85-63A4-42C8-89EA-874052D73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4" y="2376"/>
              <a:ext cx="720" cy="432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6" name="Line 1039">
              <a:extLst>
                <a:ext uri="{FF2B5EF4-FFF2-40B4-BE49-F238E27FC236}">
                  <a16:creationId xmlns:a16="http://schemas.microsoft.com/office/drawing/2014/main" id="{76E72BBD-CB0A-404F-BD2C-6355AB4E73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6" y="2376"/>
              <a:ext cx="48" cy="432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7" name="Text Box 1040">
              <a:extLst>
                <a:ext uri="{FF2B5EF4-FFF2-40B4-BE49-F238E27FC236}">
                  <a16:creationId xmlns:a16="http://schemas.microsoft.com/office/drawing/2014/main" id="{F01A76F7-B934-4EB8-A6D3-4B314CEAD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0" y="2688"/>
              <a:ext cx="29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r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(age)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8" name="Text Box 1041">
              <a:extLst>
                <a:ext uri="{FF2B5EF4-FFF2-40B4-BE49-F238E27FC236}">
                  <a16:creationId xmlns:a16="http://schemas.microsoft.com/office/drawing/2014/main" id="{8B093675-B9A1-4A3D-81B0-31C7A865F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8" y="2160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r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9" name="Line 1042">
              <a:extLst>
                <a:ext uri="{FF2B5EF4-FFF2-40B4-BE49-F238E27FC236}">
                  <a16:creationId xmlns:a16="http://schemas.microsoft.com/office/drawing/2014/main" id="{1A3B6B0F-C0A6-4E4F-9153-FB3C74E0D5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4" y="2808"/>
              <a:ext cx="672" cy="624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0" name="Line 1043">
              <a:extLst>
                <a:ext uri="{FF2B5EF4-FFF2-40B4-BE49-F238E27FC236}">
                  <a16:creationId xmlns:a16="http://schemas.microsoft.com/office/drawing/2014/main" id="{7F52FF62-249E-44EA-8368-EB06749265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6" y="2856"/>
              <a:ext cx="672" cy="528"/>
            </a:xfrm>
            <a:prstGeom prst="line">
              <a:avLst/>
            </a:prstGeom>
            <a:noFill/>
            <a:ln w="12700">
              <a:solidFill>
                <a:srgbClr val="008484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81" name="Text Box 1044">
              <a:extLst>
                <a:ext uri="{FF2B5EF4-FFF2-40B4-BE49-F238E27FC236}">
                  <a16:creationId xmlns:a16="http://schemas.microsoft.com/office/drawing/2014/main" id="{67AFDFEF-AB48-4883-AFD2-67EDE5FA19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8" y="2688"/>
              <a:ext cx="36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r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(buys)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2" name="Text Box 1045">
              <a:extLst>
                <a:ext uri="{FF2B5EF4-FFF2-40B4-BE49-F238E27FC236}">
                  <a16:creationId xmlns:a16="http://schemas.microsoft.com/office/drawing/2014/main" id="{A7374373-CA78-4453-8841-D800C29573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4" y="3360"/>
              <a:ext cx="792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r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(age, income)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3" name="Text Box 1046">
              <a:extLst>
                <a:ext uri="{FF2B5EF4-FFF2-40B4-BE49-F238E27FC236}">
                  <a16:creationId xmlns:a16="http://schemas.microsoft.com/office/drawing/2014/main" id="{01A2E334-84CF-4565-8107-549E51D599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0" y="3360"/>
              <a:ext cx="60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r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(age,buys)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4" name="Text Box 1047">
              <a:extLst>
                <a:ext uri="{FF2B5EF4-FFF2-40B4-BE49-F238E27FC236}">
                  <a16:creationId xmlns:a16="http://schemas.microsoft.com/office/drawing/2014/main" id="{FB9D39A5-32D0-4D20-BE7B-3F6C9B622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360"/>
              <a:ext cx="82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r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(income,buys)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5" name="Text Box 1048">
              <a:extLst>
                <a:ext uri="{FF2B5EF4-FFF2-40B4-BE49-F238E27FC236}">
                  <a16:creationId xmlns:a16="http://schemas.microsoft.com/office/drawing/2014/main" id="{FA35B873-1CD2-4196-93FC-AD0A3DFFE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4" y="3936"/>
              <a:ext cx="1064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8484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r"/>
              <a:r>
                <a:rPr lang="en-US" altLang="en-US" sz="1800">
                  <a:solidFill>
                    <a:srgbClr val="008484"/>
                  </a:solidFill>
                  <a:latin typeface="Times New Roman" panose="02020603050405020304" pitchFamily="18" charset="0"/>
                </a:rPr>
                <a:t>(age,income,buys)</a:t>
              </a:r>
              <a:endParaRPr lang="en-US" altLang="en-US" sz="1800" u="sng">
                <a:solidFill>
                  <a:srgbClr val="008484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43BC4C28-70FF-42D7-BD1C-5B71D5E23D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A1F30CF-2870-493D-AE3C-1E395C2301CD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79FE80A-9B17-414A-9CDB-0055D25CC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76200" y="76200"/>
            <a:ext cx="9296400" cy="1066800"/>
          </a:xfrm>
        </p:spPr>
        <p:txBody>
          <a:bodyPr/>
          <a:lstStyle/>
          <a:p>
            <a:pPr eaLnBrk="1" hangingPunct="1"/>
            <a:r>
              <a:rPr lang="en-US" altLang="en-US" sz="2800"/>
              <a:t>Quantitative Association Rules Based on Statistical Inference Theory [Aumann and Lindell@DMKD’03]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6AF4F780-9898-4F10-9730-FF4D70EA3B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534400" cy="5257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/>
              <a:t>Finding extraordinary and therefore interesting phenomena, e.g.,</a:t>
            </a:r>
          </a:p>
          <a:p>
            <a:pPr lvl="2" eaLnBrk="1" hangingPunct="1">
              <a:lnSpc>
                <a:spcPct val="110000"/>
              </a:lnSpc>
              <a:buSzTx/>
              <a:buFont typeface="Wingdings" panose="05000000000000000000" pitchFamily="2" charset="2"/>
              <a:buNone/>
            </a:pPr>
            <a:r>
              <a:rPr lang="en-US" altLang="en-US" sz="2000"/>
              <a:t>(Sex = female)  </a:t>
            </a:r>
            <a:r>
              <a:rPr lang="en-US" altLang="en-US" sz="2000">
                <a:cs typeface="Arial" panose="020B0604020202020204" pitchFamily="34" charset="0"/>
              </a:rPr>
              <a:t>=&gt;</a:t>
            </a:r>
            <a:r>
              <a:rPr lang="en-US" altLang="en-US" sz="2000"/>
              <a:t> Wage: mean=$7/hr (overall mean = $9)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LHS: a subset of the population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RHS: an extraordinary behavior of this subset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The rule is accepted only if a statistical test (e.g., Z-test) confirms the inference with high confidence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Subrule: highlights the extraordinary behavior of a subset of the pop. of the super rule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E.g., (Sex = female) ^ (South = yes) </a:t>
            </a:r>
            <a:r>
              <a:rPr lang="en-US" altLang="en-US" sz="2000">
                <a:cs typeface="Arial" panose="020B0604020202020204" pitchFamily="34" charset="0"/>
              </a:rPr>
              <a:t>=&gt;</a:t>
            </a:r>
            <a:r>
              <a:rPr lang="en-US" altLang="en-US" sz="2000"/>
              <a:t> mean wage = $6.3/hr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Two forms of rules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Categorical =&gt; quantitative rules, or Quantitative =&gt; quantitative rules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E.g., Education </a:t>
            </a:r>
            <a:r>
              <a:rPr lang="en-US" altLang="en-US" sz="2000">
                <a:cs typeface="Tahoma" panose="020B0604030504040204" pitchFamily="34" charset="0"/>
              </a:rPr>
              <a:t>in</a:t>
            </a:r>
            <a:r>
              <a:rPr lang="en-US" altLang="en-US" sz="2000"/>
              <a:t> [14-18] (yrs) =&gt; mean wage = $11.64/hr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Open problem: Efficient methods for LHS containing two or more quantitative attributes</a:t>
            </a:r>
          </a:p>
        </p:txBody>
      </p:sp>
    </p:spTree>
  </p:cSld>
  <p:clrMapOvr>
    <a:masterClrMapping/>
  </p:clrMapOvr>
  <p:transition spd="med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6">
            <a:extLst>
              <a:ext uri="{FF2B5EF4-FFF2-40B4-BE49-F238E27FC236}">
                <a16:creationId xmlns:a16="http://schemas.microsoft.com/office/drawing/2014/main" id="{B4AA8211-4284-4C21-A8AA-C9D6B34DC5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7A19BE1-F124-4867-A3D1-3BB3D4EF6D01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75AB640D-F27D-42C8-B767-05BE68493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7 : Advanced Frequent Pattern Mining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CE922B6A-99A4-4D20-BF38-6A10CAA24B8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95400"/>
            <a:ext cx="8382000" cy="52578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Mining: A Road Map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 in Multi-Level, Multi-Dimensional Space</a:t>
            </a:r>
          </a:p>
          <a:p>
            <a:pPr marL="914400" lvl="1" indent="-457200" eaLnBrk="1" hangingPunct="1"/>
            <a:r>
              <a:rPr lang="en-US" altLang="en-US" sz="2400"/>
              <a:t>Mining Multi-Level Association</a:t>
            </a:r>
          </a:p>
          <a:p>
            <a:pPr marL="914400" lvl="1" indent="-457200" eaLnBrk="1" hangingPunct="1"/>
            <a:r>
              <a:rPr lang="en-US" altLang="en-US" sz="2400"/>
              <a:t>Mining Multi-Dimensional Association</a:t>
            </a:r>
          </a:p>
          <a:p>
            <a:pPr marL="914400" lvl="1" indent="-457200" eaLnBrk="1" hangingPunct="1"/>
            <a:r>
              <a:rPr lang="en-US" altLang="en-US" sz="2400"/>
              <a:t>Mining Quantitative Association Rules</a:t>
            </a:r>
          </a:p>
          <a:p>
            <a:pPr marL="914400" lvl="1" indent="-457200" eaLnBrk="1" hangingPunct="1"/>
            <a:r>
              <a:rPr lang="en-US" altLang="en-US" sz="2400"/>
              <a:t>Mining Rare Patterns and Negative Patterns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Constraint-Based Frequent Pattern Mining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High-Dimensional Data and Colossal Patterns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Compressed or Approximate Patterns 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Exploration and Application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Summary</a:t>
            </a:r>
          </a:p>
        </p:txBody>
      </p:sp>
      <p:sp>
        <p:nvSpPr>
          <p:cNvPr id="17413" name="AutoShape 4">
            <a:extLst>
              <a:ext uri="{FF2B5EF4-FFF2-40B4-BE49-F238E27FC236}">
                <a16:creationId xmlns:a16="http://schemas.microsoft.com/office/drawing/2014/main" id="{4FB40C22-F365-47FE-8932-D6452F6F35C0}"/>
              </a:ext>
            </a:extLst>
          </p:cNvPr>
          <p:cNvSpPr>
            <a:spLocks noChangeArrowheads="1"/>
          </p:cNvSpPr>
          <p:nvPr/>
        </p:nvSpPr>
        <p:spPr bwMode="auto">
          <a:xfrm rot="-1988414">
            <a:off x="8323263" y="1743075"/>
            <a:ext cx="381000" cy="45720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14" name="AutoShape 4">
            <a:extLst>
              <a:ext uri="{FF2B5EF4-FFF2-40B4-BE49-F238E27FC236}">
                <a16:creationId xmlns:a16="http://schemas.microsoft.com/office/drawing/2014/main" id="{8517568E-6C8D-412A-8DF7-F0F00C6EE720}"/>
              </a:ext>
            </a:extLst>
          </p:cNvPr>
          <p:cNvSpPr>
            <a:spLocks noChangeArrowheads="1"/>
          </p:cNvSpPr>
          <p:nvPr/>
        </p:nvSpPr>
        <p:spPr bwMode="auto">
          <a:xfrm rot="-1988414">
            <a:off x="7462838" y="3554413"/>
            <a:ext cx="284162" cy="346075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1FD8AD7A-F394-468E-A4E1-A66DFD4E7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4EFB60D-9CC2-48E4-85E1-89F57E0FD004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7F2B712-5F4A-455F-A3EE-78C16E589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Negative and Rare Patterns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1CBC793-020B-4F8E-BABD-AEF1F601AC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334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Rare patterns: Very low support but interesting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E.g., buying Rolex watches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Mining: Setting individual-based or special group-based support threshold for valuable items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Negative patterns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Since it is unlikely that one buys Ford Expedition (an SUV car) and Toyota Prius (a hybrid car) together, Ford Expedition and Toyota Prius are likely negatively correlated patterns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Negatively correlated patterns that are infrequent tend to be more interesting than those that are frequent</a:t>
            </a:r>
          </a:p>
        </p:txBody>
      </p:sp>
    </p:spTree>
  </p:cSld>
  <p:clrMapOvr>
    <a:masterClrMapping/>
  </p:clrMapOvr>
  <p:transition spd="med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06FE94EB-7E42-4010-AFE2-8538088B6E17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91B33549-A841-4137-BA08-AB80ABA6C0F8}" type="slidenum">
              <a:rPr lang="en-US" altLang="en-US" sz="1200"/>
              <a:pPr algn="r" eaLnBrk="1" hangingPunct="1"/>
              <a:t>16</a:t>
            </a:fld>
            <a:endParaRPr lang="en-US" altLang="en-US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B8F92A0-27C0-46A4-B451-93B5A2D73F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381000"/>
            <a:ext cx="8991600" cy="609600"/>
          </a:xfrm>
        </p:spPr>
        <p:txBody>
          <a:bodyPr/>
          <a:lstStyle/>
          <a:p>
            <a:pPr eaLnBrk="1" hangingPunct="1"/>
            <a:r>
              <a:rPr lang="en-US" altLang="en-US"/>
              <a:t>Defining Negative Correlated Patterns (I)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7A95E677-723F-4E76-A2BF-B22468D1576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295400"/>
            <a:ext cx="8686800" cy="5334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Definition 1 (support-based)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If itemsets X and Y are both frequent but rarely occur together, i.e., </a:t>
            </a:r>
          </a:p>
          <a:p>
            <a:pPr lvl="3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/>
              <a:t>sup(X U Y) &lt; sup (X) </a:t>
            </a:r>
            <a:r>
              <a:rPr lang="en-US" altLang="en-US">
                <a:cs typeface="Tahoma" panose="020B0604030504040204" pitchFamily="34" charset="0"/>
              </a:rPr>
              <a:t>*</a:t>
            </a:r>
            <a:r>
              <a:rPr lang="en-US" altLang="en-US"/>
              <a:t> sup(Y)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Then X and Y are negatively correlated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Problem: A store sold two needle 100 packages A and B, only one transaction containing both A and B.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When there are in total 200 transactions, we have </a:t>
            </a: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s(A U B) = 0.005, s(A) * s(B) = 0.25, s(A U B) &lt; s(A) * s(B)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When there are 10</a:t>
            </a:r>
            <a:r>
              <a:rPr lang="en-US" altLang="en-US" sz="2000" baseline="30000"/>
              <a:t>5</a:t>
            </a:r>
            <a:r>
              <a:rPr lang="en-US" altLang="en-US" sz="2000"/>
              <a:t> transactions, we have</a:t>
            </a: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s(A U B) = 1/</a:t>
            </a:r>
            <a:r>
              <a:rPr lang="en-US" altLang="en-US" sz="1800"/>
              <a:t>10</a:t>
            </a:r>
            <a:r>
              <a:rPr lang="en-US" altLang="en-US" sz="1800" baseline="30000"/>
              <a:t>5</a:t>
            </a:r>
            <a:r>
              <a:rPr lang="en-US" altLang="en-US" sz="2000"/>
              <a:t>, s(A) * s(B) = 1/</a:t>
            </a:r>
            <a:r>
              <a:rPr lang="en-US" altLang="en-US" sz="1800"/>
              <a:t>10</a:t>
            </a:r>
            <a:r>
              <a:rPr lang="en-US" altLang="en-US" sz="1800" baseline="30000"/>
              <a:t>3 * </a:t>
            </a:r>
            <a:r>
              <a:rPr lang="en-US" altLang="en-US" sz="2000"/>
              <a:t>1/</a:t>
            </a:r>
            <a:r>
              <a:rPr lang="en-US" altLang="en-US" sz="1800"/>
              <a:t>10</a:t>
            </a:r>
            <a:r>
              <a:rPr lang="en-US" altLang="en-US" sz="1800" baseline="30000"/>
              <a:t>3</a:t>
            </a:r>
            <a:r>
              <a:rPr lang="en-US" altLang="en-US" sz="2000"/>
              <a:t>, s(A U B) &gt; s(A) * s(B)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Where is the problem? </a:t>
            </a:r>
            <a:r>
              <a:rPr lang="en-US" altLang="en-US" sz="2000">
                <a:cs typeface="Tahoma" panose="020B0604030504040204" pitchFamily="34" charset="0"/>
              </a:rPr>
              <a:t>—</a:t>
            </a:r>
            <a:r>
              <a:rPr lang="en-US" altLang="en-US" sz="2000"/>
              <a:t>Null transactions, i.e., the support-based definition is not null-invariant!</a:t>
            </a:r>
          </a:p>
        </p:txBody>
      </p:sp>
    </p:spTree>
  </p:cSld>
  <p:clrMapOvr>
    <a:masterClrMapping/>
  </p:clrMapOvr>
  <p:transition spd="med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EE024BCB-68FC-4839-8A53-53AD7EFBE6F9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24CA815B-DADF-4730-B4C7-5C6C4FE228B5}" type="slidenum">
              <a:rPr lang="en-US" altLang="en-US" sz="1200"/>
              <a:pPr algn="r" eaLnBrk="1" hangingPunct="1"/>
              <a:t>17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DB665188-2A3F-48F9-9075-9EE7B256585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381000"/>
            <a:ext cx="8991600" cy="609600"/>
          </a:xfrm>
        </p:spPr>
        <p:txBody>
          <a:bodyPr/>
          <a:lstStyle/>
          <a:p>
            <a:pPr eaLnBrk="1" hangingPunct="1"/>
            <a:r>
              <a:rPr lang="en-US" altLang="en-US"/>
              <a:t>Defining Negative Correlated Patterns (II)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C943D630-A7A0-4A89-9195-55C65C9BF5C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295400"/>
            <a:ext cx="8686800" cy="5334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Definition 2 (negative itemset-based)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X is a </a:t>
            </a:r>
            <a:r>
              <a:rPr lang="en-US" altLang="en-US" sz="2000" i="1"/>
              <a:t>negative itemset</a:t>
            </a:r>
            <a:r>
              <a:rPr lang="en-US" altLang="en-US" sz="2000"/>
              <a:t> if (1) X = </a:t>
            </a:r>
            <a:r>
              <a:rPr lang="en-US" altLang="en-US" sz="2000">
                <a:cs typeface="Tahoma" panose="020B0604030504040204" pitchFamily="34" charset="0"/>
              </a:rPr>
              <a:t>Ā U B</a:t>
            </a:r>
            <a:r>
              <a:rPr lang="en-US" altLang="en-US" sz="2000"/>
              <a:t>, where B is a set of positive items, and </a:t>
            </a:r>
            <a:r>
              <a:rPr lang="en-US" altLang="en-US" sz="2000">
                <a:cs typeface="Tahoma" panose="020B0604030504040204" pitchFamily="34" charset="0"/>
              </a:rPr>
              <a:t>Ā is a set of negative items, |Ā|≥ 1, and (2) s(X) ≥ </a:t>
            </a:r>
            <a:r>
              <a:rPr lang="el-GR" altLang="en-US" sz="2000">
                <a:cs typeface="Tahoma" panose="020B0604030504040204" pitchFamily="34" charset="0"/>
              </a:rPr>
              <a:t>μ</a:t>
            </a:r>
            <a:endParaRPr lang="en-US" altLang="en-US" sz="2000"/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Itemsets X is negatively correlated,  if</a:t>
            </a:r>
          </a:p>
          <a:p>
            <a:pPr lvl="3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en-US" sz="1600"/>
          </a:p>
          <a:p>
            <a:pPr eaLnBrk="1" hangingPunct="1">
              <a:lnSpc>
                <a:spcPct val="120000"/>
              </a:lnSpc>
            </a:pPr>
            <a:endParaRPr lang="en-US" altLang="en-US" sz="2000"/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This definition suffers a similar null-invariant problem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Definition 3 (Kulzynski measure-based)  If itemsets X and Y are frequent, but (P(X|Y) + P(Y|X))/2 &lt; </a:t>
            </a:r>
            <a:r>
              <a:rPr lang="ru-RU" altLang="en-US" sz="2000">
                <a:cs typeface="Tahoma" panose="020B0604030504040204" pitchFamily="34" charset="0"/>
              </a:rPr>
              <a:t>є</a:t>
            </a:r>
            <a:r>
              <a:rPr lang="en-US" altLang="en-US" sz="2000"/>
              <a:t>, where </a:t>
            </a:r>
            <a:r>
              <a:rPr lang="ru-RU" altLang="en-US" sz="2000">
                <a:cs typeface="Tahoma" panose="020B0604030504040204" pitchFamily="34" charset="0"/>
              </a:rPr>
              <a:t>є</a:t>
            </a:r>
            <a:r>
              <a:rPr lang="en-US" altLang="en-US" sz="2000"/>
              <a:t> is a negative pattern threshold, then X and Y are negatively correlated.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Ex. For the same needle package problem, when no matter there are 200 or 10</a:t>
            </a:r>
            <a:r>
              <a:rPr lang="en-US" altLang="en-US" sz="2000" baseline="30000"/>
              <a:t>5</a:t>
            </a:r>
            <a:r>
              <a:rPr lang="en-US" altLang="en-US" sz="2000"/>
              <a:t> transactions, if </a:t>
            </a:r>
            <a:r>
              <a:rPr lang="ru-RU" altLang="en-US" sz="2000">
                <a:cs typeface="Tahoma" panose="020B0604030504040204" pitchFamily="34" charset="0"/>
              </a:rPr>
              <a:t>є</a:t>
            </a:r>
            <a:r>
              <a:rPr lang="en-US" altLang="en-US" sz="2000"/>
              <a:t> = 0.01, we have</a:t>
            </a: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000"/>
              <a:t>(P(A|B) + P(B|A))/2 = (0.01 + 0.01)/2 &lt; </a:t>
            </a:r>
            <a:r>
              <a:rPr lang="ru-RU" altLang="en-US" sz="2000">
                <a:cs typeface="Tahoma" panose="020B0604030504040204" pitchFamily="34" charset="0"/>
              </a:rPr>
              <a:t>є</a:t>
            </a:r>
            <a:endParaRPr lang="en-US" altLang="en-US" sz="2000"/>
          </a:p>
        </p:txBody>
      </p:sp>
      <p:pic>
        <p:nvPicPr>
          <p:cNvPr id="20485" name="Picture 6">
            <a:extLst>
              <a:ext uri="{FF2B5EF4-FFF2-40B4-BE49-F238E27FC236}">
                <a16:creationId xmlns:a16="http://schemas.microsoft.com/office/drawing/2014/main" id="{CC7D59F6-C58A-4C2D-985F-0FEA6853D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946400"/>
            <a:ext cx="7694613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6">
            <a:extLst>
              <a:ext uri="{FF2B5EF4-FFF2-40B4-BE49-F238E27FC236}">
                <a16:creationId xmlns:a16="http://schemas.microsoft.com/office/drawing/2014/main" id="{ADED394D-B46D-4862-A1E3-C9A662109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B7E0BE2-1C7D-4C18-B91A-BF280E2B0D0F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4FD50BDB-F3C2-4EEF-B9FC-2DC5FCE51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7 : Advanced Frequent Pattern Mining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9CE2A2C-0A9D-4A59-9262-93011E997E1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382000" cy="50292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Mining: A Road Map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 in Multi-Level, Multi-Dimensional Space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Constraint-Based Frequent Pattern Mining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High-Dimensional Data and Colossal Patterns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Compressed or Approximate Patterns 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Exploration and Application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Summary</a:t>
            </a:r>
          </a:p>
        </p:txBody>
      </p:sp>
      <p:sp>
        <p:nvSpPr>
          <p:cNvPr id="21509" name="AutoShape 4">
            <a:extLst>
              <a:ext uri="{FF2B5EF4-FFF2-40B4-BE49-F238E27FC236}">
                <a16:creationId xmlns:a16="http://schemas.microsoft.com/office/drawing/2014/main" id="{81A1F44E-6361-44A0-AF7B-E9A1C2CCBC62}"/>
              </a:ext>
            </a:extLst>
          </p:cNvPr>
          <p:cNvSpPr>
            <a:spLocks noChangeArrowheads="1"/>
          </p:cNvSpPr>
          <p:nvPr/>
        </p:nvSpPr>
        <p:spPr bwMode="auto">
          <a:xfrm rot="-1988414">
            <a:off x="6723063" y="2733675"/>
            <a:ext cx="381000" cy="45720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A6F3475D-14E6-47DA-B97F-58B7F5C7D6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50AED55-A7E1-44C2-9E38-B3630D84A34C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26FA8E6-1DF8-4883-A6B6-064BEC3A4A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31238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Constraint-based (Query-Directed) Mining</a:t>
            </a:r>
            <a:endParaRPr lang="en-GB" altLang="en-US" sz="3200"/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0E4F5C00-7F98-4D25-9E98-A4C9CFB5B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4953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Finding </a:t>
            </a:r>
            <a:r>
              <a:rPr lang="en-US" altLang="en-US" sz="2000">
                <a:solidFill>
                  <a:schemeClr val="hlink"/>
                </a:solidFill>
              </a:rPr>
              <a:t>all</a:t>
            </a:r>
            <a:r>
              <a:rPr lang="en-US" altLang="en-US" sz="2000"/>
              <a:t> the patterns in a database </a:t>
            </a:r>
            <a:r>
              <a:rPr lang="en-US" altLang="en-US" sz="2000">
                <a:solidFill>
                  <a:schemeClr val="hlink"/>
                </a:solidFill>
              </a:rPr>
              <a:t>autonomously</a:t>
            </a:r>
            <a:r>
              <a:rPr lang="en-US" altLang="en-US" sz="2000"/>
              <a:t>? — unrealistic!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The patterns could be too many but not focused!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Data mining should be an </a:t>
            </a:r>
            <a:r>
              <a:rPr lang="en-US" altLang="en-US" sz="2000">
                <a:solidFill>
                  <a:schemeClr val="hlink"/>
                </a:solidFill>
              </a:rPr>
              <a:t>interactive </a:t>
            </a:r>
            <a:r>
              <a:rPr lang="en-US" altLang="en-US" sz="2000"/>
              <a:t>process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User directs what to be mined using a </a:t>
            </a:r>
            <a:r>
              <a:rPr lang="en-US" altLang="en-US" sz="2000">
                <a:solidFill>
                  <a:schemeClr val="hlink"/>
                </a:solidFill>
              </a:rPr>
              <a:t>data mining query language </a:t>
            </a:r>
            <a:r>
              <a:rPr lang="en-US" altLang="en-US" sz="2000"/>
              <a:t>(or a graphical user interface)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Constraint-based mining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User flexibility: provides</a:t>
            </a:r>
            <a:r>
              <a:rPr lang="en-US" altLang="en-US" sz="2000">
                <a:solidFill>
                  <a:schemeClr val="hlink"/>
                </a:solidFill>
              </a:rPr>
              <a:t> constraints</a:t>
            </a:r>
            <a:r>
              <a:rPr lang="en-US" altLang="en-US" sz="2000"/>
              <a:t> on what to be mined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Optimization: explores such constraints for efficient mining — </a:t>
            </a:r>
            <a:r>
              <a:rPr lang="en-US" altLang="en-US" sz="2000">
                <a:solidFill>
                  <a:schemeClr val="hlink"/>
                </a:solidFill>
              </a:rPr>
              <a:t>constraint-based mining: </a:t>
            </a:r>
            <a:r>
              <a:rPr lang="en-US" altLang="en-US" sz="2000"/>
              <a:t>constraint-pushing, similar to push selection first in DB query processing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Note: still find all the answers satisfying constraints, not finding some answers in “heuristic search”</a:t>
            </a:r>
          </a:p>
        </p:txBody>
      </p:sp>
    </p:spTree>
  </p:cSld>
  <p:clrMapOvr>
    <a:masterClrMapping/>
  </p:clrMapOvr>
  <p:transition spd="med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5755175D-98B4-4D27-9EA4-CE5AF8D5F2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ACE4F41-930F-43B9-A707-71E242A61C2B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E6AE5F8A-E56C-4F3A-9E92-8CC523D44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4850" y="422275"/>
            <a:ext cx="7797800" cy="568325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Constraints in Data Mining</a:t>
            </a:r>
            <a:endParaRPr lang="en-US" altLang="en-US" sz="4400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E77810B-F1B8-4CC1-A797-DB7BB8466E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458200" cy="5029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170981"/>
                </a:solidFill>
              </a:rPr>
              <a:t>Knowledge type constraint</a:t>
            </a:r>
            <a:r>
              <a:rPr lang="en-US" altLang="en-US" sz="2400"/>
              <a:t>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classification, association, etc.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170981"/>
                </a:solidFill>
              </a:rPr>
              <a:t>Data constraint</a:t>
            </a:r>
            <a:r>
              <a:rPr lang="en-US" altLang="en-US" sz="2400">
                <a:solidFill>
                  <a:schemeClr val="accent2"/>
                </a:solidFill>
              </a:rPr>
              <a:t> </a:t>
            </a:r>
            <a:r>
              <a:rPr lang="en-US" altLang="en-US" sz="2400">
                <a:cs typeface="Times New Roman" panose="02020603050405020304" pitchFamily="18" charset="0"/>
              </a:rPr>
              <a:t>— using</a:t>
            </a:r>
            <a:r>
              <a:rPr lang="en-US" altLang="en-US" sz="2400"/>
              <a:t> SQL-like queries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find product pairs sold together in stores in </a:t>
            </a:r>
            <a:r>
              <a:rPr lang="en-US" altLang="en-US" sz="2400">
                <a:solidFill>
                  <a:srgbClr val="170981"/>
                </a:solidFill>
              </a:rPr>
              <a:t>Chicago this year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170981"/>
                </a:solidFill>
              </a:rPr>
              <a:t>Dimension/level constraint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in relevance to </a:t>
            </a:r>
            <a:r>
              <a:rPr lang="en-US" altLang="en-US" sz="2400">
                <a:solidFill>
                  <a:srgbClr val="170981"/>
                </a:solidFill>
              </a:rPr>
              <a:t>region, price, brand, customer category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u="sng">
                <a:solidFill>
                  <a:schemeClr val="hlink"/>
                </a:solidFill>
              </a:rPr>
              <a:t>Rule (or pattern) constraint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small sales (price &lt; $10) triggers big sales (sum &gt; $200)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rgbClr val="170981"/>
                </a:solidFill>
              </a:rPr>
              <a:t>Interestingness constraint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strong rules: min_support </a:t>
            </a:r>
            <a:r>
              <a:rPr lang="en-US" altLang="en-US" sz="2400">
                <a:sym typeface="Symbol" panose="05050102010706020507" pitchFamily="18" charset="2"/>
              </a:rPr>
              <a:t></a:t>
            </a:r>
            <a:r>
              <a:rPr lang="en-US" altLang="en-US" sz="2400"/>
              <a:t> 3%, min_confidence </a:t>
            </a:r>
            <a:r>
              <a:rPr lang="en-US" altLang="en-US" sz="2400">
                <a:sym typeface="Symbol" panose="05050102010706020507" pitchFamily="18" charset="2"/>
              </a:rPr>
              <a:t> </a:t>
            </a:r>
            <a:r>
              <a:rPr lang="en-US" altLang="en-US" sz="2400"/>
              <a:t> 60%</a:t>
            </a:r>
          </a:p>
        </p:txBody>
      </p:sp>
    </p:spTree>
  </p:cSld>
  <p:clrMapOvr>
    <a:masterClrMapping/>
  </p:clrMapOvr>
  <p:transition spd="med"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2C5049C2-79FC-4323-83AC-818D47A7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Meta-Rule Guided Mining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645C9278-DE51-421B-A2DE-A46B02DBA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Meta-rule can be in the rule form with partially instantiated predicates and constants </a:t>
            </a:r>
          </a:p>
          <a:p>
            <a:pPr marL="857250" lvl="2" inden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en-US" sz="2000"/>
              <a:t>P</a:t>
            </a:r>
            <a:r>
              <a:rPr lang="en-US" altLang="en-US" sz="2000" baseline="-25000"/>
              <a:t>1</a:t>
            </a:r>
            <a:r>
              <a:rPr lang="en-US" altLang="en-US" sz="2000"/>
              <a:t>(X, Y) ^ P</a:t>
            </a:r>
            <a:r>
              <a:rPr lang="en-US" altLang="en-US" sz="2000" baseline="-25000"/>
              <a:t>2</a:t>
            </a:r>
            <a:r>
              <a:rPr lang="en-US" altLang="en-US" sz="2000"/>
              <a:t>(X, W) =&gt; buys(X, “iPad”)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The resulting rule derived can be</a:t>
            </a:r>
          </a:p>
          <a:p>
            <a:pPr marL="914400" lvl="4" indent="0">
              <a:spcBef>
                <a:spcPts val="600"/>
              </a:spcBef>
              <a:spcAft>
                <a:spcPts val="600"/>
              </a:spcAft>
              <a:buSzPct val="60000"/>
              <a:buFont typeface="Wingdings" panose="05000000000000000000" pitchFamily="2" charset="2"/>
              <a:buNone/>
            </a:pPr>
            <a:r>
              <a:rPr lang="en-US" altLang="en-US"/>
              <a:t>age(X, “15-25”) ^ profession(X, “student”) =&gt; buys(X, “iPad”)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In general, it can be in the form of </a:t>
            </a:r>
          </a:p>
          <a:p>
            <a:pPr marL="914400" lvl="4" indent="0">
              <a:spcBef>
                <a:spcPts val="600"/>
              </a:spcBef>
              <a:spcAft>
                <a:spcPts val="600"/>
              </a:spcAft>
              <a:buSzPct val="60000"/>
              <a:buFont typeface="Wingdings" panose="05000000000000000000" pitchFamily="2" charset="2"/>
              <a:buNone/>
            </a:pPr>
            <a:r>
              <a:rPr lang="en-US" altLang="en-US"/>
              <a:t>P</a:t>
            </a:r>
            <a:r>
              <a:rPr lang="en-US" altLang="en-US" baseline="-25000"/>
              <a:t>1</a:t>
            </a:r>
            <a:r>
              <a:rPr lang="en-US" altLang="en-US"/>
              <a:t> ^ P</a:t>
            </a:r>
            <a:r>
              <a:rPr lang="en-US" altLang="en-US" baseline="-25000"/>
              <a:t>2</a:t>
            </a:r>
            <a:r>
              <a:rPr lang="en-US" altLang="en-US"/>
              <a:t> ^ … ^ P</a:t>
            </a:r>
            <a:r>
              <a:rPr lang="en-US" altLang="en-US" baseline="-25000"/>
              <a:t>l</a:t>
            </a:r>
            <a:r>
              <a:rPr lang="en-US" altLang="en-US"/>
              <a:t> =&gt; Q</a:t>
            </a:r>
            <a:r>
              <a:rPr lang="en-US" altLang="en-US" baseline="-25000"/>
              <a:t>1</a:t>
            </a:r>
            <a:r>
              <a:rPr lang="en-US" altLang="en-US"/>
              <a:t> ^ Q</a:t>
            </a:r>
            <a:r>
              <a:rPr lang="en-US" altLang="en-US" baseline="-25000"/>
              <a:t>2</a:t>
            </a:r>
            <a:r>
              <a:rPr lang="en-US" altLang="en-US"/>
              <a:t> ^ … ^ Q</a:t>
            </a:r>
            <a:r>
              <a:rPr lang="en-US" altLang="en-US" baseline="-25000"/>
              <a:t>r</a:t>
            </a:r>
            <a:r>
              <a:rPr lang="en-US" altLang="en-US"/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Method to find meta-rules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Find frequent (l+r) predicates (based on min-support threshold)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Push constants deeply when possible into the mining process (see the remaining discussions on constraint-push techniques)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Use confidence, correlation, and other measures when possible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AFFA88BD-10AE-4A6B-84B3-47C71BEA8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E306765-2402-43E6-A608-4BB496837DC9}" type="slidenum">
              <a:rPr lang="en-US" altLang="en-US" sz="1200"/>
              <a:pPr eaLnBrk="1" hangingPunct="1"/>
              <a:t>21</a:t>
            </a:fld>
            <a:endParaRPr lang="en-US" altLang="en-US" sz="1200"/>
          </a:p>
        </p:txBody>
      </p:sp>
    </p:spTree>
  </p:cSld>
  <p:clrMapOvr>
    <a:masterClrMapping/>
  </p:clrMapOvr>
  <p:transition spd="med"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29934E5E-D4B7-48E6-A0C1-1B498C4FE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79ED568-3C25-4C30-B181-860FE883C17B}" type="slidenum">
              <a:rPr lang="en-US" altLang="en-US" sz="1200"/>
              <a:pPr eaLnBrk="1" hangingPunct="1"/>
              <a:t>22</a:t>
            </a:fld>
            <a:endParaRPr lang="en-US" altLang="en-US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8087B7D0-E18E-41F3-861A-D64610837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Constraint-Based Frequent Pattern Mining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A37B1E3F-B421-4D21-8D8D-205D46110F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458200" cy="533400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000"/>
              <a:t>Pattern space pruning constraints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000">
                <a:solidFill>
                  <a:schemeClr val="tx2"/>
                </a:solidFill>
              </a:rPr>
              <a:t>Anti-monotonic</a:t>
            </a:r>
            <a:r>
              <a:rPr lang="en-US" altLang="en-US" sz="2000"/>
              <a:t>: If constraint c is violated, its further mining can be terminated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000">
                <a:solidFill>
                  <a:schemeClr val="tx2"/>
                </a:solidFill>
              </a:rPr>
              <a:t>Monotonic</a:t>
            </a:r>
            <a:r>
              <a:rPr lang="en-US" altLang="en-US" sz="2000"/>
              <a:t>: If c is satisfied, no need to check c again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000">
                <a:solidFill>
                  <a:schemeClr val="tx2"/>
                </a:solidFill>
              </a:rPr>
              <a:t>Succinct</a:t>
            </a:r>
            <a:r>
              <a:rPr lang="en-US" altLang="en-US" sz="2000"/>
              <a:t>: c must be satisfied, so one can start with the data sets satisfying c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000">
                <a:solidFill>
                  <a:schemeClr val="tx2"/>
                </a:solidFill>
              </a:rPr>
              <a:t>Convertible</a:t>
            </a:r>
            <a:r>
              <a:rPr lang="en-US" altLang="en-US" sz="2000"/>
              <a:t>: c is not monotonic nor anti-monotonic, but it can be converted into it if items in the transaction can be properly ordered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000"/>
              <a:t>Data space pruning constraint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000">
                <a:solidFill>
                  <a:schemeClr val="tx2"/>
                </a:solidFill>
              </a:rPr>
              <a:t>Data succinct: </a:t>
            </a:r>
            <a:r>
              <a:rPr lang="en-US" altLang="en-US" sz="2000"/>
              <a:t>Data space can be pruned at the initial pattern mining process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000">
                <a:solidFill>
                  <a:schemeClr val="tx2"/>
                </a:solidFill>
              </a:rPr>
              <a:t>Data anti-monotonic</a:t>
            </a:r>
            <a:r>
              <a:rPr lang="en-US" altLang="en-US" sz="2000"/>
              <a:t>: If a transaction t does not satisfy c, t can be pruned from its further mining</a:t>
            </a:r>
          </a:p>
        </p:txBody>
      </p:sp>
    </p:spTree>
  </p:cSld>
  <p:clrMapOvr>
    <a:masterClrMapping/>
  </p:clrMapOvr>
  <p:transition spd="med"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41B997E6-090D-44E7-A31F-C663232796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70CE956-9DC4-498D-8F24-6100193DE80D}" type="slidenum">
              <a:rPr lang="en-US" altLang="en-US" sz="1200"/>
              <a:pPr eaLnBrk="1" hangingPunct="1"/>
              <a:t>23</a:t>
            </a:fld>
            <a:endParaRPr lang="en-US" altLang="en-US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9279431-9D3C-4EFB-A704-91DFE144A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2400" y="381000"/>
            <a:ext cx="9448800" cy="492125"/>
          </a:xfrm>
        </p:spPr>
        <p:txBody>
          <a:bodyPr/>
          <a:lstStyle/>
          <a:p>
            <a:pPr eaLnBrk="1" hangingPunct="1"/>
            <a:r>
              <a:rPr lang="en-US" altLang="en-US" sz="2800"/>
              <a:t>Pattern Space Pruning with Anti-Monotonicity Constraints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8A7A7478-94C4-41E8-A936-D47297CA9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6096000" cy="49022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2000">
                <a:ea typeface="宋体" panose="020B0503020204020204" pitchFamily="2" charset="-122"/>
              </a:rPr>
              <a:t>A constraint C is </a:t>
            </a:r>
            <a:r>
              <a:rPr lang="en-US" altLang="zh-CN" sz="2000" i="1">
                <a:ea typeface="宋体" panose="020B0503020204020204" pitchFamily="2" charset="-122"/>
              </a:rPr>
              <a:t>anti-monotone</a:t>
            </a:r>
            <a:r>
              <a:rPr lang="en-US" altLang="zh-CN" sz="2000">
                <a:ea typeface="宋体" panose="020B0503020204020204" pitchFamily="2" charset="-122"/>
              </a:rPr>
              <a:t> if the super pattern satisfies C, all of its sub-patterns do so too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In other words, </a:t>
            </a:r>
            <a:r>
              <a:rPr lang="en-US" altLang="en-US" sz="2000" i="1"/>
              <a:t>a</a:t>
            </a:r>
            <a:r>
              <a:rPr lang="en-US" altLang="zh-CN" sz="2000" i="1">
                <a:ea typeface="宋体" panose="020B0503020204020204" pitchFamily="2" charset="-122"/>
              </a:rPr>
              <a:t>nti-monotonicity: </a:t>
            </a:r>
            <a:r>
              <a:rPr lang="en-US" altLang="en-US" sz="2000"/>
              <a:t>If an itemset S </a:t>
            </a:r>
            <a:r>
              <a:rPr lang="en-US" altLang="en-US" sz="2000" b="1"/>
              <a:t>violates</a:t>
            </a:r>
            <a:r>
              <a:rPr lang="en-US" altLang="en-US" sz="2000"/>
              <a:t> the constraint, so does any of its superset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>
                <a:sym typeface="Symbol" panose="05050102010706020507" pitchFamily="18" charset="2"/>
              </a:rPr>
              <a:t>Ex. 1. </a:t>
            </a:r>
            <a:r>
              <a:rPr lang="en-US" altLang="en-US" sz="2000" i="1">
                <a:sym typeface="Symbol" panose="05050102010706020507" pitchFamily="18" charset="2"/>
              </a:rPr>
              <a:t>sum(S.price)</a:t>
            </a:r>
            <a:r>
              <a:rPr lang="en-US" altLang="en-US" sz="2000">
                <a:sym typeface="Symbol" panose="05050102010706020507" pitchFamily="18" charset="2"/>
              </a:rPr>
              <a:t>  </a:t>
            </a:r>
            <a:r>
              <a:rPr lang="en-US" altLang="en-US" sz="2000" i="1">
                <a:sym typeface="Symbol" panose="05050102010706020507" pitchFamily="18" charset="2"/>
              </a:rPr>
              <a:t>v</a:t>
            </a:r>
            <a:r>
              <a:rPr lang="en-US" altLang="en-US" sz="2000">
                <a:sym typeface="Symbol" panose="05050102010706020507" pitchFamily="18" charset="2"/>
              </a:rPr>
              <a:t>  is </a:t>
            </a:r>
            <a:r>
              <a:rPr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anti-monotone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>
                <a:sym typeface="Symbol" panose="05050102010706020507" pitchFamily="18" charset="2"/>
              </a:rPr>
              <a:t>Ex. 2.</a:t>
            </a:r>
            <a:r>
              <a:rPr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>
                <a:sym typeface="Wingdings" panose="05000000000000000000" pitchFamily="2" charset="2"/>
              </a:rPr>
              <a:t>range(S.profit) </a:t>
            </a:r>
            <a:r>
              <a:rPr lang="en-US" altLang="en-US" sz="2000">
                <a:sym typeface="Symbol" panose="05050102010706020507" pitchFamily="18" charset="2"/>
              </a:rPr>
              <a:t></a:t>
            </a:r>
            <a:r>
              <a:rPr lang="en-US" altLang="en-US" sz="2000">
                <a:sym typeface="Wingdings" panose="05000000000000000000" pitchFamily="2" charset="2"/>
              </a:rPr>
              <a:t> 15 </a:t>
            </a:r>
            <a:r>
              <a:rPr lang="en-US" altLang="en-US" sz="2000">
                <a:sym typeface="Symbol" panose="05050102010706020507" pitchFamily="18" charset="2"/>
              </a:rPr>
              <a:t>is </a:t>
            </a:r>
            <a:r>
              <a:rPr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anti-monotone</a:t>
            </a:r>
            <a:endParaRPr lang="en-US" altLang="en-US" sz="2000">
              <a:sym typeface="Wingdings" panose="05000000000000000000" pitchFamily="2" charset="2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Itemset </a:t>
            </a:r>
            <a:r>
              <a:rPr lang="en-US" altLang="en-US" sz="2000" i="1"/>
              <a:t>ab </a:t>
            </a:r>
            <a:r>
              <a:rPr lang="en-US" altLang="en-US" sz="2000"/>
              <a:t>violates C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>
                <a:sym typeface="Wingdings" panose="05000000000000000000" pitchFamily="2" charset="2"/>
              </a:rPr>
              <a:t>So does every superset of </a:t>
            </a:r>
            <a:r>
              <a:rPr lang="en-US" altLang="en-US" sz="2000" i="1">
                <a:sym typeface="Wingdings" panose="05000000000000000000" pitchFamily="2" charset="2"/>
              </a:rPr>
              <a:t>ab</a:t>
            </a:r>
            <a:endParaRPr lang="en-US" altLang="en-US" sz="200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en-US" sz="2000">
                <a:sym typeface="Symbol" panose="05050102010706020507" pitchFamily="18" charset="2"/>
              </a:rPr>
              <a:t>Ex. 3.</a:t>
            </a:r>
            <a:r>
              <a:rPr lang="en-US" altLang="en-US" sz="2000" i="1">
                <a:sym typeface="Symbol" panose="05050102010706020507" pitchFamily="18" charset="2"/>
              </a:rPr>
              <a:t> sum(S.Price) </a:t>
            </a:r>
            <a:r>
              <a:rPr lang="en-US" altLang="en-US" sz="2000">
                <a:sym typeface="Symbol" panose="05050102010706020507" pitchFamily="18" charset="2"/>
              </a:rPr>
              <a:t> </a:t>
            </a:r>
            <a:r>
              <a:rPr lang="en-US" altLang="en-US" sz="2000" i="1">
                <a:sym typeface="Symbol" panose="05050102010706020507" pitchFamily="18" charset="2"/>
              </a:rPr>
              <a:t>v</a:t>
            </a:r>
            <a:r>
              <a:rPr lang="en-US" altLang="en-US" sz="2000">
                <a:sym typeface="Symbol" panose="05050102010706020507" pitchFamily="18" charset="2"/>
              </a:rPr>
              <a:t>  is </a:t>
            </a:r>
            <a:r>
              <a:rPr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not anti-monotone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>
                <a:sym typeface="Symbol" panose="05050102010706020507" pitchFamily="18" charset="2"/>
              </a:rPr>
              <a:t>Ex. 4. </a:t>
            </a:r>
            <a:r>
              <a:rPr lang="en-US" altLang="en-US" sz="2000" i="1">
                <a:sym typeface="Symbol" panose="05050102010706020507" pitchFamily="18" charset="2"/>
              </a:rPr>
              <a:t>support count</a:t>
            </a:r>
            <a:r>
              <a:rPr lang="en-US" altLang="en-US" sz="2000">
                <a:sym typeface="Symbol" panose="05050102010706020507" pitchFamily="18" charset="2"/>
              </a:rPr>
              <a:t>  is anti-monotone: core property used in Apriori</a:t>
            </a:r>
          </a:p>
        </p:txBody>
      </p:sp>
      <p:graphicFrame>
        <p:nvGraphicFramePr>
          <p:cNvPr id="1562628" name="Group 4">
            <a:extLst>
              <a:ext uri="{FF2B5EF4-FFF2-40B4-BE49-F238E27FC236}">
                <a16:creationId xmlns:a16="http://schemas.microsoft.com/office/drawing/2014/main" id="{D41EBA92-E91E-4798-8C0C-9B4F6BDF9F34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676400"/>
          <a:ext cx="2465388" cy="1746250"/>
        </p:xfrm>
        <a:graphic>
          <a:graphicData uri="http://schemas.openxmlformats.org/drawingml/2006/table">
            <a:tbl>
              <a:tblPr/>
              <a:tblGrid>
                <a:gridCol w="66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7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Transaction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6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d, f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d, f, g, h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d, e, f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2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c, e, f, g</a:t>
                      </a: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49" name="Text Box 24">
            <a:extLst>
              <a:ext uri="{FF2B5EF4-FFF2-40B4-BE49-F238E27FC236}">
                <a16:creationId xmlns:a16="http://schemas.microsoft.com/office/drawing/2014/main" id="{EAAF2180-04BC-4AEB-BE96-B4217B4BA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219200"/>
            <a:ext cx="22971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000">
                <a:latin typeface="Times New Roman" panose="02020603050405020304" pitchFamily="18" charset="0"/>
              </a:rPr>
              <a:t>TDB (min_sup=2)</a:t>
            </a:r>
          </a:p>
        </p:txBody>
      </p:sp>
      <p:graphicFrame>
        <p:nvGraphicFramePr>
          <p:cNvPr id="1562681" name="Group 57">
            <a:extLst>
              <a:ext uri="{FF2B5EF4-FFF2-40B4-BE49-F238E27FC236}">
                <a16:creationId xmlns:a16="http://schemas.microsoft.com/office/drawing/2014/main" id="{9BA74A3D-F8FD-4B6A-BD65-967981BE1BF2}"/>
              </a:ext>
            </a:extLst>
          </p:cNvPr>
          <p:cNvGraphicFramePr>
            <a:graphicFrameLocks noGrp="1"/>
          </p:cNvGraphicFramePr>
          <p:nvPr/>
        </p:nvGraphicFramePr>
        <p:xfrm>
          <a:off x="7010400" y="3581400"/>
          <a:ext cx="1752600" cy="326390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Profit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BCFD8EC6-64DA-4C63-9E0C-7E84547D6C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A5035D7-DF93-4598-8E73-EBED8536D029}" type="slidenum">
              <a:rPr lang="en-US" altLang="en-US" sz="1200"/>
              <a:pPr eaLnBrk="1" hangingPunct="1"/>
              <a:t>24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0F095AE-E2D5-4E40-9291-F2816E944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2400" y="304800"/>
            <a:ext cx="9448800" cy="609600"/>
          </a:xfrm>
        </p:spPr>
        <p:txBody>
          <a:bodyPr/>
          <a:lstStyle/>
          <a:p>
            <a:pPr eaLnBrk="1" hangingPunct="1"/>
            <a:r>
              <a:rPr lang="en-US" altLang="en-US" sz="2800"/>
              <a:t>Pattern Space Pruning with Monotonicity Constraints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A045F970-A93E-4939-9467-CFD7A385A6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5943600" cy="4800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000">
                <a:ea typeface="宋体" panose="020B0503020204020204" pitchFamily="2" charset="-122"/>
              </a:rPr>
              <a:t>A constraint C is </a:t>
            </a:r>
            <a:r>
              <a:rPr lang="en-US" altLang="zh-CN" sz="2000" i="1">
                <a:ea typeface="宋体" panose="020B0503020204020204" pitchFamily="2" charset="-122"/>
              </a:rPr>
              <a:t>monotone</a:t>
            </a:r>
            <a:r>
              <a:rPr lang="en-US" altLang="zh-CN" sz="2000">
                <a:ea typeface="宋体" panose="020B0503020204020204" pitchFamily="2" charset="-122"/>
              </a:rPr>
              <a:t> if the pattern satisfies C, we do not need to check C in subsequent mining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Alternatively, monotonicity: </a:t>
            </a:r>
            <a:r>
              <a:rPr lang="en-US" altLang="en-US" sz="2000" i="1"/>
              <a:t>If an itemset S </a:t>
            </a:r>
            <a:r>
              <a:rPr lang="en-US" altLang="en-US" sz="2000" b="1" i="1"/>
              <a:t>satisfies</a:t>
            </a:r>
            <a:r>
              <a:rPr lang="en-US" altLang="en-US" sz="2000" i="1"/>
              <a:t> the constraint, so does any of its superset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>
                <a:sym typeface="Symbol" panose="05050102010706020507" pitchFamily="18" charset="2"/>
              </a:rPr>
              <a:t>Ex. 1.</a:t>
            </a:r>
            <a:r>
              <a:rPr lang="en-US" altLang="en-US" sz="2000" i="1">
                <a:sym typeface="Symbol" panose="05050102010706020507" pitchFamily="18" charset="2"/>
              </a:rPr>
              <a:t> sum(S.Price)</a:t>
            </a:r>
            <a:r>
              <a:rPr lang="en-US" altLang="en-US" sz="2000">
                <a:sym typeface="Symbol" panose="05050102010706020507" pitchFamily="18" charset="2"/>
              </a:rPr>
              <a:t>  </a:t>
            </a:r>
            <a:r>
              <a:rPr lang="en-US" altLang="en-US" sz="2000" i="1">
                <a:sym typeface="Symbol" panose="05050102010706020507" pitchFamily="18" charset="2"/>
              </a:rPr>
              <a:t>v</a:t>
            </a:r>
            <a:r>
              <a:rPr lang="en-US" altLang="en-US" sz="2000">
                <a:sym typeface="Symbol" panose="05050102010706020507" pitchFamily="18" charset="2"/>
              </a:rPr>
              <a:t>  is </a:t>
            </a:r>
            <a:r>
              <a:rPr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monotone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>
                <a:sym typeface="Wingdings" panose="05000000000000000000" pitchFamily="2" charset="2"/>
              </a:rPr>
              <a:t>Ex. 2.</a:t>
            </a:r>
            <a:r>
              <a:rPr lang="en-US" altLang="en-US" sz="2000" i="1">
                <a:sym typeface="Wingdings" panose="05000000000000000000" pitchFamily="2" charset="2"/>
              </a:rPr>
              <a:t> min(S.Price) </a:t>
            </a:r>
            <a:r>
              <a:rPr lang="en-US" altLang="en-US" sz="2000">
                <a:sym typeface="Symbol" panose="05050102010706020507" pitchFamily="18" charset="2"/>
              </a:rPr>
              <a:t></a:t>
            </a:r>
            <a:r>
              <a:rPr lang="en-US" altLang="en-US" sz="2000" i="1">
                <a:sym typeface="Wingdings" panose="05000000000000000000" pitchFamily="2" charset="2"/>
              </a:rPr>
              <a:t> v  </a:t>
            </a:r>
            <a:r>
              <a:rPr lang="en-US" altLang="en-US" sz="2000">
                <a:sym typeface="Symbol" panose="05050102010706020507" pitchFamily="18" charset="2"/>
              </a:rPr>
              <a:t>is </a:t>
            </a:r>
            <a:r>
              <a:rPr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monotone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>
                <a:sym typeface="Wingdings" panose="05000000000000000000" pitchFamily="2" charset="2"/>
              </a:rPr>
              <a:t>Ex. 3. C: range(S.profit) </a:t>
            </a:r>
            <a:r>
              <a:rPr lang="en-US" altLang="en-US" sz="2000">
                <a:sym typeface="Symbol" panose="05050102010706020507" pitchFamily="18" charset="2"/>
              </a:rPr>
              <a:t></a:t>
            </a:r>
            <a:r>
              <a:rPr lang="en-US" altLang="en-US" sz="2000">
                <a:sym typeface="Wingdings" panose="05000000000000000000" pitchFamily="2" charset="2"/>
              </a:rPr>
              <a:t> 15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Itemset </a:t>
            </a:r>
            <a:r>
              <a:rPr lang="en-US" altLang="en-US" sz="2000" i="1"/>
              <a:t>ab </a:t>
            </a:r>
            <a:r>
              <a:rPr lang="en-US" altLang="en-US" sz="2000"/>
              <a:t>satisfies C</a:t>
            </a:r>
            <a:endParaRPr lang="en-US" altLang="en-US" sz="2000">
              <a:sym typeface="Wingdings" panose="05000000000000000000" pitchFamily="2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>
                <a:sym typeface="Wingdings" panose="05000000000000000000" pitchFamily="2" charset="2"/>
              </a:rPr>
              <a:t>So does every superset of </a:t>
            </a:r>
            <a:r>
              <a:rPr lang="en-US" altLang="en-US" sz="2000" i="1">
                <a:sym typeface="Wingdings" panose="05000000000000000000" pitchFamily="2" charset="2"/>
              </a:rPr>
              <a:t>ab</a:t>
            </a:r>
          </a:p>
        </p:txBody>
      </p:sp>
      <p:graphicFrame>
        <p:nvGraphicFramePr>
          <p:cNvPr id="1563652" name="Group 4">
            <a:extLst>
              <a:ext uri="{FF2B5EF4-FFF2-40B4-BE49-F238E27FC236}">
                <a16:creationId xmlns:a16="http://schemas.microsoft.com/office/drawing/2014/main" id="{E017B95B-546D-46AF-9636-41ADFC54F97F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600200"/>
          <a:ext cx="2514600" cy="1844675"/>
        </p:xfrm>
        <a:graphic>
          <a:graphicData uri="http://schemas.openxmlformats.org/drawingml/2006/table">
            <a:tbl>
              <a:tblPr/>
              <a:tblGrid>
                <a:gridCol w="74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Transaction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d, f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d, f, g, h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d, e, f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c, e, f, g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673" name="Text Box 24">
            <a:extLst>
              <a:ext uri="{FF2B5EF4-FFF2-40B4-BE49-F238E27FC236}">
                <a16:creationId xmlns:a16="http://schemas.microsoft.com/office/drawing/2014/main" id="{CE539084-B9AF-46A3-9F1D-F05F90F40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203325"/>
            <a:ext cx="2068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>
                <a:latin typeface="Times New Roman" panose="02020603050405020304" pitchFamily="18" charset="0"/>
              </a:rPr>
              <a:t>TDB (min_sup=2)</a:t>
            </a:r>
          </a:p>
        </p:txBody>
      </p:sp>
      <p:graphicFrame>
        <p:nvGraphicFramePr>
          <p:cNvPr id="1563705" name="Group 57">
            <a:extLst>
              <a:ext uri="{FF2B5EF4-FFF2-40B4-BE49-F238E27FC236}">
                <a16:creationId xmlns:a16="http://schemas.microsoft.com/office/drawing/2014/main" id="{17314AB1-0C33-462C-B256-4D8092BA1785}"/>
              </a:ext>
            </a:extLst>
          </p:cNvPr>
          <p:cNvGraphicFramePr>
            <a:graphicFrameLocks noGrp="1"/>
          </p:cNvGraphicFramePr>
          <p:nvPr/>
        </p:nvGraphicFramePr>
        <p:xfrm>
          <a:off x="7086600" y="3581400"/>
          <a:ext cx="1600200" cy="3260725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Profit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-20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-30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A6A5DF82-38D3-4443-A59D-B3D6E29A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6577347-7BC2-4C62-95B5-F9BC25D159AE}" type="slidenum">
              <a:rPr lang="en-US" altLang="en-US" sz="1200"/>
              <a:pPr eaLnBrk="1" hangingPunct="1"/>
              <a:t>25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B9DF1A9-5930-44F7-8AD3-FA8145C27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76200" y="228600"/>
            <a:ext cx="9296400" cy="609600"/>
          </a:xfrm>
        </p:spPr>
        <p:txBody>
          <a:bodyPr/>
          <a:lstStyle/>
          <a:p>
            <a:pPr eaLnBrk="1" hangingPunct="1"/>
            <a:r>
              <a:rPr lang="en-US" altLang="zh-CN" sz="3200">
                <a:ea typeface="宋体" panose="020B0503020204020204" pitchFamily="2" charset="-122"/>
              </a:rPr>
              <a:t>Data Space Pruning with Data Anti-monotonicity</a:t>
            </a:r>
            <a:endParaRPr lang="en-US" altLang="en-US" sz="3200">
              <a:ea typeface="宋体" panose="020B0503020204020204" pitchFamily="2" charset="-122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AAB8498-4DD6-4DCE-BF69-8E6480CF9D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6324600" cy="4876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000">
                <a:ea typeface="宋体" panose="020B0503020204020204" pitchFamily="2" charset="-122"/>
              </a:rPr>
              <a:t>A constraint c is </a:t>
            </a:r>
            <a:r>
              <a:rPr lang="en-US" altLang="zh-CN" sz="2000" i="1">
                <a:ea typeface="宋体" panose="020B0503020204020204" pitchFamily="2" charset="-122"/>
              </a:rPr>
              <a:t>data anti-monotone</a:t>
            </a:r>
            <a:r>
              <a:rPr lang="en-US" altLang="zh-CN" sz="2000">
                <a:ea typeface="宋体" panose="020B0503020204020204" pitchFamily="2" charset="-122"/>
              </a:rPr>
              <a:t> if for a pattern p cannot satisfy a transaction t under c, p’s superset cannot satisfy t under c either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ea typeface="宋体" panose="020B0503020204020204" pitchFamily="2" charset="-122"/>
              </a:rPr>
              <a:t>The key for data anti-monotone is </a:t>
            </a:r>
            <a:r>
              <a:rPr lang="en-US" altLang="zh-CN" sz="2000" i="1">
                <a:ea typeface="宋体" panose="020B0503020204020204" pitchFamily="2" charset="-122"/>
              </a:rPr>
              <a:t>recursive data reduction</a:t>
            </a:r>
            <a:endParaRPr lang="en-US" altLang="zh-CN" sz="2000">
              <a:ea typeface="宋体" panose="020B0503020204020204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Ex. 1. </a:t>
            </a:r>
            <a:r>
              <a:rPr lang="en-US" altLang="en-US" sz="2000" i="1">
                <a:sym typeface="Symbol" panose="05050102010706020507" pitchFamily="18" charset="2"/>
              </a:rPr>
              <a:t>sum(S.Price)</a:t>
            </a:r>
            <a:r>
              <a:rPr lang="en-US" altLang="en-US" sz="2000">
                <a:sym typeface="Symbol" panose="05050102010706020507" pitchFamily="18" charset="2"/>
              </a:rPr>
              <a:t>  </a:t>
            </a:r>
            <a:r>
              <a:rPr lang="en-US" altLang="en-US" sz="2000" i="1">
                <a:sym typeface="Symbol" panose="05050102010706020507" pitchFamily="18" charset="2"/>
              </a:rPr>
              <a:t>v</a:t>
            </a:r>
            <a:r>
              <a:rPr lang="en-US" altLang="en-US" sz="2000">
                <a:sym typeface="Symbol" panose="05050102010706020507" pitchFamily="18" charset="2"/>
              </a:rPr>
              <a:t>  is data anti-monotone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Ex. 2. </a:t>
            </a:r>
            <a:r>
              <a:rPr lang="en-US" altLang="en-US" sz="2000" i="1">
                <a:sym typeface="Wingdings" panose="05000000000000000000" pitchFamily="2" charset="2"/>
              </a:rPr>
              <a:t>min(S.Price) </a:t>
            </a:r>
            <a:r>
              <a:rPr lang="en-US" altLang="en-US" sz="2000">
                <a:sym typeface="Symbol" panose="05050102010706020507" pitchFamily="18" charset="2"/>
              </a:rPr>
              <a:t></a:t>
            </a:r>
            <a:r>
              <a:rPr lang="en-US" altLang="en-US" sz="2000" i="1">
                <a:sym typeface="Wingdings" panose="05000000000000000000" pitchFamily="2" charset="2"/>
              </a:rPr>
              <a:t> v  </a:t>
            </a:r>
            <a:r>
              <a:rPr lang="en-US" altLang="en-US" sz="2000">
                <a:sym typeface="Symbol" panose="05050102010706020507" pitchFamily="18" charset="2"/>
              </a:rPr>
              <a:t>is data anti-monotone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>
                <a:sym typeface="Wingdings" panose="05000000000000000000" pitchFamily="2" charset="2"/>
              </a:rPr>
              <a:t>Ex. 3. C: </a:t>
            </a:r>
            <a:r>
              <a:rPr lang="en-US" altLang="en-US" sz="2000" i="1">
                <a:sym typeface="Wingdings" panose="05000000000000000000" pitchFamily="2" charset="2"/>
              </a:rPr>
              <a:t>range(S.profit) </a:t>
            </a:r>
            <a:r>
              <a:rPr lang="en-US" altLang="en-US" sz="2000" i="1">
                <a:sym typeface="Symbol" panose="05050102010706020507" pitchFamily="18" charset="2"/>
              </a:rPr>
              <a:t></a:t>
            </a:r>
            <a:r>
              <a:rPr lang="en-US" altLang="en-US" sz="2000" i="1">
                <a:sym typeface="Wingdings" panose="05000000000000000000" pitchFamily="2" charset="2"/>
              </a:rPr>
              <a:t> 25</a:t>
            </a:r>
            <a:r>
              <a:rPr lang="en-US" altLang="en-US" sz="2000">
                <a:sym typeface="Wingdings" panose="05000000000000000000" pitchFamily="2" charset="2"/>
              </a:rPr>
              <a:t> is data anti-monotone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Itemset {b, c}’s projected DB: </a:t>
            </a:r>
            <a:r>
              <a:rPr lang="en-US" altLang="en-US" sz="2000" i="1"/>
              <a:t> 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1800"/>
              <a:t>T10’: {d, f, h},  T20’: {d, f, g, h}, T30’: {d, f, g}</a:t>
            </a:r>
            <a:endParaRPr lang="en-US" altLang="en-US" sz="1800">
              <a:sym typeface="Wingdings" panose="05000000000000000000" pitchFamily="2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>
                <a:sym typeface="Wingdings" panose="05000000000000000000" pitchFamily="2" charset="2"/>
              </a:rPr>
              <a:t>since C cannot satisfy T10’, T10’ can be pruned</a:t>
            </a:r>
          </a:p>
        </p:txBody>
      </p:sp>
      <p:graphicFrame>
        <p:nvGraphicFramePr>
          <p:cNvPr id="1844228" name="Group 4">
            <a:extLst>
              <a:ext uri="{FF2B5EF4-FFF2-40B4-BE49-F238E27FC236}">
                <a16:creationId xmlns:a16="http://schemas.microsoft.com/office/drawing/2014/main" id="{ED7B95F7-D5BC-40BC-A416-70FCC8EE44D6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663700"/>
          <a:ext cx="2514600" cy="1844675"/>
        </p:xfrm>
        <a:graphic>
          <a:graphicData uri="http://schemas.openxmlformats.org/drawingml/2006/table">
            <a:tbl>
              <a:tblPr/>
              <a:tblGrid>
                <a:gridCol w="74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Transaction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d, f, h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d, f, g, h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d, f, g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c, e, f, g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697" name="Text Box 24">
            <a:extLst>
              <a:ext uri="{FF2B5EF4-FFF2-40B4-BE49-F238E27FC236}">
                <a16:creationId xmlns:a16="http://schemas.microsoft.com/office/drawing/2014/main" id="{B52E389F-6009-4DC4-8561-BC6FD7726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203325"/>
            <a:ext cx="2068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>
                <a:latin typeface="Times New Roman" panose="02020603050405020304" pitchFamily="18" charset="0"/>
              </a:rPr>
              <a:t>TDB (min_sup=2)</a:t>
            </a:r>
          </a:p>
        </p:txBody>
      </p:sp>
      <p:graphicFrame>
        <p:nvGraphicFramePr>
          <p:cNvPr id="1844281" name="Group 57">
            <a:extLst>
              <a:ext uri="{FF2B5EF4-FFF2-40B4-BE49-F238E27FC236}">
                <a16:creationId xmlns:a16="http://schemas.microsoft.com/office/drawing/2014/main" id="{2B44F06D-0CC7-40B9-B08B-C2FC2616978F}"/>
              </a:ext>
            </a:extLst>
          </p:cNvPr>
          <p:cNvGraphicFramePr>
            <a:graphicFrameLocks noGrp="1"/>
          </p:cNvGraphicFramePr>
          <p:nvPr/>
        </p:nvGraphicFramePr>
        <p:xfrm>
          <a:off x="7086600" y="3581400"/>
          <a:ext cx="1600200" cy="3260725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Profit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-20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-15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-30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-5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4AD6BD5C-8E42-459D-9917-CD1F4C9785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0A9FCEF-A337-4523-A6DD-F0822BB4CDE6}" type="slidenum">
              <a:rPr lang="en-US" altLang="en-US" sz="1200"/>
              <a:pPr eaLnBrk="1" hangingPunct="1"/>
              <a:t>26</a:t>
            </a:fld>
            <a:endParaRPr lang="en-US" altLang="en-US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0282E71-E78C-4A9F-9D46-59B9BF4DF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"/>
          </a:xfrm>
        </p:spPr>
        <p:txBody>
          <a:bodyPr/>
          <a:lstStyle/>
          <a:p>
            <a:pPr eaLnBrk="1" hangingPunct="1"/>
            <a:r>
              <a:rPr lang="en-US" altLang="en-US"/>
              <a:t>Pattern Space Pruning with Succinctness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0E58D717-2495-4BA9-B1A4-7EBD11860B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153400" cy="4953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Succinctness: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Given </a:t>
            </a:r>
            <a:r>
              <a:rPr lang="en-US" altLang="en-US" sz="2400" i="1"/>
              <a:t>A</a:t>
            </a:r>
            <a:r>
              <a:rPr lang="en-US" altLang="en-US" sz="2400" i="1" baseline="-25000"/>
              <a:t>1, </a:t>
            </a:r>
            <a:r>
              <a:rPr lang="en-US" altLang="en-US" sz="2400"/>
              <a:t>the set of items satisfying a succinctness constraint </a:t>
            </a:r>
            <a:r>
              <a:rPr lang="en-US" altLang="en-US" sz="2400" i="1"/>
              <a:t>C</a:t>
            </a:r>
            <a:r>
              <a:rPr lang="en-US" altLang="en-US" sz="2400"/>
              <a:t>, then any set </a:t>
            </a:r>
            <a:r>
              <a:rPr lang="en-US" altLang="en-US" sz="2400" i="1"/>
              <a:t>S </a:t>
            </a:r>
            <a:r>
              <a:rPr lang="en-US" altLang="en-US" sz="2400"/>
              <a:t>satisfying </a:t>
            </a:r>
            <a:r>
              <a:rPr lang="en-US" altLang="en-US" sz="2400" i="1"/>
              <a:t>C</a:t>
            </a:r>
            <a:r>
              <a:rPr lang="en-US" altLang="en-US" sz="2400"/>
              <a:t> is based on </a:t>
            </a:r>
            <a:r>
              <a:rPr lang="en-US" altLang="en-US" sz="2400" i="1"/>
              <a:t>A</a:t>
            </a:r>
            <a:r>
              <a:rPr lang="en-US" altLang="en-US" sz="2400" i="1" baseline="-25000"/>
              <a:t>1</a:t>
            </a:r>
            <a:r>
              <a:rPr lang="en-US" altLang="en-US" sz="2400"/>
              <a:t> , i.e., </a:t>
            </a:r>
            <a:r>
              <a:rPr lang="en-US" altLang="en-US" sz="2400" i="1"/>
              <a:t>S</a:t>
            </a:r>
            <a:r>
              <a:rPr lang="en-US" altLang="en-US" sz="2400"/>
              <a:t> contains a subset belonging to </a:t>
            </a:r>
            <a:r>
              <a:rPr lang="en-US" altLang="en-US" sz="2400" i="1"/>
              <a:t>A</a:t>
            </a:r>
            <a:r>
              <a:rPr lang="en-US" altLang="en-US" sz="2400" i="1" baseline="-25000"/>
              <a:t>1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Idea: Without looking at the transaction database, whether an itemset </a:t>
            </a:r>
            <a:r>
              <a:rPr lang="en-US" altLang="en-US" sz="2400" i="1"/>
              <a:t>S </a:t>
            </a:r>
            <a:r>
              <a:rPr lang="en-US" altLang="en-US" sz="2400"/>
              <a:t>satisfies constraint C can be determined based on the selection of items</a:t>
            </a:r>
            <a:r>
              <a:rPr lang="en-US" altLang="en-US" sz="2400">
                <a:sym typeface="Symbol" panose="05050102010706020507" pitchFamily="18" charset="2"/>
              </a:rPr>
              <a:t> 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i="1">
                <a:sym typeface="Symbol" panose="05050102010706020507" pitchFamily="18" charset="2"/>
              </a:rPr>
              <a:t>min</a:t>
            </a:r>
            <a:r>
              <a:rPr lang="en-US" altLang="en-US" sz="2400">
                <a:sym typeface="Symbol" panose="05050102010706020507" pitchFamily="18" charset="2"/>
              </a:rPr>
              <a:t>(</a:t>
            </a:r>
            <a:r>
              <a:rPr lang="en-US" altLang="en-US" sz="2400" i="1">
                <a:sym typeface="Symbol" panose="05050102010706020507" pitchFamily="18" charset="2"/>
              </a:rPr>
              <a:t>S.Price</a:t>
            </a:r>
            <a:r>
              <a:rPr lang="en-US" altLang="en-US" sz="2400">
                <a:sym typeface="Symbol" panose="05050102010706020507" pitchFamily="18" charset="2"/>
              </a:rPr>
              <a:t>)</a:t>
            </a:r>
            <a:r>
              <a:rPr lang="en-US" altLang="en-US" sz="2400" i="1"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 </a:t>
            </a:r>
            <a:r>
              <a:rPr lang="en-US" altLang="en-US" sz="2400" i="1">
                <a:sym typeface="Symbol" panose="05050102010706020507" pitchFamily="18" charset="2"/>
              </a:rPr>
              <a:t>v</a:t>
            </a:r>
            <a:r>
              <a:rPr lang="en-US" altLang="en-US" sz="2400">
                <a:sym typeface="Symbol" panose="05050102010706020507" pitchFamily="18" charset="2"/>
              </a:rPr>
              <a:t>  is succinct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i="1">
                <a:sym typeface="Symbol" panose="05050102010706020507" pitchFamily="18" charset="2"/>
              </a:rPr>
              <a:t>sum</a:t>
            </a:r>
            <a:r>
              <a:rPr lang="en-US" altLang="en-US" sz="2400">
                <a:sym typeface="Symbol" panose="05050102010706020507" pitchFamily="18" charset="2"/>
              </a:rPr>
              <a:t>(</a:t>
            </a:r>
            <a:r>
              <a:rPr lang="en-US" altLang="en-US" sz="2400" i="1">
                <a:sym typeface="Symbol" panose="05050102010706020507" pitchFamily="18" charset="2"/>
              </a:rPr>
              <a:t>S.Price</a:t>
            </a:r>
            <a:r>
              <a:rPr lang="en-US" altLang="en-US" sz="2400">
                <a:sym typeface="Symbol" panose="05050102010706020507" pitchFamily="18" charset="2"/>
              </a:rPr>
              <a:t>)  </a:t>
            </a:r>
            <a:r>
              <a:rPr lang="en-US" altLang="en-US" sz="2400" i="1">
                <a:sym typeface="Symbol" panose="05050102010706020507" pitchFamily="18" charset="2"/>
              </a:rPr>
              <a:t>v</a:t>
            </a:r>
            <a:r>
              <a:rPr lang="en-US" altLang="en-US" sz="2400">
                <a:sym typeface="Symbol" panose="05050102010706020507" pitchFamily="18" charset="2"/>
              </a:rPr>
              <a:t>  is not succinct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Optimization: If </a:t>
            </a:r>
            <a:r>
              <a:rPr lang="en-US" altLang="en-US" sz="2400" i="1"/>
              <a:t>C</a:t>
            </a:r>
            <a:r>
              <a:rPr lang="en-US" altLang="en-US" sz="2400"/>
              <a:t> is succinct, </a:t>
            </a:r>
            <a:r>
              <a:rPr lang="en-US" altLang="en-US" sz="2400" i="1"/>
              <a:t>C</a:t>
            </a:r>
            <a:r>
              <a:rPr lang="en-US" altLang="en-US" sz="2400"/>
              <a:t> is pre-counting pushable</a:t>
            </a:r>
          </a:p>
        </p:txBody>
      </p:sp>
    </p:spTree>
  </p:cSld>
  <p:clrMapOvr>
    <a:masterClrMapping/>
  </p:clrMapOvr>
  <p:transition spd="med"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6E50730A-950E-43A9-A1A4-5A4C277510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8AF799C-1BCD-4187-AFD6-D5F5E00C1254}" type="slidenum">
              <a:rPr lang="en-US" altLang="en-US" sz="1200"/>
              <a:pPr eaLnBrk="1" hangingPunct="1"/>
              <a:t>27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B5DE30BA-FB2F-4F15-8D76-5095A3AD8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8991600" cy="609600"/>
          </a:xfrm>
        </p:spPr>
        <p:txBody>
          <a:bodyPr/>
          <a:lstStyle/>
          <a:p>
            <a:pPr eaLnBrk="1" hangingPunct="1"/>
            <a:r>
              <a:rPr lang="en-US" altLang="en-US"/>
              <a:t>Apriori + Constraint </a:t>
            </a:r>
          </a:p>
        </p:txBody>
      </p:sp>
      <p:graphicFrame>
        <p:nvGraphicFramePr>
          <p:cNvPr id="30724" name="Object 3">
            <a:extLst>
              <a:ext uri="{FF2B5EF4-FFF2-40B4-BE49-F238E27FC236}">
                <a16:creationId xmlns:a16="http://schemas.microsoft.com/office/drawing/2014/main" id="{71AF340F-90A6-426D-B637-64AB502FF0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213" y="1795463"/>
          <a:ext cx="1814512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667372" imgH="1743437" progId="Excel.Sheet.8">
                  <p:embed/>
                </p:oleObj>
              </mc:Choice>
              <mc:Fallback>
                <p:oleObj name="Worksheet" r:id="rId3" imgW="1667372" imgH="1743437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1795463"/>
                        <a:ext cx="1814512" cy="162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Text Box 4">
            <a:extLst>
              <a:ext uri="{FF2B5EF4-FFF2-40B4-BE49-F238E27FC236}">
                <a16:creationId xmlns:a16="http://schemas.microsoft.com/office/drawing/2014/main" id="{F957D6C7-2841-4832-8D66-72CFBD3BF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389063"/>
            <a:ext cx="159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Database D</a:t>
            </a:r>
          </a:p>
        </p:txBody>
      </p:sp>
      <p:graphicFrame>
        <p:nvGraphicFramePr>
          <p:cNvPr id="30726" name="Object 5">
            <a:extLst>
              <a:ext uri="{FF2B5EF4-FFF2-40B4-BE49-F238E27FC236}">
                <a16:creationId xmlns:a16="http://schemas.microsoft.com/office/drawing/2014/main" id="{D0F4EA0C-315C-4BD2-A380-8EE6CCD789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2313" y="1468438"/>
          <a:ext cx="1824037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619701" imgH="2086337" progId="Excel.Sheet.8">
                  <p:embed/>
                </p:oleObj>
              </mc:Choice>
              <mc:Fallback>
                <p:oleObj name="Worksheet" r:id="rId5" imgW="1619701" imgH="2086337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1468438"/>
                        <a:ext cx="1824037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6">
            <a:extLst>
              <a:ext uri="{FF2B5EF4-FFF2-40B4-BE49-F238E27FC236}">
                <a16:creationId xmlns:a16="http://schemas.microsoft.com/office/drawing/2014/main" id="{646FA73D-21AC-4CB5-AB80-D094D487AC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4850" y="1560513"/>
          <a:ext cx="2046288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619701" imgH="1743437" progId="Excel.Sheet.8">
                  <p:embed/>
                </p:oleObj>
              </mc:Choice>
              <mc:Fallback>
                <p:oleObj name="Worksheet" r:id="rId7" imgW="1619701" imgH="1743437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1560513"/>
                        <a:ext cx="2046288" cy="166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Text Box 7">
            <a:extLst>
              <a:ext uri="{FF2B5EF4-FFF2-40B4-BE49-F238E27FC236}">
                <a16:creationId xmlns:a16="http://schemas.microsoft.com/office/drawing/2014/main" id="{3DBE1349-B6D1-415E-962A-687C19396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225" y="2273300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30729" name="Line 8">
            <a:extLst>
              <a:ext uri="{FF2B5EF4-FFF2-40B4-BE49-F238E27FC236}">
                <a16:creationId xmlns:a16="http://schemas.microsoft.com/office/drawing/2014/main" id="{7F75B0E8-8ECC-4076-885F-C899824BF1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113" y="2719388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30" name="Text Box 9">
            <a:extLst>
              <a:ext uri="{FF2B5EF4-FFF2-40B4-BE49-F238E27FC236}">
                <a16:creationId xmlns:a16="http://schemas.microsoft.com/office/drawing/2014/main" id="{DCEC5A0A-51C1-41D7-8A4D-EC8FF419F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7208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0731" name="Text Box 10">
            <a:extLst>
              <a:ext uri="{FF2B5EF4-FFF2-40B4-BE49-F238E27FC236}">
                <a16:creationId xmlns:a16="http://schemas.microsoft.com/office/drawing/2014/main" id="{AE9D7867-31C1-497B-9DF0-A1380D959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700" y="156368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30732" name="Object 11">
            <a:extLst>
              <a:ext uri="{FF2B5EF4-FFF2-40B4-BE49-F238E27FC236}">
                <a16:creationId xmlns:a16="http://schemas.microsoft.com/office/drawing/2014/main" id="{39D74D87-A9B7-4B01-A2B9-CB5CAE5DFA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0350" y="3381375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990735" imgH="2428944" progId="Excel.Sheet.8">
                  <p:embed/>
                </p:oleObj>
              </mc:Choice>
              <mc:Fallback>
                <p:oleObj name="Worksheet" r:id="rId9" imgW="990735" imgH="2428944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350" y="3381375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12">
            <a:extLst>
              <a:ext uri="{FF2B5EF4-FFF2-40B4-BE49-F238E27FC236}">
                <a16:creationId xmlns:a16="http://schemas.microsoft.com/office/drawing/2014/main" id="{DCADEC17-EDD9-41CA-B93E-770889B842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492500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1" imgW="1581421" imgH="2429237" progId="Excel.Sheet.8">
                  <p:embed/>
                </p:oleObj>
              </mc:Choice>
              <mc:Fallback>
                <p:oleObj name="Worksheet" r:id="rId11" imgW="1581421" imgH="2429237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92500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13">
            <a:extLst>
              <a:ext uri="{FF2B5EF4-FFF2-40B4-BE49-F238E27FC236}">
                <a16:creationId xmlns:a16="http://schemas.microsoft.com/office/drawing/2014/main" id="{ED9FD310-F4EA-4658-B7C6-1AA566A175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2800" y="3756025"/>
          <a:ext cx="1717675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1581421" imgH="1743437" progId="Excel.Sheet.8">
                  <p:embed/>
                </p:oleObj>
              </mc:Choice>
              <mc:Fallback>
                <p:oleObj name="Worksheet" r:id="rId13" imgW="1581421" imgH="1743437" progId="Excel.Shee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3756025"/>
                        <a:ext cx="1717675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5" name="Text Box 14">
            <a:extLst>
              <a:ext uri="{FF2B5EF4-FFF2-40B4-BE49-F238E27FC236}">
                <a16:creationId xmlns:a16="http://schemas.microsoft.com/office/drawing/2014/main" id="{50FAB5EC-701E-4FCB-B0BE-E871A7483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372903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0736" name="Text Box 15">
            <a:extLst>
              <a:ext uri="{FF2B5EF4-FFF2-40B4-BE49-F238E27FC236}">
                <a16:creationId xmlns:a16="http://schemas.microsoft.com/office/drawing/2014/main" id="{63BA1BF6-F550-413D-9702-448FAB9C1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913" y="3332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0737" name="Text Box 16">
            <a:extLst>
              <a:ext uri="{FF2B5EF4-FFF2-40B4-BE49-F238E27FC236}">
                <a16:creationId xmlns:a16="http://schemas.microsoft.com/office/drawing/2014/main" id="{92F14DFB-7F73-473E-9A77-59AAC8658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5" y="3382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0738" name="Line 17">
            <a:extLst>
              <a:ext uri="{FF2B5EF4-FFF2-40B4-BE49-F238E27FC236}">
                <a16:creationId xmlns:a16="http://schemas.microsoft.com/office/drawing/2014/main" id="{00EC841B-F93E-4E6B-9F7F-B7EE234799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7625" y="4252913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39" name="Text Box 18">
            <a:extLst>
              <a:ext uri="{FF2B5EF4-FFF2-40B4-BE49-F238E27FC236}">
                <a16:creationId xmlns:a16="http://schemas.microsoft.com/office/drawing/2014/main" id="{CD41AA75-A031-4177-8010-D76C80CB4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751263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30740" name="AutoShape 19">
            <a:extLst>
              <a:ext uri="{FF2B5EF4-FFF2-40B4-BE49-F238E27FC236}">
                <a16:creationId xmlns:a16="http://schemas.microsoft.com/office/drawing/2014/main" id="{723269ED-B9F7-498E-B2A8-B91D056B8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070225"/>
            <a:ext cx="627063" cy="855663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1" name="Line 20">
            <a:extLst>
              <a:ext uri="{FF2B5EF4-FFF2-40B4-BE49-F238E27FC236}">
                <a16:creationId xmlns:a16="http://schemas.microsoft.com/office/drawing/2014/main" id="{A554B706-BE2B-4D47-9939-3D7EC13A3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5238" y="6299200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42" name="Text Box 21">
            <a:extLst>
              <a:ext uri="{FF2B5EF4-FFF2-40B4-BE49-F238E27FC236}">
                <a16:creationId xmlns:a16="http://schemas.microsoft.com/office/drawing/2014/main" id="{B7C281EB-C47C-4D7A-88A7-5FCF7586D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58023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0743" name="Text Box 22">
            <a:extLst>
              <a:ext uri="{FF2B5EF4-FFF2-40B4-BE49-F238E27FC236}">
                <a16:creationId xmlns:a16="http://schemas.microsoft.com/office/drawing/2014/main" id="{8FEA558F-F788-484F-B8C3-103142010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791200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30744" name="Object 23">
            <a:extLst>
              <a:ext uri="{FF2B5EF4-FFF2-40B4-BE49-F238E27FC236}">
                <a16:creationId xmlns:a16="http://schemas.microsoft.com/office/drawing/2014/main" id="{509AE962-D673-4A22-A79E-54BA2D5945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6813" y="5845175"/>
          <a:ext cx="112553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990961" imgH="714737" progId="Excel.Sheet.8">
                  <p:embed/>
                </p:oleObj>
              </mc:Choice>
              <mc:Fallback>
                <p:oleObj name="Worksheet" r:id="rId15" imgW="990961" imgH="714737" progId="Excel.Shee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5845175"/>
                        <a:ext cx="1125537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5" name="Text Box 24">
            <a:extLst>
              <a:ext uri="{FF2B5EF4-FFF2-40B4-BE49-F238E27FC236}">
                <a16:creationId xmlns:a16="http://schemas.microsoft.com/office/drawing/2014/main" id="{5D05DEA8-B821-4299-8060-C0500426E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8" y="588168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graphicFrame>
        <p:nvGraphicFramePr>
          <p:cNvPr id="30746" name="Object 25">
            <a:extLst>
              <a:ext uri="{FF2B5EF4-FFF2-40B4-BE49-F238E27FC236}">
                <a16:creationId xmlns:a16="http://schemas.microsoft.com/office/drawing/2014/main" id="{5E3A4E33-8F91-4CEB-997F-B7AAE4DFBB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8825" y="5835650"/>
          <a:ext cx="17541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7" imgW="1581421" imgH="705332" progId="Excel.Sheet.8">
                  <p:embed/>
                </p:oleObj>
              </mc:Choice>
              <mc:Fallback>
                <p:oleObj name="Worksheet" r:id="rId17" imgW="1581421" imgH="705332" progId="Excel.Shee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5835650"/>
                        <a:ext cx="17541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7" name="AutoShape 26">
            <a:extLst>
              <a:ext uri="{FF2B5EF4-FFF2-40B4-BE49-F238E27FC236}">
                <a16:creationId xmlns:a16="http://schemas.microsoft.com/office/drawing/2014/main" id="{E831EB60-C392-4D14-BF3E-59BDB2A6E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3" y="4846638"/>
            <a:ext cx="441325" cy="1249362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748" name="Line 27">
            <a:extLst>
              <a:ext uri="{FF2B5EF4-FFF2-40B4-BE49-F238E27FC236}">
                <a16:creationId xmlns:a16="http://schemas.microsoft.com/office/drawing/2014/main" id="{F24B28B3-8DAF-4855-BB34-FBB4AE8619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438400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49" name="Line 28">
            <a:extLst>
              <a:ext uri="{FF2B5EF4-FFF2-40B4-BE49-F238E27FC236}">
                <a16:creationId xmlns:a16="http://schemas.microsoft.com/office/drawing/2014/main" id="{A6C37F5F-8895-4B5A-BECE-04EC096B85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46482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50" name="Text Box 29">
            <a:extLst>
              <a:ext uri="{FF2B5EF4-FFF2-40B4-BE49-F238E27FC236}">
                <a16:creationId xmlns:a16="http://schemas.microsoft.com/office/drawing/2014/main" id="{AD2357C2-35F6-449F-8E20-B3DAFCC252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867400"/>
            <a:ext cx="24384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Constraint: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Sum{S.price} &lt; 5</a:t>
            </a:r>
          </a:p>
        </p:txBody>
      </p:sp>
      <p:grpSp>
        <p:nvGrpSpPr>
          <p:cNvPr id="30751" name="Group 30">
            <a:extLst>
              <a:ext uri="{FF2B5EF4-FFF2-40B4-BE49-F238E27FC236}">
                <a16:creationId xmlns:a16="http://schemas.microsoft.com/office/drawing/2014/main" id="{10BCA8BF-74DC-433F-9CB7-63F2B36CE8F0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971800"/>
            <a:ext cx="1524000" cy="152400"/>
            <a:chOff x="2160" y="2016"/>
            <a:chExt cx="960" cy="96"/>
          </a:xfrm>
        </p:grpSpPr>
        <p:sp>
          <p:nvSpPr>
            <p:cNvPr id="30788" name="Line 31">
              <a:extLst>
                <a:ext uri="{FF2B5EF4-FFF2-40B4-BE49-F238E27FC236}">
                  <a16:creationId xmlns:a16="http://schemas.microsoft.com/office/drawing/2014/main" id="{0EFBF80C-69EC-4A4A-A737-1992F59F5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89" name="Line 32">
              <a:extLst>
                <a:ext uri="{FF2B5EF4-FFF2-40B4-BE49-F238E27FC236}">
                  <a16:creationId xmlns:a16="http://schemas.microsoft.com/office/drawing/2014/main" id="{43512625-30BD-41B7-AA1A-423782733A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752" name="Group 33">
            <a:extLst>
              <a:ext uri="{FF2B5EF4-FFF2-40B4-BE49-F238E27FC236}">
                <a16:creationId xmlns:a16="http://schemas.microsoft.com/office/drawing/2014/main" id="{171BD5FB-5EFA-4408-AE3C-B455C06F682B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572000"/>
            <a:ext cx="1524000" cy="152400"/>
            <a:chOff x="2160" y="2016"/>
            <a:chExt cx="960" cy="96"/>
          </a:xfrm>
        </p:grpSpPr>
        <p:sp>
          <p:nvSpPr>
            <p:cNvPr id="30786" name="Line 34">
              <a:extLst>
                <a:ext uri="{FF2B5EF4-FFF2-40B4-BE49-F238E27FC236}">
                  <a16:creationId xmlns:a16="http://schemas.microsoft.com/office/drawing/2014/main" id="{C60FB8AE-DA61-433E-8CC4-2CC5E500F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87" name="Line 35">
              <a:extLst>
                <a:ext uri="{FF2B5EF4-FFF2-40B4-BE49-F238E27FC236}">
                  <a16:creationId xmlns:a16="http://schemas.microsoft.com/office/drawing/2014/main" id="{589A24C2-B68E-4CA5-99CE-06B951E85F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753" name="Group 36">
            <a:extLst>
              <a:ext uri="{FF2B5EF4-FFF2-40B4-BE49-F238E27FC236}">
                <a16:creationId xmlns:a16="http://schemas.microsoft.com/office/drawing/2014/main" id="{08F5D36C-CB47-485F-A921-AAD13E984ECA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953000"/>
            <a:ext cx="1524000" cy="152400"/>
            <a:chOff x="2160" y="2016"/>
            <a:chExt cx="960" cy="96"/>
          </a:xfrm>
        </p:grpSpPr>
        <p:sp>
          <p:nvSpPr>
            <p:cNvPr id="30784" name="Line 37">
              <a:extLst>
                <a:ext uri="{FF2B5EF4-FFF2-40B4-BE49-F238E27FC236}">
                  <a16:creationId xmlns:a16="http://schemas.microsoft.com/office/drawing/2014/main" id="{10E64F44-933F-4F45-871F-07A0AC762A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85" name="Line 38">
              <a:extLst>
                <a:ext uri="{FF2B5EF4-FFF2-40B4-BE49-F238E27FC236}">
                  <a16:creationId xmlns:a16="http://schemas.microsoft.com/office/drawing/2014/main" id="{847EC31C-790B-4434-A5AF-5476C40216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754" name="Group 39">
            <a:extLst>
              <a:ext uri="{FF2B5EF4-FFF2-40B4-BE49-F238E27FC236}">
                <a16:creationId xmlns:a16="http://schemas.microsoft.com/office/drawing/2014/main" id="{0F99B85B-35C2-47A7-AF61-6CC676772E9D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5257800"/>
            <a:ext cx="1524000" cy="152400"/>
            <a:chOff x="2160" y="2016"/>
            <a:chExt cx="960" cy="96"/>
          </a:xfrm>
        </p:grpSpPr>
        <p:sp>
          <p:nvSpPr>
            <p:cNvPr id="30782" name="Line 40">
              <a:extLst>
                <a:ext uri="{FF2B5EF4-FFF2-40B4-BE49-F238E27FC236}">
                  <a16:creationId xmlns:a16="http://schemas.microsoft.com/office/drawing/2014/main" id="{54735C43-BFEB-4E9B-81FD-53241D1DA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83" name="Line 41">
              <a:extLst>
                <a:ext uri="{FF2B5EF4-FFF2-40B4-BE49-F238E27FC236}">
                  <a16:creationId xmlns:a16="http://schemas.microsoft.com/office/drawing/2014/main" id="{C96A0CA5-6C55-41A1-AA6B-ADBF344CDA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755" name="Group 42">
            <a:extLst>
              <a:ext uri="{FF2B5EF4-FFF2-40B4-BE49-F238E27FC236}">
                <a16:creationId xmlns:a16="http://schemas.microsoft.com/office/drawing/2014/main" id="{1DE2F9DC-A820-4906-8FD2-B5B3DE455F9C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6400800"/>
            <a:ext cx="1524000" cy="152400"/>
            <a:chOff x="2160" y="2016"/>
            <a:chExt cx="960" cy="96"/>
          </a:xfrm>
        </p:grpSpPr>
        <p:sp>
          <p:nvSpPr>
            <p:cNvPr id="30780" name="Line 43">
              <a:extLst>
                <a:ext uri="{FF2B5EF4-FFF2-40B4-BE49-F238E27FC236}">
                  <a16:creationId xmlns:a16="http://schemas.microsoft.com/office/drawing/2014/main" id="{62243ED3-CA0F-4A48-A56B-614CE554D4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81" name="Line 44">
              <a:extLst>
                <a:ext uri="{FF2B5EF4-FFF2-40B4-BE49-F238E27FC236}">
                  <a16:creationId xmlns:a16="http://schemas.microsoft.com/office/drawing/2014/main" id="{FB3B3EA4-EE1F-4AFC-9F75-8E98179633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756" name="Group 30">
            <a:extLst>
              <a:ext uri="{FF2B5EF4-FFF2-40B4-BE49-F238E27FC236}">
                <a16:creationId xmlns:a16="http://schemas.microsoft.com/office/drawing/2014/main" id="{E0ABBCCD-81DB-45AE-8DF2-A5BF1CD092C5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4467225"/>
            <a:ext cx="990600" cy="257175"/>
            <a:chOff x="2160" y="2016"/>
            <a:chExt cx="960" cy="96"/>
          </a:xfrm>
        </p:grpSpPr>
        <p:sp>
          <p:nvSpPr>
            <p:cNvPr id="30778" name="Line 31">
              <a:extLst>
                <a:ext uri="{FF2B5EF4-FFF2-40B4-BE49-F238E27FC236}">
                  <a16:creationId xmlns:a16="http://schemas.microsoft.com/office/drawing/2014/main" id="{BF84B2B0-C13A-460C-8B27-3B199A7CA7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79" name="Line 32">
              <a:extLst>
                <a:ext uri="{FF2B5EF4-FFF2-40B4-BE49-F238E27FC236}">
                  <a16:creationId xmlns:a16="http://schemas.microsoft.com/office/drawing/2014/main" id="{2ECADA61-9824-4DBE-A02E-232BE54F2C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757" name="Group 30">
            <a:extLst>
              <a:ext uri="{FF2B5EF4-FFF2-40B4-BE49-F238E27FC236}">
                <a16:creationId xmlns:a16="http://schemas.microsoft.com/office/drawing/2014/main" id="{C867D5A2-DC18-4E0E-85D9-C7EBE33DCEAA}"/>
              </a:ext>
            </a:extLst>
          </p:cNvPr>
          <p:cNvGrpSpPr>
            <a:grpSpLocks/>
          </p:cNvGrpSpPr>
          <p:nvPr/>
        </p:nvGrpSpPr>
        <p:grpSpPr bwMode="auto">
          <a:xfrm>
            <a:off x="6657975" y="5105400"/>
            <a:ext cx="990600" cy="257175"/>
            <a:chOff x="2160" y="2016"/>
            <a:chExt cx="960" cy="96"/>
          </a:xfrm>
        </p:grpSpPr>
        <p:sp>
          <p:nvSpPr>
            <p:cNvPr id="30776" name="Line 31">
              <a:extLst>
                <a:ext uri="{FF2B5EF4-FFF2-40B4-BE49-F238E27FC236}">
                  <a16:creationId xmlns:a16="http://schemas.microsoft.com/office/drawing/2014/main" id="{C9766797-9795-4425-9955-1D6E0F7A1A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77" name="Line 32">
              <a:extLst>
                <a:ext uri="{FF2B5EF4-FFF2-40B4-BE49-F238E27FC236}">
                  <a16:creationId xmlns:a16="http://schemas.microsoft.com/office/drawing/2014/main" id="{FF3823F6-8ACD-473C-B513-53FC339C81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758" name="Group 30">
            <a:extLst>
              <a:ext uri="{FF2B5EF4-FFF2-40B4-BE49-F238E27FC236}">
                <a16:creationId xmlns:a16="http://schemas.microsoft.com/office/drawing/2014/main" id="{1CADE3BD-EFA7-4315-80D0-0E23F176D3EA}"/>
              </a:ext>
            </a:extLst>
          </p:cNvPr>
          <p:cNvGrpSpPr>
            <a:grpSpLocks/>
          </p:cNvGrpSpPr>
          <p:nvPr/>
        </p:nvGrpSpPr>
        <p:grpSpPr bwMode="auto">
          <a:xfrm>
            <a:off x="6753225" y="5410200"/>
            <a:ext cx="990600" cy="257175"/>
            <a:chOff x="2160" y="2016"/>
            <a:chExt cx="960" cy="96"/>
          </a:xfrm>
        </p:grpSpPr>
        <p:sp>
          <p:nvSpPr>
            <p:cNvPr id="30774" name="Line 31">
              <a:extLst>
                <a:ext uri="{FF2B5EF4-FFF2-40B4-BE49-F238E27FC236}">
                  <a16:creationId xmlns:a16="http://schemas.microsoft.com/office/drawing/2014/main" id="{FC38D386-D70A-4592-BAEB-C69384A00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75" name="Line 32">
              <a:extLst>
                <a:ext uri="{FF2B5EF4-FFF2-40B4-BE49-F238E27FC236}">
                  <a16:creationId xmlns:a16="http://schemas.microsoft.com/office/drawing/2014/main" id="{84FE7516-945C-4224-B9D3-2591E747C1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759" name="Group 33">
            <a:extLst>
              <a:ext uri="{FF2B5EF4-FFF2-40B4-BE49-F238E27FC236}">
                <a16:creationId xmlns:a16="http://schemas.microsoft.com/office/drawing/2014/main" id="{A2C813A0-7F43-4EA3-A582-600E9E3DF6EF}"/>
              </a:ext>
            </a:extLst>
          </p:cNvPr>
          <p:cNvGrpSpPr>
            <a:grpSpLocks/>
          </p:cNvGrpSpPr>
          <p:nvPr/>
        </p:nvGrpSpPr>
        <p:grpSpPr bwMode="auto">
          <a:xfrm>
            <a:off x="3268663" y="4519613"/>
            <a:ext cx="1524000" cy="152400"/>
            <a:chOff x="2160" y="2016"/>
            <a:chExt cx="960" cy="96"/>
          </a:xfrm>
        </p:grpSpPr>
        <p:sp>
          <p:nvSpPr>
            <p:cNvPr id="30772" name="Line 34">
              <a:extLst>
                <a:ext uri="{FF2B5EF4-FFF2-40B4-BE49-F238E27FC236}">
                  <a16:creationId xmlns:a16="http://schemas.microsoft.com/office/drawing/2014/main" id="{3B350EB7-70B4-47AB-BC43-6DAF0674E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73" name="Line 35">
              <a:extLst>
                <a:ext uri="{FF2B5EF4-FFF2-40B4-BE49-F238E27FC236}">
                  <a16:creationId xmlns:a16="http://schemas.microsoft.com/office/drawing/2014/main" id="{68E0F189-BB39-418A-9830-D428BB1AEA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760" name="Group 33">
            <a:extLst>
              <a:ext uri="{FF2B5EF4-FFF2-40B4-BE49-F238E27FC236}">
                <a16:creationId xmlns:a16="http://schemas.microsoft.com/office/drawing/2014/main" id="{D7E0EC63-1DFC-4779-AA64-B652C6139C90}"/>
              </a:ext>
            </a:extLst>
          </p:cNvPr>
          <p:cNvGrpSpPr>
            <a:grpSpLocks/>
          </p:cNvGrpSpPr>
          <p:nvPr/>
        </p:nvGrpSpPr>
        <p:grpSpPr bwMode="auto">
          <a:xfrm>
            <a:off x="3246438" y="5181600"/>
            <a:ext cx="1524000" cy="152400"/>
            <a:chOff x="2160" y="2016"/>
            <a:chExt cx="960" cy="96"/>
          </a:xfrm>
        </p:grpSpPr>
        <p:sp>
          <p:nvSpPr>
            <p:cNvPr id="30770" name="Line 34">
              <a:extLst>
                <a:ext uri="{FF2B5EF4-FFF2-40B4-BE49-F238E27FC236}">
                  <a16:creationId xmlns:a16="http://schemas.microsoft.com/office/drawing/2014/main" id="{9C66C42B-BFA7-47FF-9649-3ACAEC6C9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71" name="Line 35">
              <a:extLst>
                <a:ext uri="{FF2B5EF4-FFF2-40B4-BE49-F238E27FC236}">
                  <a16:creationId xmlns:a16="http://schemas.microsoft.com/office/drawing/2014/main" id="{0ABE28B6-EBF8-41C2-97E1-2369B36DCE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761" name="Group 33">
            <a:extLst>
              <a:ext uri="{FF2B5EF4-FFF2-40B4-BE49-F238E27FC236}">
                <a16:creationId xmlns:a16="http://schemas.microsoft.com/office/drawing/2014/main" id="{70CC5C0F-E43F-4970-B7A1-AF5E1A0E1A3E}"/>
              </a:ext>
            </a:extLst>
          </p:cNvPr>
          <p:cNvGrpSpPr>
            <a:grpSpLocks/>
          </p:cNvGrpSpPr>
          <p:nvPr/>
        </p:nvGrpSpPr>
        <p:grpSpPr bwMode="auto">
          <a:xfrm>
            <a:off x="3371850" y="5494338"/>
            <a:ext cx="1524000" cy="152400"/>
            <a:chOff x="2160" y="2016"/>
            <a:chExt cx="960" cy="96"/>
          </a:xfrm>
        </p:grpSpPr>
        <p:sp>
          <p:nvSpPr>
            <p:cNvPr id="30768" name="Line 34">
              <a:extLst>
                <a:ext uri="{FF2B5EF4-FFF2-40B4-BE49-F238E27FC236}">
                  <a16:creationId xmlns:a16="http://schemas.microsoft.com/office/drawing/2014/main" id="{7DC7AC68-D6E3-4F8F-8FCF-D1A89674F8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69" name="Line 35">
              <a:extLst>
                <a:ext uri="{FF2B5EF4-FFF2-40B4-BE49-F238E27FC236}">
                  <a16:creationId xmlns:a16="http://schemas.microsoft.com/office/drawing/2014/main" id="{AA0AA0D9-DE84-4276-9291-9D3F981389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762" name="Group 33">
            <a:extLst>
              <a:ext uri="{FF2B5EF4-FFF2-40B4-BE49-F238E27FC236}">
                <a16:creationId xmlns:a16="http://schemas.microsoft.com/office/drawing/2014/main" id="{F71ECD6D-1953-4A3E-880B-BEB96B71BB0D}"/>
              </a:ext>
            </a:extLst>
          </p:cNvPr>
          <p:cNvGrpSpPr>
            <a:grpSpLocks/>
          </p:cNvGrpSpPr>
          <p:nvPr/>
        </p:nvGrpSpPr>
        <p:grpSpPr bwMode="auto">
          <a:xfrm>
            <a:off x="1216025" y="6321425"/>
            <a:ext cx="960438" cy="231775"/>
            <a:chOff x="2160" y="2016"/>
            <a:chExt cx="960" cy="96"/>
          </a:xfrm>
        </p:grpSpPr>
        <p:sp>
          <p:nvSpPr>
            <p:cNvPr id="30766" name="Line 34">
              <a:extLst>
                <a:ext uri="{FF2B5EF4-FFF2-40B4-BE49-F238E27FC236}">
                  <a16:creationId xmlns:a16="http://schemas.microsoft.com/office/drawing/2014/main" id="{529BE845-1FA2-47D7-A33D-5CDC89AEC3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67" name="Line 35">
              <a:extLst>
                <a:ext uri="{FF2B5EF4-FFF2-40B4-BE49-F238E27FC236}">
                  <a16:creationId xmlns:a16="http://schemas.microsoft.com/office/drawing/2014/main" id="{26ECD8BE-56BE-4CD7-9829-CBA3741895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0763" name="Group 33">
            <a:extLst>
              <a:ext uri="{FF2B5EF4-FFF2-40B4-BE49-F238E27FC236}">
                <a16:creationId xmlns:a16="http://schemas.microsoft.com/office/drawing/2014/main" id="{943B9F5F-6865-4EBF-897F-825A08DB94E2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4876800"/>
            <a:ext cx="1524000" cy="152400"/>
            <a:chOff x="2160" y="2016"/>
            <a:chExt cx="960" cy="96"/>
          </a:xfrm>
        </p:grpSpPr>
        <p:sp>
          <p:nvSpPr>
            <p:cNvPr id="30764" name="Line 34">
              <a:extLst>
                <a:ext uri="{FF2B5EF4-FFF2-40B4-BE49-F238E27FC236}">
                  <a16:creationId xmlns:a16="http://schemas.microsoft.com/office/drawing/2014/main" id="{E5837A14-FDCD-46F4-982E-9965B89BA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765" name="Line 35">
              <a:extLst>
                <a:ext uri="{FF2B5EF4-FFF2-40B4-BE49-F238E27FC236}">
                  <a16:creationId xmlns:a16="http://schemas.microsoft.com/office/drawing/2014/main" id="{C739DAD7-D826-4629-84D8-9F22CBF1B7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16"/>
              <a:ext cx="96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ransition spd="med"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AEA47136-D79C-404D-AD4F-8AAB3C697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4292A98-779B-44D0-85B6-CE48BC3B0B12}" type="slidenum">
              <a:rPr lang="en-US" altLang="en-US" sz="1200"/>
              <a:pPr eaLnBrk="1" hangingPunct="1"/>
              <a:t>28</a:t>
            </a:fld>
            <a:endParaRPr lang="en-US" altLang="en-US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789CA34C-34C9-49AE-9020-C0B598C77E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en-US" sz="3200"/>
              <a:t>Constrained Apriori : Push a Succinct Constraint Deep</a:t>
            </a:r>
            <a:r>
              <a:rPr lang="en-US" altLang="en-US"/>
              <a:t> </a:t>
            </a:r>
          </a:p>
        </p:txBody>
      </p:sp>
      <p:graphicFrame>
        <p:nvGraphicFramePr>
          <p:cNvPr id="31748" name="Object 3">
            <a:extLst>
              <a:ext uri="{FF2B5EF4-FFF2-40B4-BE49-F238E27FC236}">
                <a16:creationId xmlns:a16="http://schemas.microsoft.com/office/drawing/2014/main" id="{C8536A73-D5F1-4F01-AEC4-A03385729A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213" y="1795463"/>
          <a:ext cx="1814512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667372" imgH="1743437" progId="Excel.Sheet.8">
                  <p:embed/>
                </p:oleObj>
              </mc:Choice>
              <mc:Fallback>
                <p:oleObj name="Worksheet" r:id="rId3" imgW="1667372" imgH="1743437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1795463"/>
                        <a:ext cx="1814512" cy="162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4">
            <a:extLst>
              <a:ext uri="{FF2B5EF4-FFF2-40B4-BE49-F238E27FC236}">
                <a16:creationId xmlns:a16="http://schemas.microsoft.com/office/drawing/2014/main" id="{93DE8718-24B6-4BD8-86AA-47177FA5B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" y="1389063"/>
            <a:ext cx="159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Database D</a:t>
            </a:r>
          </a:p>
        </p:txBody>
      </p:sp>
      <p:graphicFrame>
        <p:nvGraphicFramePr>
          <p:cNvPr id="31750" name="Object 5">
            <a:extLst>
              <a:ext uri="{FF2B5EF4-FFF2-40B4-BE49-F238E27FC236}">
                <a16:creationId xmlns:a16="http://schemas.microsoft.com/office/drawing/2014/main" id="{BF2F2DA8-A979-487C-B348-B6847B891B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2313" y="1468438"/>
          <a:ext cx="1824037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619701" imgH="2086337" progId="Excel.Sheet.8">
                  <p:embed/>
                </p:oleObj>
              </mc:Choice>
              <mc:Fallback>
                <p:oleObj name="Worksheet" r:id="rId5" imgW="1619701" imgH="2086337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1468438"/>
                        <a:ext cx="1824037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6">
            <a:extLst>
              <a:ext uri="{FF2B5EF4-FFF2-40B4-BE49-F238E27FC236}">
                <a16:creationId xmlns:a16="http://schemas.microsoft.com/office/drawing/2014/main" id="{FFAAA2B8-EAC2-49D8-AEBD-5D81204BA3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4850" y="1560513"/>
          <a:ext cx="2046288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619701" imgH="1743437" progId="Excel.Sheet.8">
                  <p:embed/>
                </p:oleObj>
              </mc:Choice>
              <mc:Fallback>
                <p:oleObj name="Worksheet" r:id="rId7" imgW="1619701" imgH="1743437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1560513"/>
                        <a:ext cx="2046288" cy="166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Text Box 7">
            <a:extLst>
              <a:ext uri="{FF2B5EF4-FFF2-40B4-BE49-F238E27FC236}">
                <a16:creationId xmlns:a16="http://schemas.microsoft.com/office/drawing/2014/main" id="{FE3F88E7-1834-4E42-BAC1-9C2A70FBE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1225" y="2273300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31753" name="Line 8">
            <a:extLst>
              <a:ext uri="{FF2B5EF4-FFF2-40B4-BE49-F238E27FC236}">
                <a16:creationId xmlns:a16="http://schemas.microsoft.com/office/drawing/2014/main" id="{9C3234AA-6A8D-4E00-90C1-FC1951C3A5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113" y="2719388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54" name="Text Box 9">
            <a:extLst>
              <a:ext uri="{FF2B5EF4-FFF2-40B4-BE49-F238E27FC236}">
                <a16:creationId xmlns:a16="http://schemas.microsoft.com/office/drawing/2014/main" id="{A9AD2077-7195-4A4A-8EE0-32CB68EC5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7208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1755" name="Text Box 10">
            <a:extLst>
              <a:ext uri="{FF2B5EF4-FFF2-40B4-BE49-F238E27FC236}">
                <a16:creationId xmlns:a16="http://schemas.microsoft.com/office/drawing/2014/main" id="{2EE38AC3-18CF-4B1F-9F6D-52BDEDB03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700" y="156368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31756" name="Object 11">
            <a:extLst>
              <a:ext uri="{FF2B5EF4-FFF2-40B4-BE49-F238E27FC236}">
                <a16:creationId xmlns:a16="http://schemas.microsoft.com/office/drawing/2014/main" id="{DB83663F-6579-4C22-8154-B7571D8645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3352800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990961" imgH="2429237" progId="Excel.Sheet.8">
                  <p:embed/>
                </p:oleObj>
              </mc:Choice>
              <mc:Fallback>
                <p:oleObj name="Worksheet" r:id="rId9" imgW="990961" imgH="2429237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352800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12">
            <a:extLst>
              <a:ext uri="{FF2B5EF4-FFF2-40B4-BE49-F238E27FC236}">
                <a16:creationId xmlns:a16="http://schemas.microsoft.com/office/drawing/2014/main" id="{3086B345-A105-484A-BD80-CDD94C6CDF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492500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1" imgW="1581421" imgH="2429237" progId="Excel.Sheet.8">
                  <p:embed/>
                </p:oleObj>
              </mc:Choice>
              <mc:Fallback>
                <p:oleObj name="Worksheet" r:id="rId11" imgW="1581421" imgH="2429237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92500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8" name="Object 13">
            <a:extLst>
              <a:ext uri="{FF2B5EF4-FFF2-40B4-BE49-F238E27FC236}">
                <a16:creationId xmlns:a16="http://schemas.microsoft.com/office/drawing/2014/main" id="{F7FF0636-AB86-40A1-A22F-30833CB14D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2800" y="3756025"/>
          <a:ext cx="1717675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1581421" imgH="1743437" progId="Excel.Sheet.8">
                  <p:embed/>
                </p:oleObj>
              </mc:Choice>
              <mc:Fallback>
                <p:oleObj name="Worksheet" r:id="rId13" imgW="1581421" imgH="1743437" progId="Excel.Shee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3756025"/>
                        <a:ext cx="1717675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9" name="Text Box 14">
            <a:extLst>
              <a:ext uri="{FF2B5EF4-FFF2-40B4-BE49-F238E27FC236}">
                <a16:creationId xmlns:a16="http://schemas.microsoft.com/office/drawing/2014/main" id="{DBF3AC89-6DF9-4E95-BA3A-867176D75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372903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760" name="Text Box 15">
            <a:extLst>
              <a:ext uri="{FF2B5EF4-FFF2-40B4-BE49-F238E27FC236}">
                <a16:creationId xmlns:a16="http://schemas.microsoft.com/office/drawing/2014/main" id="{F8456C78-F998-45BB-AB26-3625D7BBE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913" y="3332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761" name="Text Box 16">
            <a:extLst>
              <a:ext uri="{FF2B5EF4-FFF2-40B4-BE49-F238E27FC236}">
                <a16:creationId xmlns:a16="http://schemas.microsoft.com/office/drawing/2014/main" id="{7D6C9B21-713A-4BFB-924D-372D2BE60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25" y="3382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1762" name="Line 17">
            <a:extLst>
              <a:ext uri="{FF2B5EF4-FFF2-40B4-BE49-F238E27FC236}">
                <a16:creationId xmlns:a16="http://schemas.microsoft.com/office/drawing/2014/main" id="{45A161AB-F0AC-4C0B-B856-BFC7BB24BD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7625" y="4252913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763" name="Text Box 18">
            <a:extLst>
              <a:ext uri="{FF2B5EF4-FFF2-40B4-BE49-F238E27FC236}">
                <a16:creationId xmlns:a16="http://schemas.microsoft.com/office/drawing/2014/main" id="{C11E13E9-7B81-44CC-AE06-299923F63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751263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sp>
        <p:nvSpPr>
          <p:cNvPr id="31764" name="AutoShape 19">
            <a:extLst>
              <a:ext uri="{FF2B5EF4-FFF2-40B4-BE49-F238E27FC236}">
                <a16:creationId xmlns:a16="http://schemas.microsoft.com/office/drawing/2014/main" id="{1B879C2D-4190-480A-BBF5-91E680506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1300" y="3070225"/>
            <a:ext cx="627063" cy="855663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65" name="Line 20">
            <a:extLst>
              <a:ext uri="{FF2B5EF4-FFF2-40B4-BE49-F238E27FC236}">
                <a16:creationId xmlns:a16="http://schemas.microsoft.com/office/drawing/2014/main" id="{2338A174-8A55-4C63-859C-0F83AE5B94C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5238" y="6299200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766" name="Text Box 21">
            <a:extLst>
              <a:ext uri="{FF2B5EF4-FFF2-40B4-BE49-F238E27FC236}">
                <a16:creationId xmlns:a16="http://schemas.microsoft.com/office/drawing/2014/main" id="{E3DCE1CB-E171-42FA-811B-7B71D810E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58023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C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1767" name="Text Box 22">
            <a:extLst>
              <a:ext uri="{FF2B5EF4-FFF2-40B4-BE49-F238E27FC236}">
                <a16:creationId xmlns:a16="http://schemas.microsoft.com/office/drawing/2014/main" id="{10D33EF9-067B-4BF8-8F54-0EB5CE29B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791200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i="1">
                <a:latin typeface="Times New Roman" panose="02020603050405020304" pitchFamily="18" charset="0"/>
              </a:rPr>
              <a:t>L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31768" name="Object 23">
            <a:extLst>
              <a:ext uri="{FF2B5EF4-FFF2-40B4-BE49-F238E27FC236}">
                <a16:creationId xmlns:a16="http://schemas.microsoft.com/office/drawing/2014/main" id="{459DCEB9-3E46-4114-A8E9-478E14CAF6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6813" y="5845175"/>
          <a:ext cx="112553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990961" imgH="714737" progId="Excel.Sheet.8">
                  <p:embed/>
                </p:oleObj>
              </mc:Choice>
              <mc:Fallback>
                <p:oleObj name="Worksheet" r:id="rId15" imgW="990961" imgH="714737" progId="Excel.Shee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5845175"/>
                        <a:ext cx="1125537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9" name="Text Box 24">
            <a:extLst>
              <a:ext uri="{FF2B5EF4-FFF2-40B4-BE49-F238E27FC236}">
                <a16:creationId xmlns:a16="http://schemas.microsoft.com/office/drawing/2014/main" id="{B825D119-492C-429D-8716-3E0721253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088" y="588168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>
                <a:latin typeface="Times New Roman" panose="02020603050405020304" pitchFamily="18" charset="0"/>
              </a:rPr>
              <a:t>Scan D</a:t>
            </a:r>
          </a:p>
        </p:txBody>
      </p:sp>
      <p:graphicFrame>
        <p:nvGraphicFramePr>
          <p:cNvPr id="31770" name="Object 25">
            <a:extLst>
              <a:ext uri="{FF2B5EF4-FFF2-40B4-BE49-F238E27FC236}">
                <a16:creationId xmlns:a16="http://schemas.microsoft.com/office/drawing/2014/main" id="{64831888-003E-45F2-AE6F-BC504787F2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8825" y="5835650"/>
          <a:ext cx="17541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7" imgW="1581421" imgH="705332" progId="Excel.Sheet.8">
                  <p:embed/>
                </p:oleObj>
              </mc:Choice>
              <mc:Fallback>
                <p:oleObj name="Worksheet" r:id="rId17" imgW="1581421" imgH="705332" progId="Excel.Shee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5835650"/>
                        <a:ext cx="17541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1" name="AutoShape 26">
            <a:extLst>
              <a:ext uri="{FF2B5EF4-FFF2-40B4-BE49-F238E27FC236}">
                <a16:creationId xmlns:a16="http://schemas.microsoft.com/office/drawing/2014/main" id="{B8035B59-611E-4C7F-B73E-C33542AF3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3" y="4846638"/>
            <a:ext cx="441325" cy="1249362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72" name="Line 27">
            <a:extLst>
              <a:ext uri="{FF2B5EF4-FFF2-40B4-BE49-F238E27FC236}">
                <a16:creationId xmlns:a16="http://schemas.microsoft.com/office/drawing/2014/main" id="{ABEAA0F3-64CA-45EE-A261-211A1AC350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438400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73" name="Line 28">
            <a:extLst>
              <a:ext uri="{FF2B5EF4-FFF2-40B4-BE49-F238E27FC236}">
                <a16:creationId xmlns:a16="http://schemas.microsoft.com/office/drawing/2014/main" id="{4B148599-4004-4799-997C-801D0321A2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46482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74" name="Text Box 29">
            <a:extLst>
              <a:ext uri="{FF2B5EF4-FFF2-40B4-BE49-F238E27FC236}">
                <a16:creationId xmlns:a16="http://schemas.microsoft.com/office/drawing/2014/main" id="{52806FFF-EEE3-4B4A-8EA1-99F739FD1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867400"/>
            <a:ext cx="24384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Constraint: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min{S.price } &lt;= 1</a:t>
            </a:r>
          </a:p>
        </p:txBody>
      </p:sp>
      <p:sp>
        <p:nvSpPr>
          <p:cNvPr id="31775" name="Line 30">
            <a:extLst>
              <a:ext uri="{FF2B5EF4-FFF2-40B4-BE49-F238E27FC236}">
                <a16:creationId xmlns:a16="http://schemas.microsoft.com/office/drawing/2014/main" id="{0586B525-B766-4263-B23B-4D2E5409D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5626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6" name="Line 31">
            <a:extLst>
              <a:ext uri="{FF2B5EF4-FFF2-40B4-BE49-F238E27FC236}">
                <a16:creationId xmlns:a16="http://schemas.microsoft.com/office/drawing/2014/main" id="{68DCB541-935A-45CE-B23D-187429EAC9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2578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7" name="Line 32">
            <a:extLst>
              <a:ext uri="{FF2B5EF4-FFF2-40B4-BE49-F238E27FC236}">
                <a16:creationId xmlns:a16="http://schemas.microsoft.com/office/drawing/2014/main" id="{7E638AB5-285E-4175-A310-637D533F01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9530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8" name="Line 33">
            <a:extLst>
              <a:ext uri="{FF2B5EF4-FFF2-40B4-BE49-F238E27FC236}">
                <a16:creationId xmlns:a16="http://schemas.microsoft.com/office/drawing/2014/main" id="{FCB38ED5-9BD2-4D07-AEB4-FC5C2C312B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6482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79" name="Line 34">
            <a:extLst>
              <a:ext uri="{FF2B5EF4-FFF2-40B4-BE49-F238E27FC236}">
                <a16:creationId xmlns:a16="http://schemas.microsoft.com/office/drawing/2014/main" id="{FD236C48-A60A-4EB0-B5EF-2AB8A79E7B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0292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80" name="Line 35">
            <a:extLst>
              <a:ext uri="{FF2B5EF4-FFF2-40B4-BE49-F238E27FC236}">
                <a16:creationId xmlns:a16="http://schemas.microsoft.com/office/drawing/2014/main" id="{835F9D69-1D61-4C66-A9FA-A431EF70E59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3340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81" name="Line 36">
            <a:extLst>
              <a:ext uri="{FF2B5EF4-FFF2-40B4-BE49-F238E27FC236}">
                <a16:creationId xmlns:a16="http://schemas.microsoft.com/office/drawing/2014/main" id="{630AEFFC-F437-4190-AE80-F6F421B93A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6400800"/>
            <a:ext cx="1600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82" name="Line 37">
            <a:extLst>
              <a:ext uri="{FF2B5EF4-FFF2-40B4-BE49-F238E27FC236}">
                <a16:creationId xmlns:a16="http://schemas.microsoft.com/office/drawing/2014/main" id="{AE1054EB-E614-49A3-9675-AF5E431DBE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6477000"/>
            <a:ext cx="7588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1783" name="Group 38">
            <a:extLst>
              <a:ext uri="{FF2B5EF4-FFF2-40B4-BE49-F238E27FC236}">
                <a16:creationId xmlns:a16="http://schemas.microsoft.com/office/drawing/2014/main" id="{889D3F2F-5EA0-4637-A1BE-847731334A6C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4800600"/>
            <a:ext cx="762000" cy="152400"/>
            <a:chOff x="4272" y="3024"/>
            <a:chExt cx="480" cy="96"/>
          </a:xfrm>
        </p:grpSpPr>
        <p:sp>
          <p:nvSpPr>
            <p:cNvPr id="31795" name="Line 39">
              <a:extLst>
                <a:ext uri="{FF2B5EF4-FFF2-40B4-BE49-F238E27FC236}">
                  <a16:creationId xmlns:a16="http://schemas.microsoft.com/office/drawing/2014/main" id="{B810BC29-3625-40BB-A05A-738F24B6FD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96" name="Line 40">
              <a:extLst>
                <a:ext uri="{FF2B5EF4-FFF2-40B4-BE49-F238E27FC236}">
                  <a16:creationId xmlns:a16="http://schemas.microsoft.com/office/drawing/2014/main" id="{F44D8263-FB17-45FF-9F85-7208362BEF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1784" name="Group 41">
            <a:extLst>
              <a:ext uri="{FF2B5EF4-FFF2-40B4-BE49-F238E27FC236}">
                <a16:creationId xmlns:a16="http://schemas.microsoft.com/office/drawing/2014/main" id="{B085FE39-96BD-4747-8553-2724F63F5944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5105400"/>
            <a:ext cx="762000" cy="152400"/>
            <a:chOff x="4272" y="3024"/>
            <a:chExt cx="480" cy="96"/>
          </a:xfrm>
        </p:grpSpPr>
        <p:sp>
          <p:nvSpPr>
            <p:cNvPr id="31793" name="Line 42">
              <a:extLst>
                <a:ext uri="{FF2B5EF4-FFF2-40B4-BE49-F238E27FC236}">
                  <a16:creationId xmlns:a16="http://schemas.microsoft.com/office/drawing/2014/main" id="{6E765206-4075-49C8-926F-5CF45770B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94" name="Line 43">
              <a:extLst>
                <a:ext uri="{FF2B5EF4-FFF2-40B4-BE49-F238E27FC236}">
                  <a16:creationId xmlns:a16="http://schemas.microsoft.com/office/drawing/2014/main" id="{D11DDBF8-78D9-43E4-AA6F-BDC6438055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1785" name="Group 44">
            <a:extLst>
              <a:ext uri="{FF2B5EF4-FFF2-40B4-BE49-F238E27FC236}">
                <a16:creationId xmlns:a16="http://schemas.microsoft.com/office/drawing/2014/main" id="{C3242C33-5D2B-476F-966F-2B0C78772E45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5486400"/>
            <a:ext cx="762000" cy="152400"/>
            <a:chOff x="4272" y="3024"/>
            <a:chExt cx="480" cy="96"/>
          </a:xfrm>
        </p:grpSpPr>
        <p:sp>
          <p:nvSpPr>
            <p:cNvPr id="31791" name="Line 45">
              <a:extLst>
                <a:ext uri="{FF2B5EF4-FFF2-40B4-BE49-F238E27FC236}">
                  <a16:creationId xmlns:a16="http://schemas.microsoft.com/office/drawing/2014/main" id="{B372303F-64C1-42F5-BACA-CBBB558B0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1792" name="Line 46">
              <a:extLst>
                <a:ext uri="{FF2B5EF4-FFF2-40B4-BE49-F238E27FC236}">
                  <a16:creationId xmlns:a16="http://schemas.microsoft.com/office/drawing/2014/main" id="{EDBE1DF3-3576-4741-9F44-F5EA062159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024"/>
              <a:ext cx="480" cy="96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1786" name="Rectangle 47">
            <a:extLst>
              <a:ext uri="{FF2B5EF4-FFF2-40B4-BE49-F238E27FC236}">
                <a16:creationId xmlns:a16="http://schemas.microsoft.com/office/drawing/2014/main" id="{A2FE567F-E3C7-481E-B566-2D2EAD53C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724400"/>
            <a:ext cx="914400" cy="914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87" name="Rectangle 48">
            <a:extLst>
              <a:ext uri="{FF2B5EF4-FFF2-40B4-BE49-F238E27FC236}">
                <a16:creationId xmlns:a16="http://schemas.microsoft.com/office/drawing/2014/main" id="{EDE21E78-4DAD-4D6F-B9F0-B7CA7917C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267200"/>
            <a:ext cx="1143000" cy="4572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788" name="Text Box 49">
            <a:extLst>
              <a:ext uri="{FF2B5EF4-FFF2-40B4-BE49-F238E27FC236}">
                <a16:creationId xmlns:a16="http://schemas.microsoft.com/office/drawing/2014/main" id="{9036A4DD-9395-4394-B8AF-081643914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1138" y="4267200"/>
            <a:ext cx="1312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200">
                <a:solidFill>
                  <a:schemeClr val="hlink"/>
                </a:solidFill>
              </a:rPr>
              <a:t>not immediately </a:t>
            </a:r>
          </a:p>
          <a:p>
            <a:pPr eaLnBrk="1" hangingPunct="1"/>
            <a:r>
              <a:rPr lang="en-US" altLang="en-US" sz="1200">
                <a:solidFill>
                  <a:schemeClr val="hlink"/>
                </a:solidFill>
              </a:rPr>
              <a:t>to be used</a:t>
            </a:r>
          </a:p>
        </p:txBody>
      </p:sp>
      <p:sp>
        <p:nvSpPr>
          <p:cNvPr id="31789" name="Line 50">
            <a:extLst>
              <a:ext uri="{FF2B5EF4-FFF2-40B4-BE49-F238E27FC236}">
                <a16:creationId xmlns:a16="http://schemas.microsoft.com/office/drawing/2014/main" id="{179331E9-1D23-4116-86F8-9274BC557A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0" y="4724400"/>
            <a:ext cx="685800" cy="3048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790" name="Rectangle 51">
            <a:extLst>
              <a:ext uri="{FF2B5EF4-FFF2-40B4-BE49-F238E27FC236}">
                <a16:creationId xmlns:a16="http://schemas.microsoft.com/office/drawing/2014/main" id="{2417125D-0B2A-44C2-BFD0-036B1B4E6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800600"/>
            <a:ext cx="1676400" cy="914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>
            <a:extLst>
              <a:ext uri="{FF2B5EF4-FFF2-40B4-BE49-F238E27FC236}">
                <a16:creationId xmlns:a16="http://schemas.microsoft.com/office/drawing/2014/main" id="{F80E1C0F-FEF8-4669-A0EC-3417CFCDC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4B72DEA-687D-475E-A3D6-E62F1756A88C}" type="slidenum">
              <a:rPr lang="en-US" altLang="en-US" sz="1200"/>
              <a:pPr eaLnBrk="1" hangingPunct="1"/>
              <a:t>29</a:t>
            </a:fld>
            <a:endParaRPr lang="en-US" altLang="en-US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CDFF6D1E-0AFB-4D01-B2B6-BF726D114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en-US" sz="3200"/>
              <a:t>Constrained FP-Growth: Push a Succinct Constraint Deep</a:t>
            </a:r>
            <a:r>
              <a:rPr lang="en-US" altLang="en-US"/>
              <a:t> </a:t>
            </a:r>
          </a:p>
        </p:txBody>
      </p:sp>
      <p:sp>
        <p:nvSpPr>
          <p:cNvPr id="32772" name="Text Box 29">
            <a:extLst>
              <a:ext uri="{FF2B5EF4-FFF2-40B4-BE49-F238E27FC236}">
                <a16:creationId xmlns:a16="http://schemas.microsoft.com/office/drawing/2014/main" id="{3E75F73A-1F2E-41EC-A019-F9F9E196D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867400"/>
            <a:ext cx="24384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Constraint: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min{S.price } &lt;= 1</a:t>
            </a:r>
          </a:p>
        </p:txBody>
      </p:sp>
      <p:graphicFrame>
        <p:nvGraphicFramePr>
          <p:cNvPr id="32773" name="Object 52">
            <a:extLst>
              <a:ext uri="{FF2B5EF4-FFF2-40B4-BE49-F238E27FC236}">
                <a16:creationId xmlns:a16="http://schemas.microsoft.com/office/drawing/2014/main" id="{0FF55AC8-B7CE-49A4-8D7D-A8994A5716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213" y="1795463"/>
          <a:ext cx="1814512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667372" imgH="1743437" progId="Excel.Sheet.8">
                  <p:embed/>
                </p:oleObj>
              </mc:Choice>
              <mc:Fallback>
                <p:oleObj name="Worksheet" r:id="rId3" imgW="1667372" imgH="1743437" progId="Excel.Sheet.8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1795463"/>
                        <a:ext cx="1814512" cy="162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53">
            <a:extLst>
              <a:ext uri="{FF2B5EF4-FFF2-40B4-BE49-F238E27FC236}">
                <a16:creationId xmlns:a16="http://schemas.microsoft.com/office/drawing/2014/main" id="{7092D878-C528-48D6-8740-3CC3C0F46D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1676400"/>
          <a:ext cx="1819275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666890" imgH="1742968" progId="Excel.Sheet.8">
                  <p:embed/>
                </p:oleObj>
              </mc:Choice>
              <mc:Fallback>
                <p:oleObj name="Worksheet" r:id="rId5" imgW="1666890" imgH="1742968" progId="Excel.Sheet.8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676400"/>
                        <a:ext cx="1819275" cy="188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5" name="Line 54">
            <a:extLst>
              <a:ext uri="{FF2B5EF4-FFF2-40B4-BE49-F238E27FC236}">
                <a16:creationId xmlns:a16="http://schemas.microsoft.com/office/drawing/2014/main" id="{739442E2-64A4-4665-A2FB-4790E329D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514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2776" name="Text Box 55">
            <a:extLst>
              <a:ext uri="{FF2B5EF4-FFF2-40B4-BE49-F238E27FC236}">
                <a16:creationId xmlns:a16="http://schemas.microsoft.com/office/drawing/2014/main" id="{952B50EC-C9C4-47DE-B421-C0D63A152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590800"/>
            <a:ext cx="1100138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/>
              <a:t>Remove </a:t>
            </a:r>
          </a:p>
          <a:p>
            <a:pPr eaLnBrk="1" hangingPunct="1"/>
            <a:r>
              <a:rPr lang="en-US" altLang="en-US" sz="1600"/>
              <a:t>infrequent</a:t>
            </a:r>
          </a:p>
          <a:p>
            <a:pPr eaLnBrk="1" hangingPunct="1"/>
            <a:r>
              <a:rPr lang="en-US" altLang="en-US" sz="1600"/>
              <a:t>length 1</a:t>
            </a:r>
          </a:p>
        </p:txBody>
      </p:sp>
      <p:sp>
        <p:nvSpPr>
          <p:cNvPr id="32777" name="AutoShape 59">
            <a:extLst>
              <a:ext uri="{FF2B5EF4-FFF2-40B4-BE49-F238E27FC236}">
                <a16:creationId xmlns:a16="http://schemas.microsoft.com/office/drawing/2014/main" id="{3B3EFB0C-A9B7-416A-9230-C376DC57C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676400"/>
            <a:ext cx="1752600" cy="1752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FP-Tree</a:t>
            </a:r>
          </a:p>
        </p:txBody>
      </p:sp>
      <p:sp>
        <p:nvSpPr>
          <p:cNvPr id="32778" name="Line 60">
            <a:extLst>
              <a:ext uri="{FF2B5EF4-FFF2-40B4-BE49-F238E27FC236}">
                <a16:creationId xmlns:a16="http://schemas.microsoft.com/office/drawing/2014/main" id="{88221441-04E2-4E2E-A2AB-C9FB86D041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514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32779" name="Object 61">
            <a:extLst>
              <a:ext uri="{FF2B5EF4-FFF2-40B4-BE49-F238E27FC236}">
                <a16:creationId xmlns:a16="http://schemas.microsoft.com/office/drawing/2014/main" id="{A1594CFF-FB9D-4F29-B472-2FC4B2D751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075" y="4843463"/>
          <a:ext cx="180022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1666890" imgH="1047862" progId="Excel.Sheet.8">
                  <p:embed/>
                </p:oleObj>
              </mc:Choice>
              <mc:Fallback>
                <p:oleObj name="Worksheet" r:id="rId7" imgW="1666890" imgH="1047862" progId="Excel.Sheet.8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" y="4843463"/>
                        <a:ext cx="180022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0" name="Text Box 62">
            <a:extLst>
              <a:ext uri="{FF2B5EF4-FFF2-40B4-BE49-F238E27FC236}">
                <a16:creationId xmlns:a16="http://schemas.microsoft.com/office/drawing/2014/main" id="{57080A6C-4F5D-4777-8B0B-C4F031533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191000"/>
            <a:ext cx="2203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1-Projected DB</a:t>
            </a:r>
          </a:p>
        </p:txBody>
      </p:sp>
      <p:sp>
        <p:nvSpPr>
          <p:cNvPr id="32781" name="Text Box 63">
            <a:extLst>
              <a:ext uri="{FF2B5EF4-FFF2-40B4-BE49-F238E27FC236}">
                <a16:creationId xmlns:a16="http://schemas.microsoft.com/office/drawing/2014/main" id="{CB83FFAA-B8BC-46E1-9812-5DD4F7A10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029200"/>
            <a:ext cx="4498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No Need to project on 2, 3, or 5</a:t>
            </a:r>
          </a:p>
        </p:txBody>
      </p:sp>
      <p:sp>
        <p:nvSpPr>
          <p:cNvPr id="32782" name="Freeform 69">
            <a:extLst>
              <a:ext uri="{FF2B5EF4-FFF2-40B4-BE49-F238E27FC236}">
                <a16:creationId xmlns:a16="http://schemas.microsoft.com/office/drawing/2014/main" id="{93F1ACD6-183C-4331-B105-F680DF0AFE17}"/>
              </a:ext>
            </a:extLst>
          </p:cNvPr>
          <p:cNvSpPr>
            <a:spLocks/>
          </p:cNvSpPr>
          <p:nvPr/>
        </p:nvSpPr>
        <p:spPr bwMode="auto">
          <a:xfrm>
            <a:off x="1295400" y="3505200"/>
            <a:ext cx="5943600" cy="685800"/>
          </a:xfrm>
          <a:custGeom>
            <a:avLst/>
            <a:gdLst>
              <a:gd name="T0" fmla="*/ 2147483647 w 3744"/>
              <a:gd name="T1" fmla="*/ 0 h 432"/>
              <a:gd name="T2" fmla="*/ 2147483647 w 3744"/>
              <a:gd name="T3" fmla="*/ 2147483647 h 432"/>
              <a:gd name="T4" fmla="*/ 2147483647 w 3744"/>
              <a:gd name="T5" fmla="*/ 2147483647 h 432"/>
              <a:gd name="T6" fmla="*/ 0 w 3744"/>
              <a:gd name="T7" fmla="*/ 2147483647 h 43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44" h="432">
                <a:moveTo>
                  <a:pt x="3744" y="0"/>
                </a:moveTo>
                <a:cubicBezTo>
                  <a:pt x="3316" y="124"/>
                  <a:pt x="2888" y="248"/>
                  <a:pt x="2400" y="288"/>
                </a:cubicBezTo>
                <a:cubicBezTo>
                  <a:pt x="1912" y="328"/>
                  <a:pt x="1216" y="216"/>
                  <a:pt x="816" y="240"/>
                </a:cubicBezTo>
                <a:cubicBezTo>
                  <a:pt x="416" y="264"/>
                  <a:pt x="208" y="348"/>
                  <a:pt x="0" y="4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ransition spd="med"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ECED14D3-0015-4947-8628-A5A6475495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3159D52-87B2-405B-B284-6C4271F608D0}" type="slidenum">
              <a:rPr lang="en-US" altLang="en-US" sz="1200"/>
              <a:pPr eaLnBrk="1" hangingPunct="1"/>
              <a:t>30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FABC4B12-D6A9-4FC9-A7C4-B5972F2EC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7543800" cy="990600"/>
          </a:xfrm>
        </p:spPr>
        <p:txBody>
          <a:bodyPr/>
          <a:lstStyle/>
          <a:p>
            <a:pPr eaLnBrk="1" hangingPunct="1"/>
            <a:r>
              <a:rPr lang="en-US" altLang="en-US" sz="3200"/>
              <a:t>Constrained FP-Growth: Push a Data Anti-monotonic Constraint Deep</a:t>
            </a:r>
            <a:r>
              <a:rPr lang="en-US" altLang="en-US"/>
              <a:t> </a:t>
            </a:r>
          </a:p>
        </p:txBody>
      </p:sp>
      <p:sp>
        <p:nvSpPr>
          <p:cNvPr id="33796" name="Text Box 3">
            <a:extLst>
              <a:ext uri="{FF2B5EF4-FFF2-40B4-BE49-F238E27FC236}">
                <a16:creationId xmlns:a16="http://schemas.microsoft.com/office/drawing/2014/main" id="{4F4ED9EC-EE89-4A64-A09A-FFFDC10DE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867400"/>
            <a:ext cx="24384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Constraint: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min{S.price } &lt;= 1</a:t>
            </a:r>
          </a:p>
        </p:txBody>
      </p:sp>
      <p:graphicFrame>
        <p:nvGraphicFramePr>
          <p:cNvPr id="33797" name="Object 4">
            <a:extLst>
              <a:ext uri="{FF2B5EF4-FFF2-40B4-BE49-F238E27FC236}">
                <a16:creationId xmlns:a16="http://schemas.microsoft.com/office/drawing/2014/main" id="{A31B770B-D17E-4DA9-8509-F1ED5CA3EC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1808163"/>
          <a:ext cx="1814513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667372" imgH="1743437" progId="Excel.Sheet.8">
                  <p:embed/>
                </p:oleObj>
              </mc:Choice>
              <mc:Fallback>
                <p:oleObj name="Worksheet" r:id="rId3" imgW="1667372" imgH="1743437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808163"/>
                        <a:ext cx="1814513" cy="162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5">
            <a:extLst>
              <a:ext uri="{FF2B5EF4-FFF2-40B4-BE49-F238E27FC236}">
                <a16:creationId xmlns:a16="http://schemas.microsoft.com/office/drawing/2014/main" id="{0695F065-1CF8-46AD-9399-3B10506E10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1676400"/>
          <a:ext cx="180022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1666890" imgH="1047862" progId="Excel.Sheet.8">
                  <p:embed/>
                </p:oleObj>
              </mc:Choice>
              <mc:Fallback>
                <p:oleObj name="Worksheet" r:id="rId5" imgW="1666890" imgH="1047862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676400"/>
                        <a:ext cx="1800225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Line 6">
            <a:extLst>
              <a:ext uri="{FF2B5EF4-FFF2-40B4-BE49-F238E27FC236}">
                <a16:creationId xmlns:a16="http://schemas.microsoft.com/office/drawing/2014/main" id="{DC60EF32-0A53-4351-999E-E8852B5ECB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514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800" name="AutoShape 8">
            <a:extLst>
              <a:ext uri="{FF2B5EF4-FFF2-40B4-BE49-F238E27FC236}">
                <a16:creationId xmlns:a16="http://schemas.microsoft.com/office/drawing/2014/main" id="{4FCD96A9-271C-42B0-8121-A5A72F067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676400"/>
            <a:ext cx="1752600" cy="1752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FP-Tree</a:t>
            </a:r>
          </a:p>
        </p:txBody>
      </p:sp>
      <p:sp>
        <p:nvSpPr>
          <p:cNvPr id="33801" name="Line 9">
            <a:extLst>
              <a:ext uri="{FF2B5EF4-FFF2-40B4-BE49-F238E27FC236}">
                <a16:creationId xmlns:a16="http://schemas.microsoft.com/office/drawing/2014/main" id="{33E1D8C7-1EDF-4D71-9D6F-16CF2AC27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514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802" name="Text Box 11">
            <a:extLst>
              <a:ext uri="{FF2B5EF4-FFF2-40B4-BE49-F238E27FC236}">
                <a16:creationId xmlns:a16="http://schemas.microsoft.com/office/drawing/2014/main" id="{4B01A502-1881-4B22-8E8E-77105A38D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191000"/>
            <a:ext cx="3865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Single branch, we are done</a:t>
            </a:r>
          </a:p>
        </p:txBody>
      </p:sp>
      <p:sp>
        <p:nvSpPr>
          <p:cNvPr id="33803" name="Freeform 13">
            <a:extLst>
              <a:ext uri="{FF2B5EF4-FFF2-40B4-BE49-F238E27FC236}">
                <a16:creationId xmlns:a16="http://schemas.microsoft.com/office/drawing/2014/main" id="{A6FD15FD-6D08-4665-A3FF-8F366E0AB307}"/>
              </a:ext>
            </a:extLst>
          </p:cNvPr>
          <p:cNvSpPr>
            <a:spLocks/>
          </p:cNvSpPr>
          <p:nvPr/>
        </p:nvSpPr>
        <p:spPr bwMode="auto">
          <a:xfrm>
            <a:off x="1295400" y="3505200"/>
            <a:ext cx="5943600" cy="685800"/>
          </a:xfrm>
          <a:custGeom>
            <a:avLst/>
            <a:gdLst>
              <a:gd name="T0" fmla="*/ 2147483647 w 3744"/>
              <a:gd name="T1" fmla="*/ 0 h 432"/>
              <a:gd name="T2" fmla="*/ 2147483647 w 3744"/>
              <a:gd name="T3" fmla="*/ 2147483647 h 432"/>
              <a:gd name="T4" fmla="*/ 2147483647 w 3744"/>
              <a:gd name="T5" fmla="*/ 2147483647 h 432"/>
              <a:gd name="T6" fmla="*/ 0 w 3744"/>
              <a:gd name="T7" fmla="*/ 2147483647 h 43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744" h="432">
                <a:moveTo>
                  <a:pt x="3744" y="0"/>
                </a:moveTo>
                <a:cubicBezTo>
                  <a:pt x="3316" y="124"/>
                  <a:pt x="2888" y="248"/>
                  <a:pt x="2400" y="288"/>
                </a:cubicBezTo>
                <a:cubicBezTo>
                  <a:pt x="1912" y="328"/>
                  <a:pt x="1216" y="216"/>
                  <a:pt x="816" y="240"/>
                </a:cubicBezTo>
                <a:cubicBezTo>
                  <a:pt x="416" y="264"/>
                  <a:pt x="208" y="348"/>
                  <a:pt x="0" y="4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804" name="Line 14">
            <a:extLst>
              <a:ext uri="{FF2B5EF4-FFF2-40B4-BE49-F238E27FC236}">
                <a16:creationId xmlns:a16="http://schemas.microsoft.com/office/drawing/2014/main" id="{73CC92FD-6B90-4B90-B774-9CE4AA6841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590800"/>
            <a:ext cx="21336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805" name="Line 15">
            <a:extLst>
              <a:ext uri="{FF2B5EF4-FFF2-40B4-BE49-F238E27FC236}">
                <a16:creationId xmlns:a16="http://schemas.microsoft.com/office/drawing/2014/main" id="{60476C50-A155-422E-B396-5E15BB2A44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3276600"/>
            <a:ext cx="21336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806" name="Text Box 16">
            <a:extLst>
              <a:ext uri="{FF2B5EF4-FFF2-40B4-BE49-F238E27FC236}">
                <a16:creationId xmlns:a16="http://schemas.microsoft.com/office/drawing/2014/main" id="{D1C4F777-0F47-4650-A084-8203CB49D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371600"/>
            <a:ext cx="20558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Remove from data</a:t>
            </a:r>
          </a:p>
        </p:txBody>
      </p:sp>
    </p:spTree>
  </p:cSld>
  <p:clrMapOvr>
    <a:masterClrMapping/>
  </p:clrMapOvr>
  <p:transition spd="med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E387264D-4EB8-4C22-8DA5-D123B93154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40664A6-66A6-4B05-847F-AE01E0B1AA06}" type="slidenum">
              <a:rPr lang="en-US" altLang="en-US" sz="1200"/>
              <a:pPr eaLnBrk="1" hangingPunct="1"/>
              <a:t>31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1FAEDDE-E3B8-41B1-B574-F601B3D76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6096000" cy="990600"/>
          </a:xfrm>
        </p:spPr>
        <p:txBody>
          <a:bodyPr/>
          <a:lstStyle/>
          <a:p>
            <a:pPr eaLnBrk="1" hangingPunct="1"/>
            <a:r>
              <a:rPr lang="en-US" altLang="en-US" sz="2800" b="1"/>
              <a:t>Constrained FP-Growth: Push a Data Anti-monotonic Constraint Deep</a:t>
            </a:r>
          </a:p>
        </p:txBody>
      </p:sp>
      <p:sp>
        <p:nvSpPr>
          <p:cNvPr id="34820" name="Text Box 56">
            <a:extLst>
              <a:ext uri="{FF2B5EF4-FFF2-40B4-BE49-F238E27FC236}">
                <a16:creationId xmlns:a16="http://schemas.microsoft.com/office/drawing/2014/main" id="{899421F7-AA79-49E5-9EC2-697F221B1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486400"/>
            <a:ext cx="2819400" cy="94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Constraint: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range{S.price } &gt; 25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1800" b="1">
                <a:solidFill>
                  <a:schemeClr val="hlink"/>
                </a:solidFill>
              </a:rPr>
              <a:t>min_sup &gt;= 2</a:t>
            </a:r>
          </a:p>
        </p:txBody>
      </p:sp>
      <p:sp>
        <p:nvSpPr>
          <p:cNvPr id="34821" name="AutoShape 101">
            <a:extLst>
              <a:ext uri="{FF2B5EF4-FFF2-40B4-BE49-F238E27FC236}">
                <a16:creationId xmlns:a16="http://schemas.microsoft.com/office/drawing/2014/main" id="{624525AB-C40F-4AAC-88EC-750C65834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447800"/>
            <a:ext cx="1752600" cy="1752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FP-Tree</a:t>
            </a:r>
          </a:p>
        </p:txBody>
      </p:sp>
      <p:graphicFrame>
        <p:nvGraphicFramePr>
          <p:cNvPr id="1934649" name="Group 313">
            <a:extLst>
              <a:ext uri="{FF2B5EF4-FFF2-40B4-BE49-F238E27FC236}">
                <a16:creationId xmlns:a16="http://schemas.microsoft.com/office/drawing/2014/main" id="{CB7C24F8-B10A-4AB1-A1EC-7C32B04671E8}"/>
              </a:ext>
            </a:extLst>
          </p:cNvPr>
          <p:cNvGraphicFramePr>
            <a:graphicFrameLocks noGrp="1"/>
          </p:cNvGraphicFramePr>
          <p:nvPr/>
        </p:nvGraphicFramePr>
        <p:xfrm>
          <a:off x="625475" y="3700463"/>
          <a:ext cx="2465388" cy="1325562"/>
        </p:xfrm>
        <a:graphic>
          <a:graphicData uri="http://schemas.openxmlformats.org/drawingml/2006/table">
            <a:tbl>
              <a:tblPr/>
              <a:tblGrid>
                <a:gridCol w="66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683" marB="45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Transaction</a:t>
                      </a:r>
                    </a:p>
                  </a:txBody>
                  <a:tcPr marT="45683" marB="45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683" marB="45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c, d, f, h</a:t>
                      </a:r>
                    </a:p>
                  </a:txBody>
                  <a:tcPr marT="45683" marB="45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683" marB="45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c, d, f, g, h</a:t>
                      </a:r>
                    </a:p>
                  </a:txBody>
                  <a:tcPr marT="45683" marB="45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683" marB="4568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c, d, f, g</a:t>
                      </a:r>
                    </a:p>
                  </a:txBody>
                  <a:tcPr marT="45683" marB="4568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839" name="Text Box 123">
            <a:extLst>
              <a:ext uri="{FF2B5EF4-FFF2-40B4-BE49-F238E27FC236}">
                <a16:creationId xmlns:a16="http://schemas.microsoft.com/office/drawing/2014/main" id="{6A97A0AA-50A9-491A-8190-8260A0E1E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276600"/>
            <a:ext cx="221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/>
              <a:t>B-Projected DB</a:t>
            </a:r>
          </a:p>
        </p:txBody>
      </p:sp>
      <p:sp>
        <p:nvSpPr>
          <p:cNvPr id="34840" name="AutoShape 125">
            <a:extLst>
              <a:ext uri="{FF2B5EF4-FFF2-40B4-BE49-F238E27FC236}">
                <a16:creationId xmlns:a16="http://schemas.microsoft.com/office/drawing/2014/main" id="{D82739BE-87B4-4FF3-BDB4-E3ADCA1BC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886200"/>
            <a:ext cx="1143000" cy="1143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600"/>
              <a:t>B</a:t>
            </a:r>
          </a:p>
          <a:p>
            <a:pPr algn="ctr" eaLnBrk="1" hangingPunct="1"/>
            <a:r>
              <a:rPr lang="en-US" altLang="en-US" sz="1600"/>
              <a:t>FP-Tree</a:t>
            </a:r>
          </a:p>
        </p:txBody>
      </p:sp>
      <p:graphicFrame>
        <p:nvGraphicFramePr>
          <p:cNvPr id="1934650" name="Group 314">
            <a:extLst>
              <a:ext uri="{FF2B5EF4-FFF2-40B4-BE49-F238E27FC236}">
                <a16:creationId xmlns:a16="http://schemas.microsoft.com/office/drawing/2014/main" id="{732C6C1E-5D95-4285-83EC-FB66B62477A7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447800"/>
          <a:ext cx="2286000" cy="184467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Transaction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d, f, h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d, f, g, h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d, f, g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e, f, g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34582" name="Group 246">
            <a:extLst>
              <a:ext uri="{FF2B5EF4-FFF2-40B4-BE49-F238E27FC236}">
                <a16:creationId xmlns:a16="http://schemas.microsoft.com/office/drawing/2014/main" id="{69775F04-F378-44FC-BFB7-A10DB7529E87}"/>
              </a:ext>
            </a:extLst>
          </p:cNvPr>
          <p:cNvGraphicFramePr>
            <a:graphicFrameLocks noGrp="1"/>
          </p:cNvGraphicFramePr>
          <p:nvPr/>
        </p:nvGraphicFramePr>
        <p:xfrm>
          <a:off x="6627813" y="139700"/>
          <a:ext cx="2514600" cy="1844675"/>
        </p:xfrm>
        <a:graphic>
          <a:graphicData uri="http://schemas.openxmlformats.org/drawingml/2006/table">
            <a:tbl>
              <a:tblPr/>
              <a:tblGrid>
                <a:gridCol w="744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1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Transaction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d, f, h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d, f, g, h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d, f, g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e, f, g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34651" name="Group 315">
            <a:extLst>
              <a:ext uri="{FF2B5EF4-FFF2-40B4-BE49-F238E27FC236}">
                <a16:creationId xmlns:a16="http://schemas.microsoft.com/office/drawing/2014/main" id="{B170CCAA-C5C5-4784-9ED8-B3ADFCEB2091}"/>
              </a:ext>
            </a:extLst>
          </p:cNvPr>
          <p:cNvGraphicFramePr>
            <a:graphicFrameLocks noGrp="1"/>
          </p:cNvGraphicFramePr>
          <p:nvPr/>
        </p:nvGraphicFramePr>
        <p:xfrm>
          <a:off x="7162800" y="2154238"/>
          <a:ext cx="1600200" cy="3260725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Profit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-20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-15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-30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-5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4913" name="Line 299">
            <a:extLst>
              <a:ext uri="{FF2B5EF4-FFF2-40B4-BE49-F238E27FC236}">
                <a16:creationId xmlns:a16="http://schemas.microsoft.com/office/drawing/2014/main" id="{47969038-0703-421C-AB87-AA58EFDDDD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4191000"/>
            <a:ext cx="26670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914" name="AutoShape 302">
            <a:extLst>
              <a:ext uri="{FF2B5EF4-FFF2-40B4-BE49-F238E27FC236}">
                <a16:creationId xmlns:a16="http://schemas.microsoft.com/office/drawing/2014/main" id="{A886CC88-8713-4F0E-B603-3E5661933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276600"/>
            <a:ext cx="1371600" cy="914400"/>
          </a:xfrm>
          <a:prstGeom prst="wedgeRoundRectCallout">
            <a:avLst>
              <a:gd name="adj1" fmla="val -83333"/>
              <a:gd name="adj2" fmla="val 4166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400"/>
              <a:t>Recursive</a:t>
            </a:r>
          </a:p>
          <a:p>
            <a:pPr algn="ctr" eaLnBrk="1" hangingPunct="1"/>
            <a:r>
              <a:rPr lang="en-US" altLang="en-US" sz="1400"/>
              <a:t>Data </a:t>
            </a:r>
          </a:p>
          <a:p>
            <a:pPr algn="ctr" eaLnBrk="1" hangingPunct="1"/>
            <a:r>
              <a:rPr lang="en-US" altLang="en-US" sz="1400"/>
              <a:t>Pruning</a:t>
            </a:r>
          </a:p>
        </p:txBody>
      </p:sp>
      <p:sp>
        <p:nvSpPr>
          <p:cNvPr id="34915" name="Line 303">
            <a:extLst>
              <a:ext uri="{FF2B5EF4-FFF2-40B4-BE49-F238E27FC236}">
                <a16:creationId xmlns:a16="http://schemas.microsoft.com/office/drawing/2014/main" id="{4F1B085C-9741-4020-A6CC-4F17BE5F94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286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916" name="Line 304">
            <a:extLst>
              <a:ext uri="{FF2B5EF4-FFF2-40B4-BE49-F238E27FC236}">
                <a16:creationId xmlns:a16="http://schemas.microsoft.com/office/drawing/2014/main" id="{AE7C2D2C-5E03-4294-AC53-8D05DB80B5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4196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917" name="Line 306">
            <a:extLst>
              <a:ext uri="{FF2B5EF4-FFF2-40B4-BE49-F238E27FC236}">
                <a16:creationId xmlns:a16="http://schemas.microsoft.com/office/drawing/2014/main" id="{2F903FA8-6B49-439F-9279-12509E79BD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2667000"/>
            <a:ext cx="12192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918" name="Line 307">
            <a:extLst>
              <a:ext uri="{FF2B5EF4-FFF2-40B4-BE49-F238E27FC236}">
                <a16:creationId xmlns:a16="http://schemas.microsoft.com/office/drawing/2014/main" id="{3BE07194-683D-45CB-A642-A6D20DE685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4724400"/>
            <a:ext cx="13716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919" name="Text Box 308">
            <a:extLst>
              <a:ext uri="{FF2B5EF4-FFF2-40B4-BE49-F238E27FC236}">
                <a16:creationId xmlns:a16="http://schemas.microsoft.com/office/drawing/2014/main" id="{FBC82FAA-62E4-45E5-B683-6B1CD5A71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410200"/>
            <a:ext cx="29718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eaLnBrk="1" hangingPunct="1">
              <a:spcBef>
                <a:spcPct val="50000"/>
              </a:spcBef>
            </a:pPr>
            <a:r>
              <a:rPr lang="en-US" altLang="en-US"/>
              <a:t>Single branch: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en-US"/>
              <a:t>bcdfg: 2</a:t>
            </a:r>
          </a:p>
        </p:txBody>
      </p:sp>
      <p:sp>
        <p:nvSpPr>
          <p:cNvPr id="34920" name="Line 310">
            <a:extLst>
              <a:ext uri="{FF2B5EF4-FFF2-40B4-BE49-F238E27FC236}">
                <a16:creationId xmlns:a16="http://schemas.microsoft.com/office/drawing/2014/main" id="{DA4ADDE1-3D2D-4630-BCA6-6A9ADF44CB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19600"/>
            <a:ext cx="228600" cy="22860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921" name="Rectangle 316">
            <a:extLst>
              <a:ext uri="{FF2B5EF4-FFF2-40B4-BE49-F238E27FC236}">
                <a16:creationId xmlns:a16="http://schemas.microsoft.com/office/drawing/2014/main" id="{D721D137-4764-4DF4-AF0D-D7E789408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334000"/>
            <a:ext cx="2286000" cy="106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E6CD98BF-CE7B-4467-936B-EF7D93CFB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EB38DA0-94BE-4EB2-B8DA-FECC86008BB6}" type="slidenum">
              <a:rPr lang="en-US" altLang="en-US" sz="1200"/>
              <a:pPr eaLnBrk="1" hangingPunct="1"/>
              <a:t>32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1CAE1F28-B32E-47A6-B74D-F6C683EA8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/>
              <a:t>Convertible Constraints: Ordering Data in Transactions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C28982A-6BA8-45E5-8DF2-173931C61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6019800" cy="4876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Convert tough constraints into anti-monotone or monotone by properly ordering items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Examine C: avg(</a:t>
            </a:r>
            <a:r>
              <a:rPr lang="en-US" altLang="en-US" sz="2400" i="1"/>
              <a:t>S</a:t>
            </a:r>
            <a:r>
              <a:rPr lang="en-US" altLang="en-US" sz="2400"/>
              <a:t>.profit) </a:t>
            </a:r>
            <a:r>
              <a:rPr lang="en-US" altLang="en-US" sz="2400" b="1">
                <a:sym typeface="Symbol" panose="05050102010706020507" pitchFamily="18" charset="2"/>
              </a:rPr>
              <a:t></a:t>
            </a:r>
            <a:r>
              <a:rPr lang="en-US" altLang="en-US" sz="2400"/>
              <a:t> 25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Order items in value-descending order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&lt;</a:t>
            </a:r>
            <a:r>
              <a:rPr lang="en-US" altLang="en-US" i="1"/>
              <a:t>a, f, g, d, b, h, c, e</a:t>
            </a:r>
            <a:r>
              <a:rPr lang="en-US" altLang="en-US"/>
              <a:t>&gt;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If an itemset </a:t>
            </a:r>
            <a:r>
              <a:rPr lang="en-US" altLang="en-US" sz="2400" i="1"/>
              <a:t>afb</a:t>
            </a:r>
            <a:r>
              <a:rPr lang="en-US" altLang="en-US" sz="2400"/>
              <a:t> violates C</a:t>
            </a:r>
            <a:endParaRPr lang="en-US" altLang="en-US" sz="2400">
              <a:sym typeface="Wingdings" panose="05000000000000000000" pitchFamily="2" charset="2"/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So does </a:t>
            </a:r>
            <a:r>
              <a:rPr lang="en-US" altLang="en-US" i="1"/>
              <a:t>afbh, afb*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It becomes </a:t>
            </a:r>
            <a:r>
              <a:rPr lang="en-US" altLang="en-US">
                <a:solidFill>
                  <a:schemeClr val="hlink"/>
                </a:solidFill>
              </a:rPr>
              <a:t>anti-monotone!</a:t>
            </a:r>
          </a:p>
        </p:txBody>
      </p:sp>
      <p:graphicFrame>
        <p:nvGraphicFramePr>
          <p:cNvPr id="1565700" name="Group 4">
            <a:extLst>
              <a:ext uri="{FF2B5EF4-FFF2-40B4-BE49-F238E27FC236}">
                <a16:creationId xmlns:a16="http://schemas.microsoft.com/office/drawing/2014/main" id="{E9A8D482-E87B-4E2E-AAA7-A0BBBFC607CD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600200"/>
          <a:ext cx="2438400" cy="1841500"/>
        </p:xfrm>
        <a:graphic>
          <a:graphicData uri="http://schemas.openxmlformats.org/drawingml/2006/table">
            <a:tbl>
              <a:tblPr/>
              <a:tblGrid>
                <a:gridCol w="722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Transaction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d,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d, f, g,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d, e,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c, e, f, 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865" name="Text Box 24">
            <a:extLst>
              <a:ext uri="{FF2B5EF4-FFF2-40B4-BE49-F238E27FC236}">
                <a16:creationId xmlns:a16="http://schemas.microsoft.com/office/drawing/2014/main" id="{2BCE64A5-AB21-4FC5-B0E1-4BF879CEF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219200"/>
            <a:ext cx="2449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000">
                <a:latin typeface="Times New Roman" panose="02020603050405020304" pitchFamily="18" charset="0"/>
              </a:rPr>
              <a:t>TDB (min_sup=2)</a:t>
            </a:r>
          </a:p>
        </p:txBody>
      </p:sp>
      <p:graphicFrame>
        <p:nvGraphicFramePr>
          <p:cNvPr id="1565753" name="Group 57">
            <a:extLst>
              <a:ext uri="{FF2B5EF4-FFF2-40B4-BE49-F238E27FC236}">
                <a16:creationId xmlns:a16="http://schemas.microsoft.com/office/drawing/2014/main" id="{F11C8A8B-C839-45E5-9C7A-DE8EB02F3CF6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3581400"/>
          <a:ext cx="2209800" cy="3017838"/>
        </p:xfrm>
        <a:graphic>
          <a:graphicData uri="http://schemas.openxmlformats.org/drawingml/2006/table">
            <a:tbl>
              <a:tblPr/>
              <a:tblGrid>
                <a:gridCol w="1243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9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Profit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-20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-30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729D6F20-1362-4678-A32D-863B6FD45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4223191-A9E9-4313-84E7-F51BF885A70B}" type="slidenum">
              <a:rPr lang="en-US" altLang="en-US" sz="1200"/>
              <a:pPr eaLnBrk="1" hangingPunct="1"/>
              <a:t>33</a:t>
            </a:fld>
            <a:endParaRPr lang="en-US" altLang="en-US" sz="12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7D46CE9D-7C78-4051-A50F-D496922BD3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9248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Strongly Convertible Constraints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3B6A5698-A0DB-492A-9931-49DE54304E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69342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avg(X) </a:t>
            </a:r>
            <a:r>
              <a:rPr lang="en-US" altLang="en-US" sz="2400" b="1">
                <a:sym typeface="Symbol" panose="05050102010706020507" pitchFamily="18" charset="2"/>
              </a:rPr>
              <a:t></a:t>
            </a:r>
            <a:r>
              <a:rPr lang="en-US" altLang="en-US" sz="2400"/>
              <a:t> 25 is convertible anti-monotone w.r.t. item </a:t>
            </a:r>
            <a:r>
              <a:rPr lang="en-US" altLang="en-US" sz="2400">
                <a:solidFill>
                  <a:srgbClr val="170981"/>
                </a:solidFill>
              </a:rPr>
              <a:t>value descending</a:t>
            </a:r>
            <a:r>
              <a:rPr lang="en-US" altLang="en-US" sz="2400"/>
              <a:t> order R: &lt;</a:t>
            </a:r>
            <a:r>
              <a:rPr lang="en-US" altLang="en-US" sz="2400" i="1"/>
              <a:t>a, f, g,</a:t>
            </a:r>
            <a:r>
              <a:rPr lang="en-US" altLang="en-US" sz="2400"/>
              <a:t> </a:t>
            </a:r>
            <a:r>
              <a:rPr lang="en-US" altLang="en-US" sz="2400" i="1"/>
              <a:t>d, b, h, c, e</a:t>
            </a:r>
            <a:r>
              <a:rPr lang="en-US" altLang="en-US" sz="2400"/>
              <a:t>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If an itemset </a:t>
            </a:r>
            <a:r>
              <a:rPr lang="en-US" altLang="en-US" sz="2400" i="1"/>
              <a:t>af </a:t>
            </a:r>
            <a:r>
              <a:rPr lang="en-US" altLang="en-US" sz="2400"/>
              <a:t>violates a constraint C, so does every itemset with</a:t>
            </a:r>
            <a:r>
              <a:rPr lang="en-US" altLang="en-US" sz="2400" i="1"/>
              <a:t> af </a:t>
            </a:r>
            <a:r>
              <a:rPr lang="en-US" altLang="en-US" sz="2400"/>
              <a:t>as prefix, such as </a:t>
            </a:r>
            <a:r>
              <a:rPr lang="en-US" altLang="en-US" sz="2400" i="1"/>
              <a:t>afd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avg(X) </a:t>
            </a:r>
            <a:r>
              <a:rPr lang="en-US" altLang="en-US" sz="2400" b="1">
                <a:sym typeface="Symbol" panose="05050102010706020507" pitchFamily="18" charset="2"/>
              </a:rPr>
              <a:t></a:t>
            </a:r>
            <a:r>
              <a:rPr lang="en-US" altLang="en-US" sz="2400"/>
              <a:t> 25 is convertible monotone w.r.t. item </a:t>
            </a:r>
            <a:r>
              <a:rPr lang="en-US" altLang="en-US" sz="2400">
                <a:solidFill>
                  <a:srgbClr val="170981"/>
                </a:solidFill>
              </a:rPr>
              <a:t>value ascending</a:t>
            </a:r>
            <a:r>
              <a:rPr lang="en-US" altLang="en-US" sz="2400"/>
              <a:t> order R</a:t>
            </a:r>
            <a:r>
              <a:rPr lang="en-US" altLang="en-US" sz="2400" baseline="30000"/>
              <a:t>-1</a:t>
            </a:r>
            <a:r>
              <a:rPr lang="en-US" altLang="en-US" sz="2400"/>
              <a:t>: &lt;</a:t>
            </a:r>
            <a:r>
              <a:rPr lang="en-US" altLang="en-US" sz="2400" i="1"/>
              <a:t>e, c, h, b, d, g, f, a</a:t>
            </a:r>
            <a:r>
              <a:rPr lang="en-US" altLang="en-US" sz="2400"/>
              <a:t>&gt;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If an itemset </a:t>
            </a:r>
            <a:r>
              <a:rPr lang="en-US" altLang="en-US" sz="2400" i="1"/>
              <a:t>d</a:t>
            </a:r>
            <a:r>
              <a:rPr lang="en-US" altLang="en-US" sz="2400"/>
              <a:t> satisfies a constraint </a:t>
            </a:r>
            <a:r>
              <a:rPr lang="en-US" altLang="en-US" sz="2400" i="1">
                <a:sym typeface="Wingdings" panose="05000000000000000000" pitchFamily="2" charset="2"/>
              </a:rPr>
              <a:t>C</a:t>
            </a:r>
            <a:r>
              <a:rPr lang="en-US" altLang="en-US" sz="2400">
                <a:sym typeface="Wingdings" panose="05000000000000000000" pitchFamily="2" charset="2"/>
              </a:rPr>
              <a:t>, so does itemsets </a:t>
            </a:r>
            <a:r>
              <a:rPr lang="en-US" altLang="en-US" sz="2400" i="1">
                <a:sym typeface="Wingdings" panose="05000000000000000000" pitchFamily="2" charset="2"/>
              </a:rPr>
              <a:t>df</a:t>
            </a:r>
            <a:r>
              <a:rPr lang="en-US" altLang="en-US" sz="2400">
                <a:sym typeface="Wingdings" panose="05000000000000000000" pitchFamily="2" charset="2"/>
              </a:rPr>
              <a:t> and </a:t>
            </a:r>
            <a:r>
              <a:rPr lang="en-US" altLang="en-US" sz="2400" i="1">
                <a:sym typeface="Wingdings" panose="05000000000000000000" pitchFamily="2" charset="2"/>
              </a:rPr>
              <a:t>dfa</a:t>
            </a:r>
            <a:r>
              <a:rPr lang="en-US" altLang="en-US" sz="2400">
                <a:sym typeface="Wingdings" panose="05000000000000000000" pitchFamily="2" charset="2"/>
              </a:rPr>
              <a:t>, which having </a:t>
            </a:r>
            <a:r>
              <a:rPr lang="en-US" altLang="en-US" sz="2400" i="1">
                <a:sym typeface="Wingdings" panose="05000000000000000000" pitchFamily="2" charset="2"/>
              </a:rPr>
              <a:t>d</a:t>
            </a:r>
            <a:r>
              <a:rPr lang="en-US" altLang="en-US" sz="2400">
                <a:sym typeface="Wingdings" panose="05000000000000000000" pitchFamily="2" charset="2"/>
              </a:rPr>
              <a:t> as a prefix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Thus, avg(X) </a:t>
            </a:r>
            <a:r>
              <a:rPr lang="en-US" altLang="en-US" sz="2400" b="1">
                <a:sym typeface="Symbol" panose="05050102010706020507" pitchFamily="18" charset="2"/>
              </a:rPr>
              <a:t></a:t>
            </a:r>
            <a:r>
              <a:rPr lang="en-US" altLang="en-US" sz="2400"/>
              <a:t> 25 is </a:t>
            </a:r>
            <a:r>
              <a:rPr lang="en-US" altLang="en-US" sz="2400">
                <a:solidFill>
                  <a:schemeClr val="hlink"/>
                </a:solidFill>
              </a:rPr>
              <a:t>strongly convertible</a:t>
            </a:r>
          </a:p>
        </p:txBody>
      </p:sp>
      <p:graphicFrame>
        <p:nvGraphicFramePr>
          <p:cNvPr id="1566756" name="Group 36">
            <a:extLst>
              <a:ext uri="{FF2B5EF4-FFF2-40B4-BE49-F238E27FC236}">
                <a16:creationId xmlns:a16="http://schemas.microsoft.com/office/drawing/2014/main" id="{A5E9A693-0116-4D1E-B047-ABDD799318BC}"/>
              </a:ext>
            </a:extLst>
          </p:cNvPr>
          <p:cNvGraphicFramePr>
            <a:graphicFrameLocks noGrp="1"/>
          </p:cNvGraphicFramePr>
          <p:nvPr/>
        </p:nvGraphicFramePr>
        <p:xfrm>
          <a:off x="7391400" y="2514600"/>
          <a:ext cx="1676400" cy="326072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Profit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-20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-30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80AFC6FC-8161-4E94-90C6-BAE079D5B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957FE42-8A2F-4867-A677-2EB2618F21D8}" type="slidenum">
              <a:rPr lang="en-US" altLang="en-US" sz="1200"/>
              <a:pPr eaLnBrk="1" hangingPunct="1"/>
              <a:t>34</a:t>
            </a:fld>
            <a:endParaRPr lang="en-US" altLang="en-US" sz="1200"/>
          </a:p>
        </p:txBody>
      </p:sp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78FDD78-1418-44B4-9C50-28D28048DF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Can Apriori Handle Convertible Constraints?</a:t>
            </a:r>
          </a:p>
        </p:txBody>
      </p:sp>
      <p:sp>
        <p:nvSpPr>
          <p:cNvPr id="37892" name="Rectangle 1027">
            <a:extLst>
              <a:ext uri="{FF2B5EF4-FFF2-40B4-BE49-F238E27FC236}">
                <a16:creationId xmlns:a16="http://schemas.microsoft.com/office/drawing/2014/main" id="{6B809664-C5C8-4969-AE50-58601077F1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7162800" cy="45720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A convertible, not monotone nor anti-monotone nor succinct constraint cannot be pushed deep into the an Apriori mining algorithm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Within the level wise framework, no direct pruning based on the constraint can be made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Itemset df violates constraint C: avg(X) &gt;= 25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Since adf satisfies C, Apriori needs df to assemble adf, df cannot be pruned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But it can be pushed into frequent-pattern growth framework!</a:t>
            </a:r>
          </a:p>
        </p:txBody>
      </p:sp>
      <p:graphicFrame>
        <p:nvGraphicFramePr>
          <p:cNvPr id="1428516" name="Group 1060">
            <a:extLst>
              <a:ext uri="{FF2B5EF4-FFF2-40B4-BE49-F238E27FC236}">
                <a16:creationId xmlns:a16="http://schemas.microsoft.com/office/drawing/2014/main" id="{5A7AC0A8-5801-4021-8009-A329EF52666C}"/>
              </a:ext>
            </a:extLst>
          </p:cNvPr>
          <p:cNvGraphicFramePr>
            <a:graphicFrameLocks noGrp="1"/>
          </p:cNvGraphicFramePr>
          <p:nvPr/>
        </p:nvGraphicFramePr>
        <p:xfrm>
          <a:off x="7315200" y="3124200"/>
          <a:ext cx="1676400" cy="3260725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Value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-20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-30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>
            <a:extLst>
              <a:ext uri="{FF2B5EF4-FFF2-40B4-BE49-F238E27FC236}">
                <a16:creationId xmlns:a16="http://schemas.microsoft.com/office/drawing/2014/main" id="{5CDE9995-0C79-4E4A-82DD-D263448817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E79A54B-1279-4910-A104-07785CE131A2}" type="slidenum">
              <a:rPr lang="en-US" altLang="en-US" sz="1200"/>
              <a:pPr eaLnBrk="1" hangingPunct="1"/>
              <a:t>35</a:t>
            </a:fld>
            <a:endParaRPr lang="en-US" altLang="en-US" sz="12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DA58249E-8DCF-48D7-BC5A-F2DC2AE125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457200" y="381000"/>
            <a:ext cx="10134600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Pattern Space Pruning w. Convertible Constraints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C126726F-FC68-4D80-BAED-3E2112FF19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6705600" cy="4953000"/>
          </a:xfrm>
        </p:spPr>
        <p:txBody>
          <a:bodyPr/>
          <a:lstStyle/>
          <a:p>
            <a:pPr eaLnBrk="1" hangingPunct="1"/>
            <a:r>
              <a:rPr lang="en-US" altLang="en-US" sz="2200"/>
              <a:t>C: avg(X) &gt;= 25, min_sup=2</a:t>
            </a:r>
          </a:p>
          <a:p>
            <a:pPr eaLnBrk="1" hangingPunct="1"/>
            <a:r>
              <a:rPr lang="en-US" altLang="en-US" sz="2200"/>
              <a:t>List items in every transaction in value descending order R: &lt;a, f, g, d, b, h, c, e&gt;</a:t>
            </a:r>
          </a:p>
          <a:p>
            <a:pPr lvl="1" eaLnBrk="1" hangingPunct="1"/>
            <a:r>
              <a:rPr lang="en-US" altLang="en-US" sz="2200"/>
              <a:t>C is convertible anti-monotone w.r.t. R</a:t>
            </a:r>
          </a:p>
          <a:p>
            <a:pPr eaLnBrk="1" hangingPunct="1"/>
            <a:r>
              <a:rPr lang="en-US" altLang="en-US" sz="2200"/>
              <a:t>Scan TDB once</a:t>
            </a:r>
          </a:p>
          <a:p>
            <a:pPr lvl="1" eaLnBrk="1" hangingPunct="1"/>
            <a:r>
              <a:rPr lang="en-US" altLang="en-US" sz="2200"/>
              <a:t>remove infrequent items</a:t>
            </a:r>
          </a:p>
          <a:p>
            <a:pPr lvl="2" eaLnBrk="1" hangingPunct="1"/>
            <a:r>
              <a:rPr lang="en-US" altLang="en-US" sz="2200"/>
              <a:t>Item h is dropped</a:t>
            </a:r>
          </a:p>
          <a:p>
            <a:pPr lvl="1" eaLnBrk="1" hangingPunct="1"/>
            <a:r>
              <a:rPr lang="en-US" altLang="en-US" sz="2200"/>
              <a:t>Itemsets a and f are good, …</a:t>
            </a:r>
          </a:p>
          <a:p>
            <a:pPr eaLnBrk="1" hangingPunct="1"/>
            <a:r>
              <a:rPr lang="en-US" altLang="en-US" sz="2200"/>
              <a:t>Projection-based mining</a:t>
            </a:r>
          </a:p>
          <a:p>
            <a:pPr lvl="1" eaLnBrk="1" hangingPunct="1"/>
            <a:r>
              <a:rPr lang="en-US" altLang="en-US" sz="2200"/>
              <a:t>Imposing an appropriate order on item projection</a:t>
            </a:r>
          </a:p>
          <a:p>
            <a:pPr lvl="1" eaLnBrk="1" hangingPunct="1"/>
            <a:r>
              <a:rPr lang="en-US" altLang="en-US" sz="2200"/>
              <a:t>Many tough constraints can be converted into (anti)-monotone</a:t>
            </a:r>
          </a:p>
        </p:txBody>
      </p:sp>
      <p:graphicFrame>
        <p:nvGraphicFramePr>
          <p:cNvPr id="1429563" name="Group 59">
            <a:extLst>
              <a:ext uri="{FF2B5EF4-FFF2-40B4-BE49-F238E27FC236}">
                <a16:creationId xmlns:a16="http://schemas.microsoft.com/office/drawing/2014/main" id="{E5639F81-704A-4491-A104-B618958C551E}"/>
              </a:ext>
            </a:extLst>
          </p:cNvPr>
          <p:cNvGraphicFramePr>
            <a:graphicFrameLocks noGrp="1"/>
          </p:cNvGraphicFramePr>
          <p:nvPr/>
        </p:nvGraphicFramePr>
        <p:xfrm>
          <a:off x="6945313" y="4876800"/>
          <a:ext cx="2057400" cy="17684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9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Transaction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f, d, b, c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f, g, d, b, c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a, f, d, c, e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36" marB="4573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f, g, h, c, e</a:t>
                      </a:r>
                    </a:p>
                  </a:txBody>
                  <a:tcPr marT="45736" marB="4573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937" name="Text Box 24">
            <a:extLst>
              <a:ext uri="{FF2B5EF4-FFF2-40B4-BE49-F238E27FC236}">
                <a16:creationId xmlns:a16="http://schemas.microsoft.com/office/drawing/2014/main" id="{6CEAD3A8-C20F-44F2-9236-476CBB6E2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419600"/>
            <a:ext cx="20685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>
                <a:latin typeface="Times New Roman" panose="02020603050405020304" pitchFamily="18" charset="0"/>
              </a:rPr>
              <a:t>TDB (min_sup=2)</a:t>
            </a:r>
          </a:p>
        </p:txBody>
      </p:sp>
      <p:graphicFrame>
        <p:nvGraphicFramePr>
          <p:cNvPr id="1429564" name="Group 60">
            <a:extLst>
              <a:ext uri="{FF2B5EF4-FFF2-40B4-BE49-F238E27FC236}">
                <a16:creationId xmlns:a16="http://schemas.microsoft.com/office/drawing/2014/main" id="{E2328FB9-532B-4798-9B72-74DA2EDCE99F}"/>
              </a:ext>
            </a:extLst>
          </p:cNvPr>
          <p:cNvGraphicFramePr>
            <a:graphicFrameLocks noGrp="1"/>
          </p:cNvGraphicFramePr>
          <p:nvPr/>
        </p:nvGraphicFramePr>
        <p:xfrm>
          <a:off x="7391400" y="1295400"/>
          <a:ext cx="1600200" cy="3230563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Value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-20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T="45704" marB="457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-30</a:t>
                      </a:r>
                    </a:p>
                  </a:txBody>
                  <a:tcPr marT="45704" marB="4570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88814521-514A-42A3-895C-B7AE624D7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CDCB1EA-CA90-4EAD-9E7A-09DD862BBDDA}" type="slidenum">
              <a:rPr lang="en-US" altLang="en-US" sz="1200"/>
              <a:pPr eaLnBrk="1" hangingPunct="1"/>
              <a:t>36</a:t>
            </a:fld>
            <a:endParaRPr lang="en-US" altLang="en-US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048C5FD7-051C-43EB-A822-ECDEF7327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963" y="381000"/>
            <a:ext cx="7996237" cy="609600"/>
          </a:xfrm>
        </p:spPr>
        <p:txBody>
          <a:bodyPr/>
          <a:lstStyle/>
          <a:p>
            <a:pPr eaLnBrk="1" hangingPunct="1"/>
            <a:r>
              <a:rPr lang="en-US" altLang="en-US" sz="3200"/>
              <a:t>Handling Multiple Constraints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1869720E-0D5D-4F2B-BB90-269C3951D4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005763" cy="47275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Different constraints may require different or even conflicting item-ordering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If there exists an order </a:t>
            </a:r>
            <a:r>
              <a:rPr lang="en-US" altLang="en-US" sz="2400" i="1"/>
              <a:t>R</a:t>
            </a:r>
            <a:r>
              <a:rPr lang="en-US" altLang="en-US" sz="2400"/>
              <a:t> s.t. both </a:t>
            </a:r>
            <a:r>
              <a:rPr lang="en-US" altLang="en-US" sz="2400" i="1"/>
              <a:t>C</a:t>
            </a:r>
            <a:r>
              <a:rPr lang="en-US" altLang="en-US" sz="2400" i="1" baseline="-25000"/>
              <a:t>1</a:t>
            </a:r>
            <a:r>
              <a:rPr lang="en-US" altLang="en-US" sz="2400"/>
              <a:t> and </a:t>
            </a:r>
            <a:r>
              <a:rPr lang="en-US" altLang="en-US" sz="2400" i="1"/>
              <a:t>C</a:t>
            </a:r>
            <a:r>
              <a:rPr lang="en-US" altLang="en-US" sz="2400" i="1" baseline="-25000"/>
              <a:t>2</a:t>
            </a:r>
            <a:r>
              <a:rPr lang="en-US" altLang="en-US" sz="2400"/>
              <a:t> are convertible w.r.t. </a:t>
            </a:r>
            <a:r>
              <a:rPr lang="en-US" altLang="en-US" sz="2400" i="1"/>
              <a:t>R, </a:t>
            </a:r>
            <a:r>
              <a:rPr lang="en-US" altLang="en-US" sz="2400"/>
              <a:t>then there</a:t>
            </a:r>
            <a:r>
              <a:rPr lang="en-US" altLang="en-US" sz="2400" i="1"/>
              <a:t> </a:t>
            </a:r>
            <a:r>
              <a:rPr lang="en-US" altLang="en-US" sz="2400"/>
              <a:t>is no conflict between the two convertible constraints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If there exists conflict on order of items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Try to satisfy one constraint first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Then using the order for the other constraint to mine frequent itemsets in the corresponding projected database</a:t>
            </a:r>
          </a:p>
        </p:txBody>
      </p:sp>
    </p:spTree>
  </p:cSld>
  <p:clrMapOvr>
    <a:masterClrMapping/>
  </p:clrMapOvr>
  <p:transition spd="med"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>
            <a:extLst>
              <a:ext uri="{FF2B5EF4-FFF2-40B4-BE49-F238E27FC236}">
                <a16:creationId xmlns:a16="http://schemas.microsoft.com/office/drawing/2014/main" id="{28DEB7A2-0130-49D4-A407-48DC6534C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E1442D3-D664-48C2-BA50-F6BDAC6628DD}" type="slidenum">
              <a:rPr lang="en-US" altLang="en-US" sz="1200"/>
              <a:pPr eaLnBrk="1" hangingPunct="1"/>
              <a:t>37</a:t>
            </a:fld>
            <a:endParaRPr lang="en-US" altLang="en-US" sz="12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C7DFDBB-53DB-4239-AC1B-D919B1F853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6106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Constraint-Based Mining — A General Picture</a:t>
            </a:r>
          </a:p>
        </p:txBody>
      </p:sp>
      <p:graphicFrame>
        <p:nvGraphicFramePr>
          <p:cNvPr id="1568865" name="Group 97">
            <a:extLst>
              <a:ext uri="{FF2B5EF4-FFF2-40B4-BE49-F238E27FC236}">
                <a16:creationId xmlns:a16="http://schemas.microsoft.com/office/drawing/2014/main" id="{794DC60F-42CE-455F-8B6D-CCA5E0B077A0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447800"/>
          <a:ext cx="8229600" cy="4867275"/>
        </p:xfrm>
        <a:graphic>
          <a:graphicData uri="http://schemas.openxmlformats.org/drawingml/2006/table">
            <a:tbl>
              <a:tblPr/>
              <a:tblGrid>
                <a:gridCol w="260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Constraint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Anti-monotone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Monotone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Succinct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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S 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S 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min(S) 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min(S) 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max(S) 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max(S) 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count(S) 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weakly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count(S) 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weakly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sum(S)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v ( a 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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S, a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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0 )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sum(S)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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v ( a 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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S, a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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0 )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range(S)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range(S)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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avg(S)  v,   { ,  ,   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convertible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convertible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support(S)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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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support(S)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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E543E614-20F5-44EC-9616-9E8CB19435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81351E9-B84F-4B64-BE26-948914DF5107}" type="slidenum">
              <a:rPr lang="en-US" altLang="en-US" sz="1200"/>
              <a:pPr eaLnBrk="1" hangingPunct="1"/>
              <a:t>38</a:t>
            </a:fld>
            <a:endParaRPr lang="en-US" altLang="en-US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C8135417-537F-4D0E-A574-0EEB9BB42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7335838" cy="593725"/>
          </a:xfrm>
        </p:spPr>
        <p:txBody>
          <a:bodyPr/>
          <a:lstStyle/>
          <a:p>
            <a:pPr eaLnBrk="1" hangingPunct="1"/>
            <a:r>
              <a:rPr lang="en-US" altLang="en-US" sz="3200"/>
              <a:t>What Constraints Are Convertible?</a:t>
            </a:r>
          </a:p>
        </p:txBody>
      </p:sp>
      <p:graphicFrame>
        <p:nvGraphicFramePr>
          <p:cNvPr id="1567794" name="Group 50">
            <a:extLst>
              <a:ext uri="{FF2B5EF4-FFF2-40B4-BE49-F238E27FC236}">
                <a16:creationId xmlns:a16="http://schemas.microsoft.com/office/drawing/2014/main" id="{0CA4A36E-1F33-4162-90C7-135F4F94244B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828800"/>
          <a:ext cx="8458200" cy="4402138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92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Constraint</a:t>
                      </a:r>
                    </a:p>
                  </a:txBody>
                  <a:tcPr marT="45717" marB="457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Convertible anti-monotone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Convertible monotone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Strongly convertible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avg(S)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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v</a:t>
                      </a:r>
                    </a:p>
                  </a:txBody>
                  <a:tcPr marT="45717" marB="457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3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median(S)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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v</a:t>
                      </a:r>
                    </a:p>
                  </a:txBody>
                  <a:tcPr marT="45717" marB="457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8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sum(S)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 (items could be of any value, v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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0)</a:t>
                      </a:r>
                    </a:p>
                  </a:txBody>
                  <a:tcPr marT="45717" marB="457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sum(S)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 (items could be of any value, v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0)</a:t>
                      </a:r>
                    </a:p>
                  </a:txBody>
                  <a:tcPr marT="45717" marB="457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2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sum(S)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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v (items could be of any value, v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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0)</a:t>
                      </a:r>
                    </a:p>
                  </a:txBody>
                  <a:tcPr marT="45717" marB="457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78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sum(S)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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v (items could be of any value, v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Symbol" pitchFamily="18" charset="2"/>
                        </a:rPr>
                        <a:t>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sym typeface="Wingdings" pitchFamily="2" charset="2"/>
                        </a:rPr>
                        <a:t>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0)</a:t>
                      </a:r>
                    </a:p>
                  </a:txBody>
                  <a:tcPr marT="45717" marB="457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……</a:t>
                      </a:r>
                    </a:p>
                  </a:txBody>
                  <a:tcPr marT="45717" marB="4571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7" marB="4571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6">
            <a:extLst>
              <a:ext uri="{FF2B5EF4-FFF2-40B4-BE49-F238E27FC236}">
                <a16:creationId xmlns:a16="http://schemas.microsoft.com/office/drawing/2014/main" id="{B95AF7F8-B457-48D4-A9FD-24E1B2B7B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B56D7E0-CE76-46EA-8BA4-E6BFB44FA5FA}" type="slidenum">
              <a:rPr lang="en-US" altLang="en-US" sz="1200"/>
              <a:pPr eaLnBrk="1" hangingPunct="1"/>
              <a:t>39</a:t>
            </a:fld>
            <a:endParaRPr lang="en-US" altLang="en-US" sz="12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93ADA243-49F3-48E3-9F5E-AA6D781E3A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7 : Advanced Frequent Pattern Mining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CDAFA85C-BAF6-46A9-9CA1-C3EB32018C4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95400"/>
            <a:ext cx="8382000" cy="52578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Mining: A Road Map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 in Multi-Level, Multi-Dimensional Space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Constraint-Based Frequent Pattern Mining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High-Dimensional Data and Colossal Patterns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Compressed or Approximate Patterns 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Exploration and Application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Summary</a:t>
            </a:r>
          </a:p>
        </p:txBody>
      </p:sp>
      <p:sp>
        <p:nvSpPr>
          <p:cNvPr id="43013" name="AutoShape 4">
            <a:extLst>
              <a:ext uri="{FF2B5EF4-FFF2-40B4-BE49-F238E27FC236}">
                <a16:creationId xmlns:a16="http://schemas.microsoft.com/office/drawing/2014/main" id="{467A1F77-B0FE-4001-81D4-0363579174E3}"/>
              </a:ext>
            </a:extLst>
          </p:cNvPr>
          <p:cNvSpPr>
            <a:spLocks noChangeArrowheads="1"/>
          </p:cNvSpPr>
          <p:nvPr/>
        </p:nvSpPr>
        <p:spPr bwMode="auto">
          <a:xfrm rot="-1988414">
            <a:off x="8112125" y="3278188"/>
            <a:ext cx="381000" cy="45720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>
            <a:extLst>
              <a:ext uri="{FF2B5EF4-FFF2-40B4-BE49-F238E27FC236}">
                <a16:creationId xmlns:a16="http://schemas.microsoft.com/office/drawing/2014/main" id="{949D13BE-2927-42F7-BB7A-FA9B42A01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04FADB6-B4BD-4D84-B6BB-E6164B2679BC}" type="slidenum">
              <a:rPr lang="en-US" altLang="en-US" sz="1200"/>
              <a:pPr eaLnBrk="1" hangingPunct="1"/>
              <a:t>40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8D4E7C8A-0A34-43F8-9EA9-B0CB3FCE8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/>
              <a:t>Mining Colossal Frequent Patterns</a:t>
            </a:r>
            <a:endParaRPr lang="en-US" altLang="zh-CN">
              <a:ea typeface="宋体" panose="020B0503020204020204" pitchFamily="2" charset="-122"/>
            </a:endParaRP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4F436BC2-8176-4644-9EFC-A468B389D41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19200"/>
            <a:ext cx="8229600" cy="5334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>
                <a:latin typeface="Arial" panose="020B0604020202020204" pitchFamily="34" charset="0"/>
              </a:rPr>
              <a:t>F. Zhu, X. Yan, J. Han, P. S. Yu, and H. Cheng, “Mining Colossal Frequent Patterns by Core Pattern Fusion”, ICDE'07.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We have many algorithms, but can we mine large (i.e., colossal) patterns? 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  <a:cs typeface="Tahoma" panose="020B0604030504040204" pitchFamily="34" charset="0"/>
              </a:rPr>
              <a:t>― 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such as just size around 50 to 100?  Unfortunately, not!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Why not? ― the curse of “downward closure” of frequent patterns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The “downward closure” property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Any sub-pattern of a frequent pattern is frequent.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Example.  If (a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1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, 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2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, …, 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100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) is frequent, then 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1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, 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2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, …, 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100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, (a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1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, 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2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), (a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1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, 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3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), …, (a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1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, 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100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), (a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1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, 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2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, a</a:t>
            </a:r>
            <a:r>
              <a:rPr lang="en-US" altLang="zh-CN" sz="2000" baseline="-25000">
                <a:latin typeface="Arial" panose="020B0604020202020204" pitchFamily="34" charset="0"/>
                <a:ea typeface="宋体" panose="020B0503020204020204" pitchFamily="2" charset="-122"/>
              </a:rPr>
              <a:t>3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), … are all frequent!  There are about 2</a:t>
            </a:r>
            <a:r>
              <a:rPr lang="en-US" altLang="zh-CN" sz="2000" baseline="30000">
                <a:latin typeface="Arial" panose="020B0604020202020204" pitchFamily="34" charset="0"/>
                <a:ea typeface="宋体" panose="020B0503020204020204" pitchFamily="2" charset="-122"/>
              </a:rPr>
              <a:t>100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 such frequent itemsets!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No matter using breadth-first search (e.g., Apriori) or depth-first search (FPgrowth), we have to examine so many patterns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Thus the downward closure property leads to explosion!</a:t>
            </a:r>
          </a:p>
        </p:txBody>
      </p:sp>
    </p:spTree>
  </p:cSld>
  <p:clrMapOvr>
    <a:masterClrMapping/>
  </p:clrMapOvr>
  <p:transition spd="med"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7">
            <a:extLst>
              <a:ext uri="{FF2B5EF4-FFF2-40B4-BE49-F238E27FC236}">
                <a16:creationId xmlns:a16="http://schemas.microsoft.com/office/drawing/2014/main" id="{55B14AFF-E899-415C-9515-994FA60002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66A60AF-618D-435E-BB45-F5B25F1D0B09}" type="slidenum">
              <a:rPr lang="en-US" altLang="en-US" sz="1200"/>
              <a:pPr eaLnBrk="1" hangingPunct="1"/>
              <a:t>41</a:t>
            </a:fld>
            <a:endParaRPr lang="en-US" altLang="en-US" sz="1200"/>
          </a:p>
        </p:txBody>
      </p:sp>
      <p:sp>
        <p:nvSpPr>
          <p:cNvPr id="1977346" name="Text Box 2">
            <a:extLst>
              <a:ext uri="{FF2B5EF4-FFF2-40B4-BE49-F238E27FC236}">
                <a16:creationId xmlns:a16="http://schemas.microsoft.com/office/drawing/2014/main" id="{7A5E7A8F-1508-49CC-9F28-3C8474726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295400"/>
            <a:ext cx="43434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Closed/maximal patterns may partially alleviate the problem but not really solve it: We often need to mine scattered large patterns!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</a:rPr>
              <a:t>Let the minimum support threshold </a:t>
            </a:r>
            <a:r>
              <a:rPr lang="el-GR" altLang="zh-CN" sz="2000">
                <a:latin typeface="Arial" panose="020B0604020202020204" pitchFamily="34" charset="0"/>
                <a:ea typeface="宋体" panose="020B0503020204020204" pitchFamily="2" charset="-122"/>
                <a:cs typeface="Arial" panose="020B0604020202020204" pitchFamily="34" charset="0"/>
              </a:rPr>
              <a:t>σ</a:t>
            </a: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  <a:cs typeface="Arial" panose="020B0604020202020204" pitchFamily="34" charset="0"/>
              </a:rPr>
              <a:t>= 20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  <a:cs typeface="Arial" panose="020B0604020202020204" pitchFamily="34" charset="0"/>
              </a:rPr>
              <a:t>There are        frequent patterns of size 20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  <a:cs typeface="Arial" panose="020B0604020202020204" pitchFamily="34" charset="0"/>
              </a:rPr>
              <a:t>Each is closed and maximal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  <a:cs typeface="Arial" panose="020B0604020202020204" pitchFamily="34" charset="0"/>
              </a:rPr>
              <a:t># patterns =</a:t>
            </a:r>
          </a:p>
          <a:p>
            <a:pPr eaLnBrk="1" hangingPunct="1">
              <a:spcBef>
                <a:spcPct val="50000"/>
              </a:spcBef>
            </a:pPr>
            <a:endParaRPr lang="en-US" altLang="zh-CN" sz="2000">
              <a:latin typeface="Arial" panose="020B0604020202020204" pitchFamily="34" charset="0"/>
              <a:ea typeface="宋体" panose="020B0503020204020204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000">
                <a:latin typeface="Arial" panose="020B0604020202020204" pitchFamily="34" charset="0"/>
                <a:ea typeface="宋体" panose="020B0503020204020204" pitchFamily="2" charset="-122"/>
                <a:cs typeface="Arial" panose="020B0604020202020204" pitchFamily="34" charset="0"/>
              </a:rPr>
              <a:t>The size of the answer set is exponential to n</a:t>
            </a:r>
            <a:endParaRPr lang="el-GR" altLang="zh-CN" sz="2000">
              <a:latin typeface="Arial" panose="020B0604020202020204" pitchFamily="34" charset="0"/>
              <a:ea typeface="宋体" panose="020B0503020204020204" pitchFamily="2" charset="-122"/>
              <a:cs typeface="Arial" panose="020B0604020202020204" pitchFamily="34" charset="0"/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90F9AB11-D9CD-4453-90F2-13666FC0F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zh-CN" sz="3200" b="1">
                <a:ea typeface="宋体" panose="020B0503020204020204" pitchFamily="2" charset="-122"/>
              </a:rPr>
              <a:t>Colossal Patterns: A Motivating Example</a:t>
            </a:r>
          </a:p>
        </p:txBody>
      </p:sp>
      <p:sp>
        <p:nvSpPr>
          <p:cNvPr id="1977348" name="Rectangle 4">
            <a:extLst>
              <a:ext uri="{FF2B5EF4-FFF2-40B4-BE49-F238E27FC236}">
                <a16:creationId xmlns:a16="http://schemas.microsoft.com/office/drawing/2014/main" id="{4F5AAD2C-3A94-43A9-A7A0-9152D7E99B2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676400"/>
            <a:ext cx="2743200" cy="1981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T1 = 1 2 3 4 ….. 39 40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T2 = 1 2 3 4 ….. 39 40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:              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:                  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:                       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:                            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T40=1 2 3 4 ….. 39 40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1800" b="1">
              <a:ea typeface="宋体" panose="020B0503020204020204" pitchFamily="2" charset="-122"/>
            </a:endParaRPr>
          </a:p>
        </p:txBody>
      </p:sp>
      <p:graphicFrame>
        <p:nvGraphicFramePr>
          <p:cNvPr id="1977349" name="Object 5">
            <a:extLst>
              <a:ext uri="{FF2B5EF4-FFF2-40B4-BE49-F238E27FC236}">
                <a16:creationId xmlns:a16="http://schemas.microsoft.com/office/drawing/2014/main" id="{2A9D9276-F8A5-428F-B65E-8DB42FC02F2F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5975350" y="3286125"/>
          <a:ext cx="3937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42751" imgH="457002" progId="Equation.3">
                  <p:embed/>
                </p:oleObj>
              </mc:Choice>
              <mc:Fallback>
                <p:oleObj name="公式" r:id="rId3" imgW="342751" imgH="45700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350" y="3286125"/>
                        <a:ext cx="3937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7350" name="Rectangle 6">
            <a:extLst>
              <a:ext uri="{FF2B5EF4-FFF2-40B4-BE49-F238E27FC236}">
                <a16:creationId xmlns:a16="http://schemas.microsoft.com/office/drawing/2014/main" id="{A5205AD8-A522-4846-9B75-FAA63EF28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419600"/>
            <a:ext cx="27432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T</a:t>
            </a:r>
            <a:r>
              <a:rPr lang="en-US" altLang="zh-CN" sz="1200" b="1">
                <a:ea typeface="宋体" panose="020B0503020204020204" pitchFamily="2" charset="-122"/>
              </a:rPr>
              <a:t>1</a:t>
            </a:r>
            <a:r>
              <a:rPr lang="en-US" altLang="zh-CN" sz="1800" b="1">
                <a:ea typeface="宋体" panose="020B0503020204020204" pitchFamily="2" charset="-122"/>
              </a:rPr>
              <a:t> = 2 3 4 ….. 39 40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T</a:t>
            </a:r>
            <a:r>
              <a:rPr lang="en-US" altLang="zh-CN" sz="1200" b="1">
                <a:ea typeface="宋体" panose="020B0503020204020204" pitchFamily="2" charset="-122"/>
              </a:rPr>
              <a:t>2</a:t>
            </a:r>
            <a:r>
              <a:rPr lang="en-US" altLang="zh-CN" sz="1800" b="1">
                <a:ea typeface="宋体" panose="020B0503020204020204" pitchFamily="2" charset="-122"/>
              </a:rPr>
              <a:t> = 1 3 4 ….. 39 40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:             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:                 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:                      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:                           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B0503020204020204" pitchFamily="2" charset="-122"/>
              </a:rPr>
              <a:t>T</a:t>
            </a:r>
            <a:r>
              <a:rPr lang="en-US" altLang="zh-CN" sz="1200" b="1">
                <a:ea typeface="宋体" panose="020B0503020204020204" pitchFamily="2" charset="-122"/>
              </a:rPr>
              <a:t>40</a:t>
            </a:r>
            <a:r>
              <a:rPr lang="en-US" altLang="zh-CN" sz="1800" b="1">
                <a:ea typeface="宋体" panose="020B0503020204020204" pitchFamily="2" charset="-122"/>
              </a:rPr>
              <a:t>=1 2 3 4 ……  39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800" b="1">
              <a:ea typeface="宋体" panose="020B0503020204020204" pitchFamily="2" charset="-122"/>
            </a:endParaRPr>
          </a:p>
        </p:txBody>
      </p:sp>
      <p:graphicFrame>
        <p:nvGraphicFramePr>
          <p:cNvPr id="1977351" name="Object 7">
            <a:extLst>
              <a:ext uri="{FF2B5EF4-FFF2-40B4-BE49-F238E27FC236}">
                <a16:creationId xmlns:a16="http://schemas.microsoft.com/office/drawing/2014/main" id="{AF9B5230-BA8B-4CC8-92D2-DEE487B33841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6400800" y="4572000"/>
          <a:ext cx="21336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06500" imgH="457200" progId="Equation.3">
                  <p:embed/>
                </p:oleObj>
              </mc:Choice>
              <mc:Fallback>
                <p:oleObj name="Equation" r:id="rId5" imgW="12065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572000"/>
                        <a:ext cx="21336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7352" name="Text Box 8">
            <a:extLst>
              <a:ext uri="{FF2B5EF4-FFF2-40B4-BE49-F238E27FC236}">
                <a16:creationId xmlns:a16="http://schemas.microsoft.com/office/drawing/2014/main" id="{CF45C1CC-29C1-438B-A3F9-CA757ABFA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46525"/>
            <a:ext cx="518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Arial" panose="020B0604020202020204" pitchFamily="34" charset="0"/>
                <a:ea typeface="宋体" panose="020B0503020204020204" pitchFamily="2" charset="-122"/>
              </a:rPr>
              <a:t>Then delete the items on the diagonal</a:t>
            </a:r>
          </a:p>
        </p:txBody>
      </p:sp>
      <p:sp>
        <p:nvSpPr>
          <p:cNvPr id="1977353" name="Text Box 9">
            <a:extLst>
              <a:ext uri="{FF2B5EF4-FFF2-40B4-BE49-F238E27FC236}">
                <a16:creationId xmlns:a16="http://schemas.microsoft.com/office/drawing/2014/main" id="{D96E8D90-91C6-499A-8A78-69650B90A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79525"/>
            <a:ext cx="518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Let’s make a set of 40 transactions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" dur="500"/>
                                        <p:tgtEl>
                                          <p:spTgt spid="1977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7346" grpId="0"/>
      <p:bldP spid="1977348" grpId="0" build="p"/>
      <p:bldP spid="1977350" grpId="0"/>
      <p:bldP spid="1977352" grpId="0"/>
      <p:bldP spid="1977352" grpId="1"/>
      <p:bldP spid="197735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6">
            <a:extLst>
              <a:ext uri="{FF2B5EF4-FFF2-40B4-BE49-F238E27FC236}">
                <a16:creationId xmlns:a16="http://schemas.microsoft.com/office/drawing/2014/main" id="{3103DD24-0180-4CDD-AFF2-797B2835C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9D4E20B-9CBD-4DE3-AF26-8E3D7B8A64A7}" type="slidenum">
              <a:rPr lang="en-US" altLang="en-US" sz="1200"/>
              <a:pPr eaLnBrk="1" hangingPunct="1"/>
              <a:t>42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ADF8EDD1-ED55-45EE-B5BE-A09741910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Colossal Pattern Set: Small but Interesting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53651E80-4848-4982-A56B-90D533C0FBF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371600"/>
            <a:ext cx="3886200" cy="5105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It is often the case that only a small number of patterns are colossal, i.e., of large size</a:t>
            </a:r>
          </a:p>
          <a:p>
            <a:pPr eaLnBrk="1" hangingPunct="1">
              <a:lnSpc>
                <a:spcPct val="120000"/>
              </a:lnSpc>
            </a:pP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Colossal patterns are usually attached with greater importance than those of small pattern sizes</a:t>
            </a:r>
          </a:p>
        </p:txBody>
      </p:sp>
      <p:pic>
        <p:nvPicPr>
          <p:cNvPr id="46085" name="Picture 4" descr="patdistribution">
            <a:extLst>
              <a:ext uri="{FF2B5EF4-FFF2-40B4-BE49-F238E27FC236}">
                <a16:creationId xmlns:a16="http://schemas.microsoft.com/office/drawing/2014/main" id="{E1ED4B50-20B2-4018-A121-072EEBC994C7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62400" y="1958975"/>
            <a:ext cx="5029200" cy="3222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6">
            <a:extLst>
              <a:ext uri="{FF2B5EF4-FFF2-40B4-BE49-F238E27FC236}">
                <a16:creationId xmlns:a16="http://schemas.microsoft.com/office/drawing/2014/main" id="{15D3B7FC-F330-4DF8-ABC4-F413C0807E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D284413-EAE2-421E-A9C8-CC158DB5446F}" type="slidenum">
              <a:rPr lang="en-US" altLang="en-US" sz="1200"/>
              <a:pPr eaLnBrk="1" hangingPunct="1"/>
              <a:t>43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46AC686E-4449-4E9B-87B7-4F0A7E8F4B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zh-CN" sz="3200" b="1">
                <a:ea typeface="宋体" panose="02010600030101010101" pitchFamily="2" charset="-122"/>
              </a:rPr>
              <a:t>Mining Colossal Patterns: Motivation and Philosophy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A9FAF97A-E9ED-4574-8A21-6C6F5AB9C96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8458200" cy="5105400"/>
          </a:xfrm>
        </p:spPr>
        <p:txBody>
          <a:bodyPr/>
          <a:lstStyle/>
          <a:p>
            <a:pPr eaLnBrk="1" hangingPunct="1"/>
            <a:r>
              <a:rPr lang="en-US" altLang="zh-CN" sz="2000">
                <a:ea typeface="宋体" panose="02010600030101010101" pitchFamily="2" charset="-122"/>
                <a:cs typeface="Arial" panose="020B0604020202020204" pitchFamily="34" charset="0"/>
              </a:rPr>
              <a:t>Motivation: Many real-world tasks need mining colossal patterns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  <a:cs typeface="Arial" panose="020B0604020202020204" pitchFamily="34" charset="0"/>
              </a:rPr>
              <a:t>Micro-array analysis in bioinformatics (when support is low)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  <a:cs typeface="Arial" panose="020B0604020202020204" pitchFamily="34" charset="0"/>
              </a:rPr>
              <a:t>Biological sequence patterns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  <a:cs typeface="Arial" panose="020B0604020202020204" pitchFamily="34" charset="0"/>
              </a:rPr>
              <a:t>Biological/sociological/information graph pattern mining</a:t>
            </a:r>
          </a:p>
          <a:p>
            <a:pPr eaLnBrk="1" hangingPunct="1"/>
            <a:r>
              <a:rPr lang="en-US" altLang="zh-CN" sz="2000" i="1">
                <a:ea typeface="宋体" panose="02010600030101010101" pitchFamily="2" charset="-122"/>
                <a:cs typeface="Arial" panose="020B0604020202020204" pitchFamily="34" charset="0"/>
              </a:rPr>
              <a:t>No hope for completeness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  <a:cs typeface="Arial" panose="020B0604020202020204" pitchFamily="34" charset="0"/>
              </a:rPr>
              <a:t>If the mining of mid-sized patterns is explosive in size, there is no hope to find colossal patterns efficiently by insisting “complete set” mining philosophy</a:t>
            </a:r>
          </a:p>
          <a:p>
            <a:pPr eaLnBrk="1" hangingPunct="1"/>
            <a:r>
              <a:rPr lang="en-US" altLang="zh-CN" sz="2000" i="1">
                <a:ea typeface="宋体" panose="02010600030101010101" pitchFamily="2" charset="-122"/>
                <a:cs typeface="Arial" panose="020B0604020202020204" pitchFamily="34" charset="0"/>
              </a:rPr>
              <a:t>Jumping out of the swamp of the mid-sized results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  <a:cs typeface="Arial" panose="020B0604020202020204" pitchFamily="34" charset="0"/>
              </a:rPr>
              <a:t>What we may develop is a philosophy that may jump out of the swamp of mid-sized results that are explosive in size and jump to reach colossal patterns</a:t>
            </a:r>
          </a:p>
          <a:p>
            <a:pPr eaLnBrk="1" hangingPunct="1"/>
            <a:r>
              <a:rPr lang="en-US" altLang="zh-CN" sz="2000" i="1">
                <a:ea typeface="宋体" panose="02010600030101010101" pitchFamily="2" charset="-122"/>
                <a:cs typeface="Arial" panose="020B0604020202020204" pitchFamily="34" charset="0"/>
              </a:rPr>
              <a:t>Striving for mining almost complete colossal patterns</a:t>
            </a:r>
          </a:p>
          <a:p>
            <a:pPr lvl="1" eaLnBrk="1" hangingPunct="1"/>
            <a:r>
              <a:rPr lang="en-US" altLang="zh-CN" sz="2000">
                <a:ea typeface="宋体" panose="02010600030101010101" pitchFamily="2" charset="-122"/>
                <a:cs typeface="Arial" panose="020B0604020202020204" pitchFamily="34" charset="0"/>
              </a:rPr>
              <a:t>The key is to develop a mechanism that may quickly reach colossal patterns and discover most of them</a:t>
            </a:r>
            <a:endParaRPr lang="en-US" altLang="zh-CN" sz="1800"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7">
            <a:extLst>
              <a:ext uri="{FF2B5EF4-FFF2-40B4-BE49-F238E27FC236}">
                <a16:creationId xmlns:a16="http://schemas.microsoft.com/office/drawing/2014/main" id="{EB160430-3118-4807-90E6-2D72395B58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908313E-B656-43CD-B410-EA4B43FF81C9}" type="slidenum">
              <a:rPr lang="en-US" altLang="en-US" sz="1200"/>
              <a:pPr eaLnBrk="1" hangingPunct="1"/>
              <a:t>44</a:t>
            </a:fld>
            <a:endParaRPr lang="en-US" altLang="en-US" sz="1200"/>
          </a:p>
        </p:txBody>
      </p:sp>
      <p:sp>
        <p:nvSpPr>
          <p:cNvPr id="1983490" name="Text Box 2">
            <a:extLst>
              <a:ext uri="{FF2B5EF4-FFF2-40B4-BE49-F238E27FC236}">
                <a16:creationId xmlns:a16="http://schemas.microsoft.com/office/drawing/2014/main" id="{AE75837C-1E11-49E7-9EA5-63C26F285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295400"/>
            <a:ext cx="5334000" cy="283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Let the min-support threshold </a:t>
            </a:r>
            <a:r>
              <a:rPr lang="el-GR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20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Then there are         closed/maximal frequent patterns of size 20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However, there is only one with size greater than 20, (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i.e.,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colossal):</a:t>
            </a:r>
          </a:p>
          <a:p>
            <a:pPr lvl="1" eaLnBrk="1" hangingPunct="1">
              <a:spcBef>
                <a:spcPct val="50000"/>
              </a:spcBef>
            </a:pPr>
            <a:r>
              <a:rPr lang="el-GR" altLang="zh-CN">
                <a:latin typeface="Arial" panose="020B0604020202020204" pitchFamily="34" charset="0"/>
                <a:ea typeface="宋体" panose="02010600030101010101" pitchFamily="2" charset="-122"/>
              </a:rPr>
              <a:t>α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= {41,42,…,79} of size 39</a:t>
            </a:r>
            <a:endParaRPr lang="el-GR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6BC29BCE-54A2-4325-85A1-0E1299B77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8991600" cy="609600"/>
          </a:xfrm>
        </p:spPr>
        <p:txBody>
          <a:bodyPr/>
          <a:lstStyle/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Alas, A Show of Colossal Pattern Mining!</a:t>
            </a:r>
          </a:p>
        </p:txBody>
      </p:sp>
      <p:graphicFrame>
        <p:nvGraphicFramePr>
          <p:cNvPr id="1983492" name="Object 4">
            <a:extLst>
              <a:ext uri="{FF2B5EF4-FFF2-40B4-BE49-F238E27FC236}">
                <a16:creationId xmlns:a16="http://schemas.microsoft.com/office/drawing/2014/main" id="{EF9AAE35-324F-4F07-A2EE-D68D6228C033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5410200" y="1752600"/>
          <a:ext cx="7620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42751" imgH="457002" progId="Equation.3">
                  <p:embed/>
                </p:oleObj>
              </mc:Choice>
              <mc:Fallback>
                <p:oleObj name="公式" r:id="rId3" imgW="342751" imgH="45700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752600"/>
                        <a:ext cx="76200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3493" name="Rectangle 5">
            <a:extLst>
              <a:ext uri="{FF2B5EF4-FFF2-40B4-BE49-F238E27FC236}">
                <a16:creationId xmlns:a16="http://schemas.microsoft.com/office/drawing/2014/main" id="{7C29DE10-DC5A-4060-8572-63521985B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76400"/>
            <a:ext cx="27432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T</a:t>
            </a:r>
            <a:r>
              <a:rPr lang="en-US" altLang="zh-CN" sz="1200" b="1">
                <a:ea typeface="宋体" panose="02010600030101010101" pitchFamily="2" charset="-122"/>
              </a:rPr>
              <a:t>1</a:t>
            </a:r>
            <a:r>
              <a:rPr lang="en-US" altLang="zh-CN" sz="1800" b="1">
                <a:ea typeface="宋体" panose="02010600030101010101" pitchFamily="2" charset="-122"/>
              </a:rPr>
              <a:t> = 2 3 4 …..  39 40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T</a:t>
            </a:r>
            <a:r>
              <a:rPr lang="en-US" altLang="zh-CN" sz="1200" b="1">
                <a:ea typeface="宋体" panose="02010600030101010101" pitchFamily="2" charset="-122"/>
              </a:rPr>
              <a:t>2</a:t>
            </a:r>
            <a:r>
              <a:rPr lang="en-US" altLang="zh-CN" sz="1800" b="1">
                <a:ea typeface="宋体" panose="02010600030101010101" pitchFamily="2" charset="-122"/>
              </a:rPr>
              <a:t> = 1 3 4 …..  39 40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:             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:                 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:                      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:                           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T</a:t>
            </a:r>
            <a:r>
              <a:rPr lang="en-US" altLang="zh-CN" sz="1200" b="1">
                <a:ea typeface="宋体" panose="02010600030101010101" pitchFamily="2" charset="-122"/>
              </a:rPr>
              <a:t>40</a:t>
            </a:r>
            <a:r>
              <a:rPr lang="en-US" altLang="zh-CN" sz="1800" b="1">
                <a:ea typeface="宋体" panose="02010600030101010101" pitchFamily="2" charset="-122"/>
              </a:rPr>
              <a:t>=1 2 3 4 ……   39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800" b="1">
              <a:ea typeface="宋体" panose="02010600030101010101" pitchFamily="2" charset="-122"/>
            </a:endParaRPr>
          </a:p>
        </p:txBody>
      </p:sp>
      <p:sp>
        <p:nvSpPr>
          <p:cNvPr id="1983494" name="Rectangle 6">
            <a:extLst>
              <a:ext uri="{FF2B5EF4-FFF2-40B4-BE49-F238E27FC236}">
                <a16:creationId xmlns:a16="http://schemas.microsoft.com/office/drawing/2014/main" id="{21589C46-8C4C-4B80-9BA8-9FD23D659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86200"/>
            <a:ext cx="32766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T</a:t>
            </a:r>
            <a:r>
              <a:rPr lang="en-US" altLang="zh-CN" sz="1200" b="1">
                <a:ea typeface="宋体" panose="02010600030101010101" pitchFamily="2" charset="-122"/>
              </a:rPr>
              <a:t>41</a:t>
            </a:r>
            <a:r>
              <a:rPr lang="en-US" altLang="zh-CN" sz="1800" b="1">
                <a:ea typeface="宋体" panose="02010600030101010101" pitchFamily="2" charset="-122"/>
              </a:rPr>
              <a:t>= 41 42 43 ….. 79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T</a:t>
            </a:r>
            <a:r>
              <a:rPr lang="en-US" altLang="zh-CN" sz="1200" b="1">
                <a:ea typeface="宋体" panose="02010600030101010101" pitchFamily="2" charset="-122"/>
              </a:rPr>
              <a:t>42</a:t>
            </a:r>
            <a:r>
              <a:rPr lang="en-US" altLang="zh-CN" sz="1800" b="1">
                <a:ea typeface="宋体" panose="02010600030101010101" pitchFamily="2" charset="-122"/>
              </a:rPr>
              <a:t>= 41 42 43 ….. 79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:             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:                 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T</a:t>
            </a:r>
            <a:r>
              <a:rPr lang="en-US" altLang="zh-CN" sz="1200" b="1">
                <a:ea typeface="宋体" panose="02010600030101010101" pitchFamily="2" charset="-122"/>
              </a:rPr>
              <a:t>60</a:t>
            </a:r>
            <a:r>
              <a:rPr lang="en-US" altLang="zh-CN" sz="1800" b="1">
                <a:ea typeface="宋体" panose="02010600030101010101" pitchFamily="2" charset="-122"/>
              </a:rPr>
              <a:t>= 41 42 43  …  79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800" b="1">
              <a:ea typeface="宋体" panose="02010600030101010101" pitchFamily="2" charset="-122"/>
            </a:endParaRPr>
          </a:p>
        </p:txBody>
      </p:sp>
      <p:sp>
        <p:nvSpPr>
          <p:cNvPr id="1983495" name="Text Box 7">
            <a:extLst>
              <a:ext uri="{FF2B5EF4-FFF2-40B4-BE49-F238E27FC236}">
                <a16:creationId xmlns:a16="http://schemas.microsoft.com/office/drawing/2014/main" id="{2E553F53-E636-4419-B511-DD54DA423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343400"/>
            <a:ext cx="5562600" cy="210978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The existing fastest mining algorithms (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e.g.,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 FPClose, LCM) fail to complete running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Our algorithm outputs this colossal pattern in seconds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3490" grpId="0"/>
      <p:bldP spid="1983493" grpId="0"/>
      <p:bldP spid="1983494" grpId="0"/>
      <p:bldP spid="198349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>
            <a:extLst>
              <a:ext uri="{FF2B5EF4-FFF2-40B4-BE49-F238E27FC236}">
                <a16:creationId xmlns:a16="http://schemas.microsoft.com/office/drawing/2014/main" id="{B50BBB10-0FD5-47FE-969D-5BB85E57B0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EF02134-9E57-4120-8957-66EA00CAE7A9}" type="slidenum">
              <a:rPr lang="en-US" altLang="en-US" sz="1200"/>
              <a:pPr eaLnBrk="1" hangingPunct="1"/>
              <a:t>45</a:t>
            </a:fld>
            <a:endParaRPr lang="en-US" altLang="en-US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E0264E41-DE61-4E1B-873C-801CF02094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Methodology of Pattern-Fusion Strategy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66D74E3E-E0D8-4E00-A29F-ACB257600C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153400" cy="5105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Pattern-Fusion traverses the tree in a bounded-breadth way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Always pushes down a frontier of a bounded-size candidate pool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Only a fixed number of patterns in the current candidate pool will be used as the starting nodes to go down in the pattern tree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― t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hus avoids the exponential search space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Pattern-Fusion identifies “shortcuts” whenever possible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Pattern growth is not performed by single-item addition but by leaps and bounded: agglomeration of multiple patterns in the pool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These shortcuts will direct the search down the tree much more rapidly towards the colossal patterns</a:t>
            </a:r>
          </a:p>
        </p:txBody>
      </p:sp>
    </p:spTree>
  </p:cSld>
  <p:clrMapOvr>
    <a:masterClrMapping/>
  </p:clrMapOvr>
  <p:transition spd="med"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>
            <a:extLst>
              <a:ext uri="{FF2B5EF4-FFF2-40B4-BE49-F238E27FC236}">
                <a16:creationId xmlns:a16="http://schemas.microsoft.com/office/drawing/2014/main" id="{54296930-287B-4151-9DFF-1890C3B0DE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4D8287A-401B-459E-BFD9-B54774B3D906}" type="slidenum">
              <a:rPr lang="en-US" altLang="en-US" sz="1200"/>
              <a:pPr eaLnBrk="1" hangingPunct="1"/>
              <a:t>46</a:t>
            </a:fld>
            <a:endParaRPr lang="en-US" altLang="en-US" sz="1200"/>
          </a:p>
        </p:txBody>
      </p:sp>
      <p:sp>
        <p:nvSpPr>
          <p:cNvPr id="50179" name="Oval 2">
            <a:extLst>
              <a:ext uri="{FF2B5EF4-FFF2-40B4-BE49-F238E27FC236}">
                <a16:creationId xmlns:a16="http://schemas.microsoft.com/office/drawing/2014/main" id="{A3A59FA0-916A-4023-8629-3CE2DCF7B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057400"/>
            <a:ext cx="3200400" cy="32004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lang="en-US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4446FD5C-4F8C-479B-94B7-3CBEDC95F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76200" y="228600"/>
            <a:ext cx="9220200" cy="609600"/>
          </a:xfrm>
        </p:spPr>
        <p:txBody>
          <a:bodyPr/>
          <a:lstStyle/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Observation: Colossal Patterns and Core Patterns</a:t>
            </a:r>
          </a:p>
        </p:txBody>
      </p:sp>
      <p:sp>
        <p:nvSpPr>
          <p:cNvPr id="1987588" name="Rectangle 4">
            <a:extLst>
              <a:ext uri="{FF2B5EF4-FFF2-40B4-BE49-F238E27FC236}">
                <a16:creationId xmlns:a16="http://schemas.microsoft.com/office/drawing/2014/main" id="{52F2F0B9-DE8C-4F5C-8CC0-987C4A293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286000"/>
            <a:ext cx="3200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87589" name="Text Box 5">
            <a:extLst>
              <a:ext uri="{FF2B5EF4-FFF2-40B4-BE49-F238E27FC236}">
                <a16:creationId xmlns:a16="http://schemas.microsoft.com/office/drawing/2014/main" id="{D517A51C-D2A3-42A5-9B62-662A40D66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905000"/>
            <a:ext cx="2667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A colossal pattern </a:t>
            </a:r>
            <a:r>
              <a:rPr lang="el-GR" altLang="zh-CN" sz="18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α</a:t>
            </a:r>
          </a:p>
        </p:txBody>
      </p:sp>
      <p:sp>
        <p:nvSpPr>
          <p:cNvPr id="1987590" name="Text Box 6">
            <a:extLst>
              <a:ext uri="{FF2B5EF4-FFF2-40B4-BE49-F238E27FC236}">
                <a16:creationId xmlns:a16="http://schemas.microsoft.com/office/drawing/2014/main" id="{34C09CB1-8769-412F-AE18-2CED20421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133600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987591" name="Oval 7">
            <a:extLst>
              <a:ext uri="{FF2B5EF4-FFF2-40B4-BE49-F238E27FC236}">
                <a16:creationId xmlns:a16="http://schemas.microsoft.com/office/drawing/2014/main" id="{29CB1A3E-F8DE-45BC-9BA4-3DCF9687A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505200"/>
            <a:ext cx="5334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l-GR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α</a:t>
            </a:r>
            <a:endParaRPr lang="en-US" altLang="zh-CN" sz="16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87592" name="Rectangle 8">
            <a:extLst>
              <a:ext uri="{FF2B5EF4-FFF2-40B4-BE49-F238E27FC236}">
                <a16:creationId xmlns:a16="http://schemas.microsoft.com/office/drawing/2014/main" id="{A78CF89F-DFDB-4EA6-BD0D-0F1992D2C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86000"/>
            <a:ext cx="7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87593" name="Rectangle 9">
            <a:extLst>
              <a:ext uri="{FF2B5EF4-FFF2-40B4-BE49-F238E27FC236}">
                <a16:creationId xmlns:a16="http://schemas.microsoft.com/office/drawing/2014/main" id="{A5FA1DD6-B7A8-4276-9EF0-F93BFF04C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743200"/>
            <a:ext cx="3200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1987594" name="Group 10">
            <a:extLst>
              <a:ext uri="{FF2B5EF4-FFF2-40B4-BE49-F238E27FC236}">
                <a16:creationId xmlns:a16="http://schemas.microsoft.com/office/drawing/2014/main" id="{78DDC580-7251-40BA-845F-70CB3F33EFF9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3657600" cy="366713"/>
            <a:chOff x="768" y="1680"/>
            <a:chExt cx="2304" cy="231"/>
          </a:xfrm>
        </p:grpSpPr>
        <p:sp>
          <p:nvSpPr>
            <p:cNvPr id="50206" name="Rectangle 11">
              <a:extLst>
                <a:ext uri="{FF2B5EF4-FFF2-40B4-BE49-F238E27FC236}">
                  <a16:creationId xmlns:a16="http://schemas.microsoft.com/office/drawing/2014/main" id="{EEA5515D-6668-49D7-ACD8-AF2383CCA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728"/>
              <a:ext cx="48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0207" name="Text Box 12">
              <a:extLst>
                <a:ext uri="{FF2B5EF4-FFF2-40B4-BE49-F238E27FC236}">
                  <a16:creationId xmlns:a16="http://schemas.microsoft.com/office/drawing/2014/main" id="{58186690-C77A-4DCE-B320-60325EEA07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680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l-GR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α</a:t>
              </a:r>
              <a:r>
                <a:rPr lang="en-US" altLang="zh-CN" sz="1200" b="1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50188" name="Text Box 13">
            <a:extLst>
              <a:ext uri="{FF2B5EF4-FFF2-40B4-BE49-F238E27FC236}">
                <a16:creationId xmlns:a16="http://schemas.microsoft.com/office/drawing/2014/main" id="{AFA49799-ACA1-415C-9BF9-065FF98B0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690688"/>
            <a:ext cx="2895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Transaction Database D</a:t>
            </a:r>
          </a:p>
        </p:txBody>
      </p:sp>
      <p:sp>
        <p:nvSpPr>
          <p:cNvPr id="1987598" name="Oval 14">
            <a:extLst>
              <a:ext uri="{FF2B5EF4-FFF2-40B4-BE49-F238E27FC236}">
                <a16:creationId xmlns:a16="http://schemas.microsoft.com/office/drawing/2014/main" id="{83E63975-98D3-4B3C-A078-D446E8EEF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276600"/>
            <a:ext cx="762000" cy="838200"/>
          </a:xfrm>
          <a:prstGeom prst="ellipse">
            <a:avLst/>
          </a:prstGeom>
          <a:solidFill>
            <a:schemeClr val="accent1">
              <a:alpha val="30196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l-GR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α</a:t>
            </a: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987599" name="Oval 15">
            <a:extLst>
              <a:ext uri="{FF2B5EF4-FFF2-40B4-BE49-F238E27FC236}">
                <a16:creationId xmlns:a16="http://schemas.microsoft.com/office/drawing/2014/main" id="{D3968FF6-2769-49F3-B86F-9F57B6CFE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505200"/>
            <a:ext cx="685800" cy="990600"/>
          </a:xfrm>
          <a:prstGeom prst="ellipse">
            <a:avLst/>
          </a:prstGeom>
          <a:solidFill>
            <a:schemeClr val="accent1">
              <a:alpha val="29019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l-GR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α</a:t>
            </a:r>
            <a:r>
              <a:rPr lang="en-US" altLang="zh-CN" sz="16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987600" name="Rectangle 16">
            <a:extLst>
              <a:ext uri="{FF2B5EF4-FFF2-40B4-BE49-F238E27FC236}">
                <a16:creationId xmlns:a16="http://schemas.microsoft.com/office/drawing/2014/main" id="{1A71C4C5-8009-4A32-BA90-71006D290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200400"/>
            <a:ext cx="3200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87601" name="Rectangle 17">
            <a:extLst>
              <a:ext uri="{FF2B5EF4-FFF2-40B4-BE49-F238E27FC236}">
                <a16:creationId xmlns:a16="http://schemas.microsoft.com/office/drawing/2014/main" id="{316BA1CA-0B74-46E5-B351-8C952FD6B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200400"/>
            <a:ext cx="7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87602" name="Text Box 18">
            <a:extLst>
              <a:ext uri="{FF2B5EF4-FFF2-40B4-BE49-F238E27FC236}">
                <a16:creationId xmlns:a16="http://schemas.microsoft.com/office/drawing/2014/main" id="{AC75B4A0-0846-4ECD-9EDA-130E1CBA5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124200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α</a:t>
            </a:r>
            <a:r>
              <a:rPr lang="en-US" altLang="zh-CN" sz="12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987603" name="Rectangle 19">
            <a:extLst>
              <a:ext uri="{FF2B5EF4-FFF2-40B4-BE49-F238E27FC236}">
                <a16:creationId xmlns:a16="http://schemas.microsoft.com/office/drawing/2014/main" id="{F85F888E-1AD1-4453-9130-D37FB9C54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286000"/>
            <a:ext cx="762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87604" name="Text Box 20">
            <a:extLst>
              <a:ext uri="{FF2B5EF4-FFF2-40B4-BE49-F238E27FC236}">
                <a16:creationId xmlns:a16="http://schemas.microsoft.com/office/drawing/2014/main" id="{CF303E6C-0154-421E-9854-8B46B8562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224088"/>
            <a:ext cx="304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α</a:t>
            </a:r>
            <a:endParaRPr lang="en-US" altLang="zh-CN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96" name="Text Box 21">
            <a:extLst>
              <a:ext uri="{FF2B5EF4-FFF2-40B4-BE49-F238E27FC236}">
                <a16:creationId xmlns:a16="http://schemas.microsoft.com/office/drawing/2014/main" id="{6CEC4E69-3BF0-4EF0-B9A8-0E662C462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3488" y="3581400"/>
            <a:ext cx="468312" cy="1066800"/>
          </a:xfrm>
          <a:prstGeom prst="rect">
            <a:avLst/>
          </a:prstGeom>
          <a:noFill/>
          <a:ln w="9525">
            <a:solidFill>
              <a:schemeClr val="bg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87606" name="Line 22">
            <a:extLst>
              <a:ext uri="{FF2B5EF4-FFF2-40B4-BE49-F238E27FC236}">
                <a16:creationId xmlns:a16="http://schemas.microsoft.com/office/drawing/2014/main" id="{E7C9270E-6BFA-4425-BB16-B43CD2A7AD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733800"/>
            <a:ext cx="0" cy="83820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7607" name="Rectangle 23">
            <a:extLst>
              <a:ext uri="{FF2B5EF4-FFF2-40B4-BE49-F238E27FC236}">
                <a16:creationId xmlns:a16="http://schemas.microsoft.com/office/drawing/2014/main" id="{8129473B-B0A2-4DF0-AB7A-EF8179F2D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09800"/>
            <a:ext cx="9906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87608" name="Rectangle 24">
            <a:extLst>
              <a:ext uri="{FF2B5EF4-FFF2-40B4-BE49-F238E27FC236}">
                <a16:creationId xmlns:a16="http://schemas.microsoft.com/office/drawing/2014/main" id="{4F51B6A3-B27F-462F-8F9E-BAC4E46B3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800600"/>
            <a:ext cx="3200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87609" name="Rectangle 25">
            <a:extLst>
              <a:ext uri="{FF2B5EF4-FFF2-40B4-BE49-F238E27FC236}">
                <a16:creationId xmlns:a16="http://schemas.microsoft.com/office/drawing/2014/main" id="{B4547E24-0EE6-4297-9631-DFE353206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724400"/>
            <a:ext cx="9906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87610" name="Text Box 26">
            <a:extLst>
              <a:ext uri="{FF2B5EF4-FFF2-40B4-BE49-F238E27FC236}">
                <a16:creationId xmlns:a16="http://schemas.microsoft.com/office/drawing/2014/main" id="{D2F8398B-8636-4F44-A7BB-02E3867E4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724400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α</a:t>
            </a:r>
            <a:r>
              <a:rPr lang="en-US" altLang="zh-CN" sz="1000" b="1">
                <a:latin typeface="Arial" panose="020B0604020202020204" pitchFamily="34" charset="0"/>
                <a:ea typeface="宋体" panose="02010600030101010101" pitchFamily="2" charset="-122"/>
              </a:rPr>
              <a:t>k</a:t>
            </a:r>
            <a:endParaRPr lang="en-US" altLang="zh-CN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202" name="Oval 27">
            <a:extLst>
              <a:ext uri="{FF2B5EF4-FFF2-40B4-BE49-F238E27FC236}">
                <a16:creationId xmlns:a16="http://schemas.microsoft.com/office/drawing/2014/main" id="{6F2A5A70-869E-4453-832B-BD0A31D87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759075"/>
            <a:ext cx="1676400" cy="1600200"/>
          </a:xfrm>
          <a:prstGeom prst="ellipse">
            <a:avLst/>
          </a:prstGeom>
          <a:solidFill>
            <a:schemeClr val="accent1">
              <a:alpha val="30196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203" name="Text Box 28">
            <a:extLst>
              <a:ext uri="{FF2B5EF4-FFF2-40B4-BE49-F238E27FC236}">
                <a16:creationId xmlns:a16="http://schemas.microsoft.com/office/drawing/2014/main" id="{5977A344-F4B5-4532-973E-4816565B9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7432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l-GR" altLang="zh-CN" sz="2000">
                <a:ea typeface="宋体" panose="02010600030101010101" pitchFamily="2" charset="-122"/>
                <a:cs typeface="Arial" panose="020B0604020202020204" pitchFamily="34" charset="0"/>
              </a:rPr>
              <a:t>α</a:t>
            </a:r>
            <a:r>
              <a:rPr lang="en-US" altLang="zh-CN" sz="2000" baseline="-25000"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endParaRPr lang="el-GR" altLang="zh-CN" sz="2000" baseline="-25000"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0204" name="Text Box 29">
            <a:extLst>
              <a:ext uri="{FF2B5EF4-FFF2-40B4-BE49-F238E27FC236}">
                <a16:creationId xmlns:a16="http://schemas.microsoft.com/office/drawing/2014/main" id="{8D954FA8-C4AA-401D-9F24-59777748C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887663"/>
            <a:ext cx="381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87614" name="Text Box 30">
            <a:extLst>
              <a:ext uri="{FF2B5EF4-FFF2-40B4-BE49-F238E27FC236}">
                <a16:creationId xmlns:a16="http://schemas.microsoft.com/office/drawing/2014/main" id="{846253F7-E579-40E8-B63D-6154C7335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454650"/>
            <a:ext cx="8305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Subpatterns </a:t>
            </a:r>
            <a:r>
              <a:rPr lang="el-GR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α</a:t>
            </a:r>
            <a:r>
              <a:rPr lang="el-GR" altLang="zh-CN" sz="1800" b="1" baseline="-25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 to </a:t>
            </a:r>
            <a:r>
              <a:rPr lang="el-GR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α</a:t>
            </a:r>
            <a:r>
              <a:rPr lang="en-US" altLang="zh-CN" sz="1800" b="1" baseline="-25000">
                <a:latin typeface="Arial" panose="020B0604020202020204" pitchFamily="34" charset="0"/>
                <a:ea typeface="宋体" panose="02010600030101010101" pitchFamily="2" charset="-122"/>
              </a:rPr>
              <a:t>k</a:t>
            </a:r>
            <a:r>
              <a:rPr lang="en-US" altLang="zh-CN" sz="1200" b="1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cluster tightly around the colossal pattern </a:t>
            </a:r>
            <a:r>
              <a:rPr lang="el-GR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α</a:t>
            </a: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 by sharing a similar support.  We call such subpatterns </a:t>
            </a:r>
            <a:r>
              <a:rPr lang="en-US" altLang="zh-CN" sz="1800" b="1" i="1">
                <a:latin typeface="Arial" panose="020B0604020202020204" pitchFamily="34" charset="0"/>
                <a:ea typeface="宋体" panose="02010600030101010101" pitchFamily="2" charset="-122"/>
              </a:rPr>
              <a:t>core patterns </a:t>
            </a:r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of </a:t>
            </a:r>
            <a:r>
              <a:rPr lang="el-GR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α</a:t>
            </a:r>
            <a:endParaRPr lang="en-US" altLang="zh-CN" sz="1800" b="1" i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198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43" dur="1000" fill="hold"/>
                                        <p:tgtEl>
                                          <p:spTgt spid="198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7" dur="1000" fill="hold"/>
                                        <p:tgtEl>
                                          <p:spTgt spid="198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7588" grpId="0" animBg="1"/>
      <p:bldP spid="1987589" grpId="0"/>
      <p:bldP spid="1987590" grpId="0"/>
      <p:bldP spid="1987591" grpId="0" animBg="1"/>
      <p:bldP spid="1987592" grpId="0" animBg="1"/>
      <p:bldP spid="1987592" grpId="1" animBg="1"/>
      <p:bldP spid="1987592" grpId="2" animBg="1"/>
      <p:bldP spid="1987593" grpId="0" animBg="1"/>
      <p:bldP spid="1987598" grpId="0" animBg="1"/>
      <p:bldP spid="1987599" grpId="0" animBg="1"/>
      <p:bldP spid="1987600" grpId="0" animBg="1"/>
      <p:bldP spid="1987601" grpId="0" animBg="1"/>
      <p:bldP spid="1987602" grpId="0"/>
      <p:bldP spid="1987603" grpId="0" animBg="1"/>
      <p:bldP spid="1987603" grpId="1" animBg="1"/>
      <p:bldP spid="1987603" grpId="2" animBg="1"/>
      <p:bldP spid="1987604" grpId="0"/>
      <p:bldP spid="1987607" grpId="0" animBg="1"/>
      <p:bldP spid="1987607" grpId="1" animBg="1"/>
      <p:bldP spid="1987608" grpId="0" animBg="1"/>
      <p:bldP spid="1987609" grpId="0" animBg="1"/>
      <p:bldP spid="1987610" grpId="0"/>
      <p:bldP spid="19876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7">
            <a:extLst>
              <a:ext uri="{FF2B5EF4-FFF2-40B4-BE49-F238E27FC236}">
                <a16:creationId xmlns:a16="http://schemas.microsoft.com/office/drawing/2014/main" id="{E45701C8-5CAB-44E7-9991-F22F416EC0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96E03D6-ACFE-4B05-881B-C2A567ECBF4F}" type="slidenum">
              <a:rPr lang="en-US" altLang="en-US" sz="1200"/>
              <a:pPr eaLnBrk="1" hangingPunct="1"/>
              <a:t>47</a:t>
            </a:fld>
            <a:endParaRPr lang="en-US" altLang="en-US" sz="12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393AA04E-BD01-4EAB-9713-3AA6AC286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>
                <a:ea typeface="宋体" panose="02010600030101010101" pitchFamily="2" charset="-122"/>
              </a:rPr>
              <a:t>Robustness of Colossal Patterns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BD554BEE-39F1-4F79-B350-14ABCC759EE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95400"/>
            <a:ext cx="8077200" cy="50292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Core Patterns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Intuitively, for a frequent pattern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 subpattern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is a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τ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-core pattern of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if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shares a similar support set with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, i.e., 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where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τ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is called the core ratio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Robustness of Colossal Patterns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   A colossal pattern is robust in the sense that it tends to have much more core patterns than small patterns</a:t>
            </a:r>
            <a:endParaRPr lang="el-GR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1205" name="Group 4">
            <a:extLst>
              <a:ext uri="{FF2B5EF4-FFF2-40B4-BE49-F238E27FC236}">
                <a16:creationId xmlns:a16="http://schemas.microsoft.com/office/drawing/2014/main" id="{CF2070F6-4485-4D6C-A066-86301A21D5CA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2743200"/>
            <a:ext cx="3124200" cy="838200"/>
            <a:chOff x="1564" y="1931"/>
            <a:chExt cx="2053" cy="699"/>
          </a:xfrm>
        </p:grpSpPr>
        <p:graphicFrame>
          <p:nvGraphicFramePr>
            <p:cNvPr id="51206" name="Object 5">
              <a:extLst>
                <a:ext uri="{FF2B5EF4-FFF2-40B4-BE49-F238E27FC236}">
                  <a16:creationId xmlns:a16="http://schemas.microsoft.com/office/drawing/2014/main" id="{940A39BC-5B89-470D-82DC-57DFDCC23E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64" y="1931"/>
            <a:ext cx="1026" cy="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583947" imgH="444307" progId="Equation.3">
                    <p:embed/>
                  </p:oleObj>
                </mc:Choice>
                <mc:Fallback>
                  <p:oleObj name="公式" r:id="rId3" imgW="583947" imgH="444307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" y="1931"/>
                          <a:ext cx="1026" cy="6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07" name="Object 6">
              <a:extLst>
                <a:ext uri="{FF2B5EF4-FFF2-40B4-BE49-F238E27FC236}">
                  <a16:creationId xmlns:a16="http://schemas.microsoft.com/office/drawing/2014/main" id="{57A07E5E-FE47-4949-BF5D-D4A688079B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5" y="2094"/>
            <a:ext cx="782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545626" imgH="177646" progId="Equation.3">
                    <p:embed/>
                  </p:oleObj>
                </mc:Choice>
                <mc:Fallback>
                  <p:oleObj name="公式" r:id="rId5" imgW="545626" imgH="177646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5" y="2094"/>
                          <a:ext cx="782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6">
            <a:extLst>
              <a:ext uri="{FF2B5EF4-FFF2-40B4-BE49-F238E27FC236}">
                <a16:creationId xmlns:a16="http://schemas.microsoft.com/office/drawing/2014/main" id="{5DABB7E2-CA71-4D00-93FE-BFFE5FD8CC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9A2214A-4337-44D5-9931-3FCE7FD7B5CE}" type="slidenum">
              <a:rPr lang="en-US" altLang="en-US" sz="1200"/>
              <a:pPr eaLnBrk="1" hangingPunct="1"/>
              <a:t>48</a:t>
            </a:fld>
            <a:endParaRPr lang="en-US" altLang="en-US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2A6986A8-1F7B-473F-B329-15EB42D8D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>
                <a:ea typeface="宋体" panose="02010600030101010101" pitchFamily="2" charset="-122"/>
              </a:rPr>
              <a:t>Example: Core Patterns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05B4A937-A404-4DA7-9E56-7773DF68FF2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219200"/>
            <a:ext cx="8686800" cy="1828800"/>
          </a:xfrm>
        </p:spPr>
        <p:txBody>
          <a:bodyPr/>
          <a:lstStyle/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A colossal pattern has far more core patterns than a small-sized pattern</a:t>
            </a: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A colossal pattern has far more core descendants of a smaller size c</a:t>
            </a: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A random draw from a complete set of pattern of size c would more likely to pick a core descendant of a colossal pattern</a:t>
            </a:r>
          </a:p>
          <a:p>
            <a:pPr eaLnBrk="1" hangingPunct="1"/>
            <a:r>
              <a:rPr lang="en-US" altLang="zh-CN" sz="2000">
                <a:ea typeface="宋体" panose="02010600030101010101" pitchFamily="2" charset="-122"/>
              </a:rPr>
              <a:t>A colossal pattern can be generated by merging a set of core patterns</a:t>
            </a:r>
          </a:p>
        </p:txBody>
      </p:sp>
      <p:graphicFrame>
        <p:nvGraphicFramePr>
          <p:cNvPr id="1991684" name="Group 4">
            <a:extLst>
              <a:ext uri="{FF2B5EF4-FFF2-40B4-BE49-F238E27FC236}">
                <a16:creationId xmlns:a16="http://schemas.microsoft.com/office/drawing/2014/main" id="{E5A975C0-D8FB-408A-A6AE-0C8D4AAF5A7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52400" y="3133725"/>
          <a:ext cx="8763000" cy="28860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Transaction (# of Ts)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Core Patterns (</a:t>
                      </a:r>
                      <a:r>
                        <a:rPr kumimoji="0" lang="el-GR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τ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ahoma" pitchFamily="34" charset="0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= 0</a:t>
                      </a:r>
                      <a:r>
                        <a:rPr kumimoji="0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.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(abe) (100)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(abe), (ab), (be), (ae), (e)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(bcf) (100)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(bcf), (bc), (bf)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(acf) (100)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(acf), (ac), (af)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9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(abcef) (100)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(ab), (ac), (af), (ae), (bc), (bf), (be) (ce), (fe), (e), (abc), (abf), (abe), (ace), (acf), (afe), (bcf), (bce), (bfe), (cfe), (abcf), (abce), (bcfe), (acfe), (abfe), (abcef)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7">
            <a:extLst>
              <a:ext uri="{FF2B5EF4-FFF2-40B4-BE49-F238E27FC236}">
                <a16:creationId xmlns:a16="http://schemas.microsoft.com/office/drawing/2014/main" id="{7960EA96-4C96-4894-9E2D-4F496013B0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8B274BD-AF4F-4E4A-871C-C6B8C8866270}" type="slidenum">
              <a:rPr lang="en-US" altLang="en-US" sz="1200"/>
              <a:pPr eaLnBrk="1" hangingPunct="1"/>
              <a:t>49</a:t>
            </a:fld>
            <a:endParaRPr lang="en-US" altLang="en-US" sz="12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77D59164-2BC2-4B1B-B701-DEDC223A0E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>
                <a:ea typeface="宋体" panose="02010600030101010101" pitchFamily="2" charset="-122"/>
              </a:rPr>
              <a:t>Robustness of Colossal Patterns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088D38CD-FDA6-4226-8CCF-F88DE3D6D7B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8458200" cy="51054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(d,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τ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)-robustness: A pattern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is 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</a:rPr>
              <a:t>(d, </a:t>
            </a:r>
            <a:r>
              <a:rPr lang="el-GR" altLang="zh-CN" sz="2000" i="1">
                <a:latin typeface="Arial" panose="020B0604020202020204" pitchFamily="34" charset="0"/>
                <a:cs typeface="Arial" panose="020B0604020202020204" pitchFamily="34" charset="0"/>
              </a:rPr>
              <a:t>τ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</a:rPr>
              <a:t>)-robust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if 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is the maximum number of items that can be removed from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for the resulting pattern to remain a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τ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-core pattern of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For a (d,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τ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)-robust pattern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, it has             core patterns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A colossal patterns tend to have a large number of core patterns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Pattern distance: For patterns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and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, the pattern distance of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and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is defined to be</a:t>
            </a:r>
          </a:p>
          <a:p>
            <a:pPr eaLnBrk="1" hangingPunct="1">
              <a:lnSpc>
                <a:spcPct val="110000"/>
              </a:lnSpc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If two patterns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and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 are both core patterns of a same pattern, they would be bounded by a “ball” of a radius specified by their core ratio 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τ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Once we identify one core pattern, we will be able to find all the other core patterns by a bounding ball of radius r(</a:t>
            </a:r>
            <a:r>
              <a:rPr lang="el-GR" altLang="zh-CN" sz="2000">
                <a:latin typeface="Arial" panose="020B0604020202020204" pitchFamily="34" charset="0"/>
                <a:cs typeface="Arial" panose="020B0604020202020204" pitchFamily="34" charset="0"/>
              </a:rPr>
              <a:t>τ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l-GR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53253" name="Object 4">
            <a:extLst>
              <a:ext uri="{FF2B5EF4-FFF2-40B4-BE49-F238E27FC236}">
                <a16:creationId xmlns:a16="http://schemas.microsoft.com/office/drawing/2014/main" id="{159B2A72-43B3-43F8-B7CB-B1B7B7E70468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4648200" y="2438400"/>
          <a:ext cx="838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19100" imgH="228600" progId="Equation.3">
                  <p:embed/>
                </p:oleObj>
              </mc:Choice>
              <mc:Fallback>
                <p:oleObj name="公式" r:id="rId3" imgW="4191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438400"/>
                        <a:ext cx="838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5">
            <a:extLst>
              <a:ext uri="{FF2B5EF4-FFF2-40B4-BE49-F238E27FC236}">
                <a16:creationId xmlns:a16="http://schemas.microsoft.com/office/drawing/2014/main" id="{2BAFC0CA-B70C-4A75-814A-1C1D9B7EC6FA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3048000" y="3581400"/>
          <a:ext cx="28956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25600" imgH="533400" progId="Equation.3">
                  <p:embed/>
                </p:oleObj>
              </mc:Choice>
              <mc:Fallback>
                <p:oleObj name="Equation" r:id="rId5" imgW="1625600" imgH="533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581400"/>
                        <a:ext cx="289560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6">
            <a:extLst>
              <a:ext uri="{FF2B5EF4-FFF2-40B4-BE49-F238E27FC236}">
                <a16:creationId xmlns:a16="http://schemas.microsoft.com/office/drawing/2014/main" id="{D2023676-ACB1-4DFC-B2F0-750A8DD7D0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5105400"/>
          <a:ext cx="4419600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866090" imgH="393529" progId="Equation.3">
                  <p:embed/>
                </p:oleObj>
              </mc:Choice>
              <mc:Fallback>
                <p:oleObj name="公式" r:id="rId7" imgW="1866090" imgH="3935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105400"/>
                        <a:ext cx="4419600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6">
            <a:extLst>
              <a:ext uri="{FF2B5EF4-FFF2-40B4-BE49-F238E27FC236}">
                <a16:creationId xmlns:a16="http://schemas.microsoft.com/office/drawing/2014/main" id="{F2B613BA-CD51-4737-A22A-73DFF349BB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BEB749C-B73D-48B7-9298-AE1EA8A76431}" type="slidenum">
              <a:rPr lang="en-US" altLang="en-US" sz="1200"/>
              <a:pPr eaLnBrk="1" hangingPunct="1"/>
              <a:t>50</a:t>
            </a:fld>
            <a:endParaRPr lang="en-US" altLang="en-US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5E840966-F1CD-457F-ACD4-A5287D21B2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76200" y="304800"/>
            <a:ext cx="9296400" cy="609600"/>
          </a:xfrm>
        </p:spPr>
        <p:txBody>
          <a:bodyPr/>
          <a:lstStyle/>
          <a:p>
            <a:pPr eaLnBrk="1" hangingPunct="1"/>
            <a:r>
              <a:rPr lang="en-US" altLang="zh-CN" sz="3200">
                <a:ea typeface="宋体" panose="02010600030101010101" pitchFamily="2" charset="-122"/>
              </a:rPr>
              <a:t>Colossal Patterns Correspond to Dense Balls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3FC85E1D-DFFF-47A8-988D-6B208D41708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524000"/>
            <a:ext cx="4800600" cy="3886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Due to their robustness, colossal patterns correspond to dense balls</a:t>
            </a:r>
          </a:p>
          <a:p>
            <a:pPr lvl="1" eaLnBrk="1" hangingPunct="1">
              <a:lnSpc>
                <a:spcPct val="120000"/>
              </a:lnSpc>
            </a:pPr>
            <a:r>
              <a:rPr lang="el-GR" altLang="zh-CN" sz="2400">
                <a:cs typeface="Arial" panose="020B0604020202020204" pitchFamily="34" charset="0"/>
              </a:rPr>
              <a:t>Ω</a:t>
            </a:r>
            <a:r>
              <a:rPr lang="en-US" altLang="zh-CN" sz="2400"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>
                <a:ea typeface="宋体" panose="02010600030101010101" pitchFamily="2" charset="-122"/>
              </a:rPr>
              <a:t> 2^d) in population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A random draw in the pattern space will hit somewhere in the ball with high probability</a:t>
            </a:r>
          </a:p>
        </p:txBody>
      </p:sp>
      <p:pic>
        <p:nvPicPr>
          <p:cNvPr id="54277" name="Picture 4" descr="patternspace">
            <a:extLst>
              <a:ext uri="{FF2B5EF4-FFF2-40B4-BE49-F238E27FC236}">
                <a16:creationId xmlns:a16="http://schemas.microsoft.com/office/drawing/2014/main" id="{229942C7-FA58-496E-AA05-E70517A84F3F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1905000"/>
            <a:ext cx="3733800" cy="24368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>
            <a:extLst>
              <a:ext uri="{FF2B5EF4-FFF2-40B4-BE49-F238E27FC236}">
                <a16:creationId xmlns:a16="http://schemas.microsoft.com/office/drawing/2014/main" id="{8413D2BE-5A03-4483-B189-DE2836CDF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AA0CE51-BE14-4C19-9CAF-4E136EA99EE6}" type="slidenum">
              <a:rPr lang="en-US" altLang="en-US" sz="1200"/>
              <a:pPr eaLnBrk="1" hangingPunct="1"/>
              <a:t>51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AB8A2686-C993-4B34-B3D1-98AEC36007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Idea of Pattern-Fusion Algorithm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0F2599C7-E8F4-4799-A06D-92EE1A42F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Generate a complete set of frequent patterns up to a small size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Randomly pick a pattern </a:t>
            </a:r>
            <a:r>
              <a:rPr lang="el-GR" altLang="en-US" sz="2400"/>
              <a:t>β</a:t>
            </a:r>
            <a:r>
              <a:rPr lang="en-US" altLang="en-US" sz="2400"/>
              <a:t>, and </a:t>
            </a:r>
            <a:r>
              <a:rPr lang="el-GR" altLang="en-US" sz="2400"/>
              <a:t>β</a:t>
            </a:r>
            <a:r>
              <a:rPr lang="en-US" altLang="en-US" sz="2400"/>
              <a:t> has a high probability to be a core-descendant of some colossal pattern </a:t>
            </a:r>
            <a:r>
              <a:rPr lang="el-GR" altLang="en-US" sz="2400"/>
              <a:t>α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Identify all </a:t>
            </a:r>
            <a:r>
              <a:rPr lang="el-GR" altLang="en-US" sz="2400"/>
              <a:t>α</a:t>
            </a:r>
            <a:r>
              <a:rPr lang="en-US" altLang="en-US" sz="2400"/>
              <a:t>’s descendants in this complete set, and merge all of them ― This would generate a much larger core-descendant of </a:t>
            </a:r>
            <a:r>
              <a:rPr lang="el-GR" altLang="en-US" sz="2400"/>
              <a:t>α</a:t>
            </a:r>
            <a:endParaRPr lang="en-US" altLang="en-US" sz="2400"/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In the same fashion, we select K patterns.  This set of larger core-descendants will be the candidate pool for the next iteration</a:t>
            </a:r>
          </a:p>
        </p:txBody>
      </p:sp>
    </p:spTree>
  </p:cSld>
  <p:clrMapOvr>
    <a:masterClrMapping/>
  </p:clrMapOvr>
  <p:transition spd="med"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>
            <a:extLst>
              <a:ext uri="{FF2B5EF4-FFF2-40B4-BE49-F238E27FC236}">
                <a16:creationId xmlns:a16="http://schemas.microsoft.com/office/drawing/2014/main" id="{B3D9052C-7C5B-44B1-A0B7-E042BF2F26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997C244-4F15-42A5-9E14-26F5D6ACEB28}" type="slidenum">
              <a:rPr lang="en-US" altLang="en-US" sz="1200"/>
              <a:pPr eaLnBrk="1" hangingPunct="1"/>
              <a:t>52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6561421C-8258-45EE-B484-F5307DC20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50238" cy="609600"/>
          </a:xfrm>
        </p:spPr>
        <p:txBody>
          <a:bodyPr/>
          <a:lstStyle/>
          <a:p>
            <a:pPr eaLnBrk="1" hangingPunct="1"/>
            <a:r>
              <a:rPr lang="en-US" altLang="zh-CN" sz="3200" b="1">
                <a:ea typeface="宋体" panose="02010600030101010101" pitchFamily="2" charset="-122"/>
              </a:rPr>
              <a:t>Pattern-Fusion: The Algorithm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2EF1F71B-38A4-4B80-8062-16139424A6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82000" cy="5181600"/>
          </a:xfrm>
        </p:spPr>
        <p:txBody>
          <a:bodyPr/>
          <a:lstStyle/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Initialization (Initial pool): Use an existing algorithm to mine all frequent patterns up to a small size, e.g., 3</a:t>
            </a: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Iteration (Iterative Pattern Fusion):</a:t>
            </a:r>
          </a:p>
          <a:p>
            <a:pPr lvl="1" eaLnBrk="1" hangingPunct="1"/>
            <a:r>
              <a:rPr lang="en-US" altLang="zh-CN" sz="2400">
                <a:ea typeface="宋体" panose="02010600030101010101" pitchFamily="2" charset="-122"/>
              </a:rPr>
              <a:t>At each iteration, k seed patterns are randomly picked from the current pattern pool</a:t>
            </a:r>
          </a:p>
          <a:p>
            <a:pPr lvl="1" eaLnBrk="1" hangingPunct="1"/>
            <a:r>
              <a:rPr lang="en-US" altLang="zh-CN" sz="2400">
                <a:ea typeface="宋体" panose="02010600030101010101" pitchFamily="2" charset="-122"/>
              </a:rPr>
              <a:t>For each seed pattern thus picked, we find all the patterns within a bounding ball centered at the seed pattern</a:t>
            </a:r>
          </a:p>
          <a:p>
            <a:pPr lvl="1" eaLnBrk="1" hangingPunct="1"/>
            <a:r>
              <a:rPr lang="en-US" altLang="zh-CN" sz="2400">
                <a:ea typeface="宋体" panose="02010600030101010101" pitchFamily="2" charset="-122"/>
              </a:rPr>
              <a:t>All these patterns found are fused together to generate a set of super-patterns.  All the super-patterns thus generated form a new pool for the next iteration</a:t>
            </a: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Termination: when the current pool contains no more than K patterns at the beginning of an iteration</a:t>
            </a:r>
          </a:p>
        </p:txBody>
      </p:sp>
    </p:spTree>
  </p:cSld>
  <p:clrMapOvr>
    <a:masterClrMapping/>
  </p:clrMapOvr>
  <p:transition spd="med"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>
            <a:extLst>
              <a:ext uri="{FF2B5EF4-FFF2-40B4-BE49-F238E27FC236}">
                <a16:creationId xmlns:a16="http://schemas.microsoft.com/office/drawing/2014/main" id="{D71B2EC4-4D15-4107-87E6-7D38A47F3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F4BA6CF-6070-4BF3-B582-8361BF08A7A3}" type="slidenum">
              <a:rPr lang="en-US" altLang="en-US" sz="1200"/>
              <a:pPr eaLnBrk="1" hangingPunct="1"/>
              <a:t>53</a:t>
            </a:fld>
            <a:endParaRPr lang="en-US" altLang="en-US" sz="1200"/>
          </a:p>
        </p:txBody>
      </p:sp>
      <p:pic>
        <p:nvPicPr>
          <p:cNvPr id="57347" name="Picture 2" descr="treemodel">
            <a:extLst>
              <a:ext uri="{FF2B5EF4-FFF2-40B4-BE49-F238E27FC236}">
                <a16:creationId xmlns:a16="http://schemas.microsoft.com/office/drawing/2014/main" id="{59E9741B-8A10-4977-8A11-72CB09866451}"/>
              </a:ext>
            </a:extLst>
          </p:cNvPr>
          <p:cNvPicPr>
            <a:picLocks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2206625"/>
            <a:ext cx="4038600" cy="2441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7348" name="Rectangle 3">
            <a:extLst>
              <a:ext uri="{FF2B5EF4-FFF2-40B4-BE49-F238E27FC236}">
                <a16:creationId xmlns:a16="http://schemas.microsoft.com/office/drawing/2014/main" id="{FB37649A-F513-4359-8797-07BE8BD3F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50238" cy="609600"/>
          </a:xfrm>
        </p:spPr>
        <p:txBody>
          <a:bodyPr/>
          <a:lstStyle/>
          <a:p>
            <a:pPr eaLnBrk="1" hangingPunct="1"/>
            <a:r>
              <a:rPr lang="en-US" altLang="zh-CN" sz="3200" b="1">
                <a:ea typeface="宋体" panose="02010600030101010101" pitchFamily="2" charset="-122"/>
              </a:rPr>
              <a:t>Why Is Pattern-Fusion Efficient?</a:t>
            </a:r>
          </a:p>
        </p:txBody>
      </p:sp>
      <p:sp>
        <p:nvSpPr>
          <p:cNvPr id="57349" name="Rectangle 4">
            <a:extLst>
              <a:ext uri="{FF2B5EF4-FFF2-40B4-BE49-F238E27FC236}">
                <a16:creationId xmlns:a16="http://schemas.microsoft.com/office/drawing/2014/main" id="{0A159BB3-BB9F-4F1A-861D-8391268D2F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4648200" cy="5257800"/>
          </a:xfrm>
        </p:spPr>
        <p:txBody>
          <a:bodyPr/>
          <a:lstStyle/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 bounded-breadth pattern tree traversal</a:t>
            </a:r>
          </a:p>
          <a:p>
            <a:pPr lvl="1" eaLnBrk="1" hangingPunct="1"/>
            <a:r>
              <a:rPr lang="en-US" altLang="zh-CN" sz="2400">
                <a:ea typeface="宋体" panose="02010600030101010101" pitchFamily="2" charset="-122"/>
              </a:rPr>
              <a:t>It avoids explosion in mining mid-sized ones</a:t>
            </a:r>
          </a:p>
          <a:p>
            <a:pPr lvl="1" eaLnBrk="1" hangingPunct="1"/>
            <a:r>
              <a:rPr lang="en-US" altLang="zh-CN" sz="2400">
                <a:ea typeface="宋体" panose="02010600030101010101" pitchFamily="2" charset="-122"/>
              </a:rPr>
              <a:t>Randomness comes to help to stay on the right path</a:t>
            </a:r>
          </a:p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Ability to identify “short-cuts” and take “leaps”</a:t>
            </a:r>
          </a:p>
          <a:p>
            <a:pPr lvl="1" eaLnBrk="1" hangingPunct="1"/>
            <a:r>
              <a:rPr lang="en-US" altLang="zh-CN" sz="2400">
                <a:ea typeface="宋体" panose="02010600030101010101" pitchFamily="2" charset="-122"/>
              </a:rPr>
              <a:t>fuse small patterns together in one step to generate new patterns of significant sizes</a:t>
            </a:r>
          </a:p>
          <a:p>
            <a:pPr lvl="1" eaLnBrk="1" hangingPunct="1"/>
            <a:r>
              <a:rPr lang="en-US" altLang="zh-CN" sz="2400">
                <a:ea typeface="宋体" panose="02010600030101010101" pitchFamily="2" charset="-122"/>
              </a:rPr>
              <a:t>Efficiency </a:t>
            </a:r>
          </a:p>
        </p:txBody>
      </p:sp>
    </p:spTree>
  </p:cSld>
  <p:clrMapOvr>
    <a:masterClrMapping/>
  </p:clrMapOvr>
  <p:transition spd="med"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>
            <a:extLst>
              <a:ext uri="{FF2B5EF4-FFF2-40B4-BE49-F238E27FC236}">
                <a16:creationId xmlns:a16="http://schemas.microsoft.com/office/drawing/2014/main" id="{BF4CB8D2-E832-476C-A568-0EB1D52D62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7DD8725-9BDB-4DDC-9EA0-C4087CE53C36}" type="slidenum">
              <a:rPr lang="en-US" altLang="en-US" sz="1200"/>
              <a:pPr eaLnBrk="1" hangingPunct="1"/>
              <a:t>54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DF2DC2F8-0CEB-4CAC-BB69-A36C97FD5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zh-CN" sz="3200" b="1">
                <a:ea typeface="宋体" panose="02010600030101010101" pitchFamily="2" charset="-122"/>
              </a:rPr>
              <a:t>Pattern-Fusion Leads to Good Approximation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03E3157B-0312-4508-A411-18B1F07DE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9600" cy="5105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Gearing toward colossal patterns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The larger the pattern, the greater the chance it will be generated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Catching outliers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>
                <a:ea typeface="宋体" panose="02010600030101010101" pitchFamily="2" charset="-122"/>
              </a:rPr>
              <a:t>The more distinct the pattern, the greater the chance it will be generated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>
            <a:extLst>
              <a:ext uri="{FF2B5EF4-FFF2-40B4-BE49-F238E27FC236}">
                <a16:creationId xmlns:a16="http://schemas.microsoft.com/office/drawing/2014/main" id="{459F163C-2548-4D99-89FA-FF627E8A6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FE2215E-518E-4411-ADE4-E7C5965DDAE3}" type="slidenum">
              <a:rPr lang="en-US" altLang="en-US" sz="1200"/>
              <a:pPr eaLnBrk="1" hangingPunct="1"/>
              <a:t>55</a:t>
            </a:fld>
            <a:endParaRPr lang="en-US" altLang="en-US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63657267-CA69-4208-854E-E0B4A5FFFD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Experimental Setting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D10E11FA-A3E0-45D3-B70C-B33439EA4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5105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Synthetic data set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Diag</a:t>
            </a:r>
            <a:r>
              <a:rPr lang="en-US" altLang="en-US" sz="2000" baseline="-25000"/>
              <a:t>n</a:t>
            </a:r>
            <a:r>
              <a:rPr lang="en-US" altLang="en-US" sz="2000"/>
              <a:t> an n x (n-1) table where i</a:t>
            </a:r>
            <a:r>
              <a:rPr lang="en-US" altLang="en-US" sz="2000" baseline="30000"/>
              <a:t>th</a:t>
            </a:r>
            <a:r>
              <a:rPr lang="en-US" altLang="en-US" sz="2000"/>
              <a:t> row has integers from 1 to n except i.  Each row is taken as an itemset. min_support is n/2.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Real data set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Replace: A program trace data set collected from the “replace” program, widely used in software engineering research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ALL: A popular gene expression data set, a clinical data on ALL-AML leukemia (</a:t>
            </a:r>
            <a:r>
              <a:rPr lang="en-US" altLang="en-US" sz="2000">
                <a:hlinkClick r:id="rId3"/>
              </a:rPr>
              <a:t>www.broad.mit.edu/tools/data.html</a:t>
            </a:r>
            <a:r>
              <a:rPr lang="en-US" altLang="en-US" sz="2000"/>
              <a:t>).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2000"/>
              <a:t>Each item is a column, representing the activitiy level of gene/protein in the same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2000"/>
              <a:t>Frequent pattern would reveal important correlation between gene expression patterns and disease outcomes</a:t>
            </a:r>
          </a:p>
        </p:txBody>
      </p:sp>
    </p:spTree>
  </p:cSld>
  <p:clrMapOvr>
    <a:masterClrMapping/>
  </p:clrMapOvr>
  <p:transition spd="med"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>
            <a:extLst>
              <a:ext uri="{FF2B5EF4-FFF2-40B4-BE49-F238E27FC236}">
                <a16:creationId xmlns:a16="http://schemas.microsoft.com/office/drawing/2014/main" id="{EF5D69C7-FE3F-43BF-8914-064DF4CA9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586B5F0-6EB8-4398-98FF-3A716A010D89}" type="slidenum">
              <a:rPr lang="en-US" altLang="en-US" sz="1200"/>
              <a:pPr eaLnBrk="1" hangingPunct="1"/>
              <a:t>56</a:t>
            </a:fld>
            <a:endParaRPr lang="en-US" altLang="en-US" sz="1200"/>
          </a:p>
        </p:txBody>
      </p:sp>
      <p:pic>
        <p:nvPicPr>
          <p:cNvPr id="60419" name="Picture 2">
            <a:extLst>
              <a:ext uri="{FF2B5EF4-FFF2-40B4-BE49-F238E27FC236}">
                <a16:creationId xmlns:a16="http://schemas.microsoft.com/office/drawing/2014/main" id="{47AD6091-6122-4A58-8CAC-4AE0337D9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114800"/>
            <a:ext cx="52578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420" name="Picture 3">
            <a:extLst>
              <a:ext uri="{FF2B5EF4-FFF2-40B4-BE49-F238E27FC236}">
                <a16:creationId xmlns:a16="http://schemas.microsoft.com/office/drawing/2014/main" id="{4BC1C682-FCD8-4BE8-8D28-7398AD217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143000"/>
            <a:ext cx="5105400" cy="311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421" name="Rectangle 4">
            <a:extLst>
              <a:ext uri="{FF2B5EF4-FFF2-40B4-BE49-F238E27FC236}">
                <a16:creationId xmlns:a16="http://schemas.microsoft.com/office/drawing/2014/main" id="{09D05BA3-8F73-43DB-81BF-A2FD87DBA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Experiment Results on Diag</a:t>
            </a:r>
            <a:r>
              <a:rPr lang="en-US" altLang="en-US" sz="3200" baseline="-25000"/>
              <a:t>n</a:t>
            </a:r>
          </a:p>
        </p:txBody>
      </p:sp>
      <p:sp>
        <p:nvSpPr>
          <p:cNvPr id="60422" name="Rectangle 5">
            <a:extLst>
              <a:ext uri="{FF2B5EF4-FFF2-40B4-BE49-F238E27FC236}">
                <a16:creationId xmlns:a16="http://schemas.microsoft.com/office/drawing/2014/main" id="{86D62AD3-48B8-42CD-9668-FDA291FE2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3810000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LCM run time increases exponentially with pattern size 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Pattern-Fusion finishes efficiently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The approximation error of Pattern-Fusion (with min-sup 20) in comparison with the complete set) is rather close to uniform sampling (which randomly picks K patterns from the complete answer set)</a:t>
            </a:r>
          </a:p>
        </p:txBody>
      </p:sp>
    </p:spTree>
  </p:cSld>
  <p:clrMapOvr>
    <a:masterClrMapping/>
  </p:clrMapOvr>
  <p:transition spd="med"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6">
            <a:extLst>
              <a:ext uri="{FF2B5EF4-FFF2-40B4-BE49-F238E27FC236}">
                <a16:creationId xmlns:a16="http://schemas.microsoft.com/office/drawing/2014/main" id="{C6C53990-6A6A-4BEF-A585-2139CD05A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4AD66FE-53C1-4C99-BDC4-24DECF147FD3}" type="slidenum">
              <a:rPr lang="en-US" altLang="en-US" sz="1200"/>
              <a:pPr eaLnBrk="1" hangingPunct="1"/>
              <a:t>57</a:t>
            </a:fld>
            <a:endParaRPr lang="en-US" altLang="en-US" sz="1200"/>
          </a:p>
        </p:txBody>
      </p:sp>
      <p:pic>
        <p:nvPicPr>
          <p:cNvPr id="61443" name="Picture 2" descr="allruntime">
            <a:extLst>
              <a:ext uri="{FF2B5EF4-FFF2-40B4-BE49-F238E27FC236}">
                <a16:creationId xmlns:a16="http://schemas.microsoft.com/office/drawing/2014/main" id="{F35408D3-6688-488C-B6EE-2433AAD8C181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62400" y="2854325"/>
            <a:ext cx="5257800" cy="3927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444" name="Rectangle 3">
            <a:extLst>
              <a:ext uri="{FF2B5EF4-FFF2-40B4-BE49-F238E27FC236}">
                <a16:creationId xmlns:a16="http://schemas.microsoft.com/office/drawing/2014/main" id="{768C3542-D4CA-472F-B911-53BAA0E446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>
                <a:ea typeface="宋体" panose="02010600030101010101" pitchFamily="2" charset="-122"/>
              </a:rPr>
              <a:t>Experimental Results on ALL</a:t>
            </a:r>
          </a:p>
        </p:txBody>
      </p:sp>
      <p:sp>
        <p:nvSpPr>
          <p:cNvPr id="61445" name="Rectangle 4">
            <a:extLst>
              <a:ext uri="{FF2B5EF4-FFF2-40B4-BE49-F238E27FC236}">
                <a16:creationId xmlns:a16="http://schemas.microsoft.com/office/drawing/2014/main" id="{1FE9D3B2-B9AB-4373-B438-73F5B072C41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19200"/>
            <a:ext cx="8229600" cy="16764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ALL: </a:t>
            </a:r>
            <a:r>
              <a:rPr lang="en-US" altLang="zh-CN" sz="2400">
                <a:ea typeface="宋体" panose="02010600030101010101" pitchFamily="2" charset="-122"/>
              </a:rPr>
              <a:t>A popular gene expression data set with 38 transactions, each with 866 columns</a:t>
            </a:r>
          </a:p>
          <a:p>
            <a:pPr lvl="1" eaLnBrk="1" hangingPunct="1"/>
            <a:r>
              <a:rPr lang="en-US" altLang="zh-CN" sz="2400">
                <a:ea typeface="宋体" panose="02010600030101010101" pitchFamily="2" charset="-122"/>
              </a:rPr>
              <a:t>There are 1736 items in total</a:t>
            </a:r>
          </a:p>
          <a:p>
            <a:pPr lvl="1" eaLnBrk="1" hangingPunct="1"/>
            <a:r>
              <a:rPr lang="en-US" altLang="zh-CN" sz="2400">
                <a:ea typeface="宋体" panose="02010600030101010101" pitchFamily="2" charset="-122"/>
              </a:rPr>
              <a:t>The table shows a high frequency threshold of 30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3200">
              <a:ea typeface="宋体" panose="02010600030101010101" pitchFamily="2" charset="-122"/>
            </a:endParaRPr>
          </a:p>
        </p:txBody>
      </p:sp>
      <p:pic>
        <p:nvPicPr>
          <p:cNvPr id="61446" name="Picture 5" descr="table">
            <a:extLst>
              <a:ext uri="{FF2B5EF4-FFF2-40B4-BE49-F238E27FC236}">
                <a16:creationId xmlns:a16="http://schemas.microsoft.com/office/drawing/2014/main" id="{A98D40F0-3330-431B-8D42-B290B09B76CA}"/>
              </a:ext>
            </a:extLst>
          </p:cNvPr>
          <p:cNvPicPr>
            <a:picLocks noChangeAspect="1" noChangeArrowheads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895600"/>
            <a:ext cx="4424363" cy="340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>
            <a:extLst>
              <a:ext uri="{FF2B5EF4-FFF2-40B4-BE49-F238E27FC236}">
                <a16:creationId xmlns:a16="http://schemas.microsoft.com/office/drawing/2014/main" id="{9EFF6D22-CD73-4817-B5D4-8AAC8AD0D4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1A32217-78A2-4DF6-A2C2-8853ACCDC92F}" type="slidenum">
              <a:rPr lang="en-US" altLang="en-US" sz="1200"/>
              <a:pPr eaLnBrk="1" hangingPunct="1"/>
              <a:t>58</a:t>
            </a:fld>
            <a:endParaRPr lang="en-US" altLang="en-US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5EAC3FDF-FDDB-4530-8C38-AC1A2AF2A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>
                <a:ea typeface="宋体" panose="02010600030101010101" pitchFamily="2" charset="-122"/>
              </a:rPr>
              <a:t>Experimental Results on REPLACE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0F7A060D-B58C-4A7E-BE10-F8594DF01B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REPLACE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A program trace data set, recording 4395 calls and transitions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 data set contains 4395 transactions with 57 items in total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With support threshold of 0.03, the largest patterns are of size 44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They are all discovered by Pattern-Fusion with different settings of K and </a:t>
            </a:r>
            <a:r>
              <a:rPr lang="el-GR" altLang="zh-CN">
                <a:cs typeface="Arial" panose="020B0604020202020204" pitchFamily="34" charset="0"/>
              </a:rPr>
              <a:t>τ</a:t>
            </a:r>
            <a:r>
              <a:rPr lang="en-US" altLang="zh-CN">
                <a:ea typeface="宋体" panose="02010600030101010101" pitchFamily="2" charset="-122"/>
                <a:cs typeface="Arial" panose="020B0604020202020204" pitchFamily="34" charset="0"/>
              </a:rPr>
              <a:t>, when started with an initial pool of 20948 patterns of size &lt;=3</a:t>
            </a:r>
            <a:endParaRPr lang="el-GR" altLang="zh-CN"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6">
            <a:extLst>
              <a:ext uri="{FF2B5EF4-FFF2-40B4-BE49-F238E27FC236}">
                <a16:creationId xmlns:a16="http://schemas.microsoft.com/office/drawing/2014/main" id="{86E6DE86-3628-4EB5-8DCE-FF14E9176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6929AEE-BA13-435D-BEC5-88551F99D994}" type="slidenum">
              <a:rPr lang="en-US" altLang="en-US" sz="1200"/>
              <a:pPr eaLnBrk="1" hangingPunct="1"/>
              <a:t>59</a:t>
            </a:fld>
            <a:endParaRPr lang="en-US" altLang="en-US" sz="1200"/>
          </a:p>
        </p:txBody>
      </p:sp>
      <p:pic>
        <p:nvPicPr>
          <p:cNvPr id="63491" name="Picture 2" descr="Maperror">
            <a:extLst>
              <a:ext uri="{FF2B5EF4-FFF2-40B4-BE49-F238E27FC236}">
                <a16:creationId xmlns:a16="http://schemas.microsoft.com/office/drawing/2014/main" id="{B61F2137-4A02-43F1-B39F-5DBA90628524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91000" y="1885950"/>
            <a:ext cx="5029200" cy="3760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3492" name="Rectangle 3">
            <a:extLst>
              <a:ext uri="{FF2B5EF4-FFF2-40B4-BE49-F238E27FC236}">
                <a16:creationId xmlns:a16="http://schemas.microsoft.com/office/drawing/2014/main" id="{A4A009D9-330A-45FE-AD8B-BA2C96C20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>
                <a:ea typeface="宋体" panose="02010600030101010101" pitchFamily="2" charset="-122"/>
              </a:rPr>
              <a:t>Experimental Results on REPLACE</a:t>
            </a:r>
          </a:p>
        </p:txBody>
      </p:sp>
      <p:sp>
        <p:nvSpPr>
          <p:cNvPr id="63493" name="Rectangle 4">
            <a:extLst>
              <a:ext uri="{FF2B5EF4-FFF2-40B4-BE49-F238E27FC236}">
                <a16:creationId xmlns:a16="http://schemas.microsoft.com/office/drawing/2014/main" id="{0141B942-4375-46E9-97B7-E9EB18DF256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295400"/>
            <a:ext cx="41148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000">
                <a:ea typeface="宋体" panose="02010600030101010101" pitchFamily="2" charset="-122"/>
              </a:rPr>
              <a:t>Approximation error when compared with the complete mining result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ea typeface="宋体" panose="02010600030101010101" pitchFamily="2" charset="-122"/>
              </a:rPr>
              <a:t>Example.  Out of the total 98 patterns of size &gt;=42, when K=100, Pattern-Fusion returns 80 of them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ea typeface="宋体" panose="02010600030101010101" pitchFamily="2" charset="-122"/>
              </a:rPr>
              <a:t>A good approximation to the colossal patterns in the sense that any pattern in the complete set is on average at most 0.17 items away from one of these 80 patterns</a:t>
            </a:r>
          </a:p>
        </p:txBody>
      </p:sp>
    </p:spTree>
  </p:cSld>
  <p:clrMapOvr>
    <a:masterClrMapping/>
  </p:clrMapOvr>
  <p:transition spd="med"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6">
            <a:extLst>
              <a:ext uri="{FF2B5EF4-FFF2-40B4-BE49-F238E27FC236}">
                <a16:creationId xmlns:a16="http://schemas.microsoft.com/office/drawing/2014/main" id="{158398F1-7402-402E-988C-DB7C89510D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4C3443B-5924-4D47-8C0C-DC897ACFB4AC}" type="slidenum">
              <a:rPr lang="en-US" altLang="en-US" sz="1200"/>
              <a:pPr eaLnBrk="1" hangingPunct="1"/>
              <a:t>60</a:t>
            </a:fld>
            <a:endParaRPr lang="en-US" altLang="en-US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4DA4618-F4C7-4514-8611-F8AF46286F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7 : Advanced Frequent Pattern Mining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2B0C84D2-C393-4703-A43C-B4A487C9653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95400"/>
            <a:ext cx="8382000" cy="52578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Mining: A Road Map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 in Multi-Level, Multi-Dimensional Space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Constraint-Based Frequent Pattern Mining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High-Dimensional Data and Colossal Patterns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Compressed or Approximate Patterns 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Exploration and Application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Summary</a:t>
            </a:r>
          </a:p>
        </p:txBody>
      </p:sp>
      <p:sp>
        <p:nvSpPr>
          <p:cNvPr id="64517" name="AutoShape 4">
            <a:extLst>
              <a:ext uri="{FF2B5EF4-FFF2-40B4-BE49-F238E27FC236}">
                <a16:creationId xmlns:a16="http://schemas.microsoft.com/office/drawing/2014/main" id="{F66F72E5-B2CB-49AB-8092-1D340F17BEF7}"/>
              </a:ext>
            </a:extLst>
          </p:cNvPr>
          <p:cNvSpPr>
            <a:spLocks noChangeArrowheads="1"/>
          </p:cNvSpPr>
          <p:nvPr/>
        </p:nvSpPr>
        <p:spPr bwMode="auto">
          <a:xfrm rot="-1988414">
            <a:off x="7256463" y="4029075"/>
            <a:ext cx="381000" cy="45720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6">
            <a:extLst>
              <a:ext uri="{FF2B5EF4-FFF2-40B4-BE49-F238E27FC236}">
                <a16:creationId xmlns:a16="http://schemas.microsoft.com/office/drawing/2014/main" id="{04560032-F335-4B71-B4BF-43BD8FAD58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712C612-4866-41F2-AEC8-D9E96094C2B4}" type="slidenum">
              <a:rPr lang="en-US" altLang="en-US" sz="1200"/>
              <a:pPr eaLnBrk="1" hangingPunct="1"/>
              <a:t>61</a:t>
            </a:fld>
            <a:endParaRPr lang="en-US" altLang="en-US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67CDF7D4-D52F-46E0-A1F9-BF52C8AA2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/>
              <a:t>Mining Compressed Patterns: </a:t>
            </a:r>
            <a:r>
              <a:rPr lang="el-GR" altLang="zh-CN" sz="3200"/>
              <a:t>δ</a:t>
            </a:r>
            <a:r>
              <a:rPr lang="en-US" altLang="zh-CN" sz="3200">
                <a:ea typeface="宋体" panose="02010600030101010101" pitchFamily="2" charset="-122"/>
              </a:rPr>
              <a:t>-clustering </a:t>
            </a:r>
            <a:endParaRPr lang="en-US" altLang="en-US" sz="3200"/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46F5BD73-5460-4280-8D5D-4DFE6CD3BFC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51054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Why compressed patterns?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too many, but less meaningful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Pattern distance measure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40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zh-CN" sz="240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l-GR" altLang="zh-CN" sz="2400">
                <a:cs typeface="Arial" panose="020B0604020202020204" pitchFamily="34" charset="0"/>
              </a:rPr>
              <a:t>δ</a:t>
            </a:r>
            <a:r>
              <a:rPr lang="en-US" altLang="zh-CN" sz="2400">
                <a:ea typeface="宋体" panose="02010600030101010101" pitchFamily="2" charset="-122"/>
                <a:cs typeface="Arial" panose="020B0604020202020204" pitchFamily="34" charset="0"/>
              </a:rPr>
              <a:t>-clustering: For each pattern P, find all patterns which can be expressed by P and their distance to P are within </a:t>
            </a:r>
            <a:r>
              <a:rPr lang="el-GR" altLang="zh-CN" sz="2400">
                <a:cs typeface="Arial" panose="020B0604020202020204" pitchFamily="34" charset="0"/>
              </a:rPr>
              <a:t>δ</a:t>
            </a:r>
            <a:r>
              <a:rPr lang="en-US" altLang="zh-CN" sz="2400">
                <a:ea typeface="宋体" panose="02010600030101010101" pitchFamily="2" charset="-122"/>
              </a:rPr>
              <a:t> (</a:t>
            </a:r>
            <a:r>
              <a:rPr lang="el-GR" altLang="zh-CN" sz="2400">
                <a:cs typeface="Arial" panose="020B0604020202020204" pitchFamily="34" charset="0"/>
              </a:rPr>
              <a:t>δ</a:t>
            </a:r>
            <a:r>
              <a:rPr lang="en-US" altLang="zh-CN" sz="2400">
                <a:ea typeface="宋体" panose="02010600030101010101" pitchFamily="2" charset="-122"/>
              </a:rPr>
              <a:t>-cover)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All patterns in the cluster can be represented by 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>
                <a:ea typeface="宋体" panose="02010600030101010101" pitchFamily="2" charset="-122"/>
              </a:rPr>
              <a:t>Xin et al., </a:t>
            </a:r>
            <a:r>
              <a:rPr lang="en-US" altLang="en-US" sz="2400"/>
              <a:t>“Mining Compressed Frequent-Pattern Sets”, </a:t>
            </a:r>
            <a:r>
              <a:rPr lang="en-US" altLang="zh-CN" sz="2400">
                <a:ea typeface="宋体" panose="02010600030101010101" pitchFamily="2" charset="-122"/>
              </a:rPr>
              <a:t>VLDB’05</a:t>
            </a:r>
            <a:endParaRPr lang="en-US" altLang="en-US" sz="2400"/>
          </a:p>
        </p:txBody>
      </p:sp>
      <p:graphicFrame>
        <p:nvGraphicFramePr>
          <p:cNvPr id="2087973" name="Group 37">
            <a:extLst>
              <a:ext uri="{FF2B5EF4-FFF2-40B4-BE49-F238E27FC236}">
                <a16:creationId xmlns:a16="http://schemas.microsoft.com/office/drawing/2014/main" id="{61DA3C66-876A-4B7E-B1F9-03847B457E2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638800" y="1371600"/>
          <a:ext cx="3200400" cy="1981200"/>
        </p:xfrm>
        <a:graphic>
          <a:graphicData uri="http://schemas.openxmlformats.org/drawingml/2006/table">
            <a:tbl>
              <a:tblPr/>
              <a:tblGrid>
                <a:gridCol w="477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Item-Sets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Support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{38,16,18,12}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205227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{38,16,18,12,17}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205211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{39,38,16,18,12,17}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101758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{39,16,18,12,17}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66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161563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{39,16,18,12}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161576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5571" name="Rectangle 38">
            <a:extLst>
              <a:ext uri="{FF2B5EF4-FFF2-40B4-BE49-F238E27FC236}">
                <a16:creationId xmlns:a16="http://schemas.microsoft.com/office/drawing/2014/main" id="{42DA3118-F763-4631-8374-C65E69EDA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429000"/>
            <a:ext cx="38862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000">
                <a:ea typeface="宋体" panose="02010600030101010101" pitchFamily="2" charset="-122"/>
              </a:rPr>
              <a:t>Closed frequent pattern 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>
                <a:ea typeface="宋体" panose="02010600030101010101" pitchFamily="2" charset="-122"/>
              </a:rPr>
              <a:t>Report P1, P2, P3, P4, P5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>
                <a:ea typeface="宋体" panose="02010600030101010101" pitchFamily="2" charset="-122"/>
              </a:rPr>
              <a:t>Emphasize too much on support</a:t>
            </a: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>
                <a:ea typeface="宋体" panose="02010600030101010101" pitchFamily="2" charset="-122"/>
              </a:rPr>
              <a:t>no compression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000">
                <a:ea typeface="宋体" panose="02010600030101010101" pitchFamily="2" charset="-122"/>
              </a:rPr>
              <a:t>Max-pattern, P3: info loss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000">
                <a:ea typeface="宋体" panose="02010600030101010101" pitchFamily="2" charset="-122"/>
              </a:rPr>
              <a:t>A desirable output: P2, P3, P4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/>
          </a:p>
        </p:txBody>
      </p:sp>
      <p:pic>
        <p:nvPicPr>
          <p:cNvPr id="65572" name="Picture 39">
            <a:extLst>
              <a:ext uri="{FF2B5EF4-FFF2-40B4-BE49-F238E27FC236}">
                <a16:creationId xmlns:a16="http://schemas.microsoft.com/office/drawing/2014/main" id="{2548B7BC-19AB-40FE-8120-BCFAEF66B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667000"/>
            <a:ext cx="3962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DE5B3E8A-C701-4029-B02F-79DA55F9F8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E4E56E4-EA7A-44E5-A464-ADA74E2F4B9D}" type="slidenum">
              <a:rPr lang="en-US" altLang="en-US" sz="1200"/>
              <a:pPr eaLnBrk="1" hangingPunct="1"/>
              <a:t>62</a:t>
            </a:fld>
            <a:endParaRPr lang="en-US" altLang="en-US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4E04B907-73FA-47E8-BDCF-9443D117D5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Redundancy-Award Top-k Patterns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B7B5C9EF-4B53-4CB8-8BB7-99CBD26047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6781800" cy="457200"/>
          </a:xfrm>
        </p:spPr>
        <p:txBody>
          <a:bodyPr/>
          <a:lstStyle/>
          <a:p>
            <a:pPr eaLnBrk="1" hangingPunct="1"/>
            <a:r>
              <a:rPr lang="en-US" altLang="en-US" sz="2400"/>
              <a:t>Why redundancy-aware top-k patterns?</a:t>
            </a:r>
          </a:p>
        </p:txBody>
      </p:sp>
      <p:pic>
        <p:nvPicPr>
          <p:cNvPr id="66565" name="Picture 4">
            <a:extLst>
              <a:ext uri="{FF2B5EF4-FFF2-40B4-BE49-F238E27FC236}">
                <a16:creationId xmlns:a16="http://schemas.microsoft.com/office/drawing/2014/main" id="{E7231DCB-0232-473C-909C-88914F174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81213"/>
            <a:ext cx="5334000" cy="433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566" name="Rectangle 5">
            <a:extLst>
              <a:ext uri="{FF2B5EF4-FFF2-40B4-BE49-F238E27FC236}">
                <a16:creationId xmlns:a16="http://schemas.microsoft.com/office/drawing/2014/main" id="{1C1B29A2-8049-4939-A786-ED7D28E28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905000"/>
            <a:ext cx="37338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Desired patterns: high significance &amp; low redundancy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Propose the MMS (Maximal Marginal Significance) for measuring the combined significance of a pattern set </a:t>
            </a: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/>
              <a:t>Xin et al., Extracting Redundancy-Aware Top-K Patterns, KDD’06</a:t>
            </a:r>
          </a:p>
        </p:txBody>
      </p:sp>
    </p:spTree>
  </p:cSld>
  <p:clrMapOvr>
    <a:masterClrMapping/>
  </p:clrMapOvr>
  <p:transition spd="med"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6">
            <a:extLst>
              <a:ext uri="{FF2B5EF4-FFF2-40B4-BE49-F238E27FC236}">
                <a16:creationId xmlns:a16="http://schemas.microsoft.com/office/drawing/2014/main" id="{88C29008-1FE8-42AF-B917-A662CCE30A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9274186-E9B4-43EA-A8A2-CBC8AEB503B7}" type="slidenum">
              <a:rPr lang="en-US" altLang="en-US" sz="1200"/>
              <a:pPr eaLnBrk="1" hangingPunct="1"/>
              <a:t>63</a:t>
            </a:fld>
            <a:endParaRPr lang="en-US" altLang="en-US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3170A376-F6DA-4A56-A0FF-EB3763E91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7 : Advanced Frequent Pattern Mining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B96BBEDF-4E94-4915-ABC1-89A09420EE5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382000" cy="50292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Mining: A Road Map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 in Multi-Level, Multi-Dimensional Space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Constraint-Based Frequent Pattern Mining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High-Dimensional Data and Colossal Patterns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Compressed or Approximate Patterns 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Exploration and Application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Summary</a:t>
            </a:r>
          </a:p>
        </p:txBody>
      </p:sp>
      <p:sp>
        <p:nvSpPr>
          <p:cNvPr id="67589" name="AutoShape 4">
            <a:extLst>
              <a:ext uri="{FF2B5EF4-FFF2-40B4-BE49-F238E27FC236}">
                <a16:creationId xmlns:a16="http://schemas.microsoft.com/office/drawing/2014/main" id="{F5A24C21-9D5F-4B6F-A2A6-C51CB71BFD24}"/>
              </a:ext>
            </a:extLst>
          </p:cNvPr>
          <p:cNvSpPr>
            <a:spLocks noChangeArrowheads="1"/>
          </p:cNvSpPr>
          <p:nvPr/>
        </p:nvSpPr>
        <p:spPr bwMode="auto">
          <a:xfrm rot="-1988414">
            <a:off x="5732463" y="4886325"/>
            <a:ext cx="381000" cy="45720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6">
            <a:extLst>
              <a:ext uri="{FF2B5EF4-FFF2-40B4-BE49-F238E27FC236}">
                <a16:creationId xmlns:a16="http://schemas.microsoft.com/office/drawing/2014/main" id="{3472E377-8DD3-48CC-A06B-D9EB9E7DF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81200"/>
            <a:ext cx="2286000" cy="4572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131DB0F9-8604-4A90-875E-C5B7B7B67E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>
                <a:ea typeface="宋体" panose="02010600030101010101" pitchFamily="2" charset="-122"/>
              </a:rPr>
              <a:t> </a:t>
            </a:r>
            <a:endParaRPr lang="en-US" altLang="zh-CN" sz="4000"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31433639-58B7-4B39-B6C2-E54F67C47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4800" y="1714500"/>
            <a:ext cx="4495800" cy="1735138"/>
          </a:xfrm>
        </p:spPr>
        <p:txBody>
          <a:bodyPr/>
          <a:lstStyle/>
          <a:p>
            <a:r>
              <a:rPr lang="en-US" altLang="zh-CN" sz="2400" b="1">
                <a:latin typeface="Calibri" panose="020F0502020204030204" pitchFamily="34" charset="0"/>
                <a:ea typeface="宋体" panose="02010600030101010101" pitchFamily="2" charset="-122"/>
              </a:rPr>
              <a:t>Do they all make sense?</a:t>
            </a:r>
          </a:p>
          <a:p>
            <a:r>
              <a:rPr lang="en-US" altLang="zh-CN" sz="2400" b="1">
                <a:latin typeface="Calibri" panose="020F0502020204030204" pitchFamily="34" charset="0"/>
                <a:ea typeface="宋体" panose="02010600030101010101" pitchFamily="2" charset="-122"/>
              </a:rPr>
              <a:t>What do they mean?</a:t>
            </a:r>
          </a:p>
          <a:p>
            <a:r>
              <a:rPr lang="en-US" altLang="zh-CN" sz="2400" b="1">
                <a:latin typeface="Calibri" panose="020F0502020204030204" pitchFamily="34" charset="0"/>
                <a:ea typeface="宋体" panose="02010600030101010101" pitchFamily="2" charset="-122"/>
              </a:rPr>
              <a:t>How are they useful?</a:t>
            </a:r>
          </a:p>
        </p:txBody>
      </p:sp>
      <p:sp>
        <p:nvSpPr>
          <p:cNvPr id="68613" name="Oval 4">
            <a:extLst>
              <a:ext uri="{FF2B5EF4-FFF2-40B4-BE49-F238E27FC236}">
                <a16:creationId xmlns:a16="http://schemas.microsoft.com/office/drawing/2014/main" id="{9F61931A-B548-46B1-9C75-893C327D1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057400"/>
            <a:ext cx="990600" cy="3048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b="1">
                <a:latin typeface="Calibri" panose="020F0502020204030204" pitchFamily="34" charset="0"/>
                <a:ea typeface="宋体" panose="02010600030101010101" pitchFamily="2" charset="-122"/>
              </a:rPr>
              <a:t>diaper</a:t>
            </a:r>
          </a:p>
        </p:txBody>
      </p:sp>
      <p:sp>
        <p:nvSpPr>
          <p:cNvPr id="68614" name="Oval 5">
            <a:extLst>
              <a:ext uri="{FF2B5EF4-FFF2-40B4-BE49-F238E27FC236}">
                <a16:creationId xmlns:a16="http://schemas.microsoft.com/office/drawing/2014/main" id="{F66851B6-FA3A-40F6-8E77-46DF911D5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057400"/>
            <a:ext cx="990600" cy="3048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b="1">
                <a:latin typeface="Calibri" panose="020F0502020204030204" pitchFamily="34" charset="0"/>
                <a:ea typeface="宋体" panose="02010600030101010101" pitchFamily="2" charset="-122"/>
              </a:rPr>
              <a:t>beer</a:t>
            </a:r>
          </a:p>
        </p:txBody>
      </p:sp>
      <p:sp>
        <p:nvSpPr>
          <p:cNvPr id="68615" name="Rectangle 10">
            <a:extLst>
              <a:ext uri="{FF2B5EF4-FFF2-40B4-BE49-F238E27FC236}">
                <a16:creationId xmlns:a16="http://schemas.microsoft.com/office/drawing/2014/main" id="{2BA4E202-17EA-471D-B475-D522BE967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124200"/>
            <a:ext cx="32861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</a:rPr>
              <a:t>female sterile (2) tekele</a:t>
            </a:r>
          </a:p>
        </p:txBody>
      </p:sp>
      <p:pic>
        <p:nvPicPr>
          <p:cNvPr id="68616" name="Picture 11" descr="caffeine">
            <a:extLst>
              <a:ext uri="{FF2B5EF4-FFF2-40B4-BE49-F238E27FC236}">
                <a16:creationId xmlns:a16="http://schemas.microsoft.com/office/drawing/2014/main" id="{6B99047C-358C-4916-8419-6FE832A3C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26" r="20712" b="26166"/>
          <a:stretch>
            <a:fillRect/>
          </a:stretch>
        </p:blipFill>
        <p:spPr bwMode="auto">
          <a:xfrm>
            <a:off x="762000" y="4065588"/>
            <a:ext cx="1243013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7" name="Line 12">
            <a:extLst>
              <a:ext uri="{FF2B5EF4-FFF2-40B4-BE49-F238E27FC236}">
                <a16:creationId xmlns:a16="http://schemas.microsoft.com/office/drawing/2014/main" id="{3A844B3E-338B-4DEC-8F77-F70A0B76A9F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2860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8" name="Line 13">
            <a:extLst>
              <a:ext uri="{FF2B5EF4-FFF2-40B4-BE49-F238E27FC236}">
                <a16:creationId xmlns:a16="http://schemas.microsoft.com/office/drawing/2014/main" id="{F3EEF81D-E20E-49E5-88AC-58DF65FB80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2819400"/>
            <a:ext cx="1447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9" name="Line 14">
            <a:extLst>
              <a:ext uri="{FF2B5EF4-FFF2-40B4-BE49-F238E27FC236}">
                <a16:creationId xmlns:a16="http://schemas.microsoft.com/office/drawing/2014/main" id="{7F858253-4F01-4EC6-AA15-6D6FF70DE3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971800"/>
            <a:ext cx="1676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20" name="Rectangle 15">
            <a:extLst>
              <a:ext uri="{FF2B5EF4-FFF2-40B4-BE49-F238E27FC236}">
                <a16:creationId xmlns:a16="http://schemas.microsoft.com/office/drawing/2014/main" id="{3AFD2C6C-D52A-4344-A966-52C89984D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713" y="5791200"/>
            <a:ext cx="7456487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宋体" panose="02010600030101010101" pitchFamily="2" charset="-122"/>
              </a:rPr>
              <a:t>Annotate patterns with semantic information</a:t>
            </a:r>
            <a:endParaRPr lang="en-US" altLang="zh-CN" b="1"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68621" name="Rectangle 16">
            <a:extLst>
              <a:ext uri="{FF2B5EF4-FFF2-40B4-BE49-F238E27FC236}">
                <a16:creationId xmlns:a16="http://schemas.microsoft.com/office/drawing/2014/main" id="{AAB68BBD-6650-485D-9029-4949E72E3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657600"/>
            <a:ext cx="4648200" cy="4000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morphological info. and simple statistics</a:t>
            </a:r>
            <a:endParaRPr lang="en-US" altLang="zh-CN" sz="2000" b="1">
              <a:latin typeface="Calibri" panose="020F050202020403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68622" name="Rectangle 17">
            <a:extLst>
              <a:ext uri="{FF2B5EF4-FFF2-40B4-BE49-F238E27FC236}">
                <a16:creationId xmlns:a16="http://schemas.microsoft.com/office/drawing/2014/main" id="{B5A44D8B-6D3E-425A-BF96-89F4D2C7B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495800"/>
            <a:ext cx="2743200" cy="36671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Semantic Information</a:t>
            </a:r>
            <a:endParaRPr lang="en-US" altLang="zh-CN" sz="1800" b="1"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68623" name="AutoShape 18">
            <a:extLst>
              <a:ext uri="{FF2B5EF4-FFF2-40B4-BE49-F238E27FC236}">
                <a16:creationId xmlns:a16="http://schemas.microsoft.com/office/drawing/2014/main" id="{3D992FD1-7B35-4C43-908F-6D20E9AAD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143375"/>
            <a:ext cx="3810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8624" name="AutoShape 19">
            <a:extLst>
              <a:ext uri="{FF2B5EF4-FFF2-40B4-BE49-F238E27FC236}">
                <a16:creationId xmlns:a16="http://schemas.microsoft.com/office/drawing/2014/main" id="{F3BFE3A6-4378-4C7F-B52F-12FAB8408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334000"/>
            <a:ext cx="3810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8625" name="Rectangle 20">
            <a:extLst>
              <a:ext uri="{FF2B5EF4-FFF2-40B4-BE49-F238E27FC236}">
                <a16:creationId xmlns:a16="http://schemas.microsoft.com/office/drawing/2014/main" id="{C505BFEF-ED33-448A-89EB-97A1A232C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953000"/>
            <a:ext cx="7239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1800" b="1" i="1">
                <a:ea typeface="宋体" panose="02010600030101010101" pitchFamily="2" charset="-122"/>
              </a:rPr>
              <a:t>Not all frequent patterns are useful, only meaningful ones …</a:t>
            </a:r>
            <a:endParaRPr lang="en-US" altLang="zh-CN" sz="1800" b="1" i="1"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68626" name="Rectangle 21">
            <a:extLst>
              <a:ext uri="{FF2B5EF4-FFF2-40B4-BE49-F238E27FC236}">
                <a16:creationId xmlns:a16="http://schemas.microsoft.com/office/drawing/2014/main" id="{3D1AD19D-8DD3-48BD-A1A7-A1D0217DE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8600"/>
            <a:ext cx="8686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3600" b="1">
                <a:latin typeface="Calibri" panose="020F0502020204030204" pitchFamily="34" charset="0"/>
                <a:ea typeface="宋体" panose="02010600030101010101" pitchFamily="2" charset="-122"/>
              </a:rPr>
              <a:t>How to Understand and Interpret Patterns?</a:t>
            </a:r>
          </a:p>
        </p:txBody>
      </p:sp>
    </p:spTree>
  </p:cSld>
  <p:clrMapOvr>
    <a:masterClrMapping/>
  </p:clrMapOvr>
  <p:transition spd="med"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34" name="Group 185">
            <a:extLst>
              <a:ext uri="{FF2B5EF4-FFF2-40B4-BE49-F238E27FC236}">
                <a16:creationId xmlns:a16="http://schemas.microsoft.com/office/drawing/2014/main" id="{A719A322-8D21-439D-9EEB-C3A658C1DD14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447800"/>
            <a:ext cx="7924800" cy="4419600"/>
            <a:chOff x="336" y="912"/>
            <a:chExt cx="4992" cy="2784"/>
          </a:xfrm>
        </p:grpSpPr>
        <p:pic>
          <p:nvPicPr>
            <p:cNvPr id="69669" name="Picture 186">
              <a:extLst>
                <a:ext uri="{FF2B5EF4-FFF2-40B4-BE49-F238E27FC236}">
                  <a16:creationId xmlns:a16="http://schemas.microsoft.com/office/drawing/2014/main" id="{0DBCC60C-D21F-4348-9C42-A1795A142B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06" t="13573" b="46875"/>
            <a:stretch>
              <a:fillRect/>
            </a:stretch>
          </p:blipFill>
          <p:spPr bwMode="auto">
            <a:xfrm>
              <a:off x="336" y="912"/>
              <a:ext cx="4992" cy="20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9670" name="Picture 187">
              <a:extLst>
                <a:ext uri="{FF2B5EF4-FFF2-40B4-BE49-F238E27FC236}">
                  <a16:creationId xmlns:a16="http://schemas.microsoft.com/office/drawing/2014/main" id="{E2BBFE19-6700-484C-A053-E9EFC45CC5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06" t="68750" b="17708"/>
            <a:stretch>
              <a:fillRect/>
            </a:stretch>
          </p:blipFill>
          <p:spPr bwMode="auto">
            <a:xfrm>
              <a:off x="336" y="2986"/>
              <a:ext cx="4992" cy="7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9671" name="Rectangle 188">
              <a:extLst>
                <a:ext uri="{FF2B5EF4-FFF2-40B4-BE49-F238E27FC236}">
                  <a16:creationId xmlns:a16="http://schemas.microsoft.com/office/drawing/2014/main" id="{B030FA15-C20F-411A-B9E8-1AFECBDEE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008"/>
              <a:ext cx="2880" cy="19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zh-CN" sz="2000" b="1"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Word: “pattern” – from Merriam-Webster</a:t>
              </a:r>
            </a:p>
          </p:txBody>
        </p:sp>
      </p:grpSp>
      <p:sp>
        <p:nvSpPr>
          <p:cNvPr id="69635" name="Rectangle 2">
            <a:extLst>
              <a:ext uri="{FF2B5EF4-FFF2-40B4-BE49-F238E27FC236}">
                <a16:creationId xmlns:a16="http://schemas.microsoft.com/office/drawing/2014/main" id="{80C7F844-45F9-4763-B0BB-BC0194F5DE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>
                <a:ea typeface="宋体" panose="02010600030101010101" pitchFamily="2" charset="-122"/>
              </a:rPr>
              <a:t>A Dictionary Analogy</a:t>
            </a:r>
          </a:p>
        </p:txBody>
      </p:sp>
      <p:grpSp>
        <p:nvGrpSpPr>
          <p:cNvPr id="69636" name="Group 97">
            <a:extLst>
              <a:ext uri="{FF2B5EF4-FFF2-40B4-BE49-F238E27FC236}">
                <a16:creationId xmlns:a16="http://schemas.microsoft.com/office/drawing/2014/main" id="{2CAB51BD-13CE-4DE4-81A7-1C823640C7D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133600"/>
            <a:ext cx="8229600" cy="657225"/>
            <a:chOff x="288" y="1344"/>
            <a:chExt cx="5184" cy="414"/>
          </a:xfrm>
        </p:grpSpPr>
        <p:sp>
          <p:nvSpPr>
            <p:cNvPr id="69666" name="Rectangle 75">
              <a:extLst>
                <a:ext uri="{FF2B5EF4-FFF2-40B4-BE49-F238E27FC236}">
                  <a16:creationId xmlns:a16="http://schemas.microsoft.com/office/drawing/2014/main" id="{82A6AD26-4EB3-4008-B091-DEBBBB572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344"/>
              <a:ext cx="1344" cy="25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zh-CN" sz="2000" b="1"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Non-semantic info.</a:t>
              </a:r>
            </a:p>
          </p:txBody>
        </p:sp>
        <p:sp>
          <p:nvSpPr>
            <p:cNvPr id="69667" name="Oval 76">
              <a:extLst>
                <a:ext uri="{FF2B5EF4-FFF2-40B4-BE49-F238E27FC236}">
                  <a16:creationId xmlns:a16="http://schemas.microsoft.com/office/drawing/2014/main" id="{63F9D6E0-5DF8-4C3E-A653-909B40935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518"/>
              <a:ext cx="1824" cy="240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69668" name="AutoShape 77">
              <a:extLst>
                <a:ext uri="{FF2B5EF4-FFF2-40B4-BE49-F238E27FC236}">
                  <a16:creationId xmlns:a16="http://schemas.microsoft.com/office/drawing/2014/main" id="{E3D0D515-830B-4B1D-BACE-954D16E45E72}"/>
                </a:ext>
              </a:extLst>
            </p:cNvPr>
            <p:cNvCxnSpPr>
              <a:cxnSpLocks noChangeShapeType="1"/>
              <a:stCxn id="69667" idx="6"/>
              <a:endCxn id="69666" idx="1"/>
            </p:cNvCxnSpPr>
            <p:nvPr/>
          </p:nvCxnSpPr>
          <p:spPr bwMode="auto">
            <a:xfrm flipV="1">
              <a:off x="2121" y="1472"/>
              <a:ext cx="2007" cy="16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9637" name="Group 103">
            <a:extLst>
              <a:ext uri="{FF2B5EF4-FFF2-40B4-BE49-F238E27FC236}">
                <a16:creationId xmlns:a16="http://schemas.microsoft.com/office/drawing/2014/main" id="{E919D151-FA14-4E18-AC7B-EF106770EDC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629025"/>
            <a:ext cx="7924800" cy="1720850"/>
            <a:chOff x="528" y="2286"/>
            <a:chExt cx="4992" cy="1084"/>
          </a:xfrm>
        </p:grpSpPr>
        <p:sp>
          <p:nvSpPr>
            <p:cNvPr id="69655" name="Oval 79">
              <a:extLst>
                <a:ext uri="{FF2B5EF4-FFF2-40B4-BE49-F238E27FC236}">
                  <a16:creationId xmlns:a16="http://schemas.microsoft.com/office/drawing/2014/main" id="{7FCE08E6-F2B8-4630-A1E2-39150BBC5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" y="2286"/>
              <a:ext cx="864" cy="14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9656" name="Oval 80">
              <a:extLst>
                <a:ext uri="{FF2B5EF4-FFF2-40B4-BE49-F238E27FC236}">
                  <a16:creationId xmlns:a16="http://schemas.microsoft.com/office/drawing/2014/main" id="{83B2D0AE-5EA4-41DC-8333-09648372D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823"/>
              <a:ext cx="912" cy="14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9657" name="Oval 81">
              <a:extLst>
                <a:ext uri="{FF2B5EF4-FFF2-40B4-BE49-F238E27FC236}">
                  <a16:creationId xmlns:a16="http://schemas.microsoft.com/office/drawing/2014/main" id="{22F9C69D-1369-42B5-882B-E146C64E5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072"/>
              <a:ext cx="1344" cy="1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9658" name="Oval 82">
              <a:extLst>
                <a:ext uri="{FF2B5EF4-FFF2-40B4-BE49-F238E27FC236}">
                  <a16:creationId xmlns:a16="http://schemas.microsoft.com/office/drawing/2014/main" id="{9DBF1FC7-5734-4998-96EF-4016BC0C8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400"/>
              <a:ext cx="528" cy="12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9659" name="Rectangle 83">
              <a:extLst>
                <a:ext uri="{FF2B5EF4-FFF2-40B4-BE49-F238E27FC236}">
                  <a16:creationId xmlns:a16="http://schemas.microsoft.com/office/drawing/2014/main" id="{00173747-9586-459A-A509-8C5614258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688"/>
              <a:ext cx="1344" cy="29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zh-CN" b="1">
                  <a:ea typeface="宋体" panose="02010600030101010101" pitchFamily="2" charset="-122"/>
                </a:rPr>
                <a:t>Examples of Usage</a:t>
              </a:r>
            </a:p>
          </p:txBody>
        </p:sp>
        <p:cxnSp>
          <p:nvCxnSpPr>
            <p:cNvPr id="69660" name="AutoShape 84">
              <a:extLst>
                <a:ext uri="{FF2B5EF4-FFF2-40B4-BE49-F238E27FC236}">
                  <a16:creationId xmlns:a16="http://schemas.microsoft.com/office/drawing/2014/main" id="{F5FC6C58-F6A0-45CC-BE6E-49A7FC528A77}"/>
                </a:ext>
              </a:extLst>
            </p:cNvPr>
            <p:cNvCxnSpPr>
              <a:cxnSpLocks noChangeShapeType="1"/>
              <a:stCxn id="69655" idx="6"/>
              <a:endCxn id="69659" idx="1"/>
            </p:cNvCxnSpPr>
            <p:nvPr/>
          </p:nvCxnSpPr>
          <p:spPr bwMode="auto">
            <a:xfrm flipH="1">
              <a:off x="4176" y="2358"/>
              <a:ext cx="306" cy="4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661" name="AutoShape 85">
              <a:extLst>
                <a:ext uri="{FF2B5EF4-FFF2-40B4-BE49-F238E27FC236}">
                  <a16:creationId xmlns:a16="http://schemas.microsoft.com/office/drawing/2014/main" id="{F4EC5625-9782-479E-9C60-DE2F4D02CEE2}"/>
                </a:ext>
              </a:extLst>
            </p:cNvPr>
            <p:cNvCxnSpPr>
              <a:cxnSpLocks noChangeShapeType="1"/>
              <a:stCxn id="69658" idx="6"/>
              <a:endCxn id="69659" idx="1"/>
            </p:cNvCxnSpPr>
            <p:nvPr/>
          </p:nvCxnSpPr>
          <p:spPr bwMode="auto">
            <a:xfrm>
              <a:off x="1065" y="2462"/>
              <a:ext cx="3111" cy="37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662" name="AutoShape 86">
              <a:extLst>
                <a:ext uri="{FF2B5EF4-FFF2-40B4-BE49-F238E27FC236}">
                  <a16:creationId xmlns:a16="http://schemas.microsoft.com/office/drawing/2014/main" id="{FEC8DC9D-0BB0-465C-9978-878AE89790C5}"/>
                </a:ext>
              </a:extLst>
            </p:cNvPr>
            <p:cNvCxnSpPr>
              <a:cxnSpLocks noChangeShapeType="1"/>
              <a:stCxn id="69657" idx="6"/>
              <a:endCxn id="69659" idx="1"/>
            </p:cNvCxnSpPr>
            <p:nvPr/>
          </p:nvCxnSpPr>
          <p:spPr bwMode="auto">
            <a:xfrm flipV="1">
              <a:off x="2793" y="2833"/>
              <a:ext cx="1383" cy="3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663" name="AutoShape 87">
              <a:extLst>
                <a:ext uri="{FF2B5EF4-FFF2-40B4-BE49-F238E27FC236}">
                  <a16:creationId xmlns:a16="http://schemas.microsoft.com/office/drawing/2014/main" id="{072E5C2E-3938-4ABE-A530-2892517078D6}"/>
                </a:ext>
              </a:extLst>
            </p:cNvPr>
            <p:cNvCxnSpPr>
              <a:cxnSpLocks noChangeShapeType="1"/>
              <a:stCxn id="69656" idx="7"/>
              <a:endCxn id="69659" idx="1"/>
            </p:cNvCxnSpPr>
            <p:nvPr/>
          </p:nvCxnSpPr>
          <p:spPr bwMode="auto">
            <a:xfrm flipV="1">
              <a:off x="3178" y="2833"/>
              <a:ext cx="998" cy="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664" name="Oval 88">
              <a:extLst>
                <a:ext uri="{FF2B5EF4-FFF2-40B4-BE49-F238E27FC236}">
                  <a16:creationId xmlns:a16="http://schemas.microsoft.com/office/drawing/2014/main" id="{93FFB83A-1067-4ACA-9521-3EF85ED6C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216"/>
              <a:ext cx="1104" cy="15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69665" name="AutoShape 89">
              <a:extLst>
                <a:ext uri="{FF2B5EF4-FFF2-40B4-BE49-F238E27FC236}">
                  <a16:creationId xmlns:a16="http://schemas.microsoft.com/office/drawing/2014/main" id="{21ED33A1-E8CB-46AA-871F-85C768EC630C}"/>
                </a:ext>
              </a:extLst>
            </p:cNvPr>
            <p:cNvCxnSpPr>
              <a:cxnSpLocks noChangeShapeType="1"/>
              <a:stCxn id="69664" idx="6"/>
              <a:endCxn id="69659" idx="1"/>
            </p:cNvCxnSpPr>
            <p:nvPr/>
          </p:nvCxnSpPr>
          <p:spPr bwMode="auto">
            <a:xfrm flipV="1">
              <a:off x="3609" y="2833"/>
              <a:ext cx="567" cy="46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9638" name="Group 102">
            <a:extLst>
              <a:ext uri="{FF2B5EF4-FFF2-40B4-BE49-F238E27FC236}">
                <a16:creationId xmlns:a16="http://schemas.microsoft.com/office/drawing/2014/main" id="{579F59D7-12AA-4EC6-BE22-6EA0B259EBAE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819400"/>
            <a:ext cx="7924800" cy="1219200"/>
            <a:chOff x="576" y="1776"/>
            <a:chExt cx="4992" cy="768"/>
          </a:xfrm>
        </p:grpSpPr>
        <p:sp>
          <p:nvSpPr>
            <p:cNvPr id="69652" name="Rectangle 91">
              <a:extLst>
                <a:ext uri="{FF2B5EF4-FFF2-40B4-BE49-F238E27FC236}">
                  <a16:creationId xmlns:a16="http://schemas.microsoft.com/office/drawing/2014/main" id="{1B77345B-5FD8-456C-A938-F17D8A3C9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776"/>
              <a:ext cx="1536" cy="36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zh-CN" sz="2000" b="1"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Definitions indicating </a:t>
              </a:r>
            </a:p>
            <a:p>
              <a:pPr algn="ctr"/>
              <a:r>
                <a:rPr lang="en-US" altLang="zh-CN" sz="2000" b="1"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semantics</a:t>
              </a:r>
            </a:p>
          </p:txBody>
        </p:sp>
        <p:cxnSp>
          <p:nvCxnSpPr>
            <p:cNvPr id="69653" name="AutoShape 92">
              <a:extLst>
                <a:ext uri="{FF2B5EF4-FFF2-40B4-BE49-F238E27FC236}">
                  <a16:creationId xmlns:a16="http://schemas.microsoft.com/office/drawing/2014/main" id="{C565A4B4-729B-4263-8829-8ED5C6176C61}"/>
                </a:ext>
              </a:extLst>
            </p:cNvPr>
            <p:cNvCxnSpPr>
              <a:cxnSpLocks noChangeShapeType="1"/>
              <a:stCxn id="69654" idx="3"/>
              <a:endCxn id="69652" idx="1"/>
            </p:cNvCxnSpPr>
            <p:nvPr/>
          </p:nvCxnSpPr>
          <p:spPr bwMode="auto">
            <a:xfrm flipV="1">
              <a:off x="3225" y="1957"/>
              <a:ext cx="807" cy="39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9654" name="Rectangle 94">
              <a:extLst>
                <a:ext uri="{FF2B5EF4-FFF2-40B4-BE49-F238E27FC236}">
                  <a16:creationId xmlns:a16="http://schemas.microsoft.com/office/drawing/2014/main" id="{7B7F8C75-6A74-4102-93D4-A1839B3F5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160"/>
              <a:ext cx="2640" cy="384"/>
            </a:xfrm>
            <a:prstGeom prst="rect">
              <a:avLst/>
            </a:prstGeom>
            <a:noFill/>
            <a:ln w="28575">
              <a:solidFill>
                <a:srgbClr val="80008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pic>
        <p:nvPicPr>
          <p:cNvPr id="69639" name="Picture 168">
            <a:extLst>
              <a:ext uri="{FF2B5EF4-FFF2-40B4-BE49-F238E27FC236}">
                <a16:creationId xmlns:a16="http://schemas.microsoft.com/office/drawing/2014/main" id="{5CE626BA-6A7B-49E3-9310-44AEB6142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t="17709" r="8594" b="47916"/>
          <a:stretch>
            <a:fillRect/>
          </a:stretch>
        </p:blipFill>
        <p:spPr bwMode="auto">
          <a:xfrm>
            <a:off x="1828800" y="3505200"/>
            <a:ext cx="7010400" cy="272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9640" name="Group 169">
            <a:extLst>
              <a:ext uri="{FF2B5EF4-FFF2-40B4-BE49-F238E27FC236}">
                <a16:creationId xmlns:a16="http://schemas.microsoft.com/office/drawing/2014/main" id="{E659523A-9322-44E4-86E6-8CC1F850D720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478338"/>
            <a:ext cx="8467725" cy="457200"/>
            <a:chOff x="144" y="2821"/>
            <a:chExt cx="5334" cy="288"/>
          </a:xfrm>
        </p:grpSpPr>
        <p:sp>
          <p:nvSpPr>
            <p:cNvPr id="69649" name="Oval 170">
              <a:extLst>
                <a:ext uri="{FF2B5EF4-FFF2-40B4-BE49-F238E27FC236}">
                  <a16:creationId xmlns:a16="http://schemas.microsoft.com/office/drawing/2014/main" id="{4B580C43-8D2C-4059-8C76-80C5452C9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0" y="2821"/>
              <a:ext cx="3648" cy="24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9650" name="Rectangle 171">
              <a:extLst>
                <a:ext uri="{FF2B5EF4-FFF2-40B4-BE49-F238E27FC236}">
                  <a16:creationId xmlns:a16="http://schemas.microsoft.com/office/drawing/2014/main" id="{12854AD9-9DB4-4688-90ED-C85390F62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892"/>
              <a:ext cx="1248" cy="21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zh-CN" sz="1600" b="1">
                  <a:ea typeface="宋体" panose="02010600030101010101" pitchFamily="2" charset="-122"/>
                </a:rPr>
                <a:t>Synonyms</a:t>
              </a:r>
            </a:p>
          </p:txBody>
        </p:sp>
        <p:cxnSp>
          <p:nvCxnSpPr>
            <p:cNvPr id="69651" name="AutoShape 172">
              <a:extLst>
                <a:ext uri="{FF2B5EF4-FFF2-40B4-BE49-F238E27FC236}">
                  <a16:creationId xmlns:a16="http://schemas.microsoft.com/office/drawing/2014/main" id="{1F419E0B-2E4D-4E49-A9CB-73899617E128}"/>
                </a:ext>
              </a:extLst>
            </p:cNvPr>
            <p:cNvCxnSpPr>
              <a:cxnSpLocks noChangeShapeType="1"/>
              <a:stCxn id="69650" idx="3"/>
              <a:endCxn id="69649" idx="2"/>
            </p:cNvCxnSpPr>
            <p:nvPr/>
          </p:nvCxnSpPr>
          <p:spPr bwMode="auto">
            <a:xfrm flipV="1">
              <a:off x="1392" y="2945"/>
              <a:ext cx="429" cy="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9641" name="Group 173">
            <a:extLst>
              <a:ext uri="{FF2B5EF4-FFF2-40B4-BE49-F238E27FC236}">
                <a16:creationId xmlns:a16="http://schemas.microsoft.com/office/drawing/2014/main" id="{EB1F7811-D930-40E4-A205-C2A515E12329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859338"/>
            <a:ext cx="5500688" cy="1266825"/>
            <a:chOff x="240" y="3061"/>
            <a:chExt cx="3465" cy="798"/>
          </a:xfrm>
        </p:grpSpPr>
        <p:sp>
          <p:nvSpPr>
            <p:cNvPr id="69642" name="Oval 174">
              <a:extLst>
                <a:ext uri="{FF2B5EF4-FFF2-40B4-BE49-F238E27FC236}">
                  <a16:creationId xmlns:a16="http://schemas.microsoft.com/office/drawing/2014/main" id="{4A86417F-06B8-4F3C-8681-FA6B4AE6A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61"/>
              <a:ext cx="480" cy="192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9643" name="Oval 175">
              <a:extLst>
                <a:ext uri="{FF2B5EF4-FFF2-40B4-BE49-F238E27FC236}">
                  <a16:creationId xmlns:a16="http://schemas.microsoft.com/office/drawing/2014/main" id="{AC61F097-0374-40CE-B45F-A301C2DE5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5" y="3728"/>
              <a:ext cx="960" cy="131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9644" name="Oval 176">
              <a:extLst>
                <a:ext uri="{FF2B5EF4-FFF2-40B4-BE49-F238E27FC236}">
                  <a16:creationId xmlns:a16="http://schemas.microsoft.com/office/drawing/2014/main" id="{C332FB39-C018-4514-B798-4BFC8C68A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397"/>
              <a:ext cx="624" cy="144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9645" name="Rectangle 177">
              <a:extLst>
                <a:ext uri="{FF2B5EF4-FFF2-40B4-BE49-F238E27FC236}">
                  <a16:creationId xmlns:a16="http://schemas.microsoft.com/office/drawing/2014/main" id="{F7DC754E-4A8D-4189-90C6-836473B15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3529"/>
              <a:ext cx="1248" cy="21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zh-CN" sz="1600" b="1">
                  <a:ea typeface="宋体" panose="02010600030101010101" pitchFamily="2" charset="-122"/>
                </a:rPr>
                <a:t>Related Words</a:t>
              </a:r>
            </a:p>
          </p:txBody>
        </p:sp>
        <p:cxnSp>
          <p:nvCxnSpPr>
            <p:cNvPr id="69646" name="AutoShape 178">
              <a:extLst>
                <a:ext uri="{FF2B5EF4-FFF2-40B4-BE49-F238E27FC236}">
                  <a16:creationId xmlns:a16="http://schemas.microsoft.com/office/drawing/2014/main" id="{84BE7CE5-0ED4-4699-BC88-A80FBA8B6BC6}"/>
                </a:ext>
              </a:extLst>
            </p:cNvPr>
            <p:cNvCxnSpPr>
              <a:cxnSpLocks noChangeShapeType="1"/>
              <a:stCxn id="69645" idx="3"/>
              <a:endCxn id="69642" idx="2"/>
            </p:cNvCxnSpPr>
            <p:nvPr/>
          </p:nvCxnSpPr>
          <p:spPr bwMode="auto">
            <a:xfrm flipV="1">
              <a:off x="1488" y="3157"/>
              <a:ext cx="567" cy="48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647" name="AutoShape 179">
              <a:extLst>
                <a:ext uri="{FF2B5EF4-FFF2-40B4-BE49-F238E27FC236}">
                  <a16:creationId xmlns:a16="http://schemas.microsoft.com/office/drawing/2014/main" id="{DFE58537-4C9C-45D4-B01B-65CF2FC27352}"/>
                </a:ext>
              </a:extLst>
            </p:cNvPr>
            <p:cNvCxnSpPr>
              <a:cxnSpLocks noChangeShapeType="1"/>
              <a:stCxn id="69644" idx="2"/>
              <a:endCxn id="69645" idx="3"/>
            </p:cNvCxnSpPr>
            <p:nvPr/>
          </p:nvCxnSpPr>
          <p:spPr bwMode="auto">
            <a:xfrm flipH="1">
              <a:off x="1488" y="3469"/>
              <a:ext cx="567" cy="16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648" name="AutoShape 180">
              <a:extLst>
                <a:ext uri="{FF2B5EF4-FFF2-40B4-BE49-F238E27FC236}">
                  <a16:creationId xmlns:a16="http://schemas.microsoft.com/office/drawing/2014/main" id="{1A9C3BA3-F377-4A75-BC43-E35F0FFA6103}"/>
                </a:ext>
              </a:extLst>
            </p:cNvPr>
            <p:cNvCxnSpPr>
              <a:cxnSpLocks noChangeShapeType="1"/>
              <a:stCxn id="69645" idx="3"/>
              <a:endCxn id="69643" idx="2"/>
            </p:cNvCxnSpPr>
            <p:nvPr/>
          </p:nvCxnSpPr>
          <p:spPr bwMode="auto">
            <a:xfrm>
              <a:off x="1488" y="3638"/>
              <a:ext cx="1248" cy="15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 spd="med"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9378E725-953D-46D6-8F8A-D251DFCC36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914400"/>
          </a:xfrm>
        </p:spPr>
        <p:txBody>
          <a:bodyPr/>
          <a:lstStyle/>
          <a:p>
            <a:r>
              <a:rPr lang="en-US" altLang="zh-CN" sz="4000">
                <a:ea typeface="宋体" panose="02010600030101010101" pitchFamily="2" charset="-122"/>
              </a:rPr>
              <a:t>Semantic Analysis with Context Models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40743D96-F493-4139-B6DC-046B267A8D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46238"/>
            <a:ext cx="8382000" cy="45259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Calibri" panose="020F0502020204030204" pitchFamily="34" charset="0"/>
                <a:ea typeface="宋体" panose="02010600030101010101" pitchFamily="2" charset="-122"/>
              </a:rPr>
              <a:t>Task1: Model the context of a frequent pattern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zh-CN" sz="3200" i="1">
                <a:latin typeface="Calibri" panose="020F0502020204030204" pitchFamily="34" charset="0"/>
                <a:ea typeface="宋体" panose="02010600030101010101" pitchFamily="2" charset="-122"/>
              </a:rPr>
              <a:t>Based on the Context Model …</a:t>
            </a: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Calibri" panose="020F0502020204030204" pitchFamily="34" charset="0"/>
                <a:ea typeface="宋体" panose="02010600030101010101" pitchFamily="2" charset="-122"/>
              </a:rPr>
              <a:t>Task2: Extract strongest context indicators </a:t>
            </a: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Calibri" panose="020F0502020204030204" pitchFamily="34" charset="0"/>
                <a:ea typeface="宋体" panose="02010600030101010101" pitchFamily="2" charset="-122"/>
              </a:rPr>
              <a:t>Task3: Extract representative transactions </a:t>
            </a: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Calibri" panose="020F0502020204030204" pitchFamily="34" charset="0"/>
                <a:ea typeface="宋体" panose="02010600030101010101" pitchFamily="2" charset="-122"/>
              </a:rPr>
              <a:t>Task4: Extract</a:t>
            </a:r>
            <a:r>
              <a:rPr lang="en-US" altLang="zh-CN" sz="3200" i="1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>
                <a:latin typeface="Calibri" panose="020F0502020204030204" pitchFamily="34" charset="0"/>
                <a:ea typeface="宋体" panose="02010600030101010101" pitchFamily="2" charset="-122"/>
              </a:rPr>
              <a:t>semantically similar patterns</a:t>
            </a:r>
          </a:p>
        </p:txBody>
      </p:sp>
    </p:spTree>
  </p:cSld>
  <p:clrMapOvr>
    <a:masterClrMapping/>
  </p:clrMapOvr>
  <p:transition spd="med"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9E6593C4-2D87-4B32-9107-B1067CC010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372600" cy="762000"/>
          </a:xfrm>
        </p:spPr>
        <p:txBody>
          <a:bodyPr/>
          <a:lstStyle/>
          <a:p>
            <a:r>
              <a:rPr lang="en-US" altLang="zh-CN" sz="3200">
                <a:ea typeface="宋体" panose="02010600030101010101" pitchFamily="2" charset="-122"/>
              </a:rPr>
              <a:t>Annotating DBLP Co-authorship &amp; Title Pattern</a:t>
            </a:r>
          </a:p>
        </p:txBody>
      </p:sp>
      <p:sp>
        <p:nvSpPr>
          <p:cNvPr id="71683" name="Rectangle 4">
            <a:extLst>
              <a:ext uri="{FF2B5EF4-FFF2-40B4-BE49-F238E27FC236}">
                <a16:creationId xmlns:a16="http://schemas.microsoft.com/office/drawing/2014/main" id="{3D233573-1062-4999-B5AD-C536115B1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752600"/>
            <a:ext cx="25908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rgbClr val="CC0099"/>
                </a:solidFill>
                <a:ea typeface="宋体" panose="02010600030101010101" pitchFamily="2" charset="-122"/>
              </a:rPr>
              <a:t>Substructure</a:t>
            </a:r>
            <a:r>
              <a:rPr lang="en-US" altLang="zh-CN" sz="1200" b="1">
                <a:ea typeface="宋体" panose="02010600030101010101" pitchFamily="2" charset="-122"/>
              </a:rPr>
              <a:t> Similarity </a:t>
            </a:r>
            <a:r>
              <a:rPr lang="en-US" altLang="zh-CN" sz="1200" b="1">
                <a:solidFill>
                  <a:srgbClr val="CC0099"/>
                </a:solidFill>
                <a:ea typeface="宋体" panose="02010600030101010101" pitchFamily="2" charset="-122"/>
              </a:rPr>
              <a:t>Search</a:t>
            </a:r>
            <a:r>
              <a:rPr lang="en-US" altLang="zh-CN" sz="1200" b="1">
                <a:ea typeface="宋体" panose="02010600030101010101" pitchFamily="2" charset="-122"/>
              </a:rPr>
              <a:t> </a:t>
            </a:r>
          </a:p>
          <a:p>
            <a:pPr algn="ctr" eaLnBrk="1" hangingPunct="1"/>
            <a:r>
              <a:rPr lang="en-US" altLang="zh-CN" sz="1200" b="1">
                <a:ea typeface="宋体" panose="02010600030101010101" pitchFamily="2" charset="-122"/>
              </a:rPr>
              <a:t>in Graph Databases </a:t>
            </a:r>
          </a:p>
        </p:txBody>
      </p:sp>
      <p:sp>
        <p:nvSpPr>
          <p:cNvPr id="71684" name="Rectangle 5">
            <a:extLst>
              <a:ext uri="{FF2B5EF4-FFF2-40B4-BE49-F238E27FC236}">
                <a16:creationId xmlns:a16="http://schemas.microsoft.com/office/drawing/2014/main" id="{26AB736D-8D37-4E47-A8B7-244CE3FBA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752600"/>
            <a:ext cx="1676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1200" b="1">
                <a:solidFill>
                  <a:schemeClr val="hlink"/>
                </a:solidFill>
                <a:ea typeface="宋体" panose="02010600030101010101" pitchFamily="2" charset="-122"/>
              </a:rPr>
              <a:t>X.Yan</a:t>
            </a:r>
            <a:r>
              <a:rPr lang="en-US" altLang="zh-CN" sz="1200" b="1">
                <a:ea typeface="宋体" panose="02010600030101010101" pitchFamily="2" charset="-122"/>
              </a:rPr>
              <a:t>, P. Yu, </a:t>
            </a:r>
            <a:r>
              <a:rPr lang="en-US" altLang="zh-CN" sz="1200" b="1">
                <a:solidFill>
                  <a:schemeClr val="hlink"/>
                </a:solidFill>
                <a:ea typeface="宋体" panose="02010600030101010101" pitchFamily="2" charset="-122"/>
              </a:rPr>
              <a:t>J. Han</a:t>
            </a:r>
          </a:p>
        </p:txBody>
      </p:sp>
      <p:sp>
        <p:nvSpPr>
          <p:cNvPr id="71685" name="Rectangle 16">
            <a:extLst>
              <a:ext uri="{FF2B5EF4-FFF2-40B4-BE49-F238E27FC236}">
                <a16:creationId xmlns:a16="http://schemas.microsoft.com/office/drawing/2014/main" id="{1ABEF45E-78FD-4FF7-A13B-4726AEC15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286000"/>
            <a:ext cx="2590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1200" b="1"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71686" name="Rectangle 17">
            <a:extLst>
              <a:ext uri="{FF2B5EF4-FFF2-40B4-BE49-F238E27FC236}">
                <a16:creationId xmlns:a16="http://schemas.microsoft.com/office/drawing/2014/main" id="{631E0FD5-0592-41E2-BBF1-9C2A1C6A5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86000"/>
            <a:ext cx="1676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1200" b="1"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71687" name="Rectangle 18">
            <a:extLst>
              <a:ext uri="{FF2B5EF4-FFF2-40B4-BE49-F238E27FC236}">
                <a16:creationId xmlns:a16="http://schemas.microsoft.com/office/drawing/2014/main" id="{3DDEF36E-A778-4624-B5EC-8CDF8BE5B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590800"/>
            <a:ext cx="2590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1200" b="1"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71688" name="Rectangle 19">
            <a:extLst>
              <a:ext uri="{FF2B5EF4-FFF2-40B4-BE49-F238E27FC236}">
                <a16:creationId xmlns:a16="http://schemas.microsoft.com/office/drawing/2014/main" id="{3A7572B1-F4FD-4506-8A09-0D5662187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90800"/>
            <a:ext cx="1676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1200" b="1"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71689" name="Text Box 20">
            <a:extLst>
              <a:ext uri="{FF2B5EF4-FFF2-40B4-BE49-F238E27FC236}">
                <a16:creationId xmlns:a16="http://schemas.microsoft.com/office/drawing/2014/main" id="{34473466-E448-481F-8BE6-F2305AAD9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Database:</a:t>
            </a:r>
          </a:p>
        </p:txBody>
      </p:sp>
      <p:sp>
        <p:nvSpPr>
          <p:cNvPr id="71690" name="Rectangle 21">
            <a:extLst>
              <a:ext uri="{FF2B5EF4-FFF2-40B4-BE49-F238E27FC236}">
                <a16:creationId xmlns:a16="http://schemas.microsoft.com/office/drawing/2014/main" id="{965B21F7-D5F3-4366-AD46-5F9F7D3E0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447800"/>
            <a:ext cx="2590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1200" b="1">
                <a:ea typeface="宋体" panose="02010600030101010101" pitchFamily="2" charset="-122"/>
              </a:rPr>
              <a:t>Title</a:t>
            </a:r>
          </a:p>
        </p:txBody>
      </p:sp>
      <p:sp>
        <p:nvSpPr>
          <p:cNvPr id="71691" name="Rectangle 22">
            <a:extLst>
              <a:ext uri="{FF2B5EF4-FFF2-40B4-BE49-F238E27FC236}">
                <a16:creationId xmlns:a16="http://schemas.microsoft.com/office/drawing/2014/main" id="{B7ADFCF5-6909-4E1D-B497-956F8349C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447800"/>
            <a:ext cx="1676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zh-CN" sz="1200" b="1">
                <a:ea typeface="宋体" panose="02010600030101010101" pitchFamily="2" charset="-122"/>
              </a:rPr>
              <a:t>Authors</a:t>
            </a:r>
          </a:p>
        </p:txBody>
      </p:sp>
      <p:sp>
        <p:nvSpPr>
          <p:cNvPr id="71692" name="Text Box 23">
            <a:extLst>
              <a:ext uri="{FF2B5EF4-FFF2-40B4-BE49-F238E27FC236}">
                <a16:creationId xmlns:a16="http://schemas.microsoft.com/office/drawing/2014/main" id="{8B720BE3-0788-40BA-9D55-C077A5A55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2192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Frequent Patterns</a:t>
            </a:r>
          </a:p>
        </p:txBody>
      </p:sp>
      <p:grpSp>
        <p:nvGrpSpPr>
          <p:cNvPr id="71693" name="Group 84">
            <a:extLst>
              <a:ext uri="{FF2B5EF4-FFF2-40B4-BE49-F238E27FC236}">
                <a16:creationId xmlns:a16="http://schemas.microsoft.com/office/drawing/2014/main" id="{5129AC6D-6C0D-49B8-81B0-F8CF3F316C46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676400"/>
            <a:ext cx="6477000" cy="762000"/>
            <a:chOff x="1440" y="1440"/>
            <a:chExt cx="4080" cy="480"/>
          </a:xfrm>
        </p:grpSpPr>
        <p:sp>
          <p:nvSpPr>
            <p:cNvPr id="112665" name="Text Box 25">
              <a:extLst>
                <a:ext uri="{FF2B5EF4-FFF2-40B4-BE49-F238E27FC236}">
                  <a16:creationId xmlns:a16="http://schemas.microsoft.com/office/drawing/2014/main" id="{92DF1FF3-8B16-49CF-9D53-85F88DEC23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440"/>
              <a:ext cx="2016" cy="21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1600" b="1" dirty="0"/>
                <a:t>P</a:t>
              </a:r>
              <a:r>
                <a:rPr lang="en-US" altLang="zh-CN" sz="1600" b="1" baseline="-25000" dirty="0"/>
                <a:t>1</a:t>
              </a:r>
              <a:r>
                <a:rPr lang="en-US" altLang="zh-CN" sz="1600" b="1" dirty="0"/>
                <a:t>:   { </a:t>
              </a:r>
              <a:r>
                <a:rPr lang="en-US" altLang="zh-CN" sz="1600" b="1" dirty="0" err="1"/>
                <a:t>x_yan</a:t>
              </a:r>
              <a:r>
                <a:rPr lang="en-US" altLang="zh-CN" sz="1600" b="1" dirty="0"/>
                <a:t>, </a:t>
              </a:r>
              <a:r>
                <a:rPr lang="en-US" altLang="zh-CN" sz="1600" b="1" dirty="0" err="1"/>
                <a:t>j_han</a:t>
              </a:r>
              <a:r>
                <a:rPr lang="en-US" altLang="zh-CN" sz="1600" b="1" dirty="0"/>
                <a:t> }</a:t>
              </a:r>
            </a:p>
          </p:txBody>
        </p:sp>
        <p:cxnSp>
          <p:nvCxnSpPr>
            <p:cNvPr id="71739" name="AutoShape 27">
              <a:extLst>
                <a:ext uri="{FF2B5EF4-FFF2-40B4-BE49-F238E27FC236}">
                  <a16:creationId xmlns:a16="http://schemas.microsoft.com/office/drawing/2014/main" id="{6A182264-E58D-46B3-ABE2-8C21C12B0F70}"/>
                </a:ext>
              </a:extLst>
            </p:cNvPr>
            <p:cNvCxnSpPr>
              <a:cxnSpLocks noChangeShapeType="1"/>
              <a:stCxn id="71684" idx="3"/>
              <a:endCxn id="112665" idx="0"/>
            </p:cNvCxnSpPr>
            <p:nvPr/>
          </p:nvCxnSpPr>
          <p:spPr bwMode="auto">
            <a:xfrm flipV="1">
              <a:off x="1440" y="1440"/>
              <a:ext cx="3072" cy="216"/>
            </a:xfrm>
            <a:prstGeom prst="curvedConnector4">
              <a:avLst>
                <a:gd name="adj1" fmla="val 33593"/>
                <a:gd name="adj2" fmla="val 16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740" name="Text Box 29">
              <a:extLst>
                <a:ext uri="{FF2B5EF4-FFF2-40B4-BE49-F238E27FC236}">
                  <a16:creationId xmlns:a16="http://schemas.microsoft.com/office/drawing/2014/main" id="{14B87EE4-C629-41FF-97AE-A6C0AD8AF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708"/>
              <a:ext cx="1104" cy="21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>
                  <a:ea typeface="宋体" panose="02010600030101010101" pitchFamily="2" charset="-122"/>
                </a:rPr>
                <a:t>Frequent Itemset</a:t>
              </a:r>
            </a:p>
          </p:txBody>
        </p:sp>
      </p:grpSp>
      <p:sp>
        <p:nvSpPr>
          <p:cNvPr id="71694" name="Text Box 26">
            <a:extLst>
              <a:ext uri="{FF2B5EF4-FFF2-40B4-BE49-F238E27FC236}">
                <a16:creationId xmlns:a16="http://schemas.microsoft.com/office/drawing/2014/main" id="{BD2BF1D1-6A07-493D-B9F7-5873BDDB4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482850"/>
            <a:ext cx="3200400" cy="336550"/>
          </a:xfrm>
          <a:prstGeom prst="rect">
            <a:avLst/>
          </a:prstGeom>
          <a:solidFill>
            <a:srgbClr val="9933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chemeClr val="bg1"/>
                </a:solidFill>
                <a:ea typeface="宋体" panose="02010600030101010101" pitchFamily="2" charset="-122"/>
              </a:rPr>
              <a:t>P</a:t>
            </a:r>
            <a:r>
              <a:rPr lang="en-US" altLang="zh-CN" sz="1600" b="1" baseline="-25000">
                <a:solidFill>
                  <a:schemeClr val="bg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1600" b="1">
                <a:solidFill>
                  <a:schemeClr val="bg1"/>
                </a:solidFill>
                <a:ea typeface="宋体" panose="02010600030101010101" pitchFamily="2" charset="-122"/>
              </a:rPr>
              <a:t>:  “substructure search”</a:t>
            </a:r>
          </a:p>
        </p:txBody>
      </p:sp>
      <p:cxnSp>
        <p:nvCxnSpPr>
          <p:cNvPr id="71695" name="AutoShape 28">
            <a:extLst>
              <a:ext uri="{FF2B5EF4-FFF2-40B4-BE49-F238E27FC236}">
                <a16:creationId xmlns:a16="http://schemas.microsoft.com/office/drawing/2014/main" id="{605C7BCA-E6FF-44B6-8DC0-7D7C396E5290}"/>
              </a:ext>
            </a:extLst>
          </p:cNvPr>
          <p:cNvCxnSpPr>
            <a:cxnSpLocks noChangeShapeType="1"/>
            <a:stCxn id="71683" idx="3"/>
            <a:endCxn id="71694" idx="1"/>
          </p:cNvCxnSpPr>
          <p:nvPr/>
        </p:nvCxnSpPr>
        <p:spPr bwMode="auto">
          <a:xfrm>
            <a:off x="4876800" y="2019300"/>
            <a:ext cx="685800" cy="63182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12729" name="Group 89">
            <a:extLst>
              <a:ext uri="{FF2B5EF4-FFF2-40B4-BE49-F238E27FC236}">
                <a16:creationId xmlns:a16="http://schemas.microsoft.com/office/drawing/2014/main" id="{83B3796F-181D-4BCF-A2F1-0D5E772681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3276600"/>
          <a:ext cx="3429000" cy="15240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Pattern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{ x_yan, j_han}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Sup = 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{p_yu}, graph pattern, 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Trans.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gSpan: graph-base……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SSPs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{ j_wang }, {j_han, p_yu}, 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716" name="Text Box 80">
            <a:extLst>
              <a:ext uri="{FF2B5EF4-FFF2-40B4-BE49-F238E27FC236}">
                <a16:creationId xmlns:a16="http://schemas.microsoft.com/office/drawing/2014/main" id="{4D865E5D-CE5D-4389-AC9B-61ECF20C3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95600"/>
            <a:ext cx="274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Semantic Annotations</a:t>
            </a:r>
          </a:p>
        </p:txBody>
      </p:sp>
      <p:cxnSp>
        <p:nvCxnSpPr>
          <p:cNvPr id="71717" name="AutoShape 81">
            <a:extLst>
              <a:ext uri="{FF2B5EF4-FFF2-40B4-BE49-F238E27FC236}">
                <a16:creationId xmlns:a16="http://schemas.microsoft.com/office/drawing/2014/main" id="{5562A4CF-00C3-4E1A-A6A3-BD53B2E6B51D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5367337" y="2709863"/>
            <a:ext cx="85725" cy="2743200"/>
          </a:xfrm>
          <a:prstGeom prst="curvedConnector4">
            <a:avLst>
              <a:gd name="adj1" fmla="val -255556"/>
              <a:gd name="adj2" fmla="val 9444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1718" name="Group 86">
            <a:extLst>
              <a:ext uri="{FF2B5EF4-FFF2-40B4-BE49-F238E27FC236}">
                <a16:creationId xmlns:a16="http://schemas.microsoft.com/office/drawing/2014/main" id="{D5D0E85C-70FC-4F32-A227-67120F47A008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3124200"/>
            <a:ext cx="5029200" cy="1219200"/>
            <a:chOff x="2592" y="2640"/>
            <a:chExt cx="3168" cy="768"/>
          </a:xfrm>
        </p:grpSpPr>
        <p:sp>
          <p:nvSpPr>
            <p:cNvPr id="71735" name="Text Box 31">
              <a:extLst>
                <a:ext uri="{FF2B5EF4-FFF2-40B4-BE49-F238E27FC236}">
                  <a16:creationId xmlns:a16="http://schemas.microsoft.com/office/drawing/2014/main" id="{D2268A42-84BE-4A2C-9B1A-AD2B5EE3E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688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Context Units</a:t>
              </a:r>
            </a:p>
          </p:txBody>
        </p:sp>
        <p:sp>
          <p:nvSpPr>
            <p:cNvPr id="71736" name="Text Box 32">
              <a:extLst>
                <a:ext uri="{FF2B5EF4-FFF2-40B4-BE49-F238E27FC236}">
                  <a16:creationId xmlns:a16="http://schemas.microsoft.com/office/drawing/2014/main" id="{ABEF6125-DCEA-452E-A47B-1C5FCC9B5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976"/>
              <a:ext cx="3120" cy="3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 </a:t>
              </a:r>
              <a:r>
                <a:rPr lang="en-US" altLang="zh-CN" sz="1400" b="1">
                  <a:ea typeface="宋体" panose="02010600030101010101" pitchFamily="2" charset="-122"/>
                </a:rPr>
                <a:t>&lt;  { </a:t>
              </a:r>
              <a:r>
                <a:rPr lang="en-US" altLang="zh-CN" sz="1400" b="1">
                  <a:solidFill>
                    <a:schemeClr val="hlink"/>
                  </a:solidFill>
                  <a:ea typeface="宋体" panose="02010600030101010101" pitchFamily="2" charset="-122"/>
                </a:rPr>
                <a:t>p_yu, j_han</a:t>
              </a:r>
              <a:r>
                <a:rPr lang="en-US" altLang="zh-CN" sz="1400" b="1">
                  <a:ea typeface="宋体" panose="02010600030101010101" pitchFamily="2" charset="-122"/>
                </a:rPr>
                <a:t>},  { </a:t>
              </a:r>
              <a:r>
                <a:rPr lang="en-US" altLang="zh-CN" sz="1400" b="1">
                  <a:solidFill>
                    <a:schemeClr val="hlink"/>
                  </a:solidFill>
                  <a:ea typeface="宋体" panose="02010600030101010101" pitchFamily="2" charset="-122"/>
                </a:rPr>
                <a:t>d_xin</a:t>
              </a:r>
              <a:r>
                <a:rPr lang="en-US" altLang="zh-CN" sz="1400" b="1">
                  <a:ea typeface="宋体" panose="02010600030101010101" pitchFamily="2" charset="-122"/>
                </a:rPr>
                <a:t> }, … , “</a:t>
              </a:r>
              <a:r>
                <a:rPr lang="en-US" altLang="zh-CN" sz="1400" b="1">
                  <a:solidFill>
                    <a:srgbClr val="CC0099"/>
                  </a:solidFill>
                  <a:ea typeface="宋体" panose="02010600030101010101" pitchFamily="2" charset="-122"/>
                </a:rPr>
                <a:t>graph pattern”</a:t>
              </a:r>
              <a:r>
                <a:rPr lang="en-US" altLang="zh-CN" sz="1400" b="1">
                  <a:ea typeface="宋体" panose="02010600030101010101" pitchFamily="2" charset="-122"/>
                </a:rPr>
                <a:t>, </a:t>
              </a:r>
              <a:br>
                <a:rPr lang="en-US" altLang="zh-CN" sz="1400" b="1">
                  <a:ea typeface="宋体" panose="02010600030101010101" pitchFamily="2" charset="-122"/>
                </a:rPr>
              </a:br>
              <a:r>
                <a:rPr lang="en-US" altLang="zh-CN" sz="1400" b="1">
                  <a:ea typeface="宋体" panose="02010600030101010101" pitchFamily="2" charset="-122"/>
                </a:rPr>
                <a:t>… “</a:t>
              </a:r>
              <a:r>
                <a:rPr lang="en-US" altLang="zh-CN" sz="1400" b="1">
                  <a:solidFill>
                    <a:srgbClr val="CC0099"/>
                  </a:solidFill>
                  <a:ea typeface="宋体" panose="02010600030101010101" pitchFamily="2" charset="-122"/>
                </a:rPr>
                <a:t>substructure similarity”</a:t>
              </a:r>
              <a:r>
                <a:rPr lang="en-US" altLang="zh-CN" sz="1400" b="1">
                  <a:ea typeface="宋体" panose="02010600030101010101" pitchFamily="2" charset="-122"/>
                </a:rPr>
                <a:t>, … &gt;</a:t>
              </a:r>
            </a:p>
          </p:txBody>
        </p:sp>
        <p:sp>
          <p:nvSpPr>
            <p:cNvPr id="71737" name="Rectangle 82">
              <a:extLst>
                <a:ext uri="{FF2B5EF4-FFF2-40B4-BE49-F238E27FC236}">
                  <a16:creationId xmlns:a16="http://schemas.microsoft.com/office/drawing/2014/main" id="{2A355FBF-4FAE-4515-85CC-EBE0577B8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640"/>
              <a:ext cx="3072" cy="768"/>
            </a:xfrm>
            <a:prstGeom prst="rect">
              <a:avLst/>
            </a:prstGeom>
            <a:noFill/>
            <a:ln w="19050">
              <a:solidFill>
                <a:srgbClr val="00008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71719" name="Rectangle 46">
            <a:extLst>
              <a:ext uri="{FF2B5EF4-FFF2-40B4-BE49-F238E27FC236}">
                <a16:creationId xmlns:a16="http://schemas.microsoft.com/office/drawing/2014/main" id="{D460766B-D9AE-42AD-B2CC-FF8739B0E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800600"/>
            <a:ext cx="38830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zh-CN" sz="2000" b="1">
                <a:solidFill>
                  <a:srgbClr val="0000FF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Pattern = {xifeng_yan, jiawei_han} </a:t>
            </a:r>
            <a:endParaRPr lang="en-US" altLang="en-US" sz="2000" b="1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sp>
        <p:nvSpPr>
          <p:cNvPr id="71720" name="Rectangle 47">
            <a:extLst>
              <a:ext uri="{FF2B5EF4-FFF2-40B4-BE49-F238E27FC236}">
                <a16:creationId xmlns:a16="http://schemas.microsoft.com/office/drawing/2014/main" id="{E175ED4C-919D-41F9-A423-5B8D592AA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800600"/>
            <a:ext cx="2270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Annotation Results:</a:t>
            </a:r>
            <a:endParaRPr lang="en-US" altLang="en-US" sz="2000" b="1">
              <a:latin typeface="Calibri" panose="020F0502020204030204" pitchFamily="34" charset="0"/>
            </a:endParaRPr>
          </a:p>
        </p:txBody>
      </p:sp>
      <p:graphicFrame>
        <p:nvGraphicFramePr>
          <p:cNvPr id="71773" name="Group 93">
            <a:extLst>
              <a:ext uri="{FF2B5EF4-FFF2-40B4-BE49-F238E27FC236}">
                <a16:creationId xmlns:a16="http://schemas.microsoft.com/office/drawing/2014/main" id="{E20F7E29-B756-4BB7-89E6-F55EA205A219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5205413"/>
          <a:ext cx="8839200" cy="14986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7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Calibri" pitchFamily="34" charset="0"/>
                        </a:rPr>
                        <a:t>Context Indicator (CI)</a:t>
                      </a:r>
                    </a:p>
                  </a:txBody>
                  <a:tcPr marT="45568" marB="455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Calibri" pitchFamily="34" charset="0"/>
                        </a:rPr>
                        <a:t>graph;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Calibri" pitchFamily="34" charset="0"/>
                        </a:rPr>
                        <a:t>{philip_yu};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Calibri" pitchFamily="34" charset="0"/>
                        </a:rPr>
                        <a:t> mine close; graph pattern; sequential pattern; …</a:t>
                      </a:r>
                    </a:p>
                  </a:txBody>
                  <a:tcPr marT="45568" marB="455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Calibri" pitchFamily="34" charset="0"/>
                        </a:rPr>
                        <a:t>Representative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Calibri" pitchFamily="34" charset="0"/>
                        </a:rPr>
                        <a:t>Transactions (Trans)</a:t>
                      </a:r>
                    </a:p>
                  </a:txBody>
                  <a:tcPr marT="45568" marB="455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Calibri" pitchFamily="34" charset="0"/>
                        </a:rPr>
                        <a:t>&gt; gSpan: graph-base substructure pattern mining;</a:t>
                      </a:r>
                      <a:b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Calibri" pitchFamily="34" charset="0"/>
                        </a:rPr>
                      </a:b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Calibri" pitchFamily="34" charset="0"/>
                        </a:rPr>
                        <a:t>&gt; mining close relational graph connect constraint; …</a:t>
                      </a:r>
                    </a:p>
                  </a:txBody>
                  <a:tcPr marT="45568" marB="455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4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Calibri" pitchFamily="34" charset="0"/>
                        </a:rPr>
                        <a:t>Semantically Similar Patterns (SSP)</a:t>
                      </a:r>
                    </a:p>
                  </a:txBody>
                  <a:tcPr marT="45568" marB="455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Calibri" pitchFamily="34" charset="0"/>
                        </a:rPr>
                        <a:t>{jiawei_han, philip_yu}; {jian_pei, jiawei_han}; {jiong_yang, philip_yu, wei_wang};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Calibri" pitchFamily="34" charset="0"/>
                        </a:rPr>
                        <a:t> …</a:t>
                      </a:r>
                    </a:p>
                  </a:txBody>
                  <a:tcPr marT="45568" marB="455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6">
            <a:extLst>
              <a:ext uri="{FF2B5EF4-FFF2-40B4-BE49-F238E27FC236}">
                <a16:creationId xmlns:a16="http://schemas.microsoft.com/office/drawing/2014/main" id="{AEB40973-D83B-400F-BDEA-52EEA909F9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9EC9DE8-C866-40A0-AE85-97432B1E77CB}" type="slidenum">
              <a:rPr lang="en-US" altLang="en-US" sz="1200"/>
              <a:pPr eaLnBrk="1" hangingPunct="1"/>
              <a:t>68</a:t>
            </a:fld>
            <a:endParaRPr lang="en-US" altLang="en-US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37FAE65D-F10D-4BB8-9408-ABC137A192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7 : Advanced Frequent Pattern Mining</a:t>
            </a:r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331F8C1E-4E75-428E-94F0-18A177EBDD3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382000" cy="50292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Mining: A Road Map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Mining in Multi-Level, Multi-Dimensional Space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Constraint-Based Frequent Pattern Mining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High-Dimensional Data and Colossal Patterns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Mining Compressed or Approximate Patterns 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Pattern Exploration and Application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Tx/>
            </a:pPr>
            <a:r>
              <a:rPr lang="en-US" altLang="en-US" sz="2400"/>
              <a:t>Summary</a:t>
            </a:r>
          </a:p>
        </p:txBody>
      </p:sp>
      <p:sp>
        <p:nvSpPr>
          <p:cNvPr id="72709" name="AutoShape 4">
            <a:extLst>
              <a:ext uri="{FF2B5EF4-FFF2-40B4-BE49-F238E27FC236}">
                <a16:creationId xmlns:a16="http://schemas.microsoft.com/office/drawing/2014/main" id="{49BF1856-249D-4C09-ADE0-BEA2E4535438}"/>
              </a:ext>
            </a:extLst>
          </p:cNvPr>
          <p:cNvSpPr>
            <a:spLocks noChangeArrowheads="1"/>
          </p:cNvSpPr>
          <p:nvPr/>
        </p:nvSpPr>
        <p:spPr bwMode="auto">
          <a:xfrm rot="1635792">
            <a:off x="2286000" y="5943600"/>
            <a:ext cx="381000" cy="457200"/>
          </a:xfrm>
          <a:prstGeom prst="leftArrow">
            <a:avLst>
              <a:gd name="adj1" fmla="val 50000"/>
              <a:gd name="adj2" fmla="val 25000"/>
            </a:avLst>
          </a:prstGeom>
          <a:solidFill>
            <a:srgbClr val="80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6">
            <a:extLst>
              <a:ext uri="{FF2B5EF4-FFF2-40B4-BE49-F238E27FC236}">
                <a16:creationId xmlns:a16="http://schemas.microsoft.com/office/drawing/2014/main" id="{103469B4-1E19-4ACC-9D32-5AD5C7B5C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D8732AF-202C-4513-8F2F-8B19984F1A66}" type="slidenum">
              <a:rPr lang="en-US" altLang="en-US" sz="1200"/>
              <a:pPr eaLnBrk="1" hangingPunct="1"/>
              <a:t>69</a:t>
            </a:fld>
            <a:endParaRPr lang="en-US" altLang="en-US" sz="12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7930D2E1-DED1-4012-A105-3176BBE73B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4000"/>
              <a:t>Summary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3F6ABE76-017F-49CC-9BF6-FDE822DD1FB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19200"/>
            <a:ext cx="8382000" cy="50292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buSzPct val="80000"/>
            </a:pPr>
            <a:r>
              <a:rPr lang="en-US" altLang="en-US" sz="2400"/>
              <a:t>Roadmap: Many aspects &amp; extensions on pattern mining </a:t>
            </a:r>
          </a:p>
          <a:p>
            <a:pPr marL="457200" indent="-457200" eaLnBrk="1" hangingPunct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buSzPct val="80000"/>
            </a:pPr>
            <a:r>
              <a:rPr lang="en-US" altLang="en-US" sz="2400"/>
              <a:t>Mining patterns in multi-level, multi dimensional space</a:t>
            </a:r>
          </a:p>
          <a:p>
            <a:pPr marL="457200" indent="-457200" eaLnBrk="1" hangingPunct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buSzPct val="80000"/>
            </a:pPr>
            <a:r>
              <a:rPr lang="en-US" altLang="en-US" sz="2400"/>
              <a:t>Mining rare and negative patterns</a:t>
            </a:r>
          </a:p>
          <a:p>
            <a:pPr marL="457200" indent="-457200" eaLnBrk="1" hangingPunct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buSzPct val="80000"/>
            </a:pPr>
            <a:r>
              <a:rPr lang="en-US" altLang="en-US" sz="2400"/>
              <a:t>Constraint-based pattern mining</a:t>
            </a:r>
          </a:p>
          <a:p>
            <a:pPr marL="457200" indent="-457200" eaLnBrk="1" hangingPunct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buSzPct val="80000"/>
            </a:pPr>
            <a:r>
              <a:rPr lang="en-US" altLang="en-US" sz="2400"/>
              <a:t>Specialized methods for mining high-dimensional data and colossal patterns</a:t>
            </a:r>
          </a:p>
          <a:p>
            <a:pPr marL="457200" indent="-457200" eaLnBrk="1" hangingPunct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buSzPct val="80000"/>
            </a:pPr>
            <a:r>
              <a:rPr lang="en-US" altLang="en-US" sz="2400"/>
              <a:t>Mining compressed or approximate patterns </a:t>
            </a:r>
          </a:p>
          <a:p>
            <a:pPr marL="457200" indent="-457200" eaLnBrk="1" hangingPunct="1"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buSzPct val="80000"/>
            </a:pPr>
            <a:r>
              <a:rPr lang="en-US" altLang="en-US" sz="2400"/>
              <a:t>Pattern exploration and understanding: Semantic annotation of frequent patterns </a:t>
            </a:r>
          </a:p>
        </p:txBody>
      </p:sp>
    </p:spTree>
  </p:cSld>
  <p:clrMapOvr>
    <a:masterClrMapping/>
  </p:clrMapOvr>
  <p:transition spd="med"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5">
            <a:extLst>
              <a:ext uri="{FF2B5EF4-FFF2-40B4-BE49-F238E27FC236}">
                <a16:creationId xmlns:a16="http://schemas.microsoft.com/office/drawing/2014/main" id="{69CCE8CC-AC5F-4C51-8D77-0616C3DB62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AC94E24-3C92-410B-BAB1-A72304EEE343}" type="slidenum">
              <a:rPr lang="en-US" altLang="en-US" sz="1200"/>
              <a:pPr eaLnBrk="1" hangingPunct="1"/>
              <a:t>70</a:t>
            </a:fld>
            <a:endParaRPr lang="en-US" altLang="en-US" sz="12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16B54313-5C12-4BFF-9B35-73EF308DE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Ref: Mining Multi-Level and Quantitative Rules</a:t>
            </a: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27916D6-F1ED-4D65-87DB-A258C035FA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34400" cy="5181600"/>
          </a:xfrm>
        </p:spPr>
        <p:txBody>
          <a:bodyPr/>
          <a:lstStyle/>
          <a:p>
            <a:pPr marL="457200" indent="-457200" eaLnBrk="1" hangingPunct="1"/>
            <a:r>
              <a:rPr lang="en-US" altLang="en-US" sz="2000"/>
              <a:t>R. Srikant and R. Agrawal. Mining generalized association rules. VLDB'95.</a:t>
            </a:r>
          </a:p>
          <a:p>
            <a:pPr marL="457200" indent="-457200" eaLnBrk="1" hangingPunct="1"/>
            <a:r>
              <a:rPr lang="en-US" altLang="en-US" sz="2000"/>
              <a:t>J. Han and Y. Fu. Discovery of multiple-level association rules from large databases. VLDB'95.</a:t>
            </a:r>
          </a:p>
          <a:p>
            <a:pPr marL="457200" indent="-457200" eaLnBrk="1" hangingPunct="1"/>
            <a:r>
              <a:rPr lang="en-US" altLang="en-US" sz="2000"/>
              <a:t>R. Srikant and R. Agrawal. Mining quantitative association rules in large relational tables. SIGMOD'96.</a:t>
            </a:r>
          </a:p>
          <a:p>
            <a:pPr marL="457200" indent="-457200" eaLnBrk="1" hangingPunct="1"/>
            <a:r>
              <a:rPr lang="en-US" altLang="en-US" sz="2000"/>
              <a:t>T. Fukuda, Y. Morimoto, S. Morishita, and T. Tokuyama. Data mining using two-dimensional optimized association rules: Scheme, algorithms, and visualization. SIGMOD'96.</a:t>
            </a:r>
          </a:p>
          <a:p>
            <a:pPr marL="457200" indent="-457200" eaLnBrk="1" hangingPunct="1"/>
            <a:r>
              <a:rPr lang="en-US" altLang="en-US" sz="2000"/>
              <a:t>K. Yoda, T. Fukuda, Y. Morimoto, S. Morishita, and T. Tokuyama. Computing optimized rectilinear regions for association rules. KDD'97.</a:t>
            </a:r>
          </a:p>
          <a:p>
            <a:pPr marL="457200" indent="-457200" eaLnBrk="1" hangingPunct="1"/>
            <a:r>
              <a:rPr lang="en-US" altLang="en-US" sz="2000"/>
              <a:t>R.J. Miller and Y. Yang.  Association rules over interval data.  SIGMOD'97.</a:t>
            </a:r>
          </a:p>
          <a:p>
            <a:pPr marL="457200" indent="-457200" eaLnBrk="1" hangingPunct="1"/>
            <a:r>
              <a:rPr lang="en-US" altLang="en-US" sz="2000"/>
              <a:t>Y. Aumann and Y. Lindell. A Statistical Theory for Quantitative Association Rules KDD'99. </a:t>
            </a:r>
          </a:p>
        </p:txBody>
      </p:sp>
    </p:spTree>
  </p:cSld>
  <p:clrMapOvr>
    <a:masterClrMapping/>
  </p:clrMapOvr>
  <p:transition spd="med">
    <p:zo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>
            <a:extLst>
              <a:ext uri="{FF2B5EF4-FFF2-40B4-BE49-F238E27FC236}">
                <a16:creationId xmlns:a16="http://schemas.microsoft.com/office/drawing/2014/main" id="{0B003480-C75A-4EE2-ACB1-FEEFE758AD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B62179A-C070-41AF-B575-C30FFE9F18A8}" type="slidenum">
              <a:rPr lang="en-US" altLang="en-US" sz="1200"/>
              <a:pPr eaLnBrk="1" hangingPunct="1"/>
              <a:t>71</a:t>
            </a:fld>
            <a:endParaRPr lang="en-US" altLang="en-US" sz="12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22ECA56B-B475-452C-88CE-8D2248459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/>
              <a:t>Ref: Mining Other Kinds of Rules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19BE4B1F-4343-429A-8729-DD2906F5CF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334000"/>
          </a:xfrm>
        </p:spPr>
        <p:txBody>
          <a:bodyPr/>
          <a:lstStyle/>
          <a:p>
            <a:pPr marL="457200" indent="-457200" eaLnBrk="1" hangingPunct="1">
              <a:lnSpc>
                <a:spcPct val="110000"/>
              </a:lnSpc>
            </a:pPr>
            <a:r>
              <a:rPr lang="en-US" altLang="en-US" sz="2000"/>
              <a:t>R. Meo, G. Psaila, and S. Ceri.  A new SQL-like operator for mining association rules. VLDB'96.</a:t>
            </a:r>
          </a:p>
          <a:p>
            <a:pPr marL="457200" indent="-457200" eaLnBrk="1" hangingPunct="1">
              <a:lnSpc>
                <a:spcPct val="110000"/>
              </a:lnSpc>
            </a:pPr>
            <a:r>
              <a:rPr lang="en-US" altLang="en-US" sz="2000"/>
              <a:t>B. Lent, A. Swami, and J. Widom.  Clustering association rules. ICDE'97.</a:t>
            </a:r>
          </a:p>
          <a:p>
            <a:pPr marL="457200" indent="-457200" eaLnBrk="1" hangingPunct="1">
              <a:lnSpc>
                <a:spcPct val="110000"/>
              </a:lnSpc>
            </a:pPr>
            <a:r>
              <a:rPr lang="en-US" altLang="en-US" sz="2000"/>
              <a:t>A. Savasere, E. Omiecinski, and S. Navathe.  Mining for strong negative associations in a large database of customer transactions. ICDE'98.</a:t>
            </a:r>
          </a:p>
          <a:p>
            <a:pPr marL="457200" indent="-457200" eaLnBrk="1" hangingPunct="1">
              <a:lnSpc>
                <a:spcPct val="110000"/>
              </a:lnSpc>
            </a:pPr>
            <a:r>
              <a:rPr lang="en-US" altLang="en-US" sz="2000"/>
              <a:t>D. Tsur, J. D. Ullman, S. Abitboul, C. Clifton, R. Motwani, and S. Nestorov.   Query flocks: A generalization of association-rule mining. SIGMOD'98.</a:t>
            </a:r>
          </a:p>
          <a:p>
            <a:pPr marL="457200" indent="-457200" eaLnBrk="1" hangingPunct="1">
              <a:lnSpc>
                <a:spcPct val="110000"/>
              </a:lnSpc>
            </a:pPr>
            <a:r>
              <a:rPr lang="en-US" altLang="en-US" sz="2000"/>
              <a:t>F. Korn, A. Labrinidis, Y. Kotidis, and C. Faloutsos.  Ratio rules: A new paradigm for fast, quantifiable data mining. VLDB'98.</a:t>
            </a:r>
          </a:p>
          <a:p>
            <a:pPr marL="457200" indent="-457200" eaLnBrk="1" hangingPunct="1">
              <a:lnSpc>
                <a:spcPct val="110000"/>
              </a:lnSpc>
            </a:pPr>
            <a:r>
              <a:rPr lang="en-US" altLang="en-US" sz="2000"/>
              <a:t>F. Zhu, X. Yan, J. Han, P. S. Yu, and H. Cheng, “Mining Colossal Frequent Patterns by Core Pattern Fusion”, ICDE'07. </a:t>
            </a:r>
          </a:p>
        </p:txBody>
      </p:sp>
    </p:spTree>
  </p:cSld>
  <p:clrMapOvr>
    <a:masterClrMapping/>
  </p:clrMapOvr>
  <p:transition spd="med"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>
            <a:extLst>
              <a:ext uri="{FF2B5EF4-FFF2-40B4-BE49-F238E27FC236}">
                <a16:creationId xmlns:a16="http://schemas.microsoft.com/office/drawing/2014/main" id="{10D8528A-AAC8-40C9-AE31-77D7F878A6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BCB47FE-BB39-4B17-A4A9-DE306B4CC3A9}" type="slidenum">
              <a:rPr lang="en-US" altLang="en-US" sz="1200"/>
              <a:pPr eaLnBrk="1" hangingPunct="1"/>
              <a:t>72</a:t>
            </a:fld>
            <a:endParaRPr lang="en-US" altLang="en-US" sz="12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D0FC1E95-7454-4BA2-908C-430309E62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Ref: Constraint-Based Pattern Mining</a:t>
            </a: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43FF5CCD-5A3D-4745-89FE-89F2BDB5A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/>
              <a:t>R. Srikant, Q. Vu, and R. Agrawal. Mining association rules with item constraints.  KDD'97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R. Ng, L.V.S. Lakshmanan, J. Han &amp; A. Pang. Exploratory mining and pruning optimizations of constrained association rules. SIGMOD’98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G. Grahne, L. Lakshmanan, and X. Wang.  Efficient mining of constrained correlated sets. ICDE'00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J. Pei, J. Han, and L. V. S. Lakshmanan.  Mining Frequent Itemsets with Convertible Constraints. ICDE'01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>
                <a:cs typeface="Times New Roman" panose="02020603050405020304" pitchFamily="18" charset="0"/>
              </a:rPr>
              <a:t>J. Pei, J. Han, and W. Wang, Mining Sequential Patterns with Constraints in Large Databases, CIKM'02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F. Bonchi, F. Giannotti, A. Mazzanti, and D. Pedreschi. ExAnte: Anticipated Data Reduction in Constrained Pattern Mining, PKDD'03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F. Zhu, X. Yan, J. Han, and P. S. Yu, “gPrune: A Constraint Pushing Framework for Graph Pattern Mining”, PAKDD'07</a:t>
            </a:r>
          </a:p>
        </p:txBody>
      </p:sp>
    </p:spTree>
  </p:cSld>
  <p:clrMapOvr>
    <a:masterClrMapping/>
  </p:clrMapOvr>
  <p:transition spd="med">
    <p:zo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>
            <a:extLst>
              <a:ext uri="{FF2B5EF4-FFF2-40B4-BE49-F238E27FC236}">
                <a16:creationId xmlns:a16="http://schemas.microsoft.com/office/drawing/2014/main" id="{BE789993-0F05-407B-829C-BD4E3A3470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E7D1DD0-5947-476D-9E95-53274D3F82F3}" type="slidenum">
              <a:rPr lang="en-US" altLang="en-US" sz="1200"/>
              <a:pPr eaLnBrk="1" hangingPunct="1"/>
              <a:t>73</a:t>
            </a:fld>
            <a:endParaRPr lang="en-US" altLang="en-US" sz="12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4F04B98A-CF85-4AD4-BD99-66A5664232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696200" cy="914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2800"/>
              <a:t>Ref: Mining Sequential and Structured Patterns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A8D5B882-15CD-4743-AEC5-9A6004B5E4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/>
              <a:t>R. Srikant and R. Agrawal. Mining sequential patterns: Generalizations and performance improvements. EDBT’96.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H. Mannila, H Toivonen, and A. I. Verkamo. Discovery of frequent episodes in event sequences. DAMI:97.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M. Zaki. SPADE: An Efficient Algorithm for Mining Frequent Sequences. Machine Learning:01.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J. Pei, J. Han, H. Pinto, Q. Chen, U. Dayal, and M.-C. Hsu.  PrefixSpan: Mining Sequential Patterns Efficiently by Prefix-Projected Pattern Growth.  ICDE'01.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M. Kuramochi and G. Karypis.  Frequent Subgraph Discovery.  ICDM'01.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>
                <a:cs typeface="Times New Roman" panose="02020603050405020304" pitchFamily="18" charset="0"/>
              </a:rPr>
              <a:t>X. Yan, J. Han, and R. Afshar.  CloSpan: Mining Closed Sequential Patterns in Large Datasets.  SDM'03.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>
                <a:cs typeface="Times New Roman" panose="02020603050405020304" pitchFamily="18" charset="0"/>
              </a:rPr>
              <a:t>X. Yan and J. Han.  CloseGraph: Mining Closed Frequent Graph Patterns.  KDD'03.</a:t>
            </a:r>
          </a:p>
        </p:txBody>
      </p:sp>
    </p:spTree>
  </p:cSld>
  <p:clrMapOvr>
    <a:masterClrMapping/>
  </p:clrMapOvr>
  <p:transition spd="med">
    <p:zo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>
            <a:extLst>
              <a:ext uri="{FF2B5EF4-FFF2-40B4-BE49-F238E27FC236}">
                <a16:creationId xmlns:a16="http://schemas.microsoft.com/office/drawing/2014/main" id="{2C047B14-C5D1-4DC7-9A7E-81BBD7F255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08D11C6-51C3-4A85-85DA-1536A5BE9969}" type="slidenum">
              <a:rPr lang="en-US" altLang="en-US" sz="1200"/>
              <a:pPr eaLnBrk="1" hangingPunct="1"/>
              <a:t>74</a:t>
            </a:fld>
            <a:endParaRPr lang="en-US" altLang="en-US" sz="12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16AC4B12-850D-4C2A-8406-7AAB1AB97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7630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2800"/>
              <a:t>Ref: Mining Spatial, Multimedia, and Web Data</a:t>
            </a:r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AF7AE089-0AF7-40A6-A004-DC94C21A27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4582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>
                <a:cs typeface="Times New Roman" panose="02020603050405020304" pitchFamily="18" charset="0"/>
              </a:rPr>
              <a:t>K. Koperski and J. Han, Discovery of Spatial Association Rules in Geographic Information Databases,  SSD’95.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O. R. Zaiane, M. Xin, J. Han, Discovering Web Access Patterns and Trends by Applying OLAP and Data Mining Technology on Web Logs. ADL'98.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O. R. Zaiane, J. Han, and H. Zhu, Mining Recurrent Items in Multimedia with Progressive Resolution Refinement.  ICDE'00.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D. Gunopulos and I. Tsoukatos.  Efficient Mining of Spatiotemporal Patterns.   SSTD'01.</a:t>
            </a:r>
          </a:p>
        </p:txBody>
      </p:sp>
    </p:spTree>
  </p:cSld>
  <p:clrMapOvr>
    <a:masterClrMapping/>
  </p:clrMapOvr>
  <p:transition spd="med">
    <p:zo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>
            <a:extLst>
              <a:ext uri="{FF2B5EF4-FFF2-40B4-BE49-F238E27FC236}">
                <a16:creationId xmlns:a16="http://schemas.microsoft.com/office/drawing/2014/main" id="{6A5E6DA0-5471-4153-9AB3-9DE6BFECF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EE3C6E2-283B-4212-9534-4A222991081D}" type="slidenum">
              <a:rPr lang="en-US" altLang="en-US" sz="1200"/>
              <a:pPr eaLnBrk="1" hangingPunct="1"/>
              <a:t>75</a:t>
            </a:fld>
            <a:endParaRPr lang="en-US" altLang="en-US" sz="12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5EB70E03-CD80-42EE-8CDD-BAC5E1EB9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86106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2800"/>
              <a:t>Ref: Mining Frequent Patterns in Time-Series Data</a:t>
            </a: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4F8BDEBE-6C9F-4CCD-A45A-F8E2D81498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106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B. Ozden, S. Ramaswamy, and A. Silberschatz. Cyclic association rules. ICDE'98.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J. Han, G. Dong and Y. Yin, Efficient Mining of Partial Periodic Patterns in Time Series Database, ICDE'99.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H. Lu, L. Feng, and J. Han.  Beyond Intra-Transaction Association Analysis: Mining Multi-Dimensional Inter-Transaction Association Rules.  TOIS:00.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B.-K. Yi, N. Sidiropoulos, T. Johnson, H. V. Jagadish, C. Faloutsos, and A. Biliris. Online Data Mining for Co-Evolving Time Sequences. ICDE'00.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W. Wang, J. Yang, R. Muntz. TAR: Temporal Association Rules on Evolving Numerical Attributes. ICDE’01.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J. Yang, W. Wang, P. S. Yu. Mining Asynchronous Periodic Patterns in Time Series Data. TKDE’03.</a:t>
            </a:r>
          </a:p>
        </p:txBody>
      </p:sp>
    </p:spTree>
  </p:cSld>
  <p:clrMapOvr>
    <a:masterClrMapping/>
  </p:clrMapOvr>
  <p:transition spd="med">
    <p:zo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5">
            <a:extLst>
              <a:ext uri="{FF2B5EF4-FFF2-40B4-BE49-F238E27FC236}">
                <a16:creationId xmlns:a16="http://schemas.microsoft.com/office/drawing/2014/main" id="{411BC8EF-E480-42A1-9FEA-AB549994D0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1B6D439-2CE9-4D4F-B0E7-815A9CD17F82}" type="slidenum">
              <a:rPr lang="en-US" altLang="en-US" sz="1200"/>
              <a:pPr eaLnBrk="1" hangingPunct="1"/>
              <a:t>76</a:t>
            </a:fld>
            <a:endParaRPr lang="en-US" altLang="en-US" sz="12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D00AD57-C2ED-4480-81A6-599A7DD6EC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9248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Ref: FP for Classification and Clustering</a:t>
            </a:r>
            <a:endParaRPr lang="en-US" altLang="en-US"/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F7183CF4-5E3A-48AB-8CFB-F374FE677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5257800"/>
          </a:xfrm>
          <a:noFill/>
        </p:spPr>
        <p:txBody>
          <a:bodyPr lIns="92075" tIns="46038" rIns="92075" bIns="46038"/>
          <a:lstStyle/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/>
              <a:t>G. Dong and J. Li. Efficient mining of emerging patterns: Discovering trends and differences.  KDD'99.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/>
              <a:t>B. Liu, W. Hsu, Y. Ma. Integrating Classification and Association Rule Mining.  KDD’98.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>
                <a:cs typeface="Times New Roman" panose="02020603050405020304" pitchFamily="18" charset="0"/>
              </a:rPr>
              <a:t>W. Li, J. Han, and J. Pei.  CMAR: Accurate and Efficient Classification Based on Multiple Class-Association Rules.  ICDM'01.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>
                <a:cs typeface="Times New Roman" panose="02020603050405020304" pitchFamily="18" charset="0"/>
              </a:rPr>
              <a:t>H. Wang, W. Wang, J. Yang, and P.S. Yu.  Clustering by pattern similarity in large data sets.  SIGMOD’ 02. 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/>
              <a:t>J. Yang and W. Wang.  CLUSEQ: efficient and effective sequence clustering. ICDE’03. </a:t>
            </a:r>
            <a:endParaRPr lang="en-US" altLang="en-US" sz="200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>
                <a:cs typeface="Times New Roman" panose="02020603050405020304" pitchFamily="18" charset="0"/>
              </a:rPr>
              <a:t>X. Yin and J. Han. CPAR: Classification based on Predictive Association Rules.  SDM'03.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/>
              <a:t>H. Cheng, X. Yan, J. Han, and C.-W. Hsu, Discriminative Frequent Pattern Analysis for Effective Classification”, ICDE'07.</a:t>
            </a:r>
          </a:p>
        </p:txBody>
      </p:sp>
    </p:spTree>
  </p:cSld>
  <p:clrMapOvr>
    <a:masterClrMapping/>
  </p:clrMapOvr>
  <p:transition spd="med">
    <p:zo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5">
            <a:extLst>
              <a:ext uri="{FF2B5EF4-FFF2-40B4-BE49-F238E27FC236}">
                <a16:creationId xmlns:a16="http://schemas.microsoft.com/office/drawing/2014/main" id="{7DED2007-9BA5-4C95-A59E-612EFF1A17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5F479F9-71E0-49B8-B183-C7BC17AC07BB}" type="slidenum">
              <a:rPr lang="en-US" altLang="en-US" sz="1200"/>
              <a:pPr eaLnBrk="1" hangingPunct="1"/>
              <a:t>77</a:t>
            </a:fld>
            <a:endParaRPr lang="en-US" altLang="en-US" sz="12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17CD4AEA-591D-4AFA-9E8D-990854DBD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9248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2800"/>
              <a:t>Ref: Stream and Privacy-Preserving FP Mining</a:t>
            </a:r>
            <a:endParaRPr lang="en-US" altLang="en-US" sz="3200"/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37F89F14-5CCF-44E7-8110-FFFBF8EF2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534400" cy="5257800"/>
          </a:xfrm>
          <a:noFill/>
        </p:spPr>
        <p:txBody>
          <a:bodyPr lIns="92075" tIns="46038" rIns="92075" bIns="46038"/>
          <a:lstStyle/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>
                <a:cs typeface="Times New Roman" panose="02020603050405020304" pitchFamily="18" charset="0"/>
              </a:rPr>
              <a:t>A. Evfimievski, R. Srikant, R. Agrawal, J. Gehrke.  Privacy Preserving Mining of Association Rules.  KDD’02.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>
                <a:cs typeface="Times New Roman" panose="02020603050405020304" pitchFamily="18" charset="0"/>
              </a:rPr>
              <a:t>J. Vaidya and C. Clifton.  Privacy Preserving Association Rule Mining in Vertically Partitioned Data.  KDD’02. 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>
                <a:cs typeface="Arial" panose="020B0604020202020204" pitchFamily="34" charset="0"/>
              </a:rPr>
              <a:t>G. Manku and R. Motwani.   Approximate Frequency Counts over Data Streams.  VLDB’02</a:t>
            </a:r>
            <a:r>
              <a:rPr lang="en-US" altLang="en-US" sz="2000">
                <a:cs typeface="Times New Roman" panose="02020603050405020304" pitchFamily="18" charset="0"/>
              </a:rPr>
              <a:t>.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>
                <a:cs typeface="Times New Roman" panose="02020603050405020304" pitchFamily="18" charset="0"/>
              </a:rPr>
              <a:t>Y. Chen, G. Dong, J. Han, B. W. Wah, and J. Wang.  Multi-Dimensional Regression Analysis of Time-Series Data Streams.  VLDB'02.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>
                <a:cs typeface="Times New Roman" panose="02020603050405020304" pitchFamily="18" charset="0"/>
              </a:rPr>
              <a:t>C. Giannella, J. Han, J. Pei, X. Yan and P. S. Yu.  Mining Frequent Patterns in Data Streams at Multiple Time Granularities, Next Generation Data Mining:03.</a:t>
            </a:r>
          </a:p>
          <a:p>
            <a:pPr marL="533400" indent="-533400" eaLnBrk="1" hangingPunct="1">
              <a:lnSpc>
                <a:spcPct val="120000"/>
              </a:lnSpc>
            </a:pPr>
            <a:r>
              <a:rPr lang="en-US" altLang="en-US" sz="2000"/>
              <a:t>A. Evfimievski, J. Gehrke, and R. Srikant.  Limiting Privacy Breaches in Privacy Preserving Data Mining.  PODS’03. </a:t>
            </a:r>
          </a:p>
        </p:txBody>
      </p:sp>
    </p:spTree>
  </p:cSld>
  <p:clrMapOvr>
    <a:masterClrMapping/>
  </p:clrMapOvr>
  <p:transition spd="med">
    <p:zo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5">
            <a:extLst>
              <a:ext uri="{FF2B5EF4-FFF2-40B4-BE49-F238E27FC236}">
                <a16:creationId xmlns:a16="http://schemas.microsoft.com/office/drawing/2014/main" id="{19191BA4-38EA-4033-A9F6-D3C8B8ABD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FBDCC53-6704-43A0-A559-7E097103CEFF}" type="slidenum">
              <a:rPr lang="en-US" altLang="en-US" sz="1200"/>
              <a:pPr eaLnBrk="1" hangingPunct="1"/>
              <a:t>78</a:t>
            </a:fld>
            <a:endParaRPr lang="en-US" altLang="en-US" sz="12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3AC4567-F04A-4A6D-9A43-7725191E1D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9248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2800"/>
              <a:t>Ref: Other Freq. Pattern Mining Applications</a:t>
            </a:r>
            <a:endParaRPr lang="en-US" altLang="en-US" sz="3200"/>
          </a:p>
        </p:txBody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DCB94358-ABC7-43B9-A683-277A7E3BA0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257800"/>
          </a:xfrm>
          <a:noFill/>
        </p:spPr>
        <p:txBody>
          <a:bodyPr lIns="92075" tIns="46038" rIns="92075" bIns="46038"/>
          <a:lstStyle/>
          <a:p>
            <a:pPr marL="533400" indent="-533400" eaLnBrk="1" hangingPunct="1">
              <a:lnSpc>
                <a:spcPct val="130000"/>
              </a:lnSpc>
            </a:pPr>
            <a:r>
              <a:rPr lang="en-US" altLang="en-US" sz="2000"/>
              <a:t>Y. Huhtala, J. Kärkkäinen, P. Porkka, H. Toivonen. Efficient Discovery of Functional and Approximate Dependencies Using Partitions. ICDE’98. </a:t>
            </a:r>
          </a:p>
          <a:p>
            <a:pPr marL="533400" indent="-533400" eaLnBrk="1" hangingPunct="1">
              <a:lnSpc>
                <a:spcPct val="130000"/>
              </a:lnSpc>
            </a:pPr>
            <a:r>
              <a:rPr lang="en-US" altLang="en-US" sz="2000"/>
              <a:t>H. V. Jagadish, J. Madar, and R. Ng. Semantic Compression and Pattern Extraction with Fascicles.  VLDB'99.</a:t>
            </a:r>
          </a:p>
          <a:p>
            <a:pPr marL="533400" indent="-533400" eaLnBrk="1" hangingPunct="1">
              <a:lnSpc>
                <a:spcPct val="130000"/>
              </a:lnSpc>
            </a:pPr>
            <a:r>
              <a:rPr lang="en-US" altLang="en-US" sz="2000"/>
              <a:t>T. Dasu, T. Johnson, S. Muthukrishnan, and V. Shkapenyuk. Mining Database Structure; or How to Build a Data Quality Browser. SIGMOD'02.</a:t>
            </a:r>
          </a:p>
          <a:p>
            <a:pPr marL="533400" indent="-533400" eaLnBrk="1" hangingPunct="1">
              <a:lnSpc>
                <a:spcPct val="110000"/>
              </a:lnSpc>
            </a:pPr>
            <a:r>
              <a:rPr lang="en-US" altLang="en-US" sz="2000"/>
              <a:t>K. Wang, S. Zhou, J. Han.  Profit Mining: From Patterns to Actions. EDBT’02.</a:t>
            </a:r>
          </a:p>
        </p:txBody>
      </p:sp>
    </p:spTree>
  </p:cSld>
  <p:clrMapOvr>
    <a:masterClrMapping/>
  </p:clrMapOvr>
  <p:transition spd="med">
    <p:zo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Date Placeholder 1">
            <a:extLst>
              <a:ext uri="{FF2B5EF4-FFF2-40B4-BE49-F238E27FC236}">
                <a16:creationId xmlns:a16="http://schemas.microsoft.com/office/drawing/2014/main" id="{B8D1530F-02EC-4460-9B65-8F4BD140817B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304800" y="6477000"/>
            <a:ext cx="1905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4AC5E6C-1E30-4E68-BCE2-E558244C024A}" type="datetime4">
              <a:rPr lang="en-US" altLang="en-US" sz="1200"/>
              <a:pPr eaLnBrk="1" hangingPunct="1"/>
              <a:t>April 27, 2026</a:t>
            </a:fld>
            <a:endParaRPr lang="en-US" altLang="en-US" sz="1200"/>
          </a:p>
        </p:txBody>
      </p:sp>
      <p:sp>
        <p:nvSpPr>
          <p:cNvPr id="83971" name="Footer Placeholder 2">
            <a:extLst>
              <a:ext uri="{FF2B5EF4-FFF2-40B4-BE49-F238E27FC236}">
                <a16:creationId xmlns:a16="http://schemas.microsoft.com/office/drawing/2014/main" id="{E4CAAE59-E8CE-45F4-8622-5828C73A556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352800" y="6477000"/>
            <a:ext cx="28956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200"/>
              <a:t>Data Mining: Concepts and Techniques</a:t>
            </a:r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59BA7743-948F-44D8-B947-B99D6861FA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705F7EB-28EC-4F9D-969B-14C0371F6237}" type="slidenum">
              <a:rPr lang="en-US" altLang="en-US" sz="1200"/>
              <a:pPr eaLnBrk="1" hangingPunct="1"/>
              <a:t>79</a:t>
            </a:fld>
            <a:endParaRPr lang="en-US" altLang="en-US" sz="1200"/>
          </a:p>
        </p:txBody>
      </p:sp>
      <p:pic>
        <p:nvPicPr>
          <p:cNvPr id="83973" name="Picture 4" descr="IMG_4161">
            <a:extLst>
              <a:ext uri="{FF2B5EF4-FFF2-40B4-BE49-F238E27FC236}">
                <a16:creationId xmlns:a16="http://schemas.microsoft.com/office/drawing/2014/main" id="{F9EE2DCD-D381-4F4A-86CD-2CAEA0470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zo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6">
            <a:extLst>
              <a:ext uri="{FF2B5EF4-FFF2-40B4-BE49-F238E27FC236}">
                <a16:creationId xmlns:a16="http://schemas.microsoft.com/office/drawing/2014/main" id="{0AF2127F-63BB-4F8B-BB1F-FCB6DA03B8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239000" y="6477000"/>
            <a:ext cx="1905000" cy="381000"/>
          </a:xfrm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F54673A-AAA9-42B1-9B11-5A46F100F3EA}" type="slidenum">
              <a:rPr lang="en-US" altLang="en-US" sz="1200"/>
              <a:pPr eaLnBrk="1" hangingPunct="1"/>
              <a:t>80</a:t>
            </a:fld>
            <a:endParaRPr lang="en-US" altLang="en-US" sz="120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664D7FB1-A54E-41E3-9AD7-AB0BE3434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Chapter 7 : Advanced Frequent Pattern Mining</a:t>
            </a:r>
          </a:p>
        </p:txBody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AAA55DBF-D9F3-485F-8A7C-D94F46821D7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8382000" cy="51816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80000"/>
              </a:lnSpc>
            </a:pPr>
            <a:r>
              <a:rPr lang="en-US" altLang="en-US" sz="1600"/>
              <a:t>Frequent Pattern and Association Mining: A Road Map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en-US" altLang="en-US" sz="1600"/>
              <a:t>Pattern Mining in Multi-Level, Multi-Dimensional Space 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600"/>
              <a:t>Mining Multilevel Association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600"/>
              <a:t>Mining Multi-Dimensional Association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600"/>
              <a:t>Mining Quantitative Association Rules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en-US" altLang="en-US" sz="1600"/>
              <a:t>Exploring Alternative Approaches to Improve Efficiency and Scalability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600"/>
              <a:t>Mining Closed and Max Patterns 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600"/>
              <a:t>Scalable Pattern Mining in High-Dimensional Data 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600"/>
              <a:t>Mining Colossal Patterns 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en-US" altLang="en-US" sz="1600"/>
              <a:t>Mining Beyond Typical Frequent Patterns 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600"/>
              <a:t> Mining Infrequent and Negative Patterns 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600"/>
              <a:t> Mining Compressed and Approximate Patterns 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en-US" altLang="en-US" sz="1600"/>
              <a:t> Constraint-Based Frequent Pattern Mining 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600"/>
              <a:t> Metarule-Guided Mining of Association Rules 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600"/>
              <a:t> Constraint-Based Pattern Generation: Montonicity, Anti-monotonicity, Succinctness, and Data Anti-monotonicity 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600"/>
              <a:t> Convertible Constraints: Ordering Data in Transactions 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en-US" altLang="en-US" sz="1600"/>
              <a:t> Advanced Applications of Frequent Patterns 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600"/>
              <a:t> Towards pattern-based classification and cluster analysis </a:t>
            </a:r>
          </a:p>
          <a:p>
            <a:pPr marL="914400" lvl="1" indent="-457200" eaLnBrk="1" hangingPunct="1">
              <a:lnSpc>
                <a:spcPct val="80000"/>
              </a:lnSpc>
            </a:pPr>
            <a:r>
              <a:rPr lang="en-US" altLang="en-US" sz="1600"/>
              <a:t> Context Analysis: Generating Semantic Annotations for Frequent Patterns</a:t>
            </a:r>
          </a:p>
          <a:p>
            <a:pPr marL="457200" indent="-457200" eaLnBrk="1" hangingPunct="1">
              <a:lnSpc>
                <a:spcPct val="80000"/>
              </a:lnSpc>
            </a:pPr>
            <a:r>
              <a:rPr lang="en-US" altLang="en-US" sz="1600"/>
              <a:t>Summary</a:t>
            </a:r>
          </a:p>
        </p:txBody>
      </p:sp>
    </p:spTree>
  </p:cSld>
  <p:clrMapOvr>
    <a:masterClrMapping/>
  </p:clrMapOvr>
  <p:transition spd="med"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Berlin Sans FB Demi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9060</TotalTime>
  <Words>8267</Words>
  <Application>Microsoft Office PowerPoint</Application>
  <PresentationFormat>On-screen Show (4:3)</PresentationFormat>
  <Paragraphs>1229</Paragraphs>
  <Slides>80</Slides>
  <Notes>80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80</vt:i4>
      </vt:variant>
    </vt:vector>
  </HeadingPairs>
  <TitlesOfParts>
    <vt:vector size="94" baseType="lpstr">
      <vt:lpstr>Tahoma</vt:lpstr>
      <vt:lpstr>Arial</vt:lpstr>
      <vt:lpstr>Berlin Sans FB Demi</vt:lpstr>
      <vt:lpstr>Wingdings</vt:lpstr>
      <vt:lpstr>Times New Roman</vt:lpstr>
      <vt:lpstr>宋体</vt:lpstr>
      <vt:lpstr>Symbol</vt:lpstr>
      <vt:lpstr>Math B</vt:lpstr>
      <vt:lpstr>Calibri</vt:lpstr>
      <vt:lpstr>Blends</vt:lpstr>
      <vt:lpstr>Microsoft Excel Worksheet</vt:lpstr>
      <vt:lpstr>Microsoft Excel 97-2003 Worksheet</vt:lpstr>
      <vt:lpstr>Microsoft 公式 3.0</vt:lpstr>
      <vt:lpstr>Microsoft Equation 3.0</vt:lpstr>
      <vt:lpstr>Data Mining:   Concepts and Techniques  (3rd ed.)  — Chapter 7 —</vt:lpstr>
      <vt:lpstr>PowerPoint Presentation</vt:lpstr>
      <vt:lpstr>Chapter 7 : Advanced Frequent Pattern Mining</vt:lpstr>
      <vt:lpstr>PowerPoint Presentation</vt:lpstr>
      <vt:lpstr>Chapter 7 : Advanced Frequent Pattern Mining</vt:lpstr>
      <vt:lpstr>Mining Multiple-Level Association Rules</vt:lpstr>
      <vt:lpstr>Multi-level Association: Flexible Support and Redundancy filtering</vt:lpstr>
      <vt:lpstr>Chapter 7 : Advanced Frequent Pattern Mining</vt:lpstr>
      <vt:lpstr>Mining Multi-Dimensional Association</vt:lpstr>
      <vt:lpstr>Chapter 7 : Advanced Frequent Pattern Mining</vt:lpstr>
      <vt:lpstr>Mining Quantitative Associations</vt:lpstr>
      <vt:lpstr>Static Discretization of Quantitative Attributes</vt:lpstr>
      <vt:lpstr>Quantitative Association Rules Based on Statistical Inference Theory [Aumann and Lindell@DMKD’03]</vt:lpstr>
      <vt:lpstr>Chapter 7 : Advanced Frequent Pattern Mining</vt:lpstr>
      <vt:lpstr>Negative and Rare Patterns</vt:lpstr>
      <vt:lpstr>Defining Negative Correlated Patterns (I)</vt:lpstr>
      <vt:lpstr>Defining Negative Correlated Patterns (II)</vt:lpstr>
      <vt:lpstr>Chapter 7 : Advanced Frequent Pattern Mining</vt:lpstr>
      <vt:lpstr>Constraint-based (Query-Directed) Mining</vt:lpstr>
      <vt:lpstr>Constraints in Data Mining</vt:lpstr>
      <vt:lpstr>Meta-Rule Guided Mining</vt:lpstr>
      <vt:lpstr>Constraint-Based Frequent Pattern Mining</vt:lpstr>
      <vt:lpstr>Pattern Space Pruning with Anti-Monotonicity Constraints</vt:lpstr>
      <vt:lpstr>Pattern Space Pruning with Monotonicity Constraints</vt:lpstr>
      <vt:lpstr>Data Space Pruning with Data Anti-monotonicity</vt:lpstr>
      <vt:lpstr>Pattern Space Pruning with Succinctness</vt:lpstr>
      <vt:lpstr>Apriori + Constraint </vt:lpstr>
      <vt:lpstr>Constrained Apriori : Push a Succinct Constraint Deep </vt:lpstr>
      <vt:lpstr>Constrained FP-Growth: Push a Succinct Constraint Deep </vt:lpstr>
      <vt:lpstr>Constrained FP-Growth: Push a Data Anti-monotonic Constraint Deep </vt:lpstr>
      <vt:lpstr>Constrained FP-Growth: Push a Data Anti-monotonic Constraint Deep</vt:lpstr>
      <vt:lpstr>Convertible Constraints: Ordering Data in Transactions</vt:lpstr>
      <vt:lpstr>Strongly Convertible Constraints</vt:lpstr>
      <vt:lpstr>Can Apriori Handle Convertible Constraints?</vt:lpstr>
      <vt:lpstr>Pattern Space Pruning w. Convertible Constraints</vt:lpstr>
      <vt:lpstr>Handling Multiple Constraints</vt:lpstr>
      <vt:lpstr>Constraint-Based Mining — A General Picture</vt:lpstr>
      <vt:lpstr>What Constraints Are Convertible?</vt:lpstr>
      <vt:lpstr>Chapter 7 : Advanced Frequent Pattern Mining</vt:lpstr>
      <vt:lpstr>Mining Colossal Frequent Patterns</vt:lpstr>
      <vt:lpstr>Colossal Patterns: A Motivating Example</vt:lpstr>
      <vt:lpstr>Colossal Pattern Set: Small but Interesting</vt:lpstr>
      <vt:lpstr>Mining Colossal Patterns: Motivation and Philosophy</vt:lpstr>
      <vt:lpstr>Alas, A Show of Colossal Pattern Mining!</vt:lpstr>
      <vt:lpstr>Methodology of Pattern-Fusion Strategy</vt:lpstr>
      <vt:lpstr>Observation: Colossal Patterns and Core Patterns</vt:lpstr>
      <vt:lpstr>Robustness of Colossal Patterns</vt:lpstr>
      <vt:lpstr>Example: Core Patterns</vt:lpstr>
      <vt:lpstr>Robustness of Colossal Patterns</vt:lpstr>
      <vt:lpstr>Colossal Patterns Correspond to Dense Balls</vt:lpstr>
      <vt:lpstr>Idea of Pattern-Fusion Algorithm</vt:lpstr>
      <vt:lpstr>Pattern-Fusion: The Algorithm</vt:lpstr>
      <vt:lpstr>Why Is Pattern-Fusion Efficient?</vt:lpstr>
      <vt:lpstr>Pattern-Fusion Leads to Good Approximation</vt:lpstr>
      <vt:lpstr>Experimental Setting</vt:lpstr>
      <vt:lpstr>Experiment Results on Diagn</vt:lpstr>
      <vt:lpstr>Experimental Results on ALL</vt:lpstr>
      <vt:lpstr>Experimental Results on REPLACE</vt:lpstr>
      <vt:lpstr>Experimental Results on REPLACE</vt:lpstr>
      <vt:lpstr>Chapter 7 : Advanced Frequent Pattern Mining</vt:lpstr>
      <vt:lpstr>Mining Compressed Patterns: δ-clustering </vt:lpstr>
      <vt:lpstr>Redundancy-Award Top-k Patterns</vt:lpstr>
      <vt:lpstr>Chapter 7 : Advanced Frequent Pattern Mining</vt:lpstr>
      <vt:lpstr> </vt:lpstr>
      <vt:lpstr>A Dictionary Analogy</vt:lpstr>
      <vt:lpstr>Semantic Analysis with Context Models</vt:lpstr>
      <vt:lpstr>Annotating DBLP Co-authorship &amp; Title Pattern</vt:lpstr>
      <vt:lpstr>Chapter 7 : Advanced Frequent Pattern Mining</vt:lpstr>
      <vt:lpstr>Summary</vt:lpstr>
      <vt:lpstr>Ref: Mining Multi-Level and Quantitative Rules</vt:lpstr>
      <vt:lpstr>Ref: Mining Other Kinds of Rules</vt:lpstr>
      <vt:lpstr>Ref: Constraint-Based Pattern Mining</vt:lpstr>
      <vt:lpstr>Ref: Mining Sequential and Structured Patterns</vt:lpstr>
      <vt:lpstr>Ref: Mining Spatial, Multimedia, and Web Data</vt:lpstr>
      <vt:lpstr>Ref: Mining Frequent Patterns in Time-Series Data</vt:lpstr>
      <vt:lpstr>Ref: FP for Classification and Clustering</vt:lpstr>
      <vt:lpstr>Ref: Stream and Privacy-Preserving FP Mining</vt:lpstr>
      <vt:lpstr>Ref: Other Freq. Pattern Mining Applications</vt:lpstr>
      <vt:lpstr>PowerPoint Presentation</vt:lpstr>
      <vt:lpstr>Chapter 7 : Advanced Frequent Pattern Mining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app</cp:lastModifiedBy>
  <cp:revision>552</cp:revision>
  <cp:lastPrinted>2010-10-06T19:42:05Z</cp:lastPrinted>
  <dcterms:created xsi:type="dcterms:W3CDTF">1998-06-19T04:38:52Z</dcterms:created>
  <dcterms:modified xsi:type="dcterms:W3CDTF">2026-04-28T00:41:51Z</dcterms:modified>
</cp:coreProperties>
</file>