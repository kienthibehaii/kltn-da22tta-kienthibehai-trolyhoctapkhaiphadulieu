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media/image5.wmf" ContentType="image/x-wmf"/>
  <Override PartName="/ppt/media/image4.wmf" ContentType="image/x-wmf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9144000" cy="6858000"/>
  <p:notesSz cx="6883400" cy="9294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68832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8296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3898800" y="0"/>
            <a:ext cx="298296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Click to move the slide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>
              <a:buNone/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buNone/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DB96F519-94A2-49FC-9434-BB3D2AE970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372A33C6-98C7-48D9-A617-7159FEFFDC2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8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C86CBB5-8237-47A8-8358-118483DE593A}" type="slidenum"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宋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767FB4A-50D3-4435-9C34-44B3B5EC77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3EE22D82-BBBD-43AB-A49F-16C3F40254B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31EA3707-85A2-4D45-BBD2-A4C9FD2536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96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C0E908A4-50F5-44C0-9697-4860EBE2F3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3F648BC9-D35F-4619-BBCE-24D91BF7799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00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E0D0406E-756D-4670-910C-F9E7E17505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7D067A2E-D6E4-4315-9350-86DFF325C2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04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970F929E-2810-48AE-90E3-4B0C6CA8AD1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7A8D2A0-4948-498A-8EE7-C6F46C8E7DA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7C1227A1-5477-48B3-BB5B-91C7B16B56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03CAC758-946D-4700-BD55-C756FC3849C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12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0C17A921-A35E-4351-BBAC-E4152BFC194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E537A153-B6D1-4AD3-A235-5BD4BEFE83F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16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B70E4A6-86F5-493E-BE96-E311450459E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D4C2CF5B-7625-496B-B0AF-172115294E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D3542B28-5F84-49D9-B84E-82BE2D3F84D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E2DDEC40-EC46-49B8-B935-2F7EEE578B7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B8AC43E-247E-4D98-B0BD-43F451EC65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5154368A-1681-4362-B20D-36272848B1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061D23FD-FDC4-45E0-90EB-AD6944E129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468830BA-3C79-4FDA-B697-CF10343444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3B1F6D42-D175-4E1C-8C23-152BFD9DFAC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9C86D580-EA83-4A77-986F-A4C89312920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4ECA3A1C-DA62-4700-AABA-58D02E3AA6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6BA3D045-DB9C-4887-B96A-A4EAE7046C3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14DC9BE2-019B-46DB-83E4-A1901A2CE9F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4DE2D074-E528-4FDE-90FC-B8638E24F16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706D891-6C4C-472F-AE24-74882C9085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CBAF2246-656B-47F5-830C-E4C03578A1F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BA1C5C15-264E-4588-8F12-B78F5B8466A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621204A2-55F3-47A4-907D-2FB5A24B2A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9D71C470-D466-4309-A4B9-BB942D3F32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85953F23-8403-474F-A817-82ECF88BE29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5306D681-E403-4FC1-B5B7-69163C88C5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A2AC0646-7653-44A0-A821-A93B17CAD1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7E2C3FB1-A482-4FDF-87AE-51180EF6514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AD67F678-A1EA-4B24-8C81-740631A0AEF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3DAF40D1-1ED5-484D-8BEE-A873ED11EF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B6A2436C-F368-403E-8797-1B4FE1347F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13D5D5FF-51A1-48FC-A4BA-8D57644AE73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Add a definition/description of “traditional data analysis”.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693AD6B8-2A21-4DF1-A82E-E5C41815C33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8EB0341C-8BAA-465B-B8B1-E4072063629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D886C26F-47B8-41FF-8019-98429C1527D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25D11A6E-87D6-4584-AB74-357D84D44A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62FF195A-FC3A-43D0-A45B-7740B29E18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D8122629-1246-4C9A-9166-9F59D9D6E25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7EE60C9E-CAFC-403F-8D5C-18DF495511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F9548FA9-CF9A-4A1C-98EF-49C0E54FD72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D54F75FA-83D8-406D-B6EE-F93809CB302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B7FCBBE1-F386-4ADF-9FC8-3D20B136F6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1119240" y="69696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17E37DC9-8D5D-4EF1-9275-399A78F1470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05498E71-235A-4ACD-8FC5-8128987CCA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7"/>
          <p:cNvSpPr/>
          <p:nvPr/>
        </p:nvSpPr>
        <p:spPr>
          <a:xfrm>
            <a:off x="3898800" y="8831160"/>
            <a:ext cx="29829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tIns="46440" rIns="93240" bIns="46440" anchor="b">
            <a:noAutofit/>
          </a:bodyPr>
          <a:p>
            <a:pPr algn="r">
              <a:tabLst>
                <a:tab pos="0" algn="l"/>
                <a:tab pos="932040" algn="l"/>
                <a:tab pos="1863720" algn="l"/>
                <a:tab pos="2795760" algn="l"/>
                <a:tab pos="3727440" algn="l"/>
                <a:tab pos="4659480" algn="l"/>
                <a:tab pos="5591160" algn="l"/>
                <a:tab pos="6523200" algn="l"/>
                <a:tab pos="7454880" algn="l"/>
                <a:tab pos="8386920" algn="l"/>
                <a:tab pos="9318600" algn="l"/>
                <a:tab pos="10250640" algn="l"/>
              </a:tabLst>
            </a:pPr>
            <a:fld id="{5260A1B8-C0F5-4234-8EC6-53998251AA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1117440" y="696960"/>
            <a:ext cx="4646880" cy="348624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917640" y="4416120"/>
            <a:ext cx="5046480" cy="41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1660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Click to edit the title text format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80520" y="1447560"/>
            <a:ext cx="8458200" cy="5105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lnSpc>
                <a:spcPct val="80000"/>
              </a:lnSpc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1pPr>
            <a:lvl2pPr lvl="1" algn="l">
              <a:lnSpc>
                <a:spcPct val="80000"/>
              </a:lnSpc>
              <a:spcBef>
                <a:spcPts val="7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2pPr>
            <a:lvl3pPr lvl="2" algn="l">
              <a:lnSpc>
                <a:spcPct val="80000"/>
              </a:lnSpc>
              <a:spcBef>
                <a:spcPts val="700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3pPr>
            <a:lvl4pPr lvl="3" algn="l">
              <a:lnSpc>
                <a:spcPct val="80000"/>
              </a:lnSpc>
              <a:spcBef>
                <a:spcPts val="700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4pPr>
            <a:lvl5pPr lvl="4" algn="l">
              <a:lnSpc>
                <a:spcPct val="80000"/>
              </a:lnSpc>
              <a:spcBef>
                <a:spcPts val="700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5pPr>
            <a:lvl6pPr lvl="5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6pPr>
            <a:lvl7pPr lvl="6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7pPr>
          </a:lstStyle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80000"/>
              </a:lnSpc>
              <a:spcBef>
                <a:spcPts val="7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80000"/>
              </a:lnSpc>
              <a:spcBef>
                <a:spcPts val="700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600200" lvl="3" indent="-228600" algn="l">
              <a:lnSpc>
                <a:spcPct val="80000"/>
              </a:lnSpc>
              <a:spcBef>
                <a:spcPts val="700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2057400" lvl="4" indent="-228600" algn="l">
              <a:lnSpc>
                <a:spcPct val="80000"/>
              </a:lnSpc>
              <a:spcBef>
                <a:spcPts val="700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2057400" lvl="5" indent="-22860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2057400" lvl="6" indent="-22860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21A9D59-C7CA-41E9-A584-1A6D7C74D1B8}" type="datetime3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April 27, 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276360" y="6477120"/>
            <a:ext cx="2895480" cy="380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Concepts and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EB84EDF-BBA3-4549-83C7-4542B47442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graphicFrame>
        <p:nvGraphicFramePr>
          <p:cNvPr id="7" name="Object 23"/>
          <p:cNvGraphicFramePr/>
          <p:nvPr/>
        </p:nvGraphicFramePr>
        <p:xfrm>
          <a:off x="380880" y="1143000"/>
          <a:ext cx="8382240" cy="7632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8" name="Object 23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380880" y="1143000"/>
                    <a:ext cx="8382240" cy="76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wiki.engr.illinois.edu/display/cs41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F75C30D-D679-4885-96D9-45F7AD7D22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2617F0-C59D-4720-9C72-DF2A3DFD4CE6}" type="slidenum"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宋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280" y="151920"/>
            <a:ext cx="8763120" cy="388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Mining: </a:t>
            </a:r>
            <a:br>
              <a:rPr sz="6000"/>
            </a:br>
            <a:r>
              <a:rPr lang="en-US" sz="60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</a:t>
            </a:r>
            <a:r>
              <a:rPr lang="en-US" sz="4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Concepts and Techniques</a:t>
            </a:r>
            <a:br>
              <a:rPr sz="4800"/>
            </a:br>
            <a:r>
              <a:rPr lang="en-US" sz="4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</a:t>
            </a: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(3</a:t>
            </a:r>
            <a:r>
              <a:rPr lang="en-US" sz="2800" b="1" u="none" strike="noStrike" baseline="30000">
                <a:solidFill>
                  <a:srgbClr val="333399"/>
                </a:solidFill>
                <a:effectLst/>
                <a:uFillTx/>
                <a:latin typeface="Tahoma"/>
              </a:rPr>
              <a:t>rd</a:t>
            </a: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ed.)</a:t>
            </a:r>
            <a:br>
              <a:rPr sz="4800"/>
            </a:br>
            <a:br>
              <a:rPr sz="4800"/>
            </a:b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— Chapter 1</a:t>
            </a: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—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4920" y="4419360"/>
            <a:ext cx="861048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ctr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Jiawei Han, Micheline Kamber, and Jian Pei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University of Illinois at Urbana-Champaign &amp;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Simon Fraser University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©2012 Han, Kamber &amp; Pei.  All rights reserved.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/>
          <p:nvPr/>
        </p:nvSpPr>
        <p:spPr>
          <a:xfrm>
            <a:off x="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8676112-F62E-4C10-B3E9-9C90616B4B65}" type="datetime3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April 27, 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1" name="Footer Placeholder 2"/>
          <p:cNvSpPr/>
          <p:nvPr/>
        </p:nvSpPr>
        <p:spPr>
          <a:xfrm>
            <a:off x="3276720" y="6477120"/>
            <a:ext cx="28954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Concepts and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6FBB6CC-1480-478E-9A97-2B746452F1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" name="Date Placeholder 3"/>
          <p:cNvSpPr/>
          <p:nvPr/>
        </p:nvSpPr>
        <p:spPr>
          <a:xfrm>
            <a:off x="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C31D0E6-1B39-43C6-BA59-7AFB08F01450}" type="datetime3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April 27, 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4" name="Footer Placeholder 4"/>
          <p:cNvSpPr/>
          <p:nvPr/>
        </p:nvSpPr>
        <p:spPr>
          <a:xfrm>
            <a:off x="3276720" y="6477120"/>
            <a:ext cx="28954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Concepts and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5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ED5DA1C-4B58-494D-A4FF-FDF86EEDDF9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pic>
        <p:nvPicPr>
          <p:cNvPr id="26" name="Picture 7" descr="IMG_0021"/>
          <p:cNvPicPr/>
          <p:nvPr/>
        </p:nvPicPr>
        <p:blipFill>
          <a:blip r:embed="rId1"/>
          <a:stretch/>
        </p:blipFill>
        <p:spPr>
          <a:xfrm>
            <a:off x="4680" y="-2840040"/>
            <a:ext cx="9215640" cy="12288960"/>
          </a:xfrm>
          <a:prstGeom prst="rect">
            <a:avLst/>
          </a:prstGeom>
          <a:noFill/>
          <a:ln w="0">
            <a:noFill/>
          </a:ln>
        </p:spPr>
      </p:pic>
    </p:spTree>
  </p:cSld>
  <p:transition>
    <p:zoom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B711A8-67F3-40C1-B9F3-68F9B86DDDA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E979188-4B76-4BD8-A3C7-DEDBB8F7ED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04920" y="228600"/>
            <a:ext cx="8534160" cy="83808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and Information Systems</a:t>
            </a:r>
            <a:br>
              <a:rPr sz="3200"/>
            </a:b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(DAIS:) Course Structures at CS/UIUC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4920" y="1294920"/>
            <a:ext cx="853416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Coverage:  Database, data mining, text information systems, Web and bioinformatics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Intro. to data warehousing and mining</a:t>
            </a:r>
            <a:r>
              <a:rPr lang="en-US" sz="1600" b="0" u="none" strike="noStrike">
                <a:solidFill>
                  <a:srgbClr val="3E6A54"/>
                </a:solidFill>
                <a:effectLst/>
                <a:uFillTx/>
                <a:latin typeface="Tahoma"/>
              </a:rPr>
              <a:t> (CS412: Han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—Fall</a:t>
            </a:r>
            <a:r>
              <a:rPr lang="en-US" sz="1600" b="0" u="none" strike="noStrike">
                <a:solidFill>
                  <a:srgbClr val="3E6A54"/>
                </a:solidFill>
                <a:effectLst/>
                <a:uFillTx/>
                <a:latin typeface="Tahoma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93300"/>
                </a:solidFill>
                <a:effectLst/>
                <a:uFillTx/>
                <a:latin typeface="Tahoma"/>
              </a:rPr>
              <a:t>Data mining: Principles and algorithms</a:t>
            </a:r>
            <a:r>
              <a:rPr lang="en-US" sz="1600" b="0" u="none" strike="noStrike">
                <a:solidFill>
                  <a:srgbClr val="006666"/>
                </a:solidFill>
                <a:effectLst/>
                <a:uFillTx/>
                <a:latin typeface="Tahoma"/>
              </a:rPr>
              <a:t> (CS512: Han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—Spring</a:t>
            </a:r>
            <a:r>
              <a:rPr lang="en-US" sz="1600" b="0" u="none" strike="noStrike">
                <a:solidFill>
                  <a:srgbClr val="006666"/>
                </a:solidFill>
                <a:effectLst/>
                <a:uFillTx/>
                <a:latin typeface="Tahoma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6666"/>
                </a:solidFill>
                <a:effectLst/>
                <a:uFillTx/>
                <a:latin typeface="Tahoma"/>
              </a:rPr>
              <a:t>Seminar: Advanced Topics in Data mining (CS591Han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—Fall and Spring. 1 credit unit)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Independent Study: only if you seriously plan to do your Ph.D./M.S. on data mining and try to demonstrate your 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Database Systems: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Introd. to database systems (CS411: Kevin Chang + Saurabh Sinha: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Spring and Fall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Advanced database systems (CS511: Kevin Chang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Fall’11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Text information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Text information system (CS410 ChengXiang Zhai: 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Spring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Bioinformatics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Introduction to BioInformatics (Saurabh Sinha)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CS591 Seminar on Bioinformatics (Sinha: 1 credit unit)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Yahoo!-DAIS seminar (CS591DAIS</a:t>
            </a: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—Fall and Spring. 1 credit unit)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6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6BE8F9E-F438-4C4B-B708-6087A6BAF81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263373-706A-4658-AFEC-2859A64D949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-360" y="151920"/>
            <a:ext cx="929628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CS412 Coverage (Chapters 1-10, 3</a:t>
            </a:r>
            <a:r>
              <a:rPr lang="en-US" sz="2800" b="1" u="none" strike="noStrike" baseline="30000">
                <a:solidFill>
                  <a:srgbClr val="333399"/>
                </a:solidFill>
                <a:effectLst/>
                <a:uFillTx/>
                <a:latin typeface="Tahoma"/>
              </a:rPr>
              <a:t>rd</a:t>
            </a: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Ed.)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76320" y="2285640"/>
            <a:ext cx="4152960" cy="426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4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CS412 Coverage (BK2: 2</a:t>
            </a:r>
            <a:r>
              <a:rPr lang="en-US" sz="1600" b="0" u="none" strike="noStrike" baseline="30000">
                <a:solidFill>
                  <a:srgbClr val="000000"/>
                </a:solidFill>
                <a:effectLst/>
                <a:uFillTx/>
                <a:latin typeface="Tahoma"/>
              </a:rPr>
              <a:t>nd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Ed.)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Preprocessing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Warehouse and OLAP Technology: An Introduction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Advanced Data Cube Technology and Data Generalization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Frequent Patterns, Association and Correlations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 and Prediction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4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Cluster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114800" y="2361960"/>
            <a:ext cx="5029200" cy="419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CS412 Coverage (BK3: 3</a:t>
            </a:r>
            <a:r>
              <a:rPr lang="en-US" sz="1600" b="0" u="none" strike="noStrike" baseline="30000">
                <a:solidFill>
                  <a:srgbClr val="000000"/>
                </a:solidFill>
                <a:effectLst/>
                <a:uFillTx/>
                <a:latin typeface="Tahoma"/>
              </a:rPr>
              <a:t>rd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ed.)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Getting to Know Your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Preprocessing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Warehouse and OLAP Technology: An Introduction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Advanced Data Cube Technology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Frequent Patterns &amp; Association: Basic Concepts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Frequent Patterns &amp; Association: Advanced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Classification: Basic Concepts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Classification: Advanced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Cluster Analysis: Basic Concepts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A6A6A6"/>
                </a:solidFill>
                <a:effectLst/>
                <a:uFillTx/>
                <a:latin typeface="Tahoma"/>
              </a:rPr>
              <a:t>Cluster Analysis: Advanced Methods (CS512)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Tahoma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A6A6A6"/>
                </a:solidFill>
                <a:effectLst/>
                <a:uFillTx/>
                <a:latin typeface="Tahoma"/>
              </a:rPr>
              <a:t>Outlier Analysis (CS512)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6" name="Rectangle 3"/>
          <p:cNvSpPr/>
          <p:nvPr/>
        </p:nvSpPr>
        <p:spPr>
          <a:xfrm>
            <a:off x="76320" y="1219320"/>
            <a:ext cx="899136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textbook book will be covered in two courses at CS, UIUC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CS412: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Introduction to Data Mining</a:t>
            </a:r>
            <a:r>
              <a:rPr lang="en-US" sz="2000" b="0" u="none" strike="noStrike">
                <a:solidFill>
                  <a:srgbClr val="3E6A54"/>
                </a:solidFill>
                <a:effectLst/>
                <a:uFillTx/>
                <a:latin typeface="Tahoma"/>
              </a:rPr>
              <a:t> (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Fall</a:t>
            </a:r>
            <a:r>
              <a:rPr lang="en-US" sz="2000" b="0" u="none" strike="noStrike">
                <a:solidFill>
                  <a:srgbClr val="3E6A54"/>
                </a:solidFill>
                <a:effectLst/>
                <a:uFillTx/>
                <a:latin typeface="Tahoma"/>
              </a:rPr>
              <a:t>) [Chapters 1-10]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CS512: </a:t>
            </a: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Tahoma"/>
              </a:rPr>
              <a:t>Data Mining: Principles and Algorithms</a:t>
            </a:r>
            <a:r>
              <a:rPr lang="en-US" sz="2000" b="0" u="none" strike="noStrike">
                <a:solidFill>
                  <a:srgbClr val="006666"/>
                </a:solidFill>
                <a:effectLst/>
                <a:uFillTx/>
                <a:latin typeface="Tahoma"/>
              </a:rPr>
              <a:t> (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Spring</a:t>
            </a:r>
            <a:r>
              <a:rPr lang="en-US" sz="2000" b="0" u="none" strike="noStrike">
                <a:solidFill>
                  <a:srgbClr val="006666"/>
                </a:solidFill>
                <a:effectLst/>
                <a:uFillTx/>
                <a:latin typeface="Tahoma"/>
              </a:rPr>
              <a:t>) [Chaps. 11-13]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D7EDEA0-EA82-4A59-80FD-02CF46C054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8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BF630D-F5C0-4AA3-AC21-A579E81C81C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04920" y="152280"/>
            <a:ext cx="853416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CS512 Coverage (Chapters 11, 12, 13 + More Advanced Topics)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D0D0D"/>
                </a:solidFill>
                <a:effectLst/>
                <a:uFillTx/>
                <a:latin typeface="Calibri"/>
                <a:ea typeface="Calibri"/>
              </a:rPr>
              <a:t>Cluster Analysis: Advanced Methods (Chapter 11)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D0D0D"/>
                </a:solidFill>
                <a:effectLst/>
                <a:uFillTx/>
                <a:latin typeface="Calibri"/>
                <a:ea typeface="Calibri"/>
              </a:rPr>
              <a:t>Outlier Analysis (Chapter 12)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Mining data streams, time-series, and sequence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Mining graph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Mining social and information networks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Mining object, spatial, multimedia, text and Web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Mining complex data objects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Spatial and spatiotemporal data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Multimedia data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800280" lvl="1" indent="-34308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Text and Web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Additional (often current) themes if time permits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7211EA8-279F-4FAA-849E-5D4898BC27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2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CBF3F05-ED66-460A-B9E1-2CFA45BFC6C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1660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sp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pic>
        <p:nvPicPr>
          <p:cNvPr id="44" name="Picture 12"/>
          <p:cNvPicPr/>
          <p:nvPr/>
        </p:nvPicPr>
        <p:blipFill>
          <a:blip r:embed="rId1"/>
          <a:stretch/>
        </p:blipFill>
        <p:spPr>
          <a:xfrm>
            <a:off x="0" y="-1219320"/>
            <a:ext cx="10382400" cy="83059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zoom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60B884B-DDE2-41A5-AAD2-3F0F7F1105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6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8669A6-2D5C-4A82-8DFD-FB6871C156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04920" y="228600"/>
            <a:ext cx="8534160" cy="83808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CS 412. Course Page &amp; Class Schedule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04920" y="1294920"/>
            <a:ext cx="853416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Class Homepage:  </a:t>
            </a:r>
            <a:r>
              <a:rPr lang="en-US" sz="2000" b="0" u="sng" strike="noStrike">
                <a:solidFill>
                  <a:srgbClr val="FF0000"/>
                </a:solidFill>
                <a:effectLst/>
                <a:uFillTx/>
                <a:latin typeface="Tahoma"/>
                <a:hlinkClick r:id="rId1"/>
              </a:rPr>
              <a:t>https://wiki.engr.illinois.edu/display/cs412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Wiki course outline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Course Information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Course Schedule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(Fall_2011)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Lecture media (Fall_2011)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Assignments (Fall 2011)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Resources and Reading Lists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Staff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Project [Only for students taking 4 credits for the course]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Comments and Suggestions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Textbook, Slides, Class Presentation, and Teaching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Class-Related Questions and Answers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0" algn="l">
              <a:lnSpc>
                <a:spcPct val="130000"/>
              </a:lnSpc>
              <a:spcBef>
                <a:spcPts val="499"/>
              </a:spcBef>
              <a:buNone/>
              <a:tabLst>
                <a:tab pos="765828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3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DDDE643-A555-4B97-8726-B9013195A2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0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30E72DE-F2CB-43AD-A26B-8B9FE8247D0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04920" y="228600"/>
            <a:ext cx="8534160" cy="83808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CS 412: Course Project [4</a:t>
            </a:r>
            <a:r>
              <a:rPr lang="en-US" sz="3200" b="1" u="none" strike="noStrike" baseline="30000">
                <a:solidFill>
                  <a:srgbClr val="333399"/>
                </a:solidFill>
                <a:effectLst/>
                <a:uFillTx/>
                <a:latin typeface="Tahoma"/>
              </a:rPr>
              <a:t>th</a:t>
            </a: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credit]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80520" y="1294920"/>
            <a:ext cx="853452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comprehensive survey on a focused topic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Individual surveys, not group 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Examples of topics (need to be focused and specific)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cleaning for effective social network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Clustering data streams in big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Transfer learning for recommender systems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compressed frequent patterns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Counter examples of topics (too general or too specific)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Scalable classification methods [Too general]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FPGrowth algorithm for mining frequent patterns [Too specific]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Note: No copy of textbook sections!  No plagiarism!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7D21A5D-903F-49A3-932F-0B5FA60A18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6" name="AutoShape 4"/>
          <p:cNvSpPr/>
          <p:nvPr/>
        </p:nvSpPr>
        <p:spPr>
          <a:xfrm rot="9724200">
            <a:off x="3238560" y="1345680"/>
            <a:ext cx="380880" cy="304920"/>
          </a:xfrm>
          <a:custGeom>
            <a:avLst/>
            <a:gdLst>
              <a:gd name="textAreaLeft" fmla="*/ 59400 w 380880"/>
              <a:gd name="textAreaRight" fmla="*/ 333360 w 38088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C891659-F3E5-4D47-A95F-A401DAC89C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33520" y="304560"/>
            <a:ext cx="8153280" cy="685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Why Data Mining? 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80520" y="1295280"/>
            <a:ext cx="8610840" cy="51055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p>
            <a:pPr marL="343080" indent="-34308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Explosive Growth of Data: from terabytes to petabytes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collection and data availability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Automated data collection tools, database systems, Web, computerized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sources of abundant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Business: Web, e-commerce, transactions, stocks, …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Science: Remote sensing, bioinformatics, scientific simulation, …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Society and everyone: news, digital cameras, YouTube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We are drowning in data, but starving for knowledge!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“Necessity is the mother of invention”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Automated analysis of massive data 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6D57C67-4EB2-49E1-B1D9-867001BDC0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-76320" y="304920"/>
            <a:ext cx="9296640" cy="5666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Evolution of Sciences: New Data Science Era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04920" y="1219320"/>
            <a:ext cx="8534160" cy="541008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Before 1600: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Empirical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1600-1950s: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Theoretical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Each discipline has grown a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theoretical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component. Theoretical models often motivate experiments and generalize our understanding.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1950s-1990s: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Computational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Over the last 50 years, most disciplines have grown a third,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computational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branch (e.g. empirical, theoretical, and computational ecology, or physics, or linguistics.)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Computational Science traditionally meant simulation. It grew out of our inability to find closed-form solutions for complex mathematical models.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1990-now: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flood of data from new scientific instruments and simulations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ability to economically store and manage petabytes of data online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Internet and computing Grid that makes all these archives universally accessible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Scientific info. management, acquisition, organization, query, and visualization tasks scale almost linearly with data volumes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Data mining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is a major new challenge!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Jim Gray and Alex Szalay,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World Wide Telescope: An Archetype for Online Science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, Comm. ACM, 45(11): 50-54, Nov. 2002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99C5EE0-98D6-4C90-ADE7-6F104590BEF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66" name="AutoShape 4"/>
          <p:cNvSpPr/>
          <p:nvPr/>
        </p:nvSpPr>
        <p:spPr>
          <a:xfrm rot="9724200">
            <a:off x="3543480" y="1802880"/>
            <a:ext cx="380880" cy="304920"/>
          </a:xfrm>
          <a:custGeom>
            <a:avLst/>
            <a:gdLst>
              <a:gd name="textAreaLeft" fmla="*/ 59400 w 380880"/>
              <a:gd name="textAreaRight" fmla="*/ 333360 w 38088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18B8834-7051-4CC1-99E2-E109B032240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01440" y="299880"/>
            <a:ext cx="6794280" cy="619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What Is Data Mining?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80520" y="1371600"/>
            <a:ext cx="8153640" cy="51055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(knowledge discovery from data)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Extraction of interesting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</a:t>
            </a:r>
            <a:r>
              <a:rPr lang="en-GB" sz="20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non-trivial,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GB" sz="20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implicit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, </a:t>
            </a:r>
            <a:r>
              <a:rPr lang="en-GB" sz="20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previously unknown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and </a:t>
            </a:r>
            <a:r>
              <a:rPr lang="en-GB" sz="20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potentially useful)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patterns or knowledge from huge amount of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a misnomer?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Alternative names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Knowledge discovery (mining) in databases (KDD), knowledge extraction, data/pattern analysis, data archeology, data dredging, information harvesting, business intelligence,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Watch out: Is everything “data mining”?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Simple search and query processing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(Deductive) expert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pic>
        <p:nvPicPr>
          <p:cNvPr id="70" name="Object 2048"/>
          <p:cNvPicPr/>
          <p:nvPr/>
        </p:nvPicPr>
        <p:blipFill>
          <a:blip r:embed="rId1"/>
          <a:stretch/>
        </p:blipFill>
        <p:spPr>
          <a:xfrm>
            <a:off x="7848720" y="0"/>
            <a:ext cx="1087200" cy="12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Object 2049"/>
          <p:cNvPicPr/>
          <p:nvPr/>
        </p:nvPicPr>
        <p:blipFill>
          <a:blip r:embed="rId2"/>
          <a:stretch/>
        </p:blipFill>
        <p:spPr>
          <a:xfrm>
            <a:off x="7238880" y="5105520"/>
            <a:ext cx="1905120" cy="13968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zoom dir="ou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1BEE8C-A043-4437-9226-D81F893CAC2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Knowledge Discovery (KDD) Process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4419720" cy="17528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 is a view from typical database systems and data warehousing communities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9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plays an essential role in the knowledge discovery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5" name="Line 2052"/>
          <p:cNvSpPr/>
          <p:nvPr/>
        </p:nvSpPr>
        <p:spPr>
          <a:xfrm flipV="1">
            <a:off x="1219320" y="5105160"/>
            <a:ext cx="990360" cy="60948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6" name="Line 2053"/>
          <p:cNvSpPr/>
          <p:nvPr/>
        </p:nvSpPr>
        <p:spPr>
          <a:xfrm flipV="1">
            <a:off x="6781680" y="1599840"/>
            <a:ext cx="990720" cy="60948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7" name="Line 2054"/>
          <p:cNvSpPr/>
          <p:nvPr/>
        </p:nvSpPr>
        <p:spPr>
          <a:xfrm flipV="1">
            <a:off x="5105520" y="2666880"/>
            <a:ext cx="990360" cy="60984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8" name="Line 2055"/>
          <p:cNvSpPr/>
          <p:nvPr/>
        </p:nvSpPr>
        <p:spPr>
          <a:xfrm flipV="1">
            <a:off x="3276720" y="3733560"/>
            <a:ext cx="990360" cy="60948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79" name="Oval 2056"/>
          <p:cNvSpPr/>
          <p:nvPr/>
        </p:nvSpPr>
        <p:spPr>
          <a:xfrm>
            <a:off x="228600" y="5562720"/>
            <a:ext cx="685800" cy="152280"/>
          </a:xfrm>
          <a:prstGeom prst="ellipse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0" name="Rectangle 2057"/>
          <p:cNvSpPr/>
          <p:nvPr/>
        </p:nvSpPr>
        <p:spPr>
          <a:xfrm>
            <a:off x="228600" y="5638680"/>
            <a:ext cx="685800" cy="406440"/>
          </a:xfrm>
          <a:prstGeom prst="rect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1" name="Oval 2058"/>
          <p:cNvSpPr/>
          <p:nvPr/>
        </p:nvSpPr>
        <p:spPr>
          <a:xfrm>
            <a:off x="228600" y="5943600"/>
            <a:ext cx="685800" cy="152280"/>
          </a:xfrm>
          <a:prstGeom prst="ellipse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2" name="Oval 2059"/>
          <p:cNvSpPr/>
          <p:nvPr/>
        </p:nvSpPr>
        <p:spPr>
          <a:xfrm>
            <a:off x="609480" y="5943600"/>
            <a:ext cx="685800" cy="152280"/>
          </a:xfrm>
          <a:prstGeom prst="ellipse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3" name="Rectangle 2060"/>
          <p:cNvSpPr/>
          <p:nvPr/>
        </p:nvSpPr>
        <p:spPr>
          <a:xfrm>
            <a:off x="609480" y="6019920"/>
            <a:ext cx="685800" cy="406440"/>
          </a:xfrm>
          <a:prstGeom prst="rect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4" name="Oval 2061"/>
          <p:cNvSpPr/>
          <p:nvPr/>
        </p:nvSpPr>
        <p:spPr>
          <a:xfrm>
            <a:off x="609480" y="6324480"/>
            <a:ext cx="685800" cy="152640"/>
          </a:xfrm>
          <a:prstGeom prst="ellipse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5" name="Oval 2062"/>
          <p:cNvSpPr/>
          <p:nvPr/>
        </p:nvSpPr>
        <p:spPr>
          <a:xfrm>
            <a:off x="1295280" y="5715000"/>
            <a:ext cx="685800" cy="152280"/>
          </a:xfrm>
          <a:prstGeom prst="ellipse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6" name="Rectangle 2063"/>
          <p:cNvSpPr/>
          <p:nvPr/>
        </p:nvSpPr>
        <p:spPr>
          <a:xfrm>
            <a:off x="1295280" y="5791320"/>
            <a:ext cx="685800" cy="406440"/>
          </a:xfrm>
          <a:prstGeom prst="rect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7" name="Oval 2064"/>
          <p:cNvSpPr/>
          <p:nvPr/>
        </p:nvSpPr>
        <p:spPr>
          <a:xfrm>
            <a:off x="1295280" y="6095880"/>
            <a:ext cx="685800" cy="152640"/>
          </a:xfrm>
          <a:prstGeom prst="ellipse">
            <a:avLst/>
          </a:prstGeom>
          <a:solidFill>
            <a:srgbClr val="00CC66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8" name="Text Box 2065"/>
          <p:cNvSpPr/>
          <p:nvPr/>
        </p:nvSpPr>
        <p:spPr>
          <a:xfrm>
            <a:off x="304920" y="4876920"/>
            <a:ext cx="17431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 Cleaning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89" name="Text Box 2066"/>
          <p:cNvSpPr/>
          <p:nvPr/>
        </p:nvSpPr>
        <p:spPr>
          <a:xfrm>
            <a:off x="1599480" y="5410080"/>
            <a:ext cx="1997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Data Integration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0" name="Text Box 2067"/>
          <p:cNvSpPr/>
          <p:nvPr/>
        </p:nvSpPr>
        <p:spPr>
          <a:xfrm>
            <a:off x="1371600" y="6248520"/>
            <a:ext cx="1447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Databases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1" name="Text Box 2068"/>
          <p:cNvSpPr/>
          <p:nvPr/>
        </p:nvSpPr>
        <p:spPr>
          <a:xfrm>
            <a:off x="1066680" y="4114800"/>
            <a:ext cx="1997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Data Warehouse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2" name="Rectangle 2069"/>
          <p:cNvSpPr/>
          <p:nvPr/>
        </p:nvSpPr>
        <p:spPr>
          <a:xfrm>
            <a:off x="2362320" y="4572000"/>
            <a:ext cx="685800" cy="685800"/>
          </a:xfrm>
          <a:prstGeom prst="rect">
            <a:avLst/>
          </a:prstGeom>
          <a:solidFill>
            <a:srgbClr val="00CC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3" name="Rectangle 2070"/>
          <p:cNvSpPr/>
          <p:nvPr/>
        </p:nvSpPr>
        <p:spPr>
          <a:xfrm>
            <a:off x="4419720" y="3429000"/>
            <a:ext cx="457200" cy="457200"/>
          </a:xfrm>
          <a:prstGeom prst="rect">
            <a:avLst/>
          </a:prstGeom>
          <a:solidFill>
            <a:srgbClr val="00CC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4" name="Rectangle 2071"/>
          <p:cNvSpPr/>
          <p:nvPr/>
        </p:nvSpPr>
        <p:spPr>
          <a:xfrm>
            <a:off x="6477120" y="1981080"/>
            <a:ext cx="75960" cy="609840"/>
          </a:xfrm>
          <a:prstGeom prst="rect">
            <a:avLst/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5" name="Rectangle 2072"/>
          <p:cNvSpPr/>
          <p:nvPr/>
        </p:nvSpPr>
        <p:spPr>
          <a:xfrm>
            <a:off x="6553080" y="2209680"/>
            <a:ext cx="76320" cy="381240"/>
          </a:xfrm>
          <a:prstGeom prst="rect">
            <a:avLst/>
          </a:prstGeom>
          <a:solidFill>
            <a:srgbClr val="FFCF01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6" name="Rectangle 2073"/>
          <p:cNvSpPr/>
          <p:nvPr/>
        </p:nvSpPr>
        <p:spPr>
          <a:xfrm>
            <a:off x="6400800" y="2133720"/>
            <a:ext cx="76320" cy="457200"/>
          </a:xfrm>
          <a:prstGeom prst="rect">
            <a:avLst/>
          </a:prstGeom>
          <a:solidFill>
            <a:srgbClr val="00E4A8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7" name="Rectangle 2074"/>
          <p:cNvSpPr/>
          <p:nvPr/>
        </p:nvSpPr>
        <p:spPr>
          <a:xfrm>
            <a:off x="6629400" y="2362320"/>
            <a:ext cx="76320" cy="228600"/>
          </a:xfrm>
          <a:prstGeom prst="rect">
            <a:avLst/>
          </a:prstGeom>
          <a:solidFill>
            <a:srgbClr val="00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8" name="Rectangle 2075"/>
          <p:cNvSpPr/>
          <p:nvPr/>
        </p:nvSpPr>
        <p:spPr>
          <a:xfrm>
            <a:off x="6172200" y="2590920"/>
            <a:ext cx="685800" cy="75960"/>
          </a:xfrm>
          <a:prstGeom prst="rect">
            <a:avLst/>
          </a:prstGeom>
          <a:solidFill>
            <a:srgbClr val="00E4A8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29160" rIns="90000" bIns="2916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99" name="Rectangle 2076"/>
          <p:cNvSpPr/>
          <p:nvPr/>
        </p:nvSpPr>
        <p:spPr>
          <a:xfrm>
            <a:off x="6248520" y="2362320"/>
            <a:ext cx="152280" cy="228600"/>
          </a:xfrm>
          <a:prstGeom prst="rect">
            <a:avLst/>
          </a:prstGeom>
          <a:solidFill>
            <a:srgbClr val="FF99FF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0" name="WordArt 2077"/>
          <p:cNvSpPr txBox="1"/>
          <p:nvPr/>
        </p:nvSpPr>
        <p:spPr>
          <a:xfrm>
            <a:off x="7086600" y="990720"/>
            <a:ext cx="1743120" cy="612720"/>
          </a:xfrm>
          <a:prstGeom prst="rect">
            <a:avLst/>
          </a:prstGeom>
        </p:spPr>
        <p:txBody>
          <a:bodyPr wrap="none" lIns="90000" tIns="46800" rIns="90000" bIns="46800" anchor="t" anchorCtr="1">
            <a:prstTxWarp prst="textCascadeUp">
              <a:avLst>
                <a:gd name="adj" fmla="val 44444"/>
              </a:avLst>
            </a:prstTxWarp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pc="3" strike="noStrik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/>
                </a:gradFill>
                <a:uFillTx/>
                <a:latin typeface="Impact"/>
              </a:rPr>
              <a:t>Knowledge</a:t>
            </a:r>
            <a:endParaRPr lang="en-US" sz="2800" b="0" u="none" spc="3" strike="noStrik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/>
              </a:gradFill>
              <a:uFillTx/>
              <a:latin typeface="Impact"/>
            </a:endParaRPr>
          </a:p>
        </p:txBody>
      </p:sp>
      <p:sp>
        <p:nvSpPr>
          <p:cNvPr id="101" name="Text Box 2078"/>
          <p:cNvSpPr/>
          <p:nvPr/>
        </p:nvSpPr>
        <p:spPr>
          <a:xfrm>
            <a:off x="2513520" y="3276720"/>
            <a:ext cx="22802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99"/>
                </a:solidFill>
                <a:effectLst/>
                <a:uFillTx/>
                <a:latin typeface="Times New Roman"/>
              </a:rPr>
              <a:t>Task-relevant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2" name="Text Box 2079"/>
          <p:cNvSpPr/>
          <p:nvPr/>
        </p:nvSpPr>
        <p:spPr>
          <a:xfrm>
            <a:off x="3641760" y="4052880"/>
            <a:ext cx="1155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Selection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3" name="Text Box 2080"/>
          <p:cNvSpPr/>
          <p:nvPr/>
        </p:nvSpPr>
        <p:spPr>
          <a:xfrm>
            <a:off x="4267080" y="2590920"/>
            <a:ext cx="15595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4" name="Text Box 2081"/>
          <p:cNvSpPr/>
          <p:nvPr/>
        </p:nvSpPr>
        <p:spPr>
          <a:xfrm>
            <a:off x="5256720" y="1676520"/>
            <a:ext cx="2252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Pattern Evaluation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5" name="Line 2082"/>
          <p:cNvSpPr/>
          <p:nvPr/>
        </p:nvSpPr>
        <p:spPr>
          <a:xfrm>
            <a:off x="5638680" y="3124080"/>
            <a:ext cx="0" cy="2133720"/>
          </a:xfrm>
          <a:prstGeom prst="line">
            <a:avLst/>
          </a:prstGeom>
          <a:ln w="381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6" name="Line 2083"/>
          <p:cNvSpPr/>
          <p:nvPr/>
        </p:nvSpPr>
        <p:spPr>
          <a:xfrm>
            <a:off x="7315200" y="2057400"/>
            <a:ext cx="0" cy="32004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7" name="Line 2084"/>
          <p:cNvSpPr/>
          <p:nvPr/>
        </p:nvSpPr>
        <p:spPr>
          <a:xfrm flipH="1">
            <a:off x="3962160" y="5257800"/>
            <a:ext cx="33526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8" name="Line 2085"/>
          <p:cNvSpPr/>
          <p:nvPr/>
        </p:nvSpPr>
        <p:spPr>
          <a:xfrm flipV="1">
            <a:off x="3962520" y="4343400"/>
            <a:ext cx="0" cy="9144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9" name="Line 2086"/>
          <p:cNvSpPr/>
          <p:nvPr/>
        </p:nvSpPr>
        <p:spPr>
          <a:xfrm>
            <a:off x="7315200" y="5257800"/>
            <a:ext cx="0" cy="83808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0" name="Line 2087"/>
          <p:cNvSpPr/>
          <p:nvPr/>
        </p:nvSpPr>
        <p:spPr>
          <a:xfrm flipH="1">
            <a:off x="2286000" y="6095880"/>
            <a:ext cx="5029200" cy="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1" name="Line 2088"/>
          <p:cNvSpPr/>
          <p:nvPr/>
        </p:nvSpPr>
        <p:spPr>
          <a:xfrm flipH="1" flipV="1">
            <a:off x="1905120" y="5409720"/>
            <a:ext cx="380880" cy="685800"/>
          </a:xfrm>
          <a:prstGeom prst="line">
            <a:avLst/>
          </a:prstGeom>
          <a:ln w="3816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2" name="Line 2089"/>
          <p:cNvSpPr/>
          <p:nvPr/>
        </p:nvSpPr>
        <p:spPr>
          <a:xfrm>
            <a:off x="2057400" y="5410080"/>
            <a:ext cx="1600200" cy="0"/>
          </a:xfrm>
          <a:prstGeom prst="line">
            <a:avLst/>
          </a:prstGeom>
          <a:ln w="2844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3" name="Line 2090"/>
          <p:cNvSpPr/>
          <p:nvPr/>
        </p:nvSpPr>
        <p:spPr>
          <a:xfrm flipV="1">
            <a:off x="3657600" y="4191120"/>
            <a:ext cx="0" cy="1218960"/>
          </a:xfrm>
          <a:prstGeom prst="line">
            <a:avLst/>
          </a:prstGeom>
          <a:ln w="2844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3BA1326-0E17-4389-ABF4-A5421E0F3D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166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Example: A Web Mining Framework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80520" y="1447560"/>
            <a:ext cx="8458200" cy="510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Web mining usually involves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cleaning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integration from multiple sources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Warehousing the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cube construction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selection for data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Presentation of the mining results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Patterns and knowledge to be used or stored into knowledge-base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62BABB2-042C-46AC-AA54-D2A610304BB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28600" y="380880"/>
            <a:ext cx="8686800" cy="5335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 in Business Intelligence</a:t>
            </a:r>
            <a:r>
              <a:rPr lang="en-US" sz="2800" b="0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19" name="AutoShape 3"/>
          <p:cNvSpPr/>
          <p:nvPr/>
        </p:nvSpPr>
        <p:spPr>
          <a:xfrm>
            <a:off x="762120" y="1447920"/>
            <a:ext cx="7467480" cy="5029200"/>
          </a:xfrm>
          <a:prstGeom prst="flowChartExtra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0" name="Line 4"/>
          <p:cNvSpPr/>
          <p:nvPr/>
        </p:nvSpPr>
        <p:spPr>
          <a:xfrm>
            <a:off x="1219320" y="5867280"/>
            <a:ext cx="65530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1" name="Line 5"/>
          <p:cNvSpPr/>
          <p:nvPr/>
        </p:nvSpPr>
        <p:spPr>
          <a:xfrm>
            <a:off x="1676520" y="5257800"/>
            <a:ext cx="56386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2" name="Line 6"/>
          <p:cNvSpPr/>
          <p:nvPr/>
        </p:nvSpPr>
        <p:spPr>
          <a:xfrm>
            <a:off x="2209680" y="4495680"/>
            <a:ext cx="45720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3" name="Line 7"/>
          <p:cNvSpPr/>
          <p:nvPr/>
        </p:nvSpPr>
        <p:spPr>
          <a:xfrm>
            <a:off x="2819520" y="3733920"/>
            <a:ext cx="33526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4" name="Line 8"/>
          <p:cNvSpPr/>
          <p:nvPr/>
        </p:nvSpPr>
        <p:spPr>
          <a:xfrm>
            <a:off x="3429000" y="2895480"/>
            <a:ext cx="2133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5" name="Line 9"/>
          <p:cNvSpPr/>
          <p:nvPr/>
        </p:nvSpPr>
        <p:spPr>
          <a:xfrm flipV="1">
            <a:off x="533520" y="1447920"/>
            <a:ext cx="0" cy="50292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6" name="Line 10"/>
          <p:cNvSpPr/>
          <p:nvPr/>
        </p:nvSpPr>
        <p:spPr>
          <a:xfrm flipV="1">
            <a:off x="8839080" y="1447920"/>
            <a:ext cx="0" cy="50292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7" name="Text Box 11"/>
          <p:cNvSpPr/>
          <p:nvPr/>
        </p:nvSpPr>
        <p:spPr>
          <a:xfrm>
            <a:off x="599400" y="1509840"/>
            <a:ext cx="190908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Increasing potential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to support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business decisions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8" name="Text Box 12"/>
          <p:cNvSpPr/>
          <p:nvPr/>
        </p:nvSpPr>
        <p:spPr>
          <a:xfrm>
            <a:off x="7750800" y="1955880"/>
            <a:ext cx="997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End User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29" name="Text Box 13"/>
          <p:cNvSpPr/>
          <p:nvPr/>
        </p:nvSpPr>
        <p:spPr>
          <a:xfrm>
            <a:off x="7754760" y="2946240"/>
            <a:ext cx="94644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Business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Analyst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0" name="Text Box 14"/>
          <p:cNvSpPr/>
          <p:nvPr/>
        </p:nvSpPr>
        <p:spPr>
          <a:xfrm>
            <a:off x="7842960" y="3784680"/>
            <a:ext cx="8506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Analyst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1" name="Text Box 15"/>
          <p:cNvSpPr/>
          <p:nvPr/>
        </p:nvSpPr>
        <p:spPr>
          <a:xfrm>
            <a:off x="8103600" y="5689440"/>
            <a:ext cx="608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DBA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2" name="Text Box 16"/>
          <p:cNvSpPr/>
          <p:nvPr/>
        </p:nvSpPr>
        <p:spPr>
          <a:xfrm>
            <a:off x="3886200" y="2178000"/>
            <a:ext cx="12193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Decision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3" name="Text Box 17"/>
          <p:cNvSpPr/>
          <p:nvPr/>
        </p:nvSpPr>
        <p:spPr>
          <a:xfrm>
            <a:off x="3420720" y="2992320"/>
            <a:ext cx="2124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Presentation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4" name="Text Box 18"/>
          <p:cNvSpPr/>
          <p:nvPr/>
        </p:nvSpPr>
        <p:spPr>
          <a:xfrm>
            <a:off x="3278160" y="3352680"/>
            <a:ext cx="257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Visualization Techniques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5" name="Text Box 19"/>
          <p:cNvSpPr/>
          <p:nvPr/>
        </p:nvSpPr>
        <p:spPr>
          <a:xfrm>
            <a:off x="3657600" y="3765600"/>
            <a:ext cx="178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6" name="Text Box 20"/>
          <p:cNvSpPr/>
          <p:nvPr/>
        </p:nvSpPr>
        <p:spPr>
          <a:xfrm>
            <a:off x="3583080" y="4038480"/>
            <a:ext cx="2320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Information Discovery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7" name="Text Box 21"/>
          <p:cNvSpPr/>
          <p:nvPr/>
        </p:nvSpPr>
        <p:spPr>
          <a:xfrm>
            <a:off x="3368520" y="4572000"/>
            <a:ext cx="2346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Exploration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8" name="Text Box 23"/>
          <p:cNvSpPr/>
          <p:nvPr/>
        </p:nvSpPr>
        <p:spPr>
          <a:xfrm>
            <a:off x="2133720" y="4876920"/>
            <a:ext cx="4572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Statistical Summary, Querying, and Reporting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39" name="Text Box 24"/>
          <p:cNvSpPr/>
          <p:nvPr/>
        </p:nvSpPr>
        <p:spPr>
          <a:xfrm>
            <a:off x="1801800" y="5410080"/>
            <a:ext cx="5617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Preprocessing/Integration, Data Warehouses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0" name="Text Box 25"/>
          <p:cNvSpPr/>
          <p:nvPr/>
        </p:nvSpPr>
        <p:spPr>
          <a:xfrm>
            <a:off x="3608640" y="5791320"/>
            <a:ext cx="1641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1" name="Text Box 26"/>
          <p:cNvSpPr/>
          <p:nvPr/>
        </p:nvSpPr>
        <p:spPr>
          <a:xfrm>
            <a:off x="1066680" y="6095880"/>
            <a:ext cx="7118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Paper, Files, Web documents, Scientific experiments, Database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2" name="Line 27"/>
          <p:cNvSpPr/>
          <p:nvPr/>
        </p:nvSpPr>
        <p:spPr>
          <a:xfrm>
            <a:off x="457200" y="6477120"/>
            <a:ext cx="83818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8EC88A-D1B0-423A-BD8A-F93854A2641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KDD Process: A Typical View from ML and Statistics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45" name="Line 4"/>
          <p:cNvSpPr/>
          <p:nvPr/>
        </p:nvSpPr>
        <p:spPr>
          <a:xfrm>
            <a:off x="1533600" y="2362320"/>
            <a:ext cx="3808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6" name="Line 5"/>
          <p:cNvSpPr/>
          <p:nvPr/>
        </p:nvSpPr>
        <p:spPr>
          <a:xfrm>
            <a:off x="6562800" y="2362320"/>
            <a:ext cx="4572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7" name="Text Box 17"/>
          <p:cNvSpPr/>
          <p:nvPr/>
        </p:nvSpPr>
        <p:spPr>
          <a:xfrm>
            <a:off x="154080" y="2151000"/>
            <a:ext cx="1298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Input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8" name="Rectangle 21"/>
          <p:cNvSpPr/>
          <p:nvPr/>
        </p:nvSpPr>
        <p:spPr>
          <a:xfrm>
            <a:off x="1990800" y="1981080"/>
            <a:ext cx="914400" cy="1067040"/>
          </a:xfrm>
          <a:prstGeom prst="rect">
            <a:avLst/>
          </a:prstGeom>
          <a:solidFill>
            <a:srgbClr val="00CC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49" name="Rectangle 22"/>
          <p:cNvSpPr/>
          <p:nvPr/>
        </p:nvSpPr>
        <p:spPr>
          <a:xfrm>
            <a:off x="3666960" y="1981080"/>
            <a:ext cx="914400" cy="1067040"/>
          </a:xfrm>
          <a:prstGeom prst="rect">
            <a:avLst/>
          </a:prstGeom>
          <a:solidFill>
            <a:srgbClr val="00CC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0" name="WordArt 29"/>
          <p:cNvSpPr txBox="1"/>
          <p:nvPr/>
        </p:nvSpPr>
        <p:spPr>
          <a:xfrm rot="823800">
            <a:off x="7095600" y="1676520"/>
            <a:ext cx="1743120" cy="1295280"/>
          </a:xfrm>
          <a:prstGeom prst="rect">
            <a:avLst/>
          </a:prstGeom>
        </p:spPr>
        <p:txBody>
          <a:bodyPr wrap="none" lIns="90000" tIns="46800" rIns="90000" bIns="46800" anchor="t" anchorCtr="1">
            <a:prstTxWarp prst="textCascadeUp">
              <a:avLst>
                <a:gd name="adj" fmla="val 44444"/>
              </a:avLst>
            </a:prstTxWarp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pc="3" strike="noStrik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3738000"/>
                </a:gradFill>
                <a:uFillTx/>
                <a:latin typeface="Impact"/>
              </a:rPr>
              <a:t>Pattern</a:t>
            </a:r>
            <a:endParaRPr lang="en-US" sz="2800" b="0" u="none" spc="3" strike="noStrik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3738000"/>
              </a:gradFill>
              <a:uFillTx/>
              <a:latin typeface="Impact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pc="3" strike="noStrik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3738000"/>
                </a:gradFill>
                <a:uFillTx/>
                <a:latin typeface="Impact"/>
              </a:rPr>
              <a:t>Information</a:t>
            </a:r>
            <a:endParaRPr lang="en-US" sz="2800" b="0" u="none" spc="3" strike="noStrik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3738000"/>
              </a:gradFill>
              <a:uFillTx/>
              <a:latin typeface="Impact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pc="3" strike="noStrik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3738000"/>
                </a:gradFill>
                <a:uFillTx/>
                <a:latin typeface="Impact"/>
              </a:rPr>
              <a:t>Knowledge</a:t>
            </a:r>
            <a:endParaRPr lang="en-US" sz="2800" b="0" u="none" spc="3" strike="noStrik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3738000"/>
              </a:gradFill>
              <a:uFillTx/>
              <a:latin typeface="Impact"/>
            </a:endParaRPr>
          </a:p>
        </p:txBody>
      </p:sp>
      <p:sp>
        <p:nvSpPr>
          <p:cNvPr id="151" name="Text Box 32"/>
          <p:cNvSpPr/>
          <p:nvPr/>
        </p:nvSpPr>
        <p:spPr>
          <a:xfrm>
            <a:off x="3514680" y="2057400"/>
            <a:ext cx="12952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2" name="Text Box 44"/>
          <p:cNvSpPr/>
          <p:nvPr/>
        </p:nvSpPr>
        <p:spPr>
          <a:xfrm>
            <a:off x="1762200" y="2149560"/>
            <a:ext cx="1447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Pre-Processing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3" name="Line 45"/>
          <p:cNvSpPr/>
          <p:nvPr/>
        </p:nvSpPr>
        <p:spPr>
          <a:xfrm>
            <a:off x="3133800" y="2362320"/>
            <a:ext cx="3808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4" name="Line 46"/>
          <p:cNvSpPr/>
          <p:nvPr/>
        </p:nvSpPr>
        <p:spPr>
          <a:xfrm>
            <a:off x="4886280" y="2362320"/>
            <a:ext cx="3808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5" name="Rectangle 47"/>
          <p:cNvSpPr/>
          <p:nvPr/>
        </p:nvSpPr>
        <p:spPr>
          <a:xfrm>
            <a:off x="5419800" y="1981080"/>
            <a:ext cx="990360" cy="1067040"/>
          </a:xfrm>
          <a:prstGeom prst="rect">
            <a:avLst/>
          </a:prstGeom>
          <a:solidFill>
            <a:srgbClr val="00CC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6" name="Text Box 48"/>
          <p:cNvSpPr/>
          <p:nvPr/>
        </p:nvSpPr>
        <p:spPr>
          <a:xfrm>
            <a:off x="5343480" y="2085840"/>
            <a:ext cx="12952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Post-Processing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80520" y="5791320"/>
            <a:ext cx="815364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3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 is a view from typical machine learning and statistics communities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grpSp>
        <p:nvGrpSpPr>
          <p:cNvPr id="158" name="Group 52"/>
          <p:cNvGrpSpPr/>
          <p:nvPr/>
        </p:nvGrpSpPr>
        <p:grpSpPr>
          <a:xfrm>
            <a:off x="542880" y="3886200"/>
            <a:ext cx="2362320" cy="1159920"/>
            <a:chOff x="542880" y="3886200"/>
            <a:chExt cx="2362320" cy="1159920"/>
          </a:xfrm>
        </p:grpSpPr>
        <p:sp>
          <p:nvSpPr>
            <p:cNvPr id="159" name="Rectangle 50"/>
            <p:cNvSpPr/>
            <p:nvPr/>
          </p:nvSpPr>
          <p:spPr>
            <a:xfrm>
              <a:off x="542880" y="3886200"/>
              <a:ext cx="2133720" cy="1143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60" name="Text Box 51"/>
            <p:cNvSpPr/>
            <p:nvPr/>
          </p:nvSpPr>
          <p:spPr>
            <a:xfrm>
              <a:off x="542880" y="3986280"/>
              <a:ext cx="2362320" cy="10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Data integration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Normalization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Feature selection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Dimension reduction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61" name="Rectangle 54"/>
          <p:cNvSpPr/>
          <p:nvPr/>
        </p:nvSpPr>
        <p:spPr>
          <a:xfrm>
            <a:off x="3057480" y="3886200"/>
            <a:ext cx="2362320" cy="15238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62" name="Text Box 55"/>
          <p:cNvSpPr/>
          <p:nvPr/>
        </p:nvSpPr>
        <p:spPr>
          <a:xfrm>
            <a:off x="3057480" y="3962520"/>
            <a:ext cx="243828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5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Pattern discovery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5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Association &amp; correlation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5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5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Clustering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5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Outlier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>
              <a:lnSpc>
                <a:spcPct val="5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… … … 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grpSp>
        <p:nvGrpSpPr>
          <p:cNvPr id="163" name="Group 56"/>
          <p:cNvGrpSpPr/>
          <p:nvPr/>
        </p:nvGrpSpPr>
        <p:grpSpPr>
          <a:xfrm>
            <a:off x="5877000" y="3886200"/>
            <a:ext cx="2361960" cy="1159920"/>
            <a:chOff x="5877000" y="3886200"/>
            <a:chExt cx="2361960" cy="1159920"/>
          </a:xfrm>
        </p:grpSpPr>
        <p:sp>
          <p:nvSpPr>
            <p:cNvPr id="164" name="Rectangle 57"/>
            <p:cNvSpPr/>
            <p:nvPr/>
          </p:nvSpPr>
          <p:spPr>
            <a:xfrm>
              <a:off x="5877000" y="3886200"/>
              <a:ext cx="2133360" cy="11430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65" name="Text Box 58"/>
            <p:cNvSpPr/>
            <p:nvPr/>
          </p:nvSpPr>
          <p:spPr>
            <a:xfrm>
              <a:off x="5877000" y="3986280"/>
              <a:ext cx="2361960" cy="105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Pattern evaluation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Pattern selection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Pattern interpretation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  <a:p>
              <a:pPr>
                <a:lnSpc>
                  <a:spcPct val="6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Tahoma"/>
                </a:rPr>
                <a:t>Pattern visualization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66" name="AutoShape 62"/>
          <p:cNvSpPr/>
          <p:nvPr/>
        </p:nvSpPr>
        <p:spPr>
          <a:xfrm rot="11343600">
            <a:off x="1837440" y="2818800"/>
            <a:ext cx="304920" cy="990360"/>
          </a:xfrm>
          <a:custGeom>
            <a:avLst/>
            <a:gdLst>
              <a:gd name="textAreaLeft" fmla="*/ 40680 w 304920"/>
              <a:gd name="textAreaRight" fmla="*/ 264240 w 304920"/>
              <a:gd name="textAreaTop" fmla="*/ 173160 h 990360"/>
              <a:gd name="textAreaBottom" fmla="*/ 718200 h 99036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7560" stAng="-5400000" swAng="5400000"/>
                <a:lnTo>
                  <a:pt x="21600" y="11880"/>
                </a:lnTo>
                <a:arcTo wR="21600" hR="7560" stAng="0" swAng="2682637"/>
                <a:lnTo>
                  <a:pt x="7200" y="21168"/>
                </a:lnTo>
                <a:lnTo>
                  <a:pt x="0" y="17280"/>
                </a:lnTo>
                <a:lnTo>
                  <a:pt x="7200" y="12528"/>
                </a:lnTo>
                <a:lnTo>
                  <a:pt x="7200" y="14688"/>
                </a:lnTo>
                <a:arcTo wR="21600" hR="7560" stAng="2682637" swAng="-2325203"/>
                <a:lnTo>
                  <a:pt x="20700" y="9720"/>
                </a:lnTo>
                <a:arcTo wR="21600" hR="7560" stAng="-357435" swAng="-5042565"/>
                <a:close/>
              </a:path>
              <a:path fill="darkenLess" w="21600" h="21600">
                <a:moveTo>
                  <a:pt x="0" y="0"/>
                </a:moveTo>
                <a:arcTo wR="21600" hR="7560" stAng="-5400000" swAng="5400000"/>
                <a:lnTo>
                  <a:pt x="21600" y="11880"/>
                </a:lnTo>
                <a:arcTo wR="21600" hR="7560" stAng="0" swAng="-357435"/>
                <a:lnTo>
                  <a:pt x="20700" y="9720"/>
                </a:lnTo>
                <a:arcTo wR="21600" hR="7560" stAng="-357435" swAng="-5042565"/>
                <a:close/>
              </a:path>
            </a:pathLst>
          </a:cu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67" name="AutoShape 63"/>
          <p:cNvSpPr/>
          <p:nvPr/>
        </p:nvSpPr>
        <p:spPr>
          <a:xfrm rot="11343600">
            <a:off x="3666240" y="2818800"/>
            <a:ext cx="304920" cy="990360"/>
          </a:xfrm>
          <a:custGeom>
            <a:avLst/>
            <a:gdLst>
              <a:gd name="textAreaLeft" fmla="*/ 40680 w 304920"/>
              <a:gd name="textAreaRight" fmla="*/ 264240 w 304920"/>
              <a:gd name="textAreaTop" fmla="*/ 173160 h 990360"/>
              <a:gd name="textAreaBottom" fmla="*/ 718200 h 99036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7560" stAng="-5400000" swAng="5400000"/>
                <a:lnTo>
                  <a:pt x="21600" y="11880"/>
                </a:lnTo>
                <a:arcTo wR="21600" hR="7560" stAng="0" swAng="2682637"/>
                <a:lnTo>
                  <a:pt x="7200" y="21168"/>
                </a:lnTo>
                <a:lnTo>
                  <a:pt x="0" y="17280"/>
                </a:lnTo>
                <a:lnTo>
                  <a:pt x="7200" y="12528"/>
                </a:lnTo>
                <a:lnTo>
                  <a:pt x="7200" y="14688"/>
                </a:lnTo>
                <a:arcTo wR="21600" hR="7560" stAng="2682637" swAng="-2325203"/>
                <a:lnTo>
                  <a:pt x="20700" y="9720"/>
                </a:lnTo>
                <a:arcTo wR="21600" hR="7560" stAng="-357435" swAng="-5042565"/>
                <a:close/>
              </a:path>
              <a:path fill="darkenLess" w="21600" h="21600">
                <a:moveTo>
                  <a:pt x="0" y="0"/>
                </a:moveTo>
                <a:arcTo wR="21600" hR="7560" stAng="-5400000" swAng="5400000"/>
                <a:lnTo>
                  <a:pt x="21600" y="11880"/>
                </a:lnTo>
                <a:arcTo wR="21600" hR="7560" stAng="0" swAng="-357435"/>
                <a:lnTo>
                  <a:pt x="20700" y="9720"/>
                </a:lnTo>
                <a:arcTo wR="21600" hR="7560" stAng="-357435" swAng="-5042565"/>
                <a:close/>
              </a:path>
            </a:pathLst>
          </a:cu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68" name="AutoShape 64"/>
          <p:cNvSpPr/>
          <p:nvPr/>
        </p:nvSpPr>
        <p:spPr>
          <a:xfrm rot="11343600">
            <a:off x="5799960" y="2818800"/>
            <a:ext cx="304920" cy="990360"/>
          </a:xfrm>
          <a:custGeom>
            <a:avLst/>
            <a:gdLst>
              <a:gd name="textAreaLeft" fmla="*/ 40680 w 304920"/>
              <a:gd name="textAreaRight" fmla="*/ 264240 w 304920"/>
              <a:gd name="textAreaTop" fmla="*/ 173160 h 990360"/>
              <a:gd name="textAreaBottom" fmla="*/ 718200 h 99036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7560" stAng="-5400000" swAng="5400000"/>
                <a:lnTo>
                  <a:pt x="21600" y="11880"/>
                </a:lnTo>
                <a:arcTo wR="21600" hR="7560" stAng="0" swAng="2682637"/>
                <a:lnTo>
                  <a:pt x="7200" y="21168"/>
                </a:lnTo>
                <a:lnTo>
                  <a:pt x="0" y="17280"/>
                </a:lnTo>
                <a:lnTo>
                  <a:pt x="7200" y="12528"/>
                </a:lnTo>
                <a:lnTo>
                  <a:pt x="7200" y="14688"/>
                </a:lnTo>
                <a:arcTo wR="21600" hR="7560" stAng="2682637" swAng="-2325203"/>
                <a:lnTo>
                  <a:pt x="20700" y="9720"/>
                </a:lnTo>
                <a:arcTo wR="21600" hR="7560" stAng="-357435" swAng="-5042565"/>
                <a:close/>
              </a:path>
              <a:path fill="darkenLess" w="21600" h="21600">
                <a:moveTo>
                  <a:pt x="0" y="0"/>
                </a:moveTo>
                <a:arcTo wR="21600" hR="7560" stAng="-5400000" swAng="5400000"/>
                <a:lnTo>
                  <a:pt x="21600" y="11880"/>
                </a:lnTo>
                <a:arcTo wR="21600" hR="7560" stAng="0" swAng="-357435"/>
                <a:lnTo>
                  <a:pt x="20700" y="9720"/>
                </a:lnTo>
                <a:arcTo wR="21600" hR="7560" stAng="-357435" swAng="-5042565"/>
                <a:close/>
              </a:path>
            </a:pathLst>
          </a:cu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68508D1-0D68-458B-8988-DA670FE30D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Which View Do You Prefer?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80520" y="1371600"/>
            <a:ext cx="8458200" cy="510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Which view do you prefer?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KDD vs. ML/Stat. vs. Business Intelligence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Depending on the data, applications, and your focus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vs. Data Exploration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Business intelligence 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Warehouse, data cube, reporting but not much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Business objects vs. data mining tools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Supply chain example: mining vs. OLAP vs. presentation tools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presentation vs. data exploration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93968B-CA88-4A2A-8656-733C9ABA94F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5" name="AutoShape 4"/>
          <p:cNvSpPr/>
          <p:nvPr/>
        </p:nvSpPr>
        <p:spPr>
          <a:xfrm rot="9724200">
            <a:off x="5600880" y="2413080"/>
            <a:ext cx="380880" cy="304560"/>
          </a:xfrm>
          <a:custGeom>
            <a:avLst/>
            <a:gdLst>
              <a:gd name="textAreaLeft" fmla="*/ 59400 w 380880"/>
              <a:gd name="textAreaRight" fmla="*/ 333360 w 380880"/>
              <a:gd name="textAreaTop" fmla="*/ 75960 h 304560"/>
              <a:gd name="textAreaBottom" fmla="*/ 228600 h 30456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C673FDE-2707-42A8-9CDC-2B0EF05DA4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04560" y="30456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Multi-Dimensional View of Data Mining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304920" y="1219320"/>
            <a:ext cx="8686800" cy="5486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fontScale="92500" lnSpcReduction="9999"/>
          </a:bodyPr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Data to be mined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Database data (extended-relational, object-oriented, heterogeneous, legacy), data warehouse, transactional data, stream, spatiotemporal, time-series, sequence, text and web, multi-media, graphs &amp; social and information networks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Knowledge to be mined (or: Data mining functions)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Characterization, discrimination, association, classification, clustering, trend/deviation, outlier analysis,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Descriptive vs. predictive data mining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Multiple/integrated functions and mining at multiple levels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Techniques utilized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Data-intensive, data warehouse (OLAP), machine learning, statistics, pattern recognition, visualization, high-performance,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Applications adapted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Retail, telecommunication, banking, fraud analysis, bio-data mining, stock market analysis, text mining, Web mining,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B6F6FDA-3F54-49B5-BBB7-CB98621A891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82" name="AutoShape 4"/>
          <p:cNvSpPr/>
          <p:nvPr/>
        </p:nvSpPr>
        <p:spPr>
          <a:xfrm rot="9724200">
            <a:off x="4990680" y="2870280"/>
            <a:ext cx="381240" cy="304560"/>
          </a:xfrm>
          <a:custGeom>
            <a:avLst/>
            <a:gdLst>
              <a:gd name="textAreaLeft" fmla="*/ 59400 w 381240"/>
              <a:gd name="textAreaRight" fmla="*/ 333720 w 381240"/>
              <a:gd name="textAreaTop" fmla="*/ 75960 h 304560"/>
              <a:gd name="textAreaBottom" fmla="*/ 228600 h 30456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C4FD80F-9CD4-436A-9FC6-1DD7F740AFA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30456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Mining: On What Kinds of Data?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380520" y="1295280"/>
            <a:ext cx="8610840" cy="51818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3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Database-oriented data sets and 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Relational database, data warehouse, transactional 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Advanced data sets and advanced applications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streams and sensor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Time-series data, temporal data, sequence data (incl. bio-sequences)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Structure data, graphs, social networks and multi-linked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Object-relational databases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Heterogeneous databases and legacy databases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Spatial data and spatiotemporal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Multimedia 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Text databases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3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 World-Wide Web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9B0C728-431F-4BD9-8B77-A154B7CBC1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89" name="AutoShape 4"/>
          <p:cNvSpPr/>
          <p:nvPr/>
        </p:nvSpPr>
        <p:spPr>
          <a:xfrm rot="9724200">
            <a:off x="5447880" y="3403080"/>
            <a:ext cx="381240" cy="304920"/>
          </a:xfrm>
          <a:custGeom>
            <a:avLst/>
            <a:gdLst>
              <a:gd name="textAreaLeft" fmla="*/ 59400 w 381240"/>
              <a:gd name="textAreaRight" fmla="*/ 333720 w 38124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E1350AA-B225-406E-B27E-65CE123551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619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 Function: (1) Generalization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80880" y="1295280"/>
            <a:ext cx="8305920" cy="51055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Information integration and data warehouse construction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cleaning, transformation, integration, and multidimensional data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cube technology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Scalable methods for computing (i.e., materializing) multidimensional aggregates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OLAP (online analytical processing)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Multidimensional concept description: Characterization and discrimination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Generalize, summarize, and contrast data characteristics, e.g., dry vs. wet region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517C567-611D-4AD8-949D-AB6EFF415AA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28600" y="152280"/>
            <a:ext cx="8763120" cy="9907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 Function: (2) Association and Correlation Analysis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380880" y="1295280"/>
            <a:ext cx="8305920" cy="51055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Frequent patterns (or frequent itemsets)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items are frequently purchased together in your Walmart?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Association, correlation vs. causality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typical association rule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Diaper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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Beer [0.5%, 75%]  (support, confidence)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 strongly associated items also strongly correlated?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How to mine such patterns and rules efficiently in large datasets?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How to use such patterns for classification, clustering, and other applications?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F5AF716-079A-489F-B9EB-F502C4DF419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28600" y="152280"/>
            <a:ext cx="8763120" cy="914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 Function: (3) Classification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380520" y="1371240"/>
            <a:ext cx="8458200" cy="518148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 and label prediction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Construct models (functions) based on some training examples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Describe and distinguish classes or concepts for future prediction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1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E.g., classify countries based on (climate), or classify cars based on (gas mileage)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Predict some unknown class labels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Typical methods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Decision trees, naïve Bayesian classification, support vector machines, neural networks, rule-based classification, pattern-based classification, logistic regression,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Typical applications: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Credit card fraud detection, direct marketing, classifying stars, diseases,  web-pages,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8680039-33CF-49E5-ABC4-1DE29EFEB8D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-360" y="304920"/>
            <a:ext cx="8991720" cy="6350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 Function: (4) Cluster Analysis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304920" y="1294920"/>
            <a:ext cx="853416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Unsupervised learning (i.e., Class label is unknown)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Group data to form new categories (i.e., clusters), e.g., cluster houses to find distribution patterns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Principle: Maximizing intra-class similarity &amp; minimizing interclass similarity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Many methods and applications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5B2C894-D788-47CB-895E-AA3980CC411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-360" y="304920"/>
            <a:ext cx="8991720" cy="6350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 Function: (5) Outlier Analysis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304920" y="1294920"/>
            <a:ext cx="853416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Outlier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Outlier: A data object that does not comply with the general behavior of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Noise or exception?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― One person’s garbage could be another person’s treasure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Methods: by product of clustering or regression analysis,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1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Useful in fraud detection, rare events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481D3A4-553F-48D0-B70C-8EBAD311A8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-360" y="152280"/>
            <a:ext cx="8991720" cy="914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Time and Ordering: Sequential Pattern, Trend and Evolution Analysis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304920" y="1371600"/>
            <a:ext cx="8534160" cy="495288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fontScale="92500" lnSpcReduction="9999"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Sequence, trend and evolution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Trend, time-series, and deviation analysis: e.g., regression and value prediction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Sequential pattern mining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e.g., first buy digital camera, then buy large SD memory cards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Periodicity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Motifs and biological sequence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Approximate and consecutive motifs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Similarity-based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data streams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Ordered, time-varying, potentially infinite, data streams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CDD42AB-8EF9-4F4B-8E3E-1F749DBECC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-360" y="152280"/>
            <a:ext cx="8991720" cy="914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Structure and Network Analysis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380520" y="1295280"/>
            <a:ext cx="8458200" cy="5029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Graph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Finding frequent subgraphs (e.g., chemical compounds), trees (XML), substructures (web fragments)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Information network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Social networks: actors (objects, nodes) and relationships (edges)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e.g., author networks in CS, terrorist networks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Multiple heterogeneous networks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person could be multiple information networks: friends, family, classmates,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Links carry a lot of semantic information: Link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Web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Web is a big information network: from PageRank to Google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Analysis of Web information networks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4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Web community discovery, opinion mining, usage mining,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925866A-CF98-4A4B-88B0-90D6B3F5289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166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Evaluation of Knowledge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380520" y="1294920"/>
            <a:ext cx="84582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>
              <a:lnSpc>
                <a:spcPct val="12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Are all mined knowledge interesting?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One can mine tremendous amount of “patterns” and knowledge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 may fit only certain dimension space (time, location, …)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Some may not be representative, may be transient, 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Evaluation of mined knowledge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→ directly mine only interesting knowledge?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Descriptive vs. predictive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Coverage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Typicality vs. novelty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Accuracy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Timeliness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B8F6347-1F15-4EEA-8DFE-C5595D2BA66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17" name="AutoShape 4"/>
          <p:cNvSpPr/>
          <p:nvPr/>
        </p:nvSpPr>
        <p:spPr>
          <a:xfrm rot="9724200">
            <a:off x="5447880" y="3860280"/>
            <a:ext cx="381240" cy="304920"/>
          </a:xfrm>
          <a:custGeom>
            <a:avLst/>
            <a:gdLst>
              <a:gd name="textAreaLeft" fmla="*/ 59400 w 381240"/>
              <a:gd name="textAreaRight" fmla="*/ 333720 w 38124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CF37F07-3A4E-4827-98E8-21B355D8B7D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380520" y="304920"/>
            <a:ext cx="8610840" cy="76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Data Mining: Confluence of Multiple Disciplines</a:t>
            </a:r>
            <a:r>
              <a:rPr lang="en-US" sz="3200" b="0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 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20" name="Oval 19"/>
          <p:cNvSpPr/>
          <p:nvPr/>
        </p:nvSpPr>
        <p:spPr>
          <a:xfrm>
            <a:off x="3429000" y="3200400"/>
            <a:ext cx="2286000" cy="1066680"/>
          </a:xfrm>
          <a:prstGeom prst="ellipse">
            <a:avLst/>
          </a:prstGeom>
          <a:solidFill>
            <a:srgbClr val="FFCF01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1" name="Line 13"/>
          <p:cNvSpPr/>
          <p:nvPr/>
        </p:nvSpPr>
        <p:spPr>
          <a:xfrm>
            <a:off x="2362320" y="3657600"/>
            <a:ext cx="1066680" cy="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2" name="Line 14"/>
          <p:cNvSpPr/>
          <p:nvPr/>
        </p:nvSpPr>
        <p:spPr>
          <a:xfrm>
            <a:off x="2286000" y="2438280"/>
            <a:ext cx="1905120" cy="76212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3" name="Line 15"/>
          <p:cNvSpPr/>
          <p:nvPr/>
        </p:nvSpPr>
        <p:spPr>
          <a:xfrm flipH="1">
            <a:off x="4876560" y="2362320"/>
            <a:ext cx="1904760" cy="83808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4" name="Line 16"/>
          <p:cNvSpPr/>
          <p:nvPr/>
        </p:nvSpPr>
        <p:spPr>
          <a:xfrm flipH="1">
            <a:off x="5714640" y="3657600"/>
            <a:ext cx="1066680" cy="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5" name="Line 17"/>
          <p:cNvSpPr/>
          <p:nvPr/>
        </p:nvSpPr>
        <p:spPr>
          <a:xfrm flipH="1" flipV="1">
            <a:off x="5028840" y="4191120"/>
            <a:ext cx="1981080" cy="76176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6" name="Line 18"/>
          <p:cNvSpPr/>
          <p:nvPr/>
        </p:nvSpPr>
        <p:spPr>
          <a:xfrm flipV="1">
            <a:off x="2438280" y="4191120"/>
            <a:ext cx="1600200" cy="76176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7" name="Oval 21"/>
          <p:cNvSpPr/>
          <p:nvPr/>
        </p:nvSpPr>
        <p:spPr>
          <a:xfrm>
            <a:off x="1066680" y="1600200"/>
            <a:ext cx="2057400" cy="83808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Learning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8" name="Oval 22"/>
          <p:cNvSpPr/>
          <p:nvPr/>
        </p:nvSpPr>
        <p:spPr>
          <a:xfrm>
            <a:off x="5867280" y="1600200"/>
            <a:ext cx="2057400" cy="76212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Statistics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29" name="Oval 23"/>
          <p:cNvSpPr/>
          <p:nvPr/>
        </p:nvSpPr>
        <p:spPr>
          <a:xfrm>
            <a:off x="304920" y="3276720"/>
            <a:ext cx="2057400" cy="83808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Applications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0" name="Oval 24"/>
          <p:cNvSpPr/>
          <p:nvPr/>
        </p:nvSpPr>
        <p:spPr>
          <a:xfrm>
            <a:off x="533520" y="4724280"/>
            <a:ext cx="2057400" cy="83844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Algorithm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1" name="Oval 25"/>
          <p:cNvSpPr/>
          <p:nvPr/>
        </p:nvSpPr>
        <p:spPr>
          <a:xfrm>
            <a:off x="3505320" y="1600200"/>
            <a:ext cx="2057400" cy="83808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Pattern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Recognition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2" name="Oval 26"/>
          <p:cNvSpPr/>
          <p:nvPr/>
        </p:nvSpPr>
        <p:spPr>
          <a:xfrm>
            <a:off x="6400800" y="4876920"/>
            <a:ext cx="2057400" cy="83808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High-Performance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Computing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3" name="Oval 27"/>
          <p:cNvSpPr/>
          <p:nvPr/>
        </p:nvSpPr>
        <p:spPr>
          <a:xfrm>
            <a:off x="6781680" y="3200400"/>
            <a:ext cx="2057400" cy="83808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1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Visualization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4" name="Line 28"/>
          <p:cNvSpPr/>
          <p:nvPr/>
        </p:nvSpPr>
        <p:spPr>
          <a:xfrm flipV="1">
            <a:off x="4495680" y="4266720"/>
            <a:ext cx="0" cy="83844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5" name="Oval 30"/>
          <p:cNvSpPr/>
          <p:nvPr/>
        </p:nvSpPr>
        <p:spPr>
          <a:xfrm>
            <a:off x="3505320" y="4800600"/>
            <a:ext cx="2057400" cy="83808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Database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Technology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6" name="Line 31"/>
          <p:cNvSpPr/>
          <p:nvPr/>
        </p:nvSpPr>
        <p:spPr>
          <a:xfrm>
            <a:off x="4495680" y="2438280"/>
            <a:ext cx="0" cy="76212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799282B-A08A-49C2-AC84-7D2E79B67AC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85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Why Confluence of Multiple Disciplines?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380520" y="1295280"/>
            <a:ext cx="8610840" cy="51818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Tremendous amount of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Algorithms must be highly scalable to handle such as tera-bytes of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High-dimensionality of data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Micro-array may have tens of thousands of dimensions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High complexity of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streams and sensor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Time-series data, temporal data, sequence data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Structure data, graphs, social networks and multi-linked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Heterogeneous databases and legacy databases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Spatial, spatiotemporal, multimedia, text and Web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Software programs, scientific simulations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New and sophisticated applications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320557-BF6B-4D40-8379-CDFF87F648A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43" name="AutoShape 4"/>
          <p:cNvSpPr/>
          <p:nvPr/>
        </p:nvSpPr>
        <p:spPr>
          <a:xfrm rot="9724200">
            <a:off x="5829480" y="4393800"/>
            <a:ext cx="380880" cy="304920"/>
          </a:xfrm>
          <a:custGeom>
            <a:avLst/>
            <a:gdLst>
              <a:gd name="textAreaLeft" fmla="*/ 59400 w 380880"/>
              <a:gd name="textAreaRight" fmla="*/ 333360 w 38088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5B8B84E-1AD1-4DE6-9B48-3D5870E4AD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166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Applications of Data Mining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380520" y="1371240"/>
            <a:ext cx="8458200" cy="518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Web page analysis: from web page classification, clustering to PageRank &amp; HITS algorithms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Collaborative analysis &amp; recommender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Basket data analysis to targeted marketing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Biological and medical data analysis: classification, cluster analysis (microarray data analysis),  biological sequence analysis, biological network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and software engineering (e.g., IEEE Computer, Aug. 2009 issue)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From major dedicated data mining systems/tools (e.g., SAS, MS SQL-Server Analysis Manager, Oracle Data Mining Tools) to invisible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9CF4DDB-17F5-447D-B513-E0A2803AE10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50" name="AutoShape 4"/>
          <p:cNvSpPr/>
          <p:nvPr/>
        </p:nvSpPr>
        <p:spPr>
          <a:xfrm rot="9724200">
            <a:off x="4152960" y="5003280"/>
            <a:ext cx="380880" cy="304920"/>
          </a:xfrm>
          <a:custGeom>
            <a:avLst/>
            <a:gdLst>
              <a:gd name="textAreaLeft" fmla="*/ 59400 w 380880"/>
              <a:gd name="textAreaRight" fmla="*/ 333360 w 38088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E7F9274-422B-481F-8612-2C238294A7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066320" y="304560"/>
            <a:ext cx="7239240" cy="5857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Major Issues in Data Mining (1)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380880" y="1447920"/>
            <a:ext cx="8382240" cy="5029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Methodology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various and new kinds of knowledge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knowledge in multi-dimensional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An interdisciplinary effort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Boosting the power of discovery in a networked environment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 noise, uncertainty, and incompleteness of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Pattern evaluation and pattern- or constraint-guided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User Interaction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Interactive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Incorporation of background knowledge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Presentation and visualization of data mining results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CBF5702-64CC-4731-88C0-57BF74F9EE1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066320" y="304560"/>
            <a:ext cx="7239240" cy="5857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Major Issues in Data Mining (2)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380880" y="1523880"/>
            <a:ext cx="8382240" cy="45720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Efficiency and Scalability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Efficiency and scalability of data mining algorithms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Parallel, distributed, stream, and incremental mining methods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Diversity of data types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Handling complex types of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dynamic, networked, and global data repositories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and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Social impacts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Privacy-preserving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Invisible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68CD4CF-3B5F-4501-8AC7-C293AD454B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60" name="AutoShape 4"/>
          <p:cNvSpPr/>
          <p:nvPr/>
        </p:nvSpPr>
        <p:spPr>
          <a:xfrm rot="9724200">
            <a:off x="7201080" y="5536800"/>
            <a:ext cx="380880" cy="304920"/>
          </a:xfrm>
          <a:custGeom>
            <a:avLst/>
            <a:gdLst>
              <a:gd name="textAreaLeft" fmla="*/ 59400 w 380880"/>
              <a:gd name="textAreaRight" fmla="*/ 333360 w 38088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06F3C89-7879-451D-9E1C-B4304499D62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990720" y="304920"/>
            <a:ext cx="7315200" cy="76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A Brief History of Data Mining Society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380520" y="1294920"/>
            <a:ext cx="845820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2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1989 IJCAI Workshop on Knowledge Discovery in Databases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Knowledge Discovery in Databases (G. Piatetsky-Shapiro and W. Frawley, 1991)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1991-1994 Workshops on Knowledge Discovery in Databases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Advances in Knowledge Discovery and Data Mining (U. Fayyad, G. Piatetsky-Shapiro, P. Smyth, and R. Uthurusamy, 1996)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1995-1998 International Conferences on Knowledge Discovery in Databases and Data Mining (KDD’95-98)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 of Data Mining and Knowledge Discovery (1997)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ACM SIGKDD conferences since 1998 and SIGKDD Explorations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More conferences on data mining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2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PAKDD (1997), PKDD (1997), SIAM-Data Mining (2001), (IEEE) ICDM (2001), WSDM (2008),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ACM Transactions on KDD (2007)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463D6B9-0A36-40C7-8DFB-0EE53528CD6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8534160" cy="7621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Conferences and Journals on Data Mining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441972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KDD Conferences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ACM SIGKDD Int. Conf. on Knowledge Discovery in Databases and Data Mining (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KDD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SIAM Data Mining Conf. (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SDM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(IEEE) Int. Conf. on Data Mining (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ICDM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European Conf. on Machine Learning and Principles and practices of Knowledge Discovery and Data Mining (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ECML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-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PKDD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Pacific-Asia Conf. on Knowledge Discovery and Data Mining (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PAKDD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Int. Conf. on Web Search and Data Mining (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WSDM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67" name="Rectangle 4"/>
          <p:cNvSpPr/>
          <p:nvPr/>
        </p:nvSpPr>
        <p:spPr>
          <a:xfrm>
            <a:off x="4495680" y="1371600"/>
            <a:ext cx="4343400" cy="50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lnSpc>
                <a:spcPct val="11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Other related conferences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DB conferences: ACM SIGMOD, VLDB, ICDE, EDBT, ICDT, 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Web and IR conferences: WWW, SIGIR, WSDM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ML conferences: ICML, NIPS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PR conferences: CVPR,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lnSpc>
                <a:spcPct val="11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and Knowledge Discovery (DAMI or DMKD)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IEEE Trans. On Knowledge and Data Eng. (TKDE)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KDD Explorations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>
              <a:lnSpc>
                <a:spcPct val="110000"/>
              </a:lnSpc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ACM Trans. on KDD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7CCD0DC-D0B8-4C4C-9EFA-4B216817F22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-228600" y="151920"/>
            <a:ext cx="9524880" cy="8384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Where to Find References? DBLP, CiteSeer, Google</a:t>
            </a:r>
            <a:endParaRPr lang="en-US" sz="28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380880" y="121896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fontScale="92500" lnSpcReduction="9999"/>
          </a:bodyPr>
          <a:p>
            <a:pPr marL="343080" indent="-343080" algn="l">
              <a:lnSpc>
                <a:spcPct val="10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and KDD (SIGKDD: CDROM)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Conferences: ACM-SIGKDD, IEEE-ICDM, SIAM-DM, PKDD, PAKDD,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Journal: Data Mining and Knowledge Discovery, KDD Explorations, ACM TKDD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Database systems (SIGMOD: ACM SIGMOD Anthology</a:t>
            </a:r>
            <a:r>
              <a:rPr lang="en-US" sz="16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—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CD ROM)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Conferences: ACM-SIGMOD, ACM-PODS, VLDB, IEEE-ICDE, EDBT, ICDT, DASFAA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Journals: IEEE-TKDE, ACM-TODS/TOIS, JIIS, J. ACM, VLDB J., Info. Sys.,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AI &amp; Machine Learning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Conferences: Machine learning (ML), AAAI, IJCAI, COLT (Learning Theory), CVPR, NIPS,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Journals: Machine Learning, Artificial Intelligence, Knowledge and Information Systems, IEEE-PAMI,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Web and IR</a:t>
            </a:r>
            <a:r>
              <a:rPr lang="en-US" sz="1600" b="1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Conferences: SIGIR, WWW, CIKM,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Journals: WWW: Internet and Web Information Systems,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Statistics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Conferences: Joint Stat. Meeting,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Journals: Annals of statistics,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00000"/>
              </a:lnSpc>
              <a:spcBef>
                <a:spcPts val="45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Tahoma"/>
              </a:rPr>
              <a:t>Visualization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Conference proceedings: CHI, ACM-SIGGraph,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743040" lvl="1" indent="-285840" algn="l">
              <a:lnSpc>
                <a:spcPct val="100000"/>
              </a:lnSpc>
              <a:spcBef>
                <a:spcPts val="34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Journals: IEEE Trans. visualization and computer graphics,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2123143-6B92-4B62-A1B3-06EF322248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7720" y="380520"/>
            <a:ext cx="7155000" cy="5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Recommended Reference Books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304920" y="1294920"/>
            <a:ext cx="861048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E. Alpaydin. Introduction to Machine Learning, 2nd ed., MIT Press, 2011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S. Chakrabarti. Mining the Web: Statistical Analysis of Hypertex and Semi-Structured Data. Morgan Kaufmann, 2002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R. O. Duda, P. E. Hart, and D. G. Stork, Pattern Classification, 2ed., Wiley-Interscience, 2000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T. Dasu and T. Johnson.  Exploratory Data Mining and Data Cleaning. John Wiley &amp; Sons, 2003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U. M. Fayyad, G. Piatetsky-Shapiro, P. Smyth, and R. Uthurusamy. Advances in Knowledge Discovery and Data Mining. AAAI/MIT Press, 1996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U. Fayyad, G. Grinstein, and A. Wierse, Information Visualization in Data Mining and Knowledge Discovery, Morgan Kaufmann, 2001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J. Han, M. Kamber, and J. Pei, Data Mining: Concepts and Techniques. Morgan Kaufmann, 3</a:t>
            </a:r>
            <a:r>
              <a:rPr lang="en-US" sz="1200" b="1" u="none" strike="noStrike" baseline="30000">
                <a:solidFill>
                  <a:srgbClr val="FF0000"/>
                </a:solidFill>
                <a:effectLst/>
                <a:uFillTx/>
                <a:latin typeface="Tahoma"/>
              </a:rPr>
              <a:t>rd</a:t>
            </a: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 ed. , 2011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T. Hastie, R. Tibshirani, and J. Friedman, The Elements of Statistical Learning: Data Mining, Inference, and Prediction, 2</a:t>
            </a:r>
            <a:r>
              <a:rPr lang="en-US" sz="1200" b="1" u="none" strike="noStrike" baseline="30000">
                <a:solidFill>
                  <a:srgbClr val="FF0000"/>
                </a:solidFill>
                <a:effectLst/>
                <a:uFillTx/>
                <a:latin typeface="Tahoma"/>
              </a:rPr>
              <a:t>nd</a:t>
            </a: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 ed., Springer, 2009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B. Liu, Web Data Mining, Springer 2006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T. M. Mitchell, Machine Learning, McGraw Hill, 1997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Y. Sun and J. Han, Mining Heterogeneous Information Networks, Morgan &amp; Claypool, 2012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P.-N. Tan, M. Steinbach and V. Kumar, Introduction to Data Mining, Wiley, 2005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S. M. Weiss and N. Indurkhya, Predictive Data Mining, Morgan Kaufmann, 1998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30000"/>
              </a:lnSpc>
              <a:spcBef>
                <a:spcPts val="3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I. H. Witten and E. Frank,  Data Mining: Practical Machine Learning Tools and Techniques with Java Implementations, Morgan Kaufmann, 2</a:t>
            </a:r>
            <a:r>
              <a:rPr lang="en-US" sz="1200" b="1" u="none" strike="noStrike" baseline="30000">
                <a:solidFill>
                  <a:srgbClr val="FF0000"/>
                </a:solidFill>
                <a:effectLst/>
                <a:uFillTx/>
                <a:latin typeface="Tahoma"/>
              </a:rPr>
              <a:t>nd</a:t>
            </a:r>
            <a:r>
              <a:rPr lang="en-US" sz="1200" b="1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 ed. 2005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43E890-4C2A-4282-AB4F-801E170D85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224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Chapter 1.  Introduction</a:t>
            </a: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380880" y="129492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Why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Is Data Mining?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Multi-Dimensional View of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Data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Patterns Can Be Mined?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Technologies Are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What Kinds of Applications Are Targeted?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Brief History of Data Mining and Data Mining Society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5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617868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Summary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77" name="AutoShape 4"/>
          <p:cNvSpPr/>
          <p:nvPr/>
        </p:nvSpPr>
        <p:spPr>
          <a:xfrm rot="9724200">
            <a:off x="2095560" y="5994000"/>
            <a:ext cx="380880" cy="304920"/>
          </a:xfrm>
          <a:custGeom>
            <a:avLst/>
            <a:gdLst>
              <a:gd name="textAreaLeft" fmla="*/ 59400 w 380880"/>
              <a:gd name="textAreaRight" fmla="*/ 333360 w 380880"/>
              <a:gd name="textAreaTop" fmla="*/ 76320 h 304920"/>
              <a:gd name="textAreaBottom" fmla="*/ 228960 h 304920"/>
              <a:gd name="GluePoint1X" fmla="*/ 2147483647 w 21600"/>
              <a:gd name="GluePoint1Y" fmla="*/ 0 h 21600"/>
              <a:gd name="GluePoint2X" fmla="*/ 0 w 21600"/>
              <a:gd name="GluePoint2Y" fmla="*/ 2147483647 h 21600"/>
              <a:gd name="GluePoint3X" fmla="*/ 2147483647 w 21600"/>
              <a:gd name="GluePoint3Y" fmla="*/ 2147483647 h 21600"/>
              <a:gd name="GluePoint4X" fmla="*/ 2147483647 w 21600"/>
              <a:gd name="GluePoint4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36F3515-B5FB-4983-AB34-3403109A4C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066680" y="404280"/>
            <a:ext cx="7010640" cy="52884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333399"/>
                </a:solidFill>
                <a:effectLst/>
                <a:uFillTx/>
                <a:latin typeface="Tahoma"/>
              </a:rPr>
              <a:t>Summary</a:t>
            </a:r>
            <a:endParaRPr lang="en-US" sz="32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380520" y="1295280"/>
            <a:ext cx="8418600" cy="51055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/>
          </a:bodyPr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Discovering interesting patterns and knowledge from massive amount of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natural evolution of science and information technology, in great demand, with wide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 KDD process includes data cleaning, data integration, data selection, transformation, data mining, pattern evaluation, and knowledge presentation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Mining can be performed in a variety of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functionalities: characterization, discrimination, association, classification, clustering, trend and outlier analysis,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 technologies and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 algn="l">
              <a:lnSpc>
                <a:spcPct val="120000"/>
              </a:lnSpc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Major issues in data mining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p:transition>
    <p:zoom dir="out"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Date Placeholder 3"/>
          <p:cNvSpPr/>
          <p:nvPr/>
        </p:nvSpPr>
        <p:spPr>
          <a:xfrm>
            <a:off x="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78ABD5A-5965-40D7-9B1E-54F664CC2C7A}" type="datetime3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April 27, 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2" name="Footer Placeholder 4"/>
          <p:cNvSpPr/>
          <p:nvPr/>
        </p:nvSpPr>
        <p:spPr>
          <a:xfrm>
            <a:off x="3276720" y="6477120"/>
            <a:ext cx="28954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 Mining: Concepts and Techniques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3" name="Slide Number Placeholder 5"/>
          <p:cNvSpPr/>
          <p:nvPr/>
        </p:nvSpPr>
        <p:spPr>
          <a:xfrm>
            <a:off x="72388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28F8A26-E351-4E67-A9FE-4C2B81E3C3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1660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sp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1" u="none" strike="noStrik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380520" y="1447560"/>
            <a:ext cx="8458200" cy="5105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p>
            <a:pPr indent="0" algn="l">
              <a:lnSpc>
                <a:spcPct val="80000"/>
              </a:lnSpc>
              <a:spcBef>
                <a:spcPts val="7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pic>
        <p:nvPicPr>
          <p:cNvPr id="286" name="Picture 4" descr="IMG_2562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zoom dir="out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1999-12-02T00:01:55Z</dcterms:created>
  <dc:creator>Jiawei Han</dc:creator>
  <dc:description/>
  <dc:language>en-US</dc:language>
  <cp:lastModifiedBy>Han, Jiawei</cp:lastModifiedBy>
  <cp:lastPrinted>2012-08-31T16:51:33Z</cp:lastPrinted>
  <dcterms:modified xsi:type="dcterms:W3CDTF">2012-08-31T22:12:17Z</dcterms:modified>
  <cp:revision>451</cp:revision>
  <dc:subject/>
  <dc:title>cs412slides</dc:title>
</cp:coreProperties>
</file>