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xls" ContentType="application/vnd.ms-excel"/>
  <Default Extension="emf" ContentType="image/x-emf"/>
  <Default Extension="png" ContentType="image/png"/>
  <Default Extension="wmf" ContentType="image/x-wmf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9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9" r:id="rId1"/>
  </p:sldMasterIdLst>
  <p:notesMasterIdLst>
    <p:notesMasterId r:id="rId2"/>
  </p:notesMasterIdLst>
  <p:handoutMasterIdLst>
    <p:handoutMasterId r:id="rId3"/>
  </p:handoutMasterIdLst>
  <p:sldIdLst>
    <p:sldId id="1033" r:id="rId4"/>
    <p:sldId id="1055" r:id="rId5"/>
    <p:sldId id="1040" r:id="rId6"/>
    <p:sldId id="560" r:id="rId7"/>
    <p:sldId id="561" r:id="rId8"/>
    <p:sldId id="562" r:id="rId9"/>
    <p:sldId id="564" r:id="rId10"/>
    <p:sldId id="563" r:id="rId11"/>
    <p:sldId id="1049" r:id="rId12"/>
    <p:sldId id="1050" r:id="rId13"/>
    <p:sldId id="984" r:id="rId14"/>
    <p:sldId id="985" r:id="rId15"/>
    <p:sldId id="986" r:id="rId16"/>
    <p:sldId id="992" r:id="rId17"/>
    <p:sldId id="1041" r:id="rId18"/>
    <p:sldId id="1046" r:id="rId19"/>
    <p:sldId id="642" r:id="rId20"/>
    <p:sldId id="681" r:id="rId21"/>
    <p:sldId id="630" r:id="rId22"/>
    <p:sldId id="687" r:id="rId23"/>
    <p:sldId id="688" r:id="rId24"/>
    <p:sldId id="635" r:id="rId25"/>
    <p:sldId id="634" r:id="rId26"/>
    <p:sldId id="636" r:id="rId27"/>
    <p:sldId id="637" r:id="rId28"/>
    <p:sldId id="638" r:id="rId29"/>
    <p:sldId id="896" r:id="rId30"/>
    <p:sldId id="640" r:id="rId31"/>
    <p:sldId id="643" r:id="rId32"/>
    <p:sldId id="641" r:id="rId33"/>
    <p:sldId id="639" r:id="rId34"/>
    <p:sldId id="1042" r:id="rId35"/>
    <p:sldId id="661" r:id="rId36"/>
    <p:sldId id="662" r:id="rId37"/>
    <p:sldId id="665" r:id="rId38"/>
    <p:sldId id="944" r:id="rId39"/>
    <p:sldId id="996" r:id="rId40"/>
    <p:sldId id="1043" r:id="rId41"/>
    <p:sldId id="668" r:id="rId42"/>
    <p:sldId id="669" r:id="rId43"/>
    <p:sldId id="675" r:id="rId44"/>
    <p:sldId id="678" r:id="rId45"/>
    <p:sldId id="619" r:id="rId46"/>
    <p:sldId id="995" r:id="rId47"/>
    <p:sldId id="1044" r:id="rId48"/>
    <p:sldId id="925" r:id="rId49"/>
    <p:sldId id="928" r:id="rId50"/>
    <p:sldId id="929" r:id="rId51"/>
    <p:sldId id="1023" r:id="rId52"/>
    <p:sldId id="1024" r:id="rId53"/>
    <p:sldId id="930" r:id="rId54"/>
    <p:sldId id="931" r:id="rId55"/>
    <p:sldId id="936" r:id="rId56"/>
    <p:sldId id="1045" r:id="rId57"/>
    <p:sldId id="436" r:id="rId58"/>
    <p:sldId id="694" r:id="rId59"/>
    <p:sldId id="898" r:id="rId60"/>
    <p:sldId id="1056" r:id="rId61"/>
    <p:sldId id="1051" r:id="rId62"/>
    <p:sldId id="1054" r:id="rId63"/>
  </p:sldIdLst>
  <p:sldSz cx="9144000" cy="6858000" type="screen4x3"/>
  <p:notesSz cx="7010400" cy="9296400"/>
  <p:custDataLst>
    <p:tags r:id="rId64"/>
  </p:custDataLst>
  <p:defaultTextStyle>
    <a:defPPr>
      <a:defRPr lang="en-US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Tahoma" pitchFamily="34" charset="0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Tahoma" pitchFamily="34" charset="0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Tahoma" pitchFamily="34" charset="0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Tahoma" pitchFamily="34" charset="0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2400" b="0" i="0" u="none" baseline="0">
        <a:solidFill>
          <a:schemeClr val="tx1"/>
        </a:solidFill>
        <a:effectLst/>
        <a:latin typeface="Tahoma" pitchFamily="34" charset="0"/>
      </a:defRPr>
    </a:lvl5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9253" autoAdjust="0"/>
    <p:restoredTop sz="90753" autoAdjust="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 varScale="1">
        <p:scale>
          <a:sx n="38" d="100"/>
          <a:sy n="38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handoutMaster" Target="handoutMasters/handout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slide" Target="slides/slide43.xml" /><Relationship Id="rId47" Type="http://schemas.openxmlformats.org/officeDocument/2006/relationships/slide" Target="slides/slide44.xml" /><Relationship Id="rId48" Type="http://schemas.openxmlformats.org/officeDocument/2006/relationships/slide" Target="slides/slide45.xml" /><Relationship Id="rId49" Type="http://schemas.openxmlformats.org/officeDocument/2006/relationships/slide" Target="slides/slide46.xml" /><Relationship Id="rId5" Type="http://schemas.openxmlformats.org/officeDocument/2006/relationships/slide" Target="slides/slide2.xml" /><Relationship Id="rId50" Type="http://schemas.openxmlformats.org/officeDocument/2006/relationships/slide" Target="slides/slide47.xml" /><Relationship Id="rId51" Type="http://schemas.openxmlformats.org/officeDocument/2006/relationships/slide" Target="slides/slide48.xml" /><Relationship Id="rId52" Type="http://schemas.openxmlformats.org/officeDocument/2006/relationships/slide" Target="slides/slide49.xml" /><Relationship Id="rId53" Type="http://schemas.openxmlformats.org/officeDocument/2006/relationships/slide" Target="slides/slide50.xml" /><Relationship Id="rId54" Type="http://schemas.openxmlformats.org/officeDocument/2006/relationships/slide" Target="slides/slide51.xml" /><Relationship Id="rId55" Type="http://schemas.openxmlformats.org/officeDocument/2006/relationships/slide" Target="slides/slide52.xml" /><Relationship Id="rId56" Type="http://schemas.openxmlformats.org/officeDocument/2006/relationships/slide" Target="slides/slide53.xml" /><Relationship Id="rId57" Type="http://schemas.openxmlformats.org/officeDocument/2006/relationships/slide" Target="slides/slide54.xml" /><Relationship Id="rId58" Type="http://schemas.openxmlformats.org/officeDocument/2006/relationships/slide" Target="slides/slide55.xml" /><Relationship Id="rId59" Type="http://schemas.openxmlformats.org/officeDocument/2006/relationships/slide" Target="slides/slide56.xml" /><Relationship Id="rId6" Type="http://schemas.openxmlformats.org/officeDocument/2006/relationships/slide" Target="slides/slide3.xml" /><Relationship Id="rId60" Type="http://schemas.openxmlformats.org/officeDocument/2006/relationships/slide" Target="slides/slide57.xml" /><Relationship Id="rId61" Type="http://schemas.openxmlformats.org/officeDocument/2006/relationships/slide" Target="slides/slide58.xml" /><Relationship Id="rId62" Type="http://schemas.openxmlformats.org/officeDocument/2006/relationships/slide" Target="slides/slide59.xml" /><Relationship Id="rId63" Type="http://schemas.openxmlformats.org/officeDocument/2006/relationships/slide" Target="slides/slide60.xml" /><Relationship Id="rId64" Type="http://schemas.openxmlformats.org/officeDocument/2006/relationships/tags" Target="tags/tag1.xml" /><Relationship Id="rId65" Type="http://schemas.openxmlformats.org/officeDocument/2006/relationships/presProps" Target="presProps.xml" /><Relationship Id="rId66" Type="http://schemas.openxmlformats.org/officeDocument/2006/relationships/viewProps" Target="viewProps.xml" /><Relationship Id="rId67" Type="http://schemas.openxmlformats.org/officeDocument/2006/relationships/theme" Target="theme/theme1.xml" /><Relationship Id="rId68" Type="http://schemas.openxmlformats.org/officeDocument/2006/relationships/tableStyles" Target="tableStyles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wmf" /></Relationships>
</file>

<file path=ppt/drawings/_rels/vmlDrawing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wmf" /></Relationships>
</file>

<file path=ppt/drawings/_rels/vmlDrawing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emf" /><Relationship Id="rId2" Type="http://schemas.openxmlformats.org/officeDocument/2006/relationships/image" Target="../media/image9.emf" /><Relationship Id="rId3" Type="http://schemas.openxmlformats.org/officeDocument/2006/relationships/image" Target="../media/image10.emf" /></Relationships>
</file>

<file path=ppt/drawings/_rels/vmlDrawing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2.wmf" /><Relationship Id="rId2" Type="http://schemas.openxmlformats.org/officeDocument/2006/relationships/image" Target="../media/image13.wmf" /><Relationship Id="rId3" Type="http://schemas.openxmlformats.org/officeDocument/2006/relationships/image" Target="../media/image14.wmf" /></Relationships>
</file>

<file path=ppt/drawings/_rels/vmlDrawing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wmf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 marL="0" marR="0" lvl="0" indent="0" algn="l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 marL="0" marR="0" lvl="0" indent="0" algn="l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3170" tIns="46586" rIns="93170" bIns="46586"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31863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014FFA8C-E2D3-45FC-8869-58523E1AE50A}" type="slidenum">
              <a:rPr sz="1200">
                <a:latin typeface="Times New Roman" pitchFamily="18" charset="0"/>
              </a:rPr>
              <a:t>‹#›</a:t>
            </a:fld>
            <a:endParaRPr sz="12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 marL="0" marR="0" lvl="0" indent="0" algn="l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516" name="Rectangle 4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prstClr val="black"/>
            </a:solidFill>
            <a:miter lim="800000"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 marL="0" marR="0" lvl="0" indent="0" algn="l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3170" tIns="46586" rIns="93170" bIns="46586"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31863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7535130D-F484-469C-9AD8-C570D2D63E44}" type="slidenum">
              <a:rPr sz="1200">
                <a:latin typeface="Times New Roman" pitchFamily="18" charset="0"/>
              </a:rPr>
              <a:t>‹#›</a:t>
            </a:fld>
            <a:endParaRPr sz="12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5.xml" /><Relationship Id="rId2" Type="http://schemas.openxmlformats.org/officeDocument/2006/relationships/notesMaster" Target="../notesMasters/notesMaster1.xml" /></Relationships>
</file>

<file path=ppt/notesSlides/_rels/notesSlide4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6.xml" /><Relationship Id="rId2" Type="http://schemas.openxmlformats.org/officeDocument/2006/relationships/notesMaster" Target="../notesMasters/notesMaster1.xml" /></Relationships>
</file>

<file path=ppt/notesSlides/_rels/notesSlide4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7.xml" /><Relationship Id="rId2" Type="http://schemas.openxmlformats.org/officeDocument/2006/relationships/notesMaster" Target="../notesMasters/notesMaster1.xml" /></Relationships>
</file>

<file path=ppt/notesSlides/_rels/notesSlide4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8.xml" /><Relationship Id="rId2" Type="http://schemas.openxmlformats.org/officeDocument/2006/relationships/notesMaster" Target="../notesMasters/notesMaster1.xml" /></Relationships>
</file>

<file path=ppt/notesSlides/_rels/notesSlide4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9.xml" /><Relationship Id="rId2" Type="http://schemas.openxmlformats.org/officeDocument/2006/relationships/notesMaster" Target="../notesMasters/notesMaster1.xml" /></Relationships>
</file>

<file path=ppt/notesSlides/_rels/notesSlide4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0.xml" /><Relationship Id="rId2" Type="http://schemas.openxmlformats.org/officeDocument/2006/relationships/notesMaster" Target="../notesMasters/notesMaster1.xml" /></Relationships>
</file>

<file path=ppt/notesSlides/_rels/notesSlide5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1.xml" /><Relationship Id="rId2" Type="http://schemas.openxmlformats.org/officeDocument/2006/relationships/notesMaster" Target="../notesMasters/notesMaster1.xml" /></Relationships>
</file>

<file path=ppt/notesSlides/_rels/notesSlide5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2.xml" /><Relationship Id="rId2" Type="http://schemas.openxmlformats.org/officeDocument/2006/relationships/notesMaster" Target="../notesMasters/notesMaster1.xml" /></Relationships>
</file>

<file path=ppt/notesSlides/_rels/notesSlide5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3.xml" /><Relationship Id="rId2" Type="http://schemas.openxmlformats.org/officeDocument/2006/relationships/notesMaster" Target="../notesMasters/notesMaster1.xml" /></Relationships>
</file>

<file path=ppt/notesSlides/_rels/notesSlide5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4.xml" /><Relationship Id="rId2" Type="http://schemas.openxmlformats.org/officeDocument/2006/relationships/notesMaster" Target="../notesMasters/notesMaster1.xml" /></Relationships>
</file>

<file path=ppt/notesSlides/_rels/notesSlide5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5.xml" /><Relationship Id="rId2" Type="http://schemas.openxmlformats.org/officeDocument/2006/relationships/notesMaster" Target="../notesMasters/notesMaster1.xml" /></Relationships>
</file>

<file path=ppt/notesSlides/_rels/notesSlide5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6.xml" /><Relationship Id="rId2" Type="http://schemas.openxmlformats.org/officeDocument/2006/relationships/notesMaster" Target="../notesMasters/notesMaster1.xml" /></Relationships>
</file>

<file path=ppt/notesSlides/_rels/notesSlide5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7.xml" /><Relationship Id="rId2" Type="http://schemas.openxmlformats.org/officeDocument/2006/relationships/notesMaster" Target="../notesMasters/notesMaster1.xml" /></Relationships>
</file>

<file path=ppt/notesSlides/_rels/notesSlide5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8.xml" /><Relationship Id="rId2" Type="http://schemas.openxmlformats.org/officeDocument/2006/relationships/notesMaster" Target="../notesMasters/notesMaster1.xml" /></Relationships>
</file>

<file path=ppt/notesSlides/_rels/notesSlide5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9.xml" /><Relationship Id="rId2" Type="http://schemas.openxmlformats.org/officeDocument/2006/relationships/notesMaster" Target="../notesMasters/notesMaster1.xml" /></Relationships>
</file>

<file path=ppt/notesSlides/_rels/notesSlide5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553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E538D87F-94F8-4CC9-8DEB-A69CDE7C894E}" type="slidenum">
              <a:rPr sz="1200">
                <a:latin typeface="Times New Roman" pitchFamily="18" charset="0"/>
              </a:rPr>
              <a:t>1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65539" name="Rectangle 7" title=""/>
          <p:cNvSpPr txBox="1">
            <a:spLocks noGrp="1"/>
          </p:cNvSpPr>
          <p:nvPr/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159513AA-474B-486F-B2A2-AF955789B81E}" type="slidenum">
              <a:rPr lang="zh-CN" altLang="en-US" sz="1200">
                <a:latin typeface="Times New Roman" pitchFamily="18" charset="0"/>
                <a:ea typeface="SimSun" pitchFamily="2" charset="-122"/>
              </a:rPr>
              <a:t>1</a:t>
            </a:fld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5540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65541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656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2B19349C-767F-46B7-ADB5-7E7F4FA1890D}" type="slidenum">
              <a:rPr sz="1200">
                <a:latin typeface="Times New Roman" pitchFamily="18" charset="0"/>
              </a:rPr>
              <a:t>3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6656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6656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758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A91B8ED2-68AC-405D-AD5B-417845852079}" type="slidenum">
              <a:rPr sz="1200">
                <a:latin typeface="Times New Roman" pitchFamily="18" charset="0"/>
              </a:rPr>
              <a:t>4</a:t>
            </a:fld>
            <a:endParaRPr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861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62AF67CA-74D2-40B6-8EFF-6B8966239BF9}" type="slidenum">
              <a:rPr sz="1200">
                <a:latin typeface="Times New Roman" pitchFamily="18" charset="0"/>
              </a:rPr>
              <a:t>5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6861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6861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963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D6BE1D2D-F6E3-4107-AC06-C9006AEFB9C2}" type="slidenum">
              <a:rPr sz="1200">
                <a:latin typeface="Times New Roman" pitchFamily="18" charset="0"/>
              </a:rPr>
              <a:t>6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6963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6963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065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1C3E9EC1-484D-4C17-A67F-3417E092D85E}" type="slidenum">
              <a:rPr sz="1200">
                <a:latin typeface="Times New Roman" pitchFamily="18" charset="0"/>
              </a:rPr>
              <a:t>7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065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066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168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2A6DBED2-A0CE-4B42-BA9D-39477FD11718}" type="slidenum">
              <a:rPr sz="1200">
                <a:latin typeface="Times New Roman" pitchFamily="18" charset="0"/>
              </a:rPr>
              <a:t>8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168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168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270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C76DA5D8-FF79-4B5D-8B50-8747E4CCE62D}" type="slidenum">
              <a:rPr sz="1200">
                <a:latin typeface="Times New Roman" pitchFamily="18" charset="0"/>
              </a:rPr>
              <a:t>9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270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270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373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EA561173-F0FD-4666-BD53-8E31AB2961EA}" type="slidenum">
              <a:rPr sz="1200">
                <a:latin typeface="Times New Roman" pitchFamily="18" charset="0"/>
              </a:rPr>
              <a:t>10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373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373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475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B50ECC43-2366-403A-9195-31CC7E9AE3F0}" type="slidenum">
              <a:rPr sz="1200">
                <a:latin typeface="Times New Roman" pitchFamily="18" charset="0"/>
              </a:rPr>
              <a:t>11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475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475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577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A342BEE3-D195-489C-BBB1-469F0E9E0890}" type="slidenum">
              <a:rPr sz="1200">
                <a:latin typeface="Times New Roman" pitchFamily="18" charset="0"/>
              </a:rPr>
              <a:t>12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577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578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680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46216126-B22B-4685-9D4C-18316B5D891A}" type="slidenum">
              <a:rPr sz="1200">
                <a:latin typeface="Times New Roman" pitchFamily="18" charset="0"/>
              </a:rPr>
              <a:t>13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680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680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r>
              <a:t>MK 08.11.09 Former title: Data Warehouse Back-End Tools and Utilities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782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1659C4AF-E9D6-4124-9AE5-784BB038BE99}" type="slidenum">
              <a:rPr sz="1200">
                <a:latin typeface="Times New Roman" pitchFamily="18" charset="0"/>
              </a:rPr>
              <a:t>14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782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782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885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581EE152-A4C8-4B9F-8C50-3257E0E5DB99}" type="slidenum">
              <a:rPr sz="1200">
                <a:latin typeface="Times New Roman" pitchFamily="18" charset="0"/>
              </a:rPr>
              <a:t>15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7885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7885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987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5F936040-E3CB-4884-8948-D7093808D74D}" type="slidenum">
              <a:rPr sz="1200">
                <a:latin typeface="Times New Roman" pitchFamily="18" charset="0"/>
              </a:rPr>
              <a:t>16</a:t>
            </a:fld>
            <a:endParaRPr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089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9BA7940B-BA32-4D04-8A84-F5FEFBF34874}" type="slidenum">
              <a:rPr sz="1200">
                <a:latin typeface="Times New Roman" pitchFamily="18" charset="0"/>
              </a:rPr>
              <a:t>17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089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090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192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9879C276-12B6-446A-856C-E08487496D06}" type="slidenum">
              <a:rPr sz="1200">
                <a:latin typeface="Times New Roman" pitchFamily="18" charset="0"/>
              </a:rPr>
              <a:t>18</a:t>
            </a:fld>
            <a:endParaRPr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294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4DCB3414-EE45-4E16-89FB-74F20EF21E0B}" type="slidenum">
              <a:rPr sz="1200">
                <a:latin typeface="Times New Roman" pitchFamily="18" charset="0"/>
              </a:rPr>
              <a:t>19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294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294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397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A37C7C51-39FE-4EC7-B509-4371A75C58BE}" type="slidenum">
              <a:rPr sz="1200">
                <a:latin typeface="Times New Roman" pitchFamily="18" charset="0"/>
              </a:rPr>
              <a:t>20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397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397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499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18AC256B-D3C3-416D-AF8C-CFE3FBFA7EBE}" type="slidenum">
              <a:rPr sz="1200">
                <a:latin typeface="Times New Roman" pitchFamily="18" charset="0"/>
              </a:rPr>
              <a:t>21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499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499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601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677B32DF-C46B-4F74-BD4C-DD11AB5EE23D}" type="slidenum">
              <a:rPr sz="1200">
                <a:latin typeface="Times New Roman" pitchFamily="18" charset="0"/>
              </a:rPr>
              <a:t>22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601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602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704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C878009F-48B9-4222-8439-8CFDE8F544CE}" type="slidenum">
              <a:rPr sz="1200">
                <a:latin typeface="Times New Roman" pitchFamily="18" charset="0"/>
              </a:rPr>
              <a:t>23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704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704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806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CD5C1908-854A-4586-87A3-33A0819FD298}" type="slidenum">
              <a:rPr sz="1200">
                <a:latin typeface="Times New Roman" pitchFamily="18" charset="0"/>
              </a:rPr>
              <a:t>24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806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806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909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EF535D10-D520-4B01-93C4-E1353160DE50}" type="slidenum">
              <a:rPr sz="1200">
                <a:latin typeface="Times New Roman" pitchFamily="18" charset="0"/>
              </a:rPr>
              <a:t>25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8909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8909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011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74F7DF06-85AC-47CA-A5EA-289510869FAE}" type="slidenum">
              <a:rPr sz="1200">
                <a:latin typeface="Times New Roman" pitchFamily="18" charset="0"/>
              </a:rPr>
              <a:t>26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011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011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113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5E21E7C3-697D-42E2-98F6-5CAAA948BD52}" type="slidenum">
              <a:rPr sz="1200">
                <a:latin typeface="Times New Roman" pitchFamily="18" charset="0"/>
              </a:rPr>
              <a:t>27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113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114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216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9D08ED40-7B1D-4D2A-8743-DA0CF083850F}" type="slidenum">
              <a:rPr sz="1200">
                <a:latin typeface="Times New Roman" pitchFamily="18" charset="0"/>
              </a:rPr>
              <a:t>28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216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216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318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D35F21ED-D881-4EE9-8772-E0E3FED1755A}" type="slidenum">
              <a:rPr sz="1200">
                <a:latin typeface="Times New Roman" pitchFamily="18" charset="0"/>
              </a:rPr>
              <a:t>29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318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318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421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A5854D99-6D7A-48E4-BAFF-2C88505164AE}" type="slidenum">
              <a:rPr sz="1200">
                <a:latin typeface="Times New Roman" pitchFamily="18" charset="0"/>
              </a:rPr>
              <a:t>30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421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421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523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43E5ACEF-09DE-404F-A53E-E192A0E2A3D1}" type="slidenum">
              <a:rPr sz="1200">
                <a:latin typeface="Times New Roman" pitchFamily="18" charset="0"/>
              </a:rPr>
              <a:t>31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523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523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625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71541D0D-B8ED-414A-AAE5-C81CC6FC4264}" type="slidenum">
              <a:rPr sz="1200">
                <a:latin typeface="Times New Roman" pitchFamily="18" charset="0"/>
              </a:rPr>
              <a:t>32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625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626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728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2AC14E2C-1729-47AE-8E00-4D30322BD99D}" type="slidenum">
              <a:rPr sz="1200">
                <a:latin typeface="Times New Roman" pitchFamily="18" charset="0"/>
              </a:rPr>
              <a:t>33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728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728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830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83436CA1-C270-4033-9AE8-E9B71FF0AAD0}" type="slidenum">
              <a:rPr sz="1200">
                <a:latin typeface="Times New Roman" pitchFamily="18" charset="0"/>
              </a:rPr>
              <a:t>34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830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830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933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0C005FB1-4390-460D-9CB8-1B10F6F566F8}" type="slidenum">
              <a:rPr sz="1200">
                <a:latin typeface="Times New Roman" pitchFamily="18" charset="0"/>
              </a:rPr>
              <a:t>35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9933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9933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035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1E98E211-F1B2-4066-B58E-7439376E4D82}" type="slidenum">
              <a:rPr sz="1200">
                <a:latin typeface="Times New Roman" pitchFamily="18" charset="0"/>
              </a:rPr>
              <a:t>36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035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035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137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A9E0C9AD-088E-4946-AD8D-D4F2BF549C3D}" type="slidenum">
              <a:rPr sz="1200">
                <a:latin typeface="Times New Roman" pitchFamily="18" charset="0"/>
              </a:rPr>
              <a:t>37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137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138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240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3FB89178-B1E0-4591-B313-0A5E5961A91E}" type="slidenum">
              <a:rPr sz="1200">
                <a:latin typeface="Times New Roman" pitchFamily="18" charset="0"/>
              </a:rPr>
              <a:t>38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240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240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342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D2CD9A12-C2A0-4350-A171-4010D78D2076}" type="slidenum">
              <a:rPr sz="1200">
                <a:latin typeface="Times New Roman" pitchFamily="18" charset="0"/>
              </a:rPr>
              <a:t>39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342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342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445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7D91FF1B-B02E-4F11-AA96-D7A8D354FCB2}" type="slidenum">
              <a:rPr sz="1200">
                <a:latin typeface="Times New Roman" pitchFamily="18" charset="0"/>
              </a:rPr>
              <a:t>40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445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445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547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6CDFB09A-1191-498A-BAF7-519FFBECADC7}" type="slidenum">
              <a:rPr sz="1200">
                <a:latin typeface="Times New Roman" pitchFamily="18" charset="0"/>
              </a:rPr>
              <a:t>41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547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547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r>
              <a:t>Bit-map index compression methods should be introduced -JH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649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30EB7957-09A4-411F-A940-73A7CC72E651}" type="slidenum">
              <a:rPr sz="1200">
                <a:latin typeface="Times New Roman" pitchFamily="18" charset="0"/>
              </a:rPr>
              <a:t>42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649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650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752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8C26D77A-FE8D-445E-A7F4-42C14785E193}" type="slidenum">
              <a:rPr sz="1200">
                <a:latin typeface="Times New Roman" pitchFamily="18" charset="0"/>
              </a:rPr>
              <a:t>43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752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752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854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41D969F1-27F7-4D70-8E5E-5FE1CB8CCEF6}" type="slidenum">
              <a:rPr sz="1200">
                <a:latin typeface="Times New Roman" pitchFamily="18" charset="0"/>
              </a:rPr>
              <a:t>44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854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854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957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DEAE464F-2B82-48ED-9A70-DE1E841BA08B}" type="slidenum">
              <a:rPr sz="1200">
                <a:latin typeface="Times New Roman" pitchFamily="18" charset="0"/>
              </a:rPr>
              <a:t>45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0957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0957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059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F6F02E57-CE74-417D-9B2D-3F567234C3CE}" type="slidenum">
              <a:rPr sz="1200">
                <a:latin typeface="Times New Roman" pitchFamily="18" charset="0"/>
              </a:rPr>
              <a:t>46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059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059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161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FEBD46DB-D5E8-4B24-9CD3-79D1AB18D3EF}" type="slidenum">
              <a:rPr sz="1200">
                <a:latin typeface="Times New Roman" pitchFamily="18" charset="0"/>
              </a:rPr>
              <a:t>47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161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162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264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DA8E4E2D-4836-4643-8054-5C4741794EDF}" type="slidenum">
              <a:rPr sz="1200">
                <a:latin typeface="Times New Roman" pitchFamily="18" charset="0"/>
              </a:rPr>
              <a:t>48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2643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2644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1437" tIns="45719" rIns="91437" bIns="45719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366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062E0D79-48D7-4A40-B053-8E4F9F3D5F25}" type="slidenum">
              <a:rPr sz="1200">
                <a:latin typeface="Times New Roman" pitchFamily="18" charset="0"/>
              </a:rPr>
              <a:t>49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366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366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1437" tIns="45719" rIns="91437" bIns="45719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469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F06B3043-2B66-4D14-9013-2C0BB761F644}" type="slidenum">
              <a:rPr sz="1200">
                <a:latin typeface="Times New Roman" pitchFamily="18" charset="0"/>
              </a:rPr>
              <a:t>50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469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469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571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B5AFF280-37CA-4FFE-810B-36F623B57413}" type="slidenum">
              <a:rPr sz="1200">
                <a:latin typeface="Times New Roman" pitchFamily="18" charset="0"/>
              </a:rPr>
              <a:t>51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571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571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673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12BD5D33-1C4D-49F6-90AE-A0B52ED81099}" type="slidenum">
              <a:rPr sz="1200">
                <a:latin typeface="Times New Roman" pitchFamily="18" charset="0"/>
              </a:rPr>
              <a:t>52</a:t>
            </a:fld>
            <a:endParaRPr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7762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35A1B3FE-DD66-4399-9715-8587CB4D3C74}" type="slidenum">
              <a:rPr sz="1200">
                <a:latin typeface="Times New Roman" pitchFamily="18" charset="0"/>
              </a:rPr>
              <a:t>53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7763" name="Rectangle 2" title=""/>
          <p:cNvSpPr>
            <a:spLocks noTextEdit="1"/>
          </p:cNvSpPr>
          <p:nvPr>
            <p:ph type="sldImg" idx="2"/>
          </p:nvPr>
        </p:nvSpPr>
        <p:spPr>
          <a:xfrm>
            <a:off x="1146175" y="677863"/>
            <a:ext cx="4719638" cy="3541712"/>
          </a:xfrm>
          <a:noFill/>
          <a:ln>
            <a:miter lim="800000"/>
          </a:ln>
        </p:spPr>
      </p:sp>
      <p:sp>
        <p:nvSpPr>
          <p:cNvPr id="117764" name="Rectangle 3" title=""/>
          <p:cNvSpPr>
            <a:spLocks noGrp="1"/>
          </p:cNvSpPr>
          <p:nvPr>
            <p:ph type="body" idx="3"/>
          </p:nvPr>
        </p:nvSpPr>
        <p:spPr>
          <a:xfrm>
            <a:off x="925513" y="4446588"/>
            <a:ext cx="5159375" cy="4144962"/>
          </a:xfrm>
          <a:noFill/>
          <a:ln w="9525">
            <a:noFill/>
            <a:miter lim="800000"/>
          </a:ln>
        </p:spPr>
        <p:txBody>
          <a:bodyPr wrap="square" lIns="91262" tIns="45631" rIns="91262" bIns="45631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878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6752852F-3A2B-4001-98FA-EAB24E069B8A}" type="slidenum">
              <a:rPr sz="1200">
                <a:latin typeface="Times New Roman" pitchFamily="18" charset="0"/>
              </a:rPr>
              <a:t>54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878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878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981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AB9CDF89-8B98-4719-BC78-1BB8AA39FB26}" type="slidenum">
              <a:rPr sz="1200">
                <a:latin typeface="Times New Roman" pitchFamily="18" charset="0"/>
              </a:rPr>
              <a:t>55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1981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1981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20834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FFAD9F20-3FD3-4B30-B80C-B1ABA57C71BF}" type="slidenum">
              <a:rPr sz="1200">
                <a:latin typeface="Times New Roman" pitchFamily="18" charset="0"/>
              </a:rPr>
              <a:t>56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20835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20836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21858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2D4D0EFD-5B10-4760-B723-76B412D684EC}" type="slidenum">
              <a:rPr sz="1200">
                <a:latin typeface="Times New Roman" pitchFamily="18" charset="0"/>
              </a:rPr>
              <a:t>57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21859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21860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22882" name="Slide Image Placeholder 1" title="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22883" name="Notes Placeholder 2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r>
              <a:t>ALMA MATER: To thy happy children of the future</a:t>
            </a:r>
            <a:r>
              <a:rPr>
                <a:ea typeface="Times New Roman" pitchFamily="18" charset="0"/>
              </a:rPr>
              <a:t>—</a:t>
            </a:r>
            <a:r>
              <a:t>Those of the past send greetings</a:t>
            </a:r>
          </a:p>
        </p:txBody>
      </p:sp>
      <p:sp>
        <p:nvSpPr>
          <p:cNvPr id="122884" name="Slide Number Placeholder 3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79CC316F-419B-4D6A-8CE6-5EE1FD792ECA}" type="slidenum">
              <a:rPr sz="1200">
                <a:latin typeface="Times New Roman" pitchFamily="18" charset="0"/>
              </a:rPr>
              <a:t>58</a:t>
            </a:fld>
            <a:endParaRPr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23906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43E001D6-BBC3-48A9-B198-B55976F21138}" type="slidenum">
              <a:rPr sz="1200">
                <a:latin typeface="Times New Roman" pitchFamily="18" charset="0"/>
              </a:rPr>
              <a:t>59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23907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23908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indent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24930" name="Rectangle 7" title=""/>
          <p:cNvSpPr txBox="1">
            <a:spLocks noGrp="1"/>
          </p:cNvSpPr>
          <p:nvPr>
            <p:ph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3170" tIns="46586" rIns="93170" bIns="46586"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defTabSz="931862"/>
            <a:fld id="{6218D989-891D-4DE8-8BCC-DE1F0D34A4E9}" type="slidenum">
              <a:rPr sz="1200">
                <a:latin typeface="Times New Roman" pitchFamily="18" charset="0"/>
              </a:rPr>
              <a:t>60</a:t>
            </a:fld>
            <a:endParaRPr sz="1200">
              <a:latin typeface="Times New Roman" pitchFamily="18" charset="0"/>
            </a:endParaRPr>
          </a:p>
        </p:txBody>
      </p:sp>
      <p:sp>
        <p:nvSpPr>
          <p:cNvPr id="124931" name="Rectangle 2" title=""/>
          <p:cNvSpPr>
            <a:spLocks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noFill/>
          <a:ln>
            <a:miter lim="800000"/>
          </a:ln>
        </p:spPr>
      </p:sp>
      <p:sp>
        <p:nvSpPr>
          <p:cNvPr id="124932" name="Rectangle 3" title=""/>
          <p:cNvSpPr>
            <a:spLocks noGrp="1"/>
          </p:cNvSpPr>
          <p:nvPr>
            <p:ph type="body" idx="3"/>
          </p:nvPr>
        </p:nvSpPr>
        <p:spPr>
          <a:xfrm>
            <a:off x="935038" y="4416425"/>
            <a:ext cx="5140325" cy="4183063"/>
          </a:xfrm>
          <a:noFill/>
          <a:ln w="9525">
            <a:noFill/>
            <a:miter lim="800000"/>
          </a:ln>
        </p:spPr>
        <p:txBody>
          <a:bodyPr wrap="square" lIns="93170" tIns="46586" rIns="93170" bIns="46586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imes New Roman" pitchFamily="18" charset="0"/>
              </a:defRPr>
            </a:lvl5pPr>
          </a:lstStyle>
          <a:p>
            <a:pPr marL="0" lvl="0" indent="0"/>
            <a:r>
              <a:t>K. Wu, E. Otoo, and A. Shoshani, Bitmap Index Compression Optimality, VLDB’04</a:t>
            </a:r>
          </a:p>
          <a:p>
            <a:pPr marL="0" lvl="0" indent="0"/>
            <a:r>
              <a:t>Need to digest and rewrite it using an example!  See full abstract on slide towards end of file.</a:t>
            </a:r>
          </a:p>
          <a:p>
            <a:pPr marL="0" indent="0"/>
          </a:p>
          <a:p>
            <a:pPr marL="0" indent="0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>
  <p:cSld name="Title Slide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grpSp>
        <p:nvGrpSpPr>
          <p:cNvPr id="2050" name="Group 2" title="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6" name="Group 3" title="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63" name="Rectangle 4" title="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064" name="Rectangle 5" title="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</p:grpSp>
        <p:grpSp>
          <p:nvGrpSpPr>
            <p:cNvPr id="2057" name="Group 6" title="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61" name="Rectangle 7" title="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062" name="Rectangle 8" title="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</p:grpSp>
        <p:sp>
          <p:nvSpPr>
            <p:cNvPr id="2058" name="Rectangle 9" title="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059" name="Rectangle 10" title="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060" name="Rectangle 11" title="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53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E907A2-4AD1-498F-8E08-2FF00561180F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590800" y="6248400"/>
            <a:ext cx="3733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2055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400" b="0" i="0" u="none" baseline="0">
                <a:solidFill>
                  <a:schemeClr val="bg2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B7B6643A-F36A-42EC-81F0-09476E16E9C0}" type="slidenum">
              <a:rPr sz="1400">
                <a:solidFill>
                  <a:schemeClr val="bg2"/>
                </a:solidFill>
              </a:rPr>
              <a:t>‹#›</a:t>
            </a:fld>
            <a:endParaRPr sz="140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955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341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382000" cy="50292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Ovr>
    <a:masterClrMapping/>
  </p:clrMapOvr>
  <p:transition>
    <p:zoom/>
  </p:transition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1026" name="Rectangle 2056" title=""/>
          <p:cNvSpPr/>
          <p:nvPr/>
        </p:nvSpPr>
        <p:spPr bwMode="gray">
          <a:xfrm>
            <a:off x="381000" y="1143000"/>
            <a:ext cx="8410575" cy="46038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 eaLnBrk="1" hangingPunct="1"/>
            <a:endParaRPr kumimoji="1"/>
          </a:p>
        </p:txBody>
      </p:sp>
      <p:sp>
        <p:nvSpPr>
          <p:cNvPr id="1027" name="Rectangle 2057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/>
            <a:r>
              <a:t>Click to edit Master title style</a:t>
            </a:r>
          </a:p>
        </p:txBody>
      </p:sp>
      <p:sp>
        <p:nvSpPr>
          <p:cNvPr id="1028" name="Rectangle 2058" title=""/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9" name="Rectangle 205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0A088-9D95-4906-BB95-413F882892F3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03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Data Mining: Concepts and Techniques</a:t>
            </a:r>
          </a:p>
        </p:txBody>
      </p:sp>
      <p:sp>
        <p:nvSpPr>
          <p:cNvPr id="103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CE83159-47B9-423D-B942-987F89ABD7E1}" type="slidenum">
              <a:rPr sz="1200"/>
              <a:t>‹#›</a:t>
            </a:fld>
            <a:endParaRPr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</p:sldLayoutIdLst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  <p:txStyles>
    <p:titleStyle>
      <a:lvl1pPr marL="0" indent="0" algn="ctr" defTabSz="914400" rtl="0" eaLnBrk="0" fontAlgn="base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600" b="0" i="0" u="none" baseline="0">
          <a:solidFill>
            <a:schemeClr val="tx2"/>
          </a:solidFill>
          <a:effectLst/>
          <a:latin typeface="Berlin Sans FB Demi" pitchFamily="34" charset="0"/>
          <a:ea typeface="+mj-ea"/>
          <a:cs typeface="+mj-cs"/>
        </a:defRPr>
      </a:lvl1pPr>
    </p:titleStyle>
    <p:bodyStyle>
      <a:lvl1pPr marL="342900" indent="-3429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0" sz="2800" b="0" i="0" u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0" sz="2800" b="0" i="0" u="none" baseline="0">
          <a:solidFill>
            <a:schemeClr val="tx1"/>
          </a:solidFill>
          <a:effectLst/>
          <a:latin typeface="+mn-lt"/>
        </a:defRPr>
      </a:lvl2pPr>
      <a:lvl3pPr marL="11430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0" sz="2400" b="0" i="0" u="none" baseline="0">
          <a:solidFill>
            <a:schemeClr val="tx1"/>
          </a:solidFill>
          <a:effectLst/>
          <a:latin typeface="+mn-lt"/>
        </a:defRPr>
      </a:lvl3pPr>
      <a:lvl4pPr marL="16002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0" sz="2000" b="0" i="0" u="none" baseline="0">
          <a:solidFill>
            <a:schemeClr val="tx1"/>
          </a:solidFill>
          <a:effectLst/>
          <a:latin typeface="+mn-lt"/>
        </a:defRPr>
      </a:lvl4pPr>
      <a:lvl5pPr marL="20574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0" sz="2000" b="0" i="0" u="none" baseline="0">
          <a:solidFill>
            <a:schemeClr val="tx1"/>
          </a:solidFill>
          <a:effectLst/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8.xml" /><Relationship Id="rId3" Type="http://schemas.openxmlformats.org/officeDocument/2006/relationships/oleObject" Target="../embeddings/oleObject1.doc" TargetMode="Internal" /><Relationship Id="rId4" Type="http://schemas.openxmlformats.org/officeDocument/2006/relationships/image" Target="../media/image2.wmf" /><Relationship Id="rId5" Type="http://schemas.openxmlformats.org/officeDocument/2006/relationships/vmlDrawing" Target="../drawings/vmlDrawing1.v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21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3.png" /><Relationship Id="rId4" Type="http://schemas.openxmlformats.org/officeDocument/2006/relationships/image" Target="../media/image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25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.wmf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Relationship Id="rId3" Type="http://schemas.openxmlformats.org/officeDocument/2006/relationships/oleObject" Target="../embeddings/oleObject2.bin" TargetMode="Internal" /><Relationship Id="rId4" Type="http://schemas.openxmlformats.org/officeDocument/2006/relationships/image" Target="../media/image7.wmf" /><Relationship Id="rId5" Type="http://schemas.openxmlformats.org/officeDocument/2006/relationships/vmlDrawing" Target="../drawings/vmlDrawing2.v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Relationship Id="rId3" Type="http://schemas.openxmlformats.org/officeDocument/2006/relationships/oleObject" Target="../embeddings/oleObject3.xls" TargetMode="Internal" /><Relationship Id="rId4" Type="http://schemas.openxmlformats.org/officeDocument/2006/relationships/image" Target="../media/image8.emf" /><Relationship Id="rId5" Type="http://schemas.openxmlformats.org/officeDocument/2006/relationships/oleObject" Target="../embeddings/oleObject4.xls" TargetMode="Internal" /><Relationship Id="rId6" Type="http://schemas.openxmlformats.org/officeDocument/2006/relationships/image" Target="../media/image9.emf" /><Relationship Id="rId7" Type="http://schemas.openxmlformats.org/officeDocument/2006/relationships/oleObject" Target="../embeddings/oleObject5.xls" TargetMode="Internal" /><Relationship Id="rId8" Type="http://schemas.openxmlformats.org/officeDocument/2006/relationships/image" Target="../media/image10.emf" /><Relationship Id="rId9" Type="http://schemas.openxmlformats.org/officeDocument/2006/relationships/vmlDrawing" Target="../drawings/vmlDrawing3.v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11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Relationship Id="rId3" Type="http://schemas.openxmlformats.org/officeDocument/2006/relationships/oleObject" Target="../embeddings/oleObject6.doc" TargetMode="Internal" /><Relationship Id="rId4" Type="http://schemas.openxmlformats.org/officeDocument/2006/relationships/image" Target="../media/image12.wmf" /><Relationship Id="rId5" Type="http://schemas.openxmlformats.org/officeDocument/2006/relationships/oleObject" Target="../embeddings/oleObject7.doc" TargetMode="Internal" /><Relationship Id="rId6" Type="http://schemas.openxmlformats.org/officeDocument/2006/relationships/image" Target="../media/image13.wmf" /><Relationship Id="rId7" Type="http://schemas.openxmlformats.org/officeDocument/2006/relationships/oleObject" Target="../embeddings/oleObject8.doc" TargetMode="Internal" /><Relationship Id="rId8" Type="http://schemas.openxmlformats.org/officeDocument/2006/relationships/image" Target="../media/image14.wmf" /><Relationship Id="rId9" Type="http://schemas.openxmlformats.org/officeDocument/2006/relationships/vmlDrawing" Target="../drawings/vmlDrawing4.vml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Relationship Id="rId3" Type="http://schemas.openxmlformats.org/officeDocument/2006/relationships/oleObject" Target="../embeddings/oleObject9.bin" TargetMode="Internal" /><Relationship Id="rId4" Type="http://schemas.openxmlformats.org/officeDocument/2006/relationships/image" Target="../media/image15.wmf" /><Relationship Id="rId5" Type="http://schemas.openxmlformats.org/officeDocument/2006/relationships/vmlDrawing" Target="../drawings/vmlDrawing5.vml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Relationship Id="rId3" Type="http://schemas.openxmlformats.org/officeDocument/2006/relationships/image" Target="../media/image16.jpeg" /></Relationships>
</file>

<file path=ppt/slides/_rels/slide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074" name="Slide Number Placeholder 3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82D5E61E-DBD5-4613-8C42-CEEC5BA863F4}" type="slidenum">
              <a:rPr sz="1200"/>
              <a:t>1</a:t>
            </a:fld>
            <a:endParaRPr sz="1200"/>
          </a:p>
        </p:txBody>
      </p:sp>
      <p:sp>
        <p:nvSpPr>
          <p:cNvPr id="3075" name="Slide Number Placeholder 5" title="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517CA0FC-2219-4390-885E-70E5290F5E60}" type="slidenum">
              <a:rPr lang="zh-CN" altLang="en-US" sz="1200">
                <a:ea typeface="SimSun" pitchFamily="2" charset="-122"/>
              </a:rPr>
              <a:t>1</a:t>
            </a:fld>
            <a:endParaRPr lang="en-US" altLang="zh-CN" sz="1200">
              <a:ea typeface="SimSun" pitchFamily="2" charset="-122"/>
            </a:endParaRPr>
          </a:p>
        </p:txBody>
      </p:sp>
      <p:sp>
        <p:nvSpPr>
          <p:cNvPr id="3076" name="Rectangle 2" title="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7200" cy="38862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6000"/>
              <a:t>Data Mining: </a:t>
            </a:r>
            <a:br>
              <a:rPr sz="6000"/>
            </a:br>
            <a:r>
              <a:rPr sz="6000"/>
              <a:t> </a:t>
            </a:r>
            <a:r>
              <a:rPr sz="4800"/>
              <a:t>Concepts and Techniques</a:t>
            </a:r>
            <a:br>
              <a:rPr sz="4800"/>
            </a:br>
            <a:r>
              <a:rPr sz="4800"/>
              <a:t> </a:t>
            </a:r>
            <a:r>
              <a:rPr sz="2800"/>
              <a:t>(3</a:t>
            </a:r>
            <a:r>
              <a:rPr sz="2800" baseline="30000"/>
              <a:t>rd</a:t>
            </a:r>
            <a:r>
              <a:rPr sz="2800"/>
              <a:t> ed.)</a:t>
            </a:r>
            <a:br>
              <a:rPr sz="4800"/>
            </a:br>
            <a:br>
              <a:rPr sz="4800"/>
            </a:br>
            <a:r>
              <a:rPr sz="3200"/>
              <a:t>— Chapter 4</a:t>
            </a:r>
            <a:r>
              <a:rPr sz="2800"/>
              <a:t> —</a:t>
            </a:r>
            <a:endParaRPr sz="2800"/>
          </a:p>
        </p:txBody>
      </p:sp>
      <p:sp>
        <p:nvSpPr>
          <p:cNvPr id="3077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4419600"/>
            <a:ext cx="8610600" cy="19050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algn="ctr" eaLnBrk="1" hangingPunct="1">
              <a:lnSpc>
                <a:spcPct val="110000"/>
              </a:lnSpc>
              <a:buNone/>
            </a:pPr>
            <a:r>
              <a:rPr sz="2400"/>
              <a:t>Jiawei Han, Micheline Kamber, and Jian Pei</a:t>
            </a:r>
            <a:endParaRPr sz="2400"/>
          </a:p>
          <a:p>
            <a:pPr lvl="0" algn="ctr" eaLnBrk="1" hangingPunct="1">
              <a:lnSpc>
                <a:spcPct val="110000"/>
              </a:lnSpc>
              <a:buNone/>
            </a:pPr>
            <a:r>
              <a:rPr sz="2400"/>
              <a:t>University of Illinois at Urbana-Champaign &amp;</a:t>
            </a:r>
            <a:endParaRPr sz="2400"/>
          </a:p>
          <a:p>
            <a:pPr lvl="0" algn="ctr" eaLnBrk="1" hangingPunct="1">
              <a:lnSpc>
                <a:spcPct val="110000"/>
              </a:lnSpc>
              <a:buNone/>
            </a:pPr>
            <a:r>
              <a:rPr sz="2400"/>
              <a:t>Simon Fraser University</a:t>
            </a:r>
            <a:endParaRPr sz="2400"/>
          </a:p>
          <a:p>
            <a:pPr lvl="0" algn="ctr" eaLnBrk="1" hangingPunct="1">
              <a:lnSpc>
                <a:spcPct val="110000"/>
              </a:lnSpc>
              <a:buNone/>
            </a:pPr>
            <a:r>
              <a:rPr sz="2400"/>
              <a:t>©2011 Han, Kamber &amp; Pei.  All rights reserved.</a:t>
            </a:r>
            <a:endParaRPr sz="24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pic>
        <p:nvPicPr>
          <p:cNvPr id="4098" name="Picture 2" descr="C:\Users\Han\Pictures\2011\2011_09_Athens\2011_09_05\IMG_2555.JPG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8200" y="0"/>
            <a:ext cx="9982200" cy="7486650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12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63B42E4F-7E14-475C-940A-FEE5BDAA934B}" type="slidenum">
              <a:rPr sz="1200"/>
              <a:t>3</a:t>
            </a:fld>
            <a:endParaRPr sz="1200"/>
          </a:p>
        </p:txBody>
      </p:sp>
      <p:sp>
        <p:nvSpPr>
          <p:cNvPr id="5123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5124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3820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t>Data Warehouse: Basic Concepts</a:t>
            </a:r>
          </a:p>
          <a:p>
            <a:pPr lvl="0" eaLnBrk="1" hangingPunct="1">
              <a:lnSpc>
                <a:spcPct val="140000"/>
              </a:lnSpc>
            </a:pPr>
            <a:r>
              <a:t>Data Warehouse Modeling: Data Cube and OLAP</a:t>
            </a:r>
          </a:p>
          <a:p>
            <a:pPr lvl="0" eaLnBrk="1" hangingPunct="1">
              <a:lnSpc>
                <a:spcPct val="140000"/>
              </a:lnSpc>
            </a:pPr>
            <a:r>
              <a:t>Data Warehouse Design and Usage</a:t>
            </a:r>
          </a:p>
          <a:p>
            <a:pPr lvl="0" eaLnBrk="1" hangingPunct="1">
              <a:lnSpc>
                <a:spcPct val="140000"/>
              </a:lnSpc>
            </a:pPr>
            <a:r>
              <a:t>Data Warehouse Implementation</a:t>
            </a:r>
          </a:p>
          <a:p>
            <a:pPr lvl="0" eaLnBrk="1" hangingPunct="1">
              <a:lnSpc>
                <a:spcPct val="140000"/>
              </a:lnSpc>
            </a:pPr>
            <a:r>
              <a:t>Data Generalization by Attribute-Oriented Induction</a:t>
            </a:r>
          </a:p>
          <a:p>
            <a:pPr lvl="0" eaLnBrk="1" hangingPunct="1">
              <a:lnSpc>
                <a:spcPct val="140000"/>
              </a:lnSpc>
            </a:pPr>
            <a:r>
              <a:t>Summary</a:t>
            </a:r>
          </a:p>
        </p:txBody>
      </p:sp>
      <p:sp>
        <p:nvSpPr>
          <p:cNvPr id="5125" name="AutoShape 4" title=""/>
          <p:cNvSpPr/>
          <p:nvPr/>
        </p:nvSpPr>
        <p:spPr>
          <a:xfrm rot="9060000">
            <a:off x="6324600" y="1524000"/>
            <a:ext cx="3810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14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7F2E1E2-ECAD-4164-824B-0E263B0F3F5A}" type="slidenum">
              <a:rPr sz="1200"/>
              <a:t>4</a:t>
            </a:fld>
            <a:endParaRPr sz="1200"/>
          </a:p>
        </p:txBody>
      </p:sp>
      <p:sp>
        <p:nvSpPr>
          <p:cNvPr id="6147" name="Rectangle 2" title=""/>
          <p:cNvSpPr>
            <a:spLocks noGrp="1"/>
          </p:cNvSpPr>
          <p:nvPr>
            <p:ph type="title"/>
          </p:nvPr>
        </p:nvSpPr>
        <p:spPr>
          <a:xfrm>
            <a:off x="1295400" y="304800"/>
            <a:ext cx="7010400" cy="8382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What is a Data Warehouse?</a:t>
            </a:r>
            <a:endParaRPr sz="3200"/>
          </a:p>
        </p:txBody>
      </p:sp>
      <p:sp>
        <p:nvSpPr>
          <p:cNvPr id="6148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05800" cy="51816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rPr sz="2000"/>
              <a:t>Defined in many different ways, but not rigorously.</a:t>
            </a:r>
            <a:endParaRPr sz="2000"/>
          </a:p>
          <a:p>
            <a:pPr lvl="1" eaLnBrk="1" hangingPunct="1">
              <a:lnSpc>
                <a:spcPct val="140000"/>
              </a:lnSpc>
            </a:pPr>
            <a:r>
              <a:rPr sz="2000"/>
              <a:t>A decision support database that is maintained </a:t>
            </a:r>
            <a:r>
              <a:rPr sz="2000">
                <a:solidFill>
                  <a:schemeClr val="hlink"/>
                </a:solidFill>
              </a:rPr>
              <a:t>separately </a:t>
            </a:r>
            <a:r>
              <a:rPr sz="2000"/>
              <a:t>from the organization’s operational database</a:t>
            </a:r>
            <a:endParaRPr sz="2000"/>
          </a:p>
          <a:p>
            <a:pPr lvl="1" eaLnBrk="1" hangingPunct="1">
              <a:lnSpc>
                <a:spcPct val="140000"/>
              </a:lnSpc>
            </a:pPr>
            <a:r>
              <a:rPr sz="2000"/>
              <a:t>Support </a:t>
            </a:r>
            <a:r>
              <a:rPr sz="2000">
                <a:solidFill>
                  <a:schemeClr val="hlink"/>
                </a:solidFill>
              </a:rPr>
              <a:t>information processing</a:t>
            </a:r>
            <a:r>
              <a:rPr sz="2000"/>
              <a:t> by providing a solid platform of consolidated, historical data for analysis.</a:t>
            </a:r>
            <a:endParaRPr sz="2000"/>
          </a:p>
          <a:p>
            <a:pPr lvl="0" eaLnBrk="1" hangingPunct="1">
              <a:lnSpc>
                <a:spcPct val="140000"/>
              </a:lnSpc>
            </a:pPr>
            <a:r>
              <a:rPr sz="2000">
                <a:solidFill>
                  <a:srgbClr val="157573"/>
                </a:solidFill>
              </a:rPr>
              <a:t>“A data warehouse is a</a:t>
            </a:r>
            <a:r>
              <a:rPr sz="2000"/>
              <a:t> </a:t>
            </a:r>
            <a:r>
              <a:rPr sz="2000" u="sng">
                <a:solidFill>
                  <a:schemeClr val="hlink"/>
                </a:solidFill>
              </a:rPr>
              <a:t>subject-oriented</a:t>
            </a:r>
            <a:r>
              <a:rPr sz="2000"/>
              <a:t>,</a:t>
            </a:r>
            <a:r>
              <a:rPr sz="2000" u="sng">
                <a:solidFill>
                  <a:schemeClr val="hlink"/>
                </a:solidFill>
              </a:rPr>
              <a:t> integrated</a:t>
            </a:r>
            <a:r>
              <a:rPr sz="2000"/>
              <a:t>, </a:t>
            </a:r>
            <a:r>
              <a:rPr sz="2000" u="sng">
                <a:solidFill>
                  <a:schemeClr val="hlink"/>
                </a:solidFill>
              </a:rPr>
              <a:t>time-variant</a:t>
            </a:r>
            <a:r>
              <a:rPr sz="2000"/>
              <a:t>, </a:t>
            </a:r>
            <a:r>
              <a:rPr sz="2000">
                <a:solidFill>
                  <a:srgbClr val="157573"/>
                </a:solidFill>
              </a:rPr>
              <a:t>and </a:t>
            </a:r>
            <a:r>
              <a:rPr sz="2000" u="sng">
                <a:solidFill>
                  <a:schemeClr val="hlink"/>
                </a:solidFill>
              </a:rPr>
              <a:t>nonvolatile</a:t>
            </a:r>
            <a:r>
              <a:rPr sz="2000"/>
              <a:t> </a:t>
            </a:r>
            <a:r>
              <a:rPr sz="2000">
                <a:solidFill>
                  <a:srgbClr val="157573"/>
                </a:solidFill>
              </a:rPr>
              <a:t>collection of data in support of management’s decision-making process.”—W. H. Inmon</a:t>
            </a:r>
            <a:endParaRPr sz="2000">
              <a:solidFill>
                <a:srgbClr val="157573"/>
              </a:solidFill>
            </a:endParaRPr>
          </a:p>
          <a:p>
            <a:pPr lvl="0" eaLnBrk="1" hangingPunct="1">
              <a:lnSpc>
                <a:spcPct val="140000"/>
              </a:lnSpc>
            </a:pPr>
            <a:r>
              <a:rPr sz="2000"/>
              <a:t>Data warehousing:</a:t>
            </a:r>
            <a:endParaRPr sz="2000"/>
          </a:p>
          <a:p>
            <a:pPr lvl="1" eaLnBrk="1" hangingPunct="1">
              <a:lnSpc>
                <a:spcPct val="140000"/>
              </a:lnSpc>
            </a:pPr>
            <a:r>
              <a:rPr sz="2000"/>
              <a:t>The process of constructing and using data warehouses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717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7C393FF2-EFE5-4E2E-940C-87FCA32E9293}" type="slidenum">
              <a:rPr sz="1200"/>
              <a:t>5</a:t>
            </a:fld>
            <a:endParaRPr sz="1200"/>
          </a:p>
        </p:txBody>
      </p:sp>
      <p:sp>
        <p:nvSpPr>
          <p:cNvPr id="7171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Warehouse—Subject-Oriented</a:t>
            </a:r>
            <a:endParaRPr sz="3200"/>
          </a:p>
        </p:txBody>
      </p:sp>
      <p:sp>
        <p:nvSpPr>
          <p:cNvPr id="7172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524000"/>
            <a:ext cx="8305800" cy="4608513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30000"/>
              </a:lnSpc>
            </a:pPr>
            <a:r>
              <a:rPr sz="2400"/>
              <a:t>Organized around major subjects, such as </a:t>
            </a:r>
            <a:r>
              <a:rPr sz="2400">
                <a:solidFill>
                  <a:schemeClr val="hlink"/>
                </a:solidFill>
              </a:rPr>
              <a:t>customer, product, sales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Focusing on the modeling and analysis of data for decision makers, not on daily operations or transaction processing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Provide </a:t>
            </a:r>
            <a:r>
              <a:rPr sz="2400">
                <a:solidFill>
                  <a:schemeClr val="hlink"/>
                </a:solidFill>
              </a:rPr>
              <a:t>a simple and concise</a:t>
            </a:r>
            <a:r>
              <a:rPr sz="2400"/>
              <a:t> view around particular subject issues by </a:t>
            </a:r>
            <a:r>
              <a:rPr sz="2400">
                <a:solidFill>
                  <a:schemeClr val="hlink"/>
                </a:solidFill>
              </a:rPr>
              <a:t>excluding data that are not useful in the decision support process</a:t>
            </a:r>
            <a:endParaRPr sz="24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819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29BD54F3-28AA-423D-9572-DB2B83C62D76}" type="slidenum">
              <a:rPr sz="1200"/>
              <a:t>6</a:t>
            </a:fld>
            <a:endParaRPr sz="1200"/>
          </a:p>
        </p:txBody>
      </p:sp>
      <p:sp>
        <p:nvSpPr>
          <p:cNvPr id="8195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Warehouse—Integrated</a:t>
            </a:r>
          </a:p>
        </p:txBody>
      </p:sp>
      <p:sp>
        <p:nvSpPr>
          <p:cNvPr id="8196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/>
            <a:r>
              <a:rPr sz="2400"/>
              <a:t>Constructed by integrating multiple, heterogeneous data sources</a:t>
            </a:r>
            <a:endParaRPr sz="2400"/>
          </a:p>
          <a:p>
            <a:pPr lvl="1" eaLnBrk="1" hangingPunct="1"/>
            <a:r>
              <a:rPr sz="2400"/>
              <a:t>relational databases, flat files, on-line transaction records</a:t>
            </a:r>
            <a:endParaRPr sz="2400"/>
          </a:p>
          <a:p>
            <a:pPr lvl="0" eaLnBrk="1" hangingPunct="1"/>
            <a:r>
              <a:rPr sz="2400"/>
              <a:t>Data cleaning and data integration techniques are applied.</a:t>
            </a:r>
            <a:endParaRPr sz="2400"/>
          </a:p>
          <a:p>
            <a:pPr lvl="1" eaLnBrk="1" hangingPunct="1"/>
            <a:r>
              <a:rPr sz="2400"/>
              <a:t>Ensure consistency in naming conventions, encoding structures, attribute measures, etc. among different data sources</a:t>
            </a:r>
            <a:endParaRPr sz="2400"/>
          </a:p>
          <a:p>
            <a:pPr lvl="2" eaLnBrk="1" hangingPunct="1"/>
            <a:r>
              <a:rPr sz="2000"/>
              <a:t>E.g., Hotel price: currency, tax, breakfast covered, etc.</a:t>
            </a:r>
            <a:endParaRPr sz="2000"/>
          </a:p>
          <a:p>
            <a:pPr lvl="1" eaLnBrk="1" hangingPunct="1"/>
            <a:r>
              <a:rPr sz="2400"/>
              <a:t>When data is moved to the warehouse, it is converted.  </a:t>
            </a:r>
            <a:endParaRPr sz="24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921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F00087B-E9B8-4249-BF40-E34C10B59785}" type="slidenum">
              <a:rPr sz="1200"/>
              <a:t>7</a:t>
            </a:fld>
            <a:endParaRPr sz="1200"/>
          </a:p>
        </p:txBody>
      </p:sp>
      <p:sp>
        <p:nvSpPr>
          <p:cNvPr id="9219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Warehouse—Time Variant</a:t>
            </a:r>
          </a:p>
        </p:txBody>
      </p:sp>
      <p:sp>
        <p:nvSpPr>
          <p:cNvPr id="9220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305800" cy="49530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20000"/>
              </a:lnSpc>
            </a:pPr>
            <a:r>
              <a:rPr sz="2400"/>
              <a:t>The time horizon for the data warehouse is significantly longer than that of operational systems</a:t>
            </a:r>
            <a:endParaRPr sz="2400"/>
          </a:p>
          <a:p>
            <a:pPr lvl="1" eaLnBrk="1" hangingPunct="1">
              <a:lnSpc>
                <a:spcPct val="120000"/>
              </a:lnSpc>
            </a:pPr>
            <a:r>
              <a:rPr sz="2400"/>
              <a:t>Operational database: current value data</a:t>
            </a:r>
            <a:endParaRPr sz="2400"/>
          </a:p>
          <a:p>
            <a:pPr lvl="1" eaLnBrk="1" hangingPunct="1">
              <a:lnSpc>
                <a:spcPct val="120000"/>
              </a:lnSpc>
            </a:pPr>
            <a:r>
              <a:rPr sz="2400"/>
              <a:t>Data warehouse data: provide information from a historical perspective (e.g., past 5-10 years)</a:t>
            </a:r>
            <a:endParaRPr sz="2400"/>
          </a:p>
          <a:p>
            <a:pPr lvl="0" eaLnBrk="1" hangingPunct="1">
              <a:lnSpc>
                <a:spcPct val="120000"/>
              </a:lnSpc>
            </a:pPr>
            <a:r>
              <a:rPr sz="2400"/>
              <a:t>Every key structure in the data warehouse</a:t>
            </a:r>
            <a:endParaRPr sz="2400"/>
          </a:p>
          <a:p>
            <a:pPr lvl="1" eaLnBrk="1" hangingPunct="1">
              <a:lnSpc>
                <a:spcPct val="120000"/>
              </a:lnSpc>
            </a:pPr>
            <a:r>
              <a:rPr sz="2400"/>
              <a:t>Contains an element of time, explicitly or implicitly</a:t>
            </a:r>
            <a:endParaRPr sz="2400"/>
          </a:p>
          <a:p>
            <a:pPr lvl="1" eaLnBrk="1" hangingPunct="1">
              <a:lnSpc>
                <a:spcPct val="120000"/>
              </a:lnSpc>
            </a:pPr>
            <a:r>
              <a:rPr sz="2400"/>
              <a:t>But the key of operational data may or may not contain “time element”</a:t>
            </a:r>
            <a:endParaRPr sz="2400"/>
          </a:p>
          <a:p>
            <a:pPr lvl="1" eaLnBrk="1" hangingPunct="1">
              <a:lnSpc>
                <a:spcPct val="110000"/>
              </a:lnSpc>
            </a:pPr>
            <a:endParaRPr sz="22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024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60AD26C2-8613-4D2D-8DDA-CA15701B41A4}" type="slidenum">
              <a:rPr sz="1200"/>
              <a:t>8</a:t>
            </a:fld>
            <a:endParaRPr sz="1200"/>
          </a:p>
        </p:txBody>
      </p:sp>
      <p:sp>
        <p:nvSpPr>
          <p:cNvPr id="10243" name="Rectangle 1026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Warehouse—Nonvolatile</a:t>
            </a:r>
          </a:p>
        </p:txBody>
      </p:sp>
      <p:sp>
        <p:nvSpPr>
          <p:cNvPr id="10244" name="Rectangle 1027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2296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30000"/>
              </a:lnSpc>
            </a:pPr>
            <a:r>
              <a:rPr sz="2400"/>
              <a:t>A </a:t>
            </a:r>
            <a:r>
              <a:rPr sz="2400">
                <a:solidFill>
                  <a:schemeClr val="hlink"/>
                </a:solidFill>
              </a:rPr>
              <a:t>physically separate store</a:t>
            </a:r>
            <a:r>
              <a:rPr sz="2400"/>
              <a:t> of data transformed from the operational environment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Operational </a:t>
            </a:r>
            <a:r>
              <a:rPr sz="2400">
                <a:solidFill>
                  <a:schemeClr val="hlink"/>
                </a:solidFill>
              </a:rPr>
              <a:t>update of data does not occur</a:t>
            </a:r>
            <a:r>
              <a:rPr sz="2400"/>
              <a:t> in the data warehouse environment</a:t>
            </a:r>
            <a:endParaRPr sz="2400"/>
          </a:p>
          <a:p>
            <a:pPr lvl="1" eaLnBrk="1" hangingPunct="1">
              <a:lnSpc>
                <a:spcPct val="130000"/>
              </a:lnSpc>
            </a:pPr>
            <a:r>
              <a:rPr sz="2400"/>
              <a:t>Does not require transaction processing, recovery, and concurrency control mechanisms</a:t>
            </a:r>
            <a:endParaRPr sz="2400"/>
          </a:p>
          <a:p>
            <a:pPr lvl="1" eaLnBrk="1" hangingPunct="1">
              <a:lnSpc>
                <a:spcPct val="130000"/>
              </a:lnSpc>
            </a:pPr>
            <a:r>
              <a:rPr sz="2400"/>
              <a:t>Requires only two operations in data accessing: </a:t>
            </a:r>
            <a:endParaRPr sz="2400"/>
          </a:p>
          <a:p>
            <a:pPr lvl="2" eaLnBrk="1" hangingPunct="1">
              <a:lnSpc>
                <a:spcPct val="130000"/>
              </a:lnSpc>
            </a:pPr>
            <a:r>
              <a:rPr i="1">
                <a:solidFill>
                  <a:schemeClr val="hlink"/>
                </a:solidFill>
              </a:rPr>
              <a:t>initial loading of data</a:t>
            </a:r>
            <a:r>
              <a:t> and </a:t>
            </a:r>
            <a:r>
              <a:rPr i="1">
                <a:solidFill>
                  <a:schemeClr val="hlink"/>
                </a:solidFill>
              </a:rPr>
              <a:t>access of data</a:t>
            </a: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126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29AA8EBD-7733-4027-A84B-A661800B5CDF}" type="slidenum">
              <a:rPr sz="1200"/>
              <a:t>9</a:t>
            </a:fld>
            <a:endParaRPr sz="1200"/>
          </a:p>
        </p:txBody>
      </p:sp>
      <p:sp>
        <p:nvSpPr>
          <p:cNvPr id="11267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OLTP vs. OLAP</a:t>
            </a:r>
          </a:p>
        </p:txBody>
      </p:sp>
      <p:graphicFrame>
        <p:nvGraphicFramePr>
          <p:cNvPr id="11268" name="Object 3" title=""/>
          <p:cNvGraphicFramePr/>
          <p:nvPr>
            <p:ph type="tbl" idx="1"/>
          </p:nvPr>
        </p:nvGraphicFramePr>
        <p:xfrm>
          <a:off x="457200" y="1447800"/>
          <a:ext cx="7945438" cy="48768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8" name="Document" r:id="rId3" imgW="7945438" imgH="4876800" progId="Word.Document.8">
                  <p:embed/>
                </p:oleObj>
              </mc:Choice>
              <mc:Fallback>
                <p:oleObj name="Document" r:id="rId3" imgW="7945438" imgH="48768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447800"/>
                        <a:ext cx="7945438" cy="487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Line 4" title=""/>
          <p:cNvSpPr/>
          <p:nvPr/>
        </p:nvSpPr>
        <p:spPr>
          <a:xfrm flipH="1">
            <a:off x="8458200" y="1447800"/>
            <a:ext cx="0" cy="464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229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1C5B901B-4F9A-4FE8-A249-C60F8E6A2781}" type="slidenum">
              <a:rPr sz="1200"/>
              <a:t>10</a:t>
            </a:fld>
            <a:endParaRPr sz="1200"/>
          </a:p>
        </p:txBody>
      </p:sp>
      <p:sp>
        <p:nvSpPr>
          <p:cNvPr id="12291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23888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Why a Separate Data Warehouse?</a:t>
            </a:r>
          </a:p>
        </p:txBody>
      </p:sp>
      <p:sp>
        <p:nvSpPr>
          <p:cNvPr id="12292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8382000" cy="51054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2000"/>
              <a:t>High performance for both systems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DBMS— tuned for OLTP: access methods, indexing, concurrency control, recovery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Warehouse—tuned for OLAP: complex OLAP queries, multidimensional view, consolidation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/>
              <a:t>Different functions and different data: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 u="sng">
                <a:solidFill>
                  <a:schemeClr val="hlink"/>
                </a:solidFill>
              </a:rPr>
              <a:t>missing data</a:t>
            </a:r>
            <a:r>
              <a:rPr sz="2000"/>
              <a:t>: Decision support requires historical data which operational DBs do not typically maintain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 u="sng">
                <a:solidFill>
                  <a:schemeClr val="hlink"/>
                </a:solidFill>
              </a:rPr>
              <a:t>data consolidation</a:t>
            </a:r>
            <a:r>
              <a:rPr sz="2000"/>
              <a:t>:  DS requires consolidation (aggregation, summarization) of data from heterogeneous sources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 u="sng">
                <a:solidFill>
                  <a:schemeClr val="hlink"/>
                </a:solidFill>
              </a:rPr>
              <a:t>data quality</a:t>
            </a:r>
            <a:r>
              <a:rPr sz="2000"/>
              <a:t>: different sources typically use inconsistent data representations, codes and formats which have to be reconciled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/>
              <a:t>Note: There are more and more systems which perform OLAP analysis directly on relational databases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3314" name="Slide Number Placeholder 3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6315AF1D-46A1-4D91-A848-4107E6325152}" type="slidenum">
              <a:rPr sz="1200"/>
              <a:t>11</a:t>
            </a:fld>
            <a:endParaRPr sz="1200"/>
          </a:p>
        </p:txBody>
      </p:sp>
      <p:sp>
        <p:nvSpPr>
          <p:cNvPr id="13315" name="AutoShape 2" title=""/>
          <p:cNvSpPr/>
          <p:nvPr/>
        </p:nvSpPr>
        <p:spPr>
          <a:xfrm>
            <a:off x="3124200" y="2895600"/>
            <a:ext cx="2011363" cy="1600200"/>
          </a:xfrm>
          <a:prstGeom prst="flowChartMagneticDisk">
            <a:avLst/>
          </a:prstGeom>
          <a:solidFill>
            <a:srgbClr val="6666FF"/>
          </a:solidFill>
          <a:ln>
            <a:solidFill>
              <a:prstClr val="black"/>
            </a:solidFill>
            <a:miter lim="800000"/>
          </a:ln>
        </p:spPr>
        <p:txBody>
          <a:bodyPr anchor="ctr" anchorCtr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304800" y="457200"/>
            <a:ext cx="85344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lIns="92075" tIns="46038" rIns="92075" bIns="46038" anchor="b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 pitchFamily="34" charset="0"/>
                <a:cs typeface="+mn-cs"/>
              </a:rPr>
              <a:t>Data Warehouse: A Multi-Tiered Architecture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317" name="Rectangle 4" title=""/>
          <p:cNvSpPr/>
          <p:nvPr/>
        </p:nvSpPr>
        <p:spPr>
          <a:xfrm>
            <a:off x="1295400" y="838200"/>
            <a:ext cx="6705600" cy="3886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18" name="Rectangle 5" title=""/>
          <p:cNvSpPr/>
          <p:nvPr/>
        </p:nvSpPr>
        <p:spPr>
          <a:xfrm>
            <a:off x="3352800" y="3429000"/>
            <a:ext cx="1554163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>
                <a:latin typeface="Times New Roman" pitchFamily="18" charset="0"/>
              </a:rPr>
              <a:t>Data</a:t>
            </a:r>
            <a:endParaRPr>
              <a:latin typeface="Times New Roman" pitchFamily="18" charset="0"/>
            </a:endParaRPr>
          </a:p>
          <a:p>
            <a:pPr marL="0" lvl="0" indent="0" algn="ctr"/>
            <a:r>
              <a:rPr>
                <a:latin typeface="Times New Roman" pitchFamily="18" charset="0"/>
              </a:rPr>
              <a:t>Warehouse</a:t>
            </a:r>
            <a:endParaRPr>
              <a:latin typeface="Times New Roman" pitchFamily="18" charset="0"/>
            </a:endParaRPr>
          </a:p>
        </p:txBody>
      </p:sp>
      <p:sp>
        <p:nvSpPr>
          <p:cNvPr id="13319" name="Oval 6" title=""/>
          <p:cNvSpPr/>
          <p:nvPr/>
        </p:nvSpPr>
        <p:spPr>
          <a:xfrm>
            <a:off x="6781800" y="2057400"/>
            <a:ext cx="1968500" cy="3568700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20" name="AutoShape 7" title=""/>
          <p:cNvSpPr/>
          <p:nvPr/>
        </p:nvSpPr>
        <p:spPr>
          <a:xfrm>
            <a:off x="5492750" y="3206750"/>
            <a:ext cx="901700" cy="749300"/>
          </a:xfrm>
          <a:prstGeom prst="rightArrow">
            <a:avLst>
              <a:gd name="adj1" fmla="val 75009"/>
              <a:gd name="adj2" fmla="val 60175"/>
            </a:avLst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grpSp>
        <p:nvGrpSpPr>
          <p:cNvPr id="13321" name="Group 8" title=""/>
          <p:cNvGrpSpPr/>
          <p:nvPr/>
        </p:nvGrpSpPr>
        <p:grpSpPr>
          <a:xfrm>
            <a:off x="1905000" y="2667000"/>
            <a:ext cx="1228725" cy="2197100"/>
            <a:chOff x="1238" y="1876"/>
            <a:chExt cx="774" cy="1384"/>
          </a:xfrm>
        </p:grpSpPr>
        <p:sp>
          <p:nvSpPr>
            <p:cNvPr id="13364" name="AutoShape 9" title=""/>
            <p:cNvSpPr/>
            <p:nvPr/>
          </p:nvSpPr>
          <p:spPr>
            <a:xfrm>
              <a:off x="1252" y="1876"/>
              <a:ext cx="760" cy="1384"/>
            </a:xfrm>
            <a:prstGeom prst="rightArrow">
              <a:avLst>
                <a:gd name="adj1" fmla="val 75009"/>
                <a:gd name="adj2" fmla="val 50005"/>
              </a:avLst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65" name="Rectangle 10" title=""/>
            <p:cNvSpPr/>
            <p:nvPr/>
          </p:nvSpPr>
          <p:spPr>
            <a:xfrm>
              <a:off x="1238" y="2193"/>
              <a:ext cx="724" cy="7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Extract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Transform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Load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Refresh</a:t>
              </a:r>
              <a:endParaRPr sz="1800">
                <a:latin typeface="Times New Roman" pitchFamily="18" charset="0"/>
              </a:endParaRPr>
            </a:p>
          </p:txBody>
        </p:sp>
      </p:grpSp>
      <p:sp>
        <p:nvSpPr>
          <p:cNvPr id="13322" name="Rectangle 11" title=""/>
          <p:cNvSpPr/>
          <p:nvPr/>
        </p:nvSpPr>
        <p:spPr>
          <a:xfrm>
            <a:off x="4953000" y="6172200"/>
            <a:ext cx="1905000" cy="3651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>
                <a:latin typeface="Times New Roman" pitchFamily="18" charset="0"/>
              </a:rPr>
              <a:t>OLAP Engine</a:t>
            </a:r>
            <a:endParaRPr>
              <a:latin typeface="Times New Roman" pitchFamily="18" charset="0"/>
            </a:endParaRPr>
          </a:p>
        </p:txBody>
      </p:sp>
      <p:sp>
        <p:nvSpPr>
          <p:cNvPr id="13323" name="Rectangle 12" title=""/>
          <p:cNvSpPr/>
          <p:nvPr/>
        </p:nvSpPr>
        <p:spPr>
          <a:xfrm>
            <a:off x="7086600" y="2743200"/>
            <a:ext cx="1697038" cy="15525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Analysis</a:t>
            </a:r>
            <a:endParaRPr>
              <a:latin typeface="Times New Roman" pitchFamily="18" charset="0"/>
            </a:endParaRPr>
          </a:p>
          <a:p>
            <a:pPr marL="0" lvl="0" indent="0"/>
            <a:r>
              <a:rPr>
                <a:latin typeface="Times New Roman" pitchFamily="18" charset="0"/>
              </a:rPr>
              <a:t>Query</a:t>
            </a:r>
            <a:endParaRPr>
              <a:latin typeface="Times New Roman" pitchFamily="18" charset="0"/>
            </a:endParaRPr>
          </a:p>
          <a:p>
            <a:pPr marL="0" lvl="0" indent="0"/>
            <a:r>
              <a:rPr>
                <a:latin typeface="Times New Roman" pitchFamily="18" charset="0"/>
              </a:rPr>
              <a:t>Reports</a:t>
            </a:r>
            <a:endParaRPr>
              <a:latin typeface="Times New Roman" pitchFamily="18" charset="0"/>
            </a:endParaRPr>
          </a:p>
          <a:p>
            <a:pPr marL="0" lvl="0" indent="0"/>
            <a:r>
              <a:rPr>
                <a:latin typeface="Times New Roman" pitchFamily="18" charset="0"/>
              </a:rPr>
              <a:t>Data mining</a:t>
            </a:r>
            <a:endParaRPr>
              <a:latin typeface="Times New Roman" pitchFamily="18" charset="0"/>
            </a:endParaRPr>
          </a:p>
        </p:txBody>
      </p:sp>
      <p:sp>
        <p:nvSpPr>
          <p:cNvPr id="13324" name="Rectangle 13" title=""/>
          <p:cNvSpPr/>
          <p:nvPr/>
        </p:nvSpPr>
        <p:spPr>
          <a:xfrm>
            <a:off x="3733800" y="1676400"/>
            <a:ext cx="1143000" cy="990600"/>
          </a:xfrm>
          <a:prstGeom prst="rect">
            <a:avLst/>
          </a:prstGeom>
          <a:solidFill>
            <a:srgbClr val="FCFEB9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2000">
                <a:latin typeface="Times New Roman" pitchFamily="18" charset="0"/>
              </a:rPr>
              <a:t>Monitor</a:t>
            </a:r>
            <a:endParaRPr sz="2000">
              <a:latin typeface="Times New Roman" pitchFamily="18" charset="0"/>
            </a:endParaRPr>
          </a:p>
          <a:p>
            <a:pPr marL="0" lvl="0" indent="0" algn="ctr"/>
            <a:r>
              <a:rPr sz="2000">
                <a:latin typeface="Times New Roman" pitchFamily="18" charset="0"/>
              </a:rPr>
              <a:t>&amp;</a:t>
            </a:r>
            <a:endParaRPr sz="2000">
              <a:latin typeface="Times New Roman" pitchFamily="18" charset="0"/>
            </a:endParaRPr>
          </a:p>
          <a:p>
            <a:pPr marL="0" lvl="0" indent="0" algn="ctr"/>
            <a:r>
              <a:rPr sz="2000">
                <a:latin typeface="Times New Roman" pitchFamily="18" charset="0"/>
              </a:rPr>
              <a:t>Integrator</a:t>
            </a:r>
            <a:endParaRPr>
              <a:latin typeface="Times New Roman" pitchFamily="18" charset="0"/>
            </a:endParaRPr>
          </a:p>
        </p:txBody>
      </p:sp>
      <p:grpSp>
        <p:nvGrpSpPr>
          <p:cNvPr id="13325" name="Group 14" title=""/>
          <p:cNvGrpSpPr/>
          <p:nvPr/>
        </p:nvGrpSpPr>
        <p:grpSpPr>
          <a:xfrm>
            <a:off x="2209800" y="1676400"/>
            <a:ext cx="931863" cy="914400"/>
            <a:chOff x="288" y="1012"/>
            <a:chExt cx="769" cy="664"/>
          </a:xfrm>
        </p:grpSpPr>
        <p:sp>
          <p:nvSpPr>
            <p:cNvPr id="13361" name="Oval 15" title=""/>
            <p:cNvSpPr/>
            <p:nvPr/>
          </p:nvSpPr>
          <p:spPr>
            <a:xfrm>
              <a:off x="292" y="1437"/>
              <a:ext cx="760" cy="239"/>
            </a:xfrm>
            <a:prstGeom prst="ellipse">
              <a:avLst/>
            </a:prstGeom>
            <a:solidFill>
              <a:srgbClr val="FCFEB9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62" name="Freeform 16" title=""/>
            <p:cNvSpPr/>
            <p:nvPr/>
          </p:nvSpPr>
          <p:spPr bwMode="auto">
            <a:xfrm>
              <a:off x="288" y="1159"/>
              <a:ext cx="769" cy="413"/>
            </a:xfrm>
            <a:custGeom>
              <a:gdLst>
                <a:gd name="GT0" fmla="+- l w 0"/>
                <a:gd name="GT1" fmla="+- t h 0"/>
              </a:gdLst>
              <a:cxnLst>
                <a:cxn ang="0">
                  <a:pos x="12" y="412"/>
                </a:cxn>
                <a:cxn ang="0">
                  <a:pos x="0" y="318"/>
                </a:cxn>
                <a:cxn ang="0">
                  <a:pos x="0" y="244"/>
                </a:cxn>
                <a:cxn ang="0">
                  <a:pos x="0" y="147"/>
                </a:cxn>
                <a:cxn ang="0">
                  <a:pos x="0" y="73"/>
                </a:cxn>
                <a:cxn ang="0">
                  <a:pos x="0" y="0"/>
                </a:cxn>
                <a:cxn ang="0">
                  <a:pos x="768" y="10"/>
                </a:cxn>
                <a:cxn ang="0">
                  <a:pos x="768" y="412"/>
                </a:cxn>
                <a:cxn ang="0">
                  <a:pos x="768" y="412"/>
                </a:cxn>
              </a:cxnLst>
              <a:rect l="l" t="t" r="GT0" b="GT1"/>
              <a:pathLst>
                <a:path w="769" h="413">
                  <a:moveTo>
                    <a:pt x="12" y="412"/>
                  </a:moveTo>
                  <a:lnTo>
                    <a:pt x="0" y="318"/>
                  </a:lnTo>
                  <a:lnTo>
                    <a:pt x="0" y="244"/>
                  </a:lnTo>
                  <a:lnTo>
                    <a:pt x="0" y="147"/>
                  </a:lnTo>
                  <a:lnTo>
                    <a:pt x="0" y="73"/>
                  </a:lnTo>
                  <a:lnTo>
                    <a:pt x="0" y="0"/>
                  </a:lnTo>
                  <a:lnTo>
                    <a:pt x="768" y="10"/>
                  </a:lnTo>
                  <a:lnTo>
                    <a:pt x="768" y="412"/>
                  </a:lnTo>
                </a:path>
              </a:pathLst>
            </a:custGeom>
            <a:solidFill>
              <a:srgbClr val="FCFEB9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sp>
        <p:sp>
          <p:nvSpPr>
            <p:cNvPr id="13363" name="Oval 17" title=""/>
            <p:cNvSpPr/>
            <p:nvPr/>
          </p:nvSpPr>
          <p:spPr>
            <a:xfrm>
              <a:off x="292" y="1012"/>
              <a:ext cx="760" cy="259"/>
            </a:xfrm>
            <a:prstGeom prst="ellipse">
              <a:avLst/>
            </a:prstGeom>
            <a:solidFill>
              <a:srgbClr val="FCFEB9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</p:grpSp>
      <p:sp>
        <p:nvSpPr>
          <p:cNvPr id="13326" name="Rectangle 18" title=""/>
          <p:cNvSpPr/>
          <p:nvPr/>
        </p:nvSpPr>
        <p:spPr>
          <a:xfrm>
            <a:off x="2286000" y="2057400"/>
            <a:ext cx="850900" cy="2746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Metadata</a:t>
            </a:r>
            <a:endParaRPr>
              <a:latin typeface="Times New Roman" pitchFamily="18" charset="0"/>
            </a:endParaRPr>
          </a:p>
        </p:txBody>
      </p:sp>
      <p:sp>
        <p:nvSpPr>
          <p:cNvPr id="13327" name="Line 19" title=""/>
          <p:cNvSpPr/>
          <p:nvPr/>
        </p:nvSpPr>
        <p:spPr>
          <a:xfrm>
            <a:off x="3124200" y="21336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stealth" len="lg"/>
            <a:tailEnd type="stealth" len="lg"/>
          </a:ln>
        </p:spPr>
      </p:sp>
      <p:sp>
        <p:nvSpPr>
          <p:cNvPr id="13328" name="Rectangle 20" title=""/>
          <p:cNvSpPr/>
          <p:nvPr/>
        </p:nvSpPr>
        <p:spPr>
          <a:xfrm>
            <a:off x="180975" y="6096000"/>
            <a:ext cx="18002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Data Sources</a:t>
            </a:r>
            <a:endParaRPr>
              <a:latin typeface="Times New Roman" pitchFamily="18" charset="0"/>
            </a:endParaRPr>
          </a:p>
        </p:txBody>
      </p:sp>
      <p:sp>
        <p:nvSpPr>
          <p:cNvPr id="13329" name="Rectangle 21" title=""/>
          <p:cNvSpPr/>
          <p:nvPr/>
        </p:nvSpPr>
        <p:spPr>
          <a:xfrm>
            <a:off x="6934200" y="6172200"/>
            <a:ext cx="2022475" cy="3651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Front-End Tools</a:t>
            </a:r>
            <a:endParaRPr>
              <a:latin typeface="Times New Roman" pitchFamily="18" charset="0"/>
            </a:endParaRPr>
          </a:p>
        </p:txBody>
      </p:sp>
      <p:sp>
        <p:nvSpPr>
          <p:cNvPr id="13330" name="Rectangle 22" title=""/>
          <p:cNvSpPr/>
          <p:nvPr/>
        </p:nvSpPr>
        <p:spPr>
          <a:xfrm>
            <a:off x="5470525" y="3336925"/>
            <a:ext cx="87788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Serve</a:t>
            </a:r>
            <a:endParaRPr>
              <a:latin typeface="Times New Roman" pitchFamily="18" charset="0"/>
            </a:endParaRPr>
          </a:p>
        </p:txBody>
      </p:sp>
      <p:sp>
        <p:nvSpPr>
          <p:cNvPr id="13331" name="AutoShape 23" title=""/>
          <p:cNvSpPr/>
          <p:nvPr/>
        </p:nvSpPr>
        <p:spPr>
          <a:xfrm>
            <a:off x="5791200" y="2362200"/>
            <a:ext cx="755650" cy="679450"/>
          </a:xfrm>
          <a:prstGeom prst="cube">
            <a:avLst>
              <a:gd name="adj" fmla="val 24995"/>
            </a:avLst>
          </a:prstGeom>
          <a:solidFill>
            <a:srgbClr val="FCFEB9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32" name="AutoShape 24" title=""/>
          <p:cNvSpPr/>
          <p:nvPr/>
        </p:nvSpPr>
        <p:spPr>
          <a:xfrm>
            <a:off x="5867400" y="4343400"/>
            <a:ext cx="679450" cy="679450"/>
          </a:xfrm>
          <a:prstGeom prst="cube">
            <a:avLst>
              <a:gd name="adj" fmla="val 24995"/>
            </a:avLst>
          </a:prstGeom>
          <a:solidFill>
            <a:srgbClr val="FCFEB9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33" name="AutoShape 25" title=""/>
          <p:cNvSpPr/>
          <p:nvPr/>
        </p:nvSpPr>
        <p:spPr>
          <a:xfrm>
            <a:off x="3276600" y="4572000"/>
            <a:ext cx="292100" cy="292100"/>
          </a:xfrm>
          <a:prstGeom prst="down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34" name="AutoShape 26" title=""/>
          <p:cNvSpPr/>
          <p:nvPr/>
        </p:nvSpPr>
        <p:spPr>
          <a:xfrm>
            <a:off x="4648200" y="4572000"/>
            <a:ext cx="292100" cy="292100"/>
          </a:xfrm>
          <a:prstGeom prst="down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35" name="AutoShape 27" title=""/>
          <p:cNvSpPr/>
          <p:nvPr/>
        </p:nvSpPr>
        <p:spPr>
          <a:xfrm>
            <a:off x="3962400" y="4572000"/>
            <a:ext cx="292100" cy="292100"/>
          </a:xfrm>
          <a:prstGeom prst="down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36" name="Rectangle 28" title=""/>
          <p:cNvSpPr/>
          <p:nvPr/>
        </p:nvSpPr>
        <p:spPr>
          <a:xfrm>
            <a:off x="3657600" y="5562600"/>
            <a:ext cx="1022350" cy="2746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1800">
                <a:latin typeface="Times New Roman" pitchFamily="18" charset="0"/>
              </a:rPr>
              <a:t>Data Marts</a:t>
            </a:r>
            <a:endParaRPr>
              <a:latin typeface="Times New Roman" pitchFamily="18" charset="0"/>
            </a:endParaRPr>
          </a:p>
        </p:txBody>
      </p:sp>
      <p:sp>
        <p:nvSpPr>
          <p:cNvPr id="13337" name="Line 29" title=""/>
          <p:cNvSpPr/>
          <p:nvPr/>
        </p:nvSpPr>
        <p:spPr>
          <a:xfrm flipV="1">
            <a:off x="5029200" y="2743200"/>
            <a:ext cx="6858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len="lg"/>
            <a:tailEnd type="stealth" len="lg"/>
          </a:ln>
        </p:spPr>
      </p:sp>
      <p:sp>
        <p:nvSpPr>
          <p:cNvPr id="13338" name="Line 30" title=""/>
          <p:cNvSpPr/>
          <p:nvPr/>
        </p:nvSpPr>
        <p:spPr>
          <a:xfrm flipV="1">
            <a:off x="5334000" y="4876800"/>
            <a:ext cx="457200" cy="4572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len="lg"/>
            <a:tailEnd type="stealth" len="lg"/>
          </a:ln>
        </p:spPr>
      </p:sp>
      <p:sp>
        <p:nvSpPr>
          <p:cNvPr id="13339" name="AutoShape 31" title=""/>
          <p:cNvSpPr/>
          <p:nvPr/>
        </p:nvSpPr>
        <p:spPr>
          <a:xfrm>
            <a:off x="3048000" y="4953000"/>
            <a:ext cx="671513" cy="609600"/>
          </a:xfrm>
          <a:prstGeom prst="flowChartMagneticDisk">
            <a:avLst/>
          </a:prstGeom>
          <a:solidFill>
            <a:srgbClr val="FFFF00"/>
          </a:solidFill>
          <a:ln>
            <a:solidFill>
              <a:prstClr val="black"/>
            </a:solidFill>
            <a:miter lim="800000"/>
          </a:ln>
        </p:spPr>
        <p:txBody>
          <a:bodyPr anchor="ctr" anchorCtr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40" name="AutoShape 32" title=""/>
          <p:cNvSpPr/>
          <p:nvPr/>
        </p:nvSpPr>
        <p:spPr>
          <a:xfrm>
            <a:off x="3810000" y="4953000"/>
            <a:ext cx="671513" cy="609600"/>
          </a:xfrm>
          <a:prstGeom prst="flowChartMagneticDisk">
            <a:avLst/>
          </a:prstGeom>
          <a:solidFill>
            <a:srgbClr val="FFFF00"/>
          </a:solidFill>
          <a:ln>
            <a:solidFill>
              <a:prstClr val="black"/>
            </a:solidFill>
            <a:miter lim="800000"/>
          </a:ln>
        </p:spPr>
        <p:txBody>
          <a:bodyPr anchor="ctr" anchorCtr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41" name="AutoShape 33" title=""/>
          <p:cNvSpPr/>
          <p:nvPr/>
        </p:nvSpPr>
        <p:spPr>
          <a:xfrm>
            <a:off x="4572000" y="4953000"/>
            <a:ext cx="671513" cy="609600"/>
          </a:xfrm>
          <a:prstGeom prst="flowChartMagneticDisk">
            <a:avLst/>
          </a:prstGeom>
          <a:solidFill>
            <a:srgbClr val="FFFF00"/>
          </a:solidFill>
          <a:ln>
            <a:solidFill>
              <a:prstClr val="black"/>
            </a:solidFill>
            <a:miter lim="800000"/>
          </a:ln>
        </p:spPr>
        <p:txBody>
          <a:bodyPr anchor="ctr" anchorCtr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grpSp>
        <p:nvGrpSpPr>
          <p:cNvPr id="13342" name="Group 34" title=""/>
          <p:cNvGrpSpPr/>
          <p:nvPr/>
        </p:nvGrpSpPr>
        <p:grpSpPr>
          <a:xfrm>
            <a:off x="228600" y="1524000"/>
            <a:ext cx="1590675" cy="3879850"/>
            <a:chOff x="148" y="1440"/>
            <a:chExt cx="1002" cy="2444"/>
          </a:xfrm>
        </p:grpSpPr>
        <p:sp>
          <p:nvSpPr>
            <p:cNvPr id="13353" name="Oval 35" title=""/>
            <p:cNvSpPr/>
            <p:nvPr/>
          </p:nvSpPr>
          <p:spPr>
            <a:xfrm>
              <a:off x="576" y="2256"/>
              <a:ext cx="472" cy="172"/>
            </a:xfrm>
            <a:prstGeom prst="ellipse">
              <a:avLst/>
            </a:prstGeom>
            <a:solidFill>
              <a:srgbClr val="FCFEB9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54" name="Oval 36" title=""/>
            <p:cNvSpPr/>
            <p:nvPr/>
          </p:nvSpPr>
          <p:spPr>
            <a:xfrm>
              <a:off x="148" y="1440"/>
              <a:ext cx="1000" cy="244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55" name="Oval 37" title=""/>
            <p:cNvSpPr/>
            <p:nvPr/>
          </p:nvSpPr>
          <p:spPr>
            <a:xfrm>
              <a:off x="240" y="2256"/>
              <a:ext cx="472" cy="172"/>
            </a:xfrm>
            <a:prstGeom prst="ellipse">
              <a:avLst/>
            </a:prstGeom>
            <a:solidFill>
              <a:srgbClr val="FCFEB9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56" name="Rectangle 38" title=""/>
            <p:cNvSpPr/>
            <p:nvPr/>
          </p:nvSpPr>
          <p:spPr>
            <a:xfrm>
              <a:off x="240" y="2448"/>
              <a:ext cx="910" cy="4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Operational </a:t>
              </a:r>
              <a:endParaRPr sz="2000">
                <a:latin typeface="Times New Roman" pitchFamily="18" charset="0"/>
              </a:endParaRPr>
            </a:p>
            <a:p>
              <a:pPr marL="0" lvl="0" indent="0"/>
              <a:r>
                <a:rPr sz="2000">
                  <a:latin typeface="Times New Roman" pitchFamily="18" charset="0"/>
                </a:rPr>
                <a:t>DBs</a:t>
              </a:r>
              <a:endParaRPr sz="2000">
                <a:latin typeface="Times New Roman" pitchFamily="18" charset="0"/>
              </a:endParaRPr>
            </a:p>
          </p:txBody>
        </p:sp>
        <p:sp>
          <p:nvSpPr>
            <p:cNvPr id="13357" name="Rectangle 39" title=""/>
            <p:cNvSpPr/>
            <p:nvPr/>
          </p:nvSpPr>
          <p:spPr>
            <a:xfrm>
              <a:off x="288" y="1776"/>
              <a:ext cx="692" cy="4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Other</a:t>
              </a:r>
              <a:endParaRPr sz="2000">
                <a:latin typeface="Times New Roman" pitchFamily="18" charset="0"/>
              </a:endParaRPr>
            </a:p>
            <a:p>
              <a:pPr marL="0" lvl="0" indent="0"/>
              <a:r>
                <a:rPr sz="2000">
                  <a:latin typeface="Times New Roman" pitchFamily="18" charset="0"/>
                </a:rPr>
                <a:t>sources</a:t>
              </a:r>
              <a:endParaRPr sz="2000">
                <a:latin typeface="Times New Roman" pitchFamily="18" charset="0"/>
              </a:endParaRPr>
            </a:p>
          </p:txBody>
        </p:sp>
        <p:sp>
          <p:nvSpPr>
            <p:cNvPr id="13358" name="AutoShape 40" title=""/>
            <p:cNvSpPr/>
            <p:nvPr/>
          </p:nvSpPr>
          <p:spPr>
            <a:xfrm>
              <a:off x="365" y="3398"/>
              <a:ext cx="441" cy="288"/>
            </a:xfrm>
            <a:prstGeom prst="flowChartMagneticDisk">
              <a:avLst/>
            </a:prstGeom>
            <a:solidFill>
              <a:srgbClr val="9A87F9"/>
            </a:solidFill>
            <a:ln>
              <a:solidFill>
                <a:prstClr val="black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59" name="AutoShape 41" title=""/>
            <p:cNvSpPr/>
            <p:nvPr/>
          </p:nvSpPr>
          <p:spPr>
            <a:xfrm>
              <a:off x="461" y="3129"/>
              <a:ext cx="441" cy="288"/>
            </a:xfrm>
            <a:prstGeom prst="flowChartMagneticDisk">
              <a:avLst/>
            </a:prstGeom>
            <a:solidFill>
              <a:srgbClr val="9A87F9"/>
            </a:solidFill>
            <a:ln>
              <a:solidFill>
                <a:prstClr val="black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3360" name="AutoShape 42" title=""/>
            <p:cNvSpPr/>
            <p:nvPr/>
          </p:nvSpPr>
          <p:spPr>
            <a:xfrm>
              <a:off x="615" y="2851"/>
              <a:ext cx="441" cy="288"/>
            </a:xfrm>
            <a:prstGeom prst="flowChartMagneticDisk">
              <a:avLst/>
            </a:prstGeom>
            <a:solidFill>
              <a:srgbClr val="9A87F9"/>
            </a:solidFill>
            <a:ln>
              <a:solidFill>
                <a:prstClr val="black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</p:grpSp>
      <p:sp>
        <p:nvSpPr>
          <p:cNvPr id="13343" name="Line 43" title=""/>
          <p:cNvSpPr/>
          <p:nvPr/>
        </p:nvSpPr>
        <p:spPr>
          <a:xfrm flipH="1">
            <a:off x="1905000" y="1524000"/>
            <a:ext cx="0" cy="4191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miter lim="800000"/>
          </a:ln>
        </p:spPr>
      </p:sp>
      <p:sp>
        <p:nvSpPr>
          <p:cNvPr id="13344" name="Line 44" title=""/>
          <p:cNvSpPr/>
          <p:nvPr/>
        </p:nvSpPr>
        <p:spPr>
          <a:xfrm flipH="1">
            <a:off x="5410200" y="1600200"/>
            <a:ext cx="0" cy="411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miter lim="800000"/>
          </a:ln>
        </p:spPr>
      </p:sp>
      <p:sp>
        <p:nvSpPr>
          <p:cNvPr id="13345" name="Line 45" title=""/>
          <p:cNvSpPr/>
          <p:nvPr/>
        </p:nvSpPr>
        <p:spPr>
          <a:xfrm flipH="1">
            <a:off x="6629400" y="1600200"/>
            <a:ext cx="0" cy="411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miter lim="800000"/>
          </a:ln>
        </p:spPr>
      </p:sp>
      <p:sp>
        <p:nvSpPr>
          <p:cNvPr id="13346" name="Text Box 46" title=""/>
          <p:cNvSpPr txBox="1"/>
          <p:nvPr/>
        </p:nvSpPr>
        <p:spPr>
          <a:xfrm>
            <a:off x="2838450" y="6172200"/>
            <a:ext cx="1581150" cy="3651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Data Storage</a:t>
            </a:r>
            <a:endParaRPr>
              <a:latin typeface="Times New Roman" pitchFamily="18" charset="0"/>
            </a:endParaRPr>
          </a:p>
        </p:txBody>
      </p:sp>
      <p:sp>
        <p:nvSpPr>
          <p:cNvPr id="13347" name="AutoShape 47" title=""/>
          <p:cNvSpPr/>
          <p:nvPr/>
        </p:nvSpPr>
        <p:spPr>
          <a:xfrm rot="5400000">
            <a:off x="952500" y="5219700"/>
            <a:ext cx="152400" cy="1600200"/>
          </a:xfrm>
          <a:prstGeom prst="rightBrace">
            <a:avLst>
              <a:gd name="adj1" fmla="val 875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48" name="AutoShape 48" title=""/>
          <p:cNvSpPr/>
          <p:nvPr/>
        </p:nvSpPr>
        <p:spPr>
          <a:xfrm rot="5400000">
            <a:off x="3505200" y="4419600"/>
            <a:ext cx="152400" cy="3200400"/>
          </a:xfrm>
          <a:prstGeom prst="rightBrace">
            <a:avLst>
              <a:gd name="adj1" fmla="val 1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49" name="AutoShape 49" title=""/>
          <p:cNvSpPr/>
          <p:nvPr/>
        </p:nvSpPr>
        <p:spPr>
          <a:xfrm rot="5400000">
            <a:off x="5981700" y="5448300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50" name="AutoShape 50" title=""/>
          <p:cNvSpPr/>
          <p:nvPr/>
        </p:nvSpPr>
        <p:spPr>
          <a:xfrm rot="5400000">
            <a:off x="7734300" y="4991100"/>
            <a:ext cx="152400" cy="2057400"/>
          </a:xfrm>
          <a:prstGeom prst="rightBrace">
            <a:avLst>
              <a:gd name="adj1" fmla="val 1125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13351" name="Rectangle 51" title=""/>
          <p:cNvSpPr/>
          <p:nvPr/>
        </p:nvSpPr>
        <p:spPr>
          <a:xfrm>
            <a:off x="5334000" y="1905000"/>
            <a:ext cx="1524000" cy="304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2000">
                <a:latin typeface="Times New Roman" pitchFamily="18" charset="0"/>
              </a:rPr>
              <a:t>OLAP Server</a:t>
            </a:r>
            <a:endParaRPr>
              <a:latin typeface="Times New Roman" pitchFamily="18" charset="0"/>
            </a:endParaRPr>
          </a:p>
        </p:txBody>
      </p:sp>
      <p:sp>
        <p:nvSpPr>
          <p:cNvPr id="13352" name="Line 52" title=""/>
          <p:cNvSpPr/>
          <p:nvPr/>
        </p:nvSpPr>
        <p:spPr>
          <a:xfrm>
            <a:off x="3048000" y="2590800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stealth" len="lg"/>
          </a:ln>
        </p:spPr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433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2BB3E59-F64E-4ED4-BF4E-F36574A1E266}" type="slidenum">
              <a:rPr sz="1200"/>
              <a:t>12</a:t>
            </a:fld>
            <a:endParaRPr sz="1200"/>
          </a:p>
        </p:txBody>
      </p:sp>
      <p:sp>
        <p:nvSpPr>
          <p:cNvPr id="14339" name="Rectangle 2" title=""/>
          <p:cNvSpPr>
            <a:spLocks noGrp="1"/>
          </p:cNvSpPr>
          <p:nvPr>
            <p:ph type="title"/>
          </p:nvPr>
        </p:nvSpPr>
        <p:spPr>
          <a:xfrm>
            <a:off x="790575" y="381000"/>
            <a:ext cx="7294563" cy="6096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Three Data Warehouse Models</a:t>
            </a:r>
          </a:p>
        </p:txBody>
      </p:sp>
      <p:sp>
        <p:nvSpPr>
          <p:cNvPr id="14340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591550" cy="51054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>
                <a:solidFill>
                  <a:schemeClr val="hlink"/>
                </a:solidFill>
              </a:rPr>
              <a:t>Enterprise warehouse</a:t>
            </a:r>
            <a:endParaRPr sz="24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/>
              <a:t>collects all of the information about subjects spanning the entire organization</a:t>
            </a:r>
            <a:endParaRPr sz="2400"/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>
                <a:solidFill>
                  <a:schemeClr val="hlink"/>
                </a:solidFill>
              </a:rPr>
              <a:t>Data Mart</a:t>
            </a:r>
            <a:endParaRPr sz="24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/>
              <a:t>a subset of corporate-wide data that is of value to a specific groups of users.  Its scope is confined to specific, selected groups, such as marketing data mart</a:t>
            </a:r>
            <a:endParaRPr sz="2400"/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sz="2000"/>
              <a:t>Independent vs. dependent (directly from warehouse) data mart</a:t>
            </a:r>
            <a:endParaRPr sz="2000"/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>
                <a:solidFill>
                  <a:schemeClr val="hlink"/>
                </a:solidFill>
              </a:rPr>
              <a:t>Virtual warehouse</a:t>
            </a:r>
            <a:endParaRPr sz="24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/>
              <a:t>A set of views over operational databases</a:t>
            </a:r>
            <a:endParaRPr sz="24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2400"/>
              <a:t>Only some of the possible summary views may be materialized</a:t>
            </a:r>
            <a:endParaRPr sz="24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536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6870CE5F-9605-4611-AF48-EC41B086B19B}" type="slidenum">
              <a:rPr sz="1200"/>
              <a:t>13</a:t>
            </a:fld>
            <a:endParaRPr sz="1200"/>
          </a:p>
        </p:txBody>
      </p:sp>
      <p:sp>
        <p:nvSpPr>
          <p:cNvPr id="15363" name="Rectangle 2" title=""/>
          <p:cNvSpPr>
            <a:spLocks noGrp="1"/>
          </p:cNvSpPr>
          <p:nvPr>
            <p:ph type="title"/>
          </p:nvPr>
        </p:nvSpPr>
        <p:spPr>
          <a:xfrm>
            <a:off x="76200" y="304800"/>
            <a:ext cx="89916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Extraction, Transformation, and Loading (ETL)</a:t>
            </a:r>
          </a:p>
        </p:txBody>
      </p:sp>
      <p:sp>
        <p:nvSpPr>
          <p:cNvPr id="15364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8534400" cy="51816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90000"/>
              </a:lnSpc>
            </a:pPr>
            <a:r>
              <a:rPr sz="2400" b="1"/>
              <a:t>Data extraction</a:t>
            </a:r>
            <a:endParaRPr sz="2400" b="1"/>
          </a:p>
          <a:p>
            <a:pPr lvl="1" eaLnBrk="1" hangingPunct="1">
              <a:lnSpc>
                <a:spcPct val="90000"/>
              </a:lnSpc>
            </a:pPr>
            <a:r>
              <a:rPr sz="2400"/>
              <a:t>get data from multiple, heterogeneous, and external sources</a:t>
            </a:r>
            <a:endParaRPr sz="2400"/>
          </a:p>
          <a:p>
            <a:pPr lvl="0" eaLnBrk="1" hangingPunct="1">
              <a:lnSpc>
                <a:spcPct val="90000"/>
              </a:lnSpc>
            </a:pPr>
            <a:r>
              <a:rPr sz="2400" b="1"/>
              <a:t>Data cleaning</a:t>
            </a:r>
            <a:endParaRPr sz="2400" b="1"/>
          </a:p>
          <a:p>
            <a:pPr lvl="1" eaLnBrk="1" hangingPunct="1">
              <a:lnSpc>
                <a:spcPct val="90000"/>
              </a:lnSpc>
            </a:pPr>
            <a:r>
              <a:rPr sz="2400"/>
              <a:t>detect errors in the data and rectify them when possible</a:t>
            </a:r>
            <a:endParaRPr sz="2400"/>
          </a:p>
          <a:p>
            <a:pPr lvl="0" eaLnBrk="1" hangingPunct="1">
              <a:lnSpc>
                <a:spcPct val="90000"/>
              </a:lnSpc>
            </a:pPr>
            <a:r>
              <a:rPr sz="2400" b="1"/>
              <a:t>Data transformation</a:t>
            </a:r>
            <a:endParaRPr sz="2400" b="1"/>
          </a:p>
          <a:p>
            <a:pPr lvl="1" eaLnBrk="1" hangingPunct="1">
              <a:lnSpc>
                <a:spcPct val="90000"/>
              </a:lnSpc>
            </a:pPr>
            <a:r>
              <a:rPr sz="2400"/>
              <a:t>convert data from legacy or host format to warehouse format</a:t>
            </a:r>
            <a:endParaRPr sz="2400"/>
          </a:p>
          <a:p>
            <a:pPr lvl="0" eaLnBrk="1" hangingPunct="1">
              <a:lnSpc>
                <a:spcPct val="90000"/>
              </a:lnSpc>
            </a:pPr>
            <a:r>
              <a:rPr sz="2400" b="1"/>
              <a:t>Load</a:t>
            </a:r>
            <a:endParaRPr sz="2400" b="1"/>
          </a:p>
          <a:p>
            <a:pPr lvl="1" eaLnBrk="1" hangingPunct="1">
              <a:lnSpc>
                <a:spcPct val="90000"/>
              </a:lnSpc>
            </a:pPr>
            <a:r>
              <a:rPr sz="2400"/>
              <a:t>sort, summarize, consolidate, compute views, check integrity, and build indicies and partitions</a:t>
            </a:r>
            <a:endParaRPr sz="2400"/>
          </a:p>
          <a:p>
            <a:pPr lvl="0" eaLnBrk="1" hangingPunct="1">
              <a:lnSpc>
                <a:spcPct val="90000"/>
              </a:lnSpc>
            </a:pPr>
            <a:r>
              <a:rPr sz="2400" b="1"/>
              <a:t>Refresh</a:t>
            </a:r>
            <a:endParaRPr sz="2400" b="1"/>
          </a:p>
          <a:p>
            <a:pPr lvl="1" eaLnBrk="1" hangingPunct="1">
              <a:lnSpc>
                <a:spcPct val="90000"/>
              </a:lnSpc>
            </a:pPr>
            <a:r>
              <a:rPr sz="2400"/>
              <a:t>propagate the updates from the data sources to the warehouse</a:t>
            </a:r>
            <a:endParaRPr sz="24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638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509A087A-8FCD-4480-8CC2-4C4A6346BB24}" type="slidenum">
              <a:rPr sz="1200"/>
              <a:t>14</a:t>
            </a:fld>
            <a:endParaRPr sz="1200"/>
          </a:p>
        </p:txBody>
      </p:sp>
      <p:sp>
        <p:nvSpPr>
          <p:cNvPr id="16387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Metadata Repository</a:t>
            </a:r>
          </a:p>
        </p:txBody>
      </p:sp>
      <p:sp>
        <p:nvSpPr>
          <p:cNvPr id="16388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2000" b="1"/>
              <a:t>Meta data</a:t>
            </a:r>
            <a:r>
              <a:rPr sz="2000"/>
              <a:t> is the data defining warehouse objects.  It stores: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/>
              <a:t>Description of the </a:t>
            </a:r>
            <a:r>
              <a:rPr sz="2000">
                <a:solidFill>
                  <a:schemeClr val="folHlink"/>
                </a:solidFill>
              </a:rPr>
              <a:t>structure</a:t>
            </a:r>
            <a:r>
              <a:rPr sz="2000"/>
              <a:t> of the data warehouse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schema, view, dimensions, hierarchies, derived data defn, data mart locations and contents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>
                <a:solidFill>
                  <a:schemeClr val="folHlink"/>
                </a:solidFill>
              </a:rPr>
              <a:t>Operational</a:t>
            </a:r>
            <a:r>
              <a:rPr sz="2000"/>
              <a:t> meta-data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data lineage (history of migrated data and transformation path), currency of data (active, archived, or purged), monitoring information (warehouse usage statistics, error reports, audit trails)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/>
              <a:t>The </a:t>
            </a:r>
            <a:r>
              <a:rPr sz="2000">
                <a:solidFill>
                  <a:schemeClr val="folHlink"/>
                </a:solidFill>
              </a:rPr>
              <a:t>algorithms</a:t>
            </a:r>
            <a:r>
              <a:rPr sz="2000"/>
              <a:t> used for summarization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/>
              <a:t>The </a:t>
            </a:r>
            <a:r>
              <a:rPr sz="2000">
                <a:solidFill>
                  <a:schemeClr val="folHlink"/>
                </a:solidFill>
              </a:rPr>
              <a:t>mapping</a:t>
            </a:r>
            <a:r>
              <a:rPr sz="2000"/>
              <a:t> from operational environment to the data warehouse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/>
              <a:t>Data related to </a:t>
            </a:r>
            <a:r>
              <a:rPr sz="2000">
                <a:solidFill>
                  <a:schemeClr val="folHlink"/>
                </a:solidFill>
              </a:rPr>
              <a:t>system performance</a:t>
            </a:r>
            <a:endParaRPr sz="200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sz="2000"/>
              <a:t>warehouse schema, view and derived data definitions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>
                <a:solidFill>
                  <a:schemeClr val="folHlink"/>
                </a:solidFill>
              </a:rPr>
              <a:t>Business data</a:t>
            </a:r>
            <a:endParaRPr sz="200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sz="2000"/>
              <a:t>business terms and definitions, ownership of data, charging policies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741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F54EA181-4CB9-40DF-AE49-9D41DCF806E5}" type="slidenum">
              <a:rPr sz="1200"/>
              <a:t>15</a:t>
            </a:fld>
            <a:endParaRPr sz="1200"/>
          </a:p>
        </p:txBody>
      </p:sp>
      <p:sp>
        <p:nvSpPr>
          <p:cNvPr id="17411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17412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3820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t>Data Warehouse: Basic Concepts</a:t>
            </a:r>
          </a:p>
          <a:p>
            <a:pPr lvl="0" eaLnBrk="1" hangingPunct="1">
              <a:lnSpc>
                <a:spcPct val="140000"/>
              </a:lnSpc>
            </a:pPr>
            <a:r>
              <a:t>Data Warehouse Modeling: Data Cube and OLAP</a:t>
            </a:r>
          </a:p>
          <a:p>
            <a:pPr lvl="0" eaLnBrk="1" hangingPunct="1">
              <a:lnSpc>
                <a:spcPct val="140000"/>
              </a:lnSpc>
            </a:pPr>
            <a:r>
              <a:t>Data Warehouse Design and Usage</a:t>
            </a:r>
          </a:p>
          <a:p>
            <a:pPr lvl="0" eaLnBrk="1" hangingPunct="1">
              <a:lnSpc>
                <a:spcPct val="140000"/>
              </a:lnSpc>
            </a:pPr>
            <a:r>
              <a:t>Data Warehouse Implementation</a:t>
            </a:r>
          </a:p>
          <a:p>
            <a:pPr lvl="0" eaLnBrk="1" hangingPunct="1">
              <a:lnSpc>
                <a:spcPct val="140000"/>
              </a:lnSpc>
            </a:pPr>
            <a:r>
              <a:t>Data Generalization by Attribute-Oriented Induction</a:t>
            </a:r>
          </a:p>
          <a:p>
            <a:pPr lvl="0" eaLnBrk="1" hangingPunct="1">
              <a:lnSpc>
                <a:spcPct val="140000"/>
              </a:lnSpc>
            </a:pPr>
            <a:r>
              <a:t>Summary</a:t>
            </a:r>
          </a:p>
        </p:txBody>
      </p:sp>
      <p:sp>
        <p:nvSpPr>
          <p:cNvPr id="17413" name="AutoShape 4" title=""/>
          <p:cNvSpPr/>
          <p:nvPr/>
        </p:nvSpPr>
        <p:spPr>
          <a:xfrm rot="9060000">
            <a:off x="8610600" y="2057400"/>
            <a:ext cx="3810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843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C960E8E6-D8B0-4549-8411-B7577648D61A}" type="slidenum">
              <a:rPr sz="1200"/>
              <a:t>16</a:t>
            </a:fld>
            <a:endParaRPr sz="1200"/>
          </a:p>
        </p:txBody>
      </p:sp>
      <p:sp>
        <p:nvSpPr>
          <p:cNvPr id="18435" name="Rectangle 2" title="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8382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From Tables and Spreadsheets to </a:t>
            </a:r>
            <a:br>
              <a:rPr sz="3200"/>
            </a:br>
            <a:r>
              <a:rPr sz="3200"/>
              <a:t>Data Cubes</a:t>
            </a:r>
            <a:endParaRPr sz="3200"/>
          </a:p>
        </p:txBody>
      </p:sp>
      <p:sp>
        <p:nvSpPr>
          <p:cNvPr id="18436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05800" cy="508635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30000"/>
              </a:lnSpc>
            </a:pPr>
            <a:r>
              <a:rPr sz="2000"/>
              <a:t>A </a:t>
            </a:r>
            <a:r>
              <a:rPr sz="2000" b="1"/>
              <a:t>data warehouse</a:t>
            </a:r>
            <a:r>
              <a:rPr sz="2000"/>
              <a:t> is based on a </a:t>
            </a:r>
            <a:r>
              <a:rPr sz="2000">
                <a:solidFill>
                  <a:schemeClr val="hlink"/>
                </a:solidFill>
              </a:rPr>
              <a:t>multidimensional data model</a:t>
            </a:r>
            <a:r>
              <a:rPr sz="2000"/>
              <a:t> which views data in the form of a data cube</a:t>
            </a:r>
            <a:endParaRPr sz="2000"/>
          </a:p>
          <a:p>
            <a:pPr lvl="0" eaLnBrk="1" hangingPunct="1">
              <a:lnSpc>
                <a:spcPct val="130000"/>
              </a:lnSpc>
            </a:pPr>
            <a:r>
              <a:rPr sz="2000"/>
              <a:t>A data cube, such as </a:t>
            </a:r>
            <a:r>
              <a:rPr sz="2000">
                <a:solidFill>
                  <a:schemeClr val="folHlink"/>
                </a:solidFill>
              </a:rPr>
              <a:t>sales</a:t>
            </a:r>
            <a:r>
              <a:rPr sz="2000"/>
              <a:t>, allows data to be modeled and viewed in multiple dimensions</a:t>
            </a:r>
            <a:endParaRPr sz="2000"/>
          </a:p>
          <a:p>
            <a:pPr lvl="1" eaLnBrk="1" hangingPunct="1">
              <a:lnSpc>
                <a:spcPct val="130000"/>
              </a:lnSpc>
            </a:pPr>
            <a:r>
              <a:rPr sz="2000" b="1"/>
              <a:t>Dimension tables</a:t>
            </a:r>
            <a:r>
              <a:rPr sz="2000"/>
              <a:t>, such as </a:t>
            </a:r>
            <a:r>
              <a:rPr sz="2000">
                <a:solidFill>
                  <a:schemeClr val="folHlink"/>
                </a:solidFill>
              </a:rPr>
              <a:t>item (item_name, brand, type), </a:t>
            </a:r>
            <a:r>
              <a:rPr sz="2000"/>
              <a:t>or</a:t>
            </a:r>
            <a:r>
              <a:rPr sz="2000">
                <a:solidFill>
                  <a:schemeClr val="folHlink"/>
                </a:solidFill>
              </a:rPr>
              <a:t> time(day, week, month, quarter, year) </a:t>
            </a:r>
            <a:endParaRPr sz="200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sz="2000" b="1"/>
              <a:t>Fact table</a:t>
            </a:r>
            <a:r>
              <a:rPr sz="2000"/>
              <a:t> contains </a:t>
            </a:r>
            <a:r>
              <a:rPr sz="2000" b="1"/>
              <a:t>measures</a:t>
            </a:r>
            <a:r>
              <a:rPr sz="2000"/>
              <a:t> (such as </a:t>
            </a:r>
            <a:r>
              <a:rPr sz="2000">
                <a:solidFill>
                  <a:schemeClr val="folHlink"/>
                </a:solidFill>
              </a:rPr>
              <a:t>dollars_sold</a:t>
            </a:r>
            <a:r>
              <a:rPr sz="2000"/>
              <a:t>) and keys to each of the related dimension tables</a:t>
            </a:r>
            <a:endParaRPr sz="2000"/>
          </a:p>
          <a:p>
            <a:pPr lvl="0" eaLnBrk="1" hangingPunct="1">
              <a:lnSpc>
                <a:spcPct val="130000"/>
              </a:lnSpc>
            </a:pPr>
            <a:r>
              <a:rPr sz="2000"/>
              <a:t>In data warehousing literature, an n-D base cube is called a </a:t>
            </a:r>
            <a:r>
              <a:rPr sz="2000">
                <a:solidFill>
                  <a:schemeClr val="hlink"/>
                </a:solidFill>
              </a:rPr>
              <a:t>base cuboid</a:t>
            </a:r>
            <a:r>
              <a:rPr sz="2000"/>
              <a:t>. The top most 0-D cuboid, which holds the highest-level of summarization, is called the </a:t>
            </a:r>
            <a:r>
              <a:rPr sz="2000">
                <a:solidFill>
                  <a:schemeClr val="hlink"/>
                </a:solidFill>
              </a:rPr>
              <a:t>apex cuboid</a:t>
            </a:r>
            <a:r>
              <a:rPr sz="2000"/>
              <a:t>.  The lattice of cuboids forms a </a:t>
            </a:r>
            <a:r>
              <a:rPr sz="2000">
                <a:solidFill>
                  <a:schemeClr val="hlink"/>
                </a:solidFill>
              </a:rPr>
              <a:t>data cube.</a:t>
            </a:r>
            <a:endParaRPr sz="2000">
              <a:solidFill>
                <a:schemeClr val="hlink"/>
              </a:solidFill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945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AA5D2A4-6D5B-462A-BB4B-BEAEE9A97D6D}" type="slidenum">
              <a:rPr sz="1200"/>
              <a:t>17</a:t>
            </a:fld>
            <a:endParaRPr sz="1200"/>
          </a:p>
        </p:txBody>
      </p:sp>
      <p:sp>
        <p:nvSpPr>
          <p:cNvPr id="19459" name="Rectangle 2" title=""/>
          <p:cNvSpPr>
            <a:spLocks noGrp="1"/>
          </p:cNvSpPr>
          <p:nvPr>
            <p:ph type="title"/>
          </p:nvPr>
        </p:nvSpPr>
        <p:spPr>
          <a:xfrm>
            <a:off x="954088" y="304800"/>
            <a:ext cx="6970712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>
                <a:ea typeface="SimSun" pitchFamily="2" charset="-122"/>
              </a:rPr>
              <a:t>Cube: A Lattice of Cuboids</a:t>
            </a:r>
            <a:endParaRPr lang="en-US" altLang="zh-CN">
              <a:ea typeface="SimSun" pitchFamily="2" charset="-122"/>
            </a:endParaRPr>
          </a:p>
        </p:txBody>
      </p:sp>
      <p:sp>
        <p:nvSpPr>
          <p:cNvPr id="19460" name="Text Box 56" title=""/>
          <p:cNvSpPr txBox="1"/>
          <p:nvPr/>
        </p:nvSpPr>
        <p:spPr>
          <a:xfrm>
            <a:off x="136525" y="3719513"/>
            <a:ext cx="1006475" cy="3365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600" b="1">
                <a:latin typeface="Times New Roman" pitchFamily="18" charset="0"/>
                <a:ea typeface="SimSun" pitchFamily="2" charset="-122"/>
              </a:rPr>
              <a:t>time,item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461" name="Text Box 62" title=""/>
          <p:cNvSpPr txBox="1"/>
          <p:nvPr/>
        </p:nvSpPr>
        <p:spPr>
          <a:xfrm>
            <a:off x="136525" y="4938713"/>
            <a:ext cx="1747838" cy="3365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600" b="1">
                <a:latin typeface="Times New Roman" pitchFamily="18" charset="0"/>
                <a:ea typeface="SimSun" pitchFamily="2" charset="-122"/>
              </a:rPr>
              <a:t>time,item,location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462" name="Text Box 67" title=""/>
          <p:cNvSpPr txBox="1"/>
          <p:nvPr/>
        </p:nvSpPr>
        <p:spPr>
          <a:xfrm>
            <a:off x="1981200" y="5943600"/>
            <a:ext cx="2663825" cy="3365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600" b="1">
                <a:latin typeface="Times New Roman" pitchFamily="18" charset="0"/>
                <a:ea typeface="SimSun" pitchFamily="2" charset="-122"/>
              </a:rPr>
              <a:t>time, item, location, supplier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grpSp>
        <p:nvGrpSpPr>
          <p:cNvPr id="19463" name="Group 73" title=""/>
          <p:cNvGrpSpPr/>
          <p:nvPr/>
        </p:nvGrpSpPr>
        <p:grpSpPr>
          <a:xfrm>
            <a:off x="609600" y="1524000"/>
            <a:ext cx="8339138" cy="4481513"/>
            <a:chOff x="384" y="1209"/>
            <a:chExt cx="5253" cy="2823"/>
          </a:xfrm>
        </p:grpSpPr>
        <p:sp>
          <p:nvSpPr>
            <p:cNvPr id="19464" name="AutoShape 3" title=""/>
            <p:cNvSpPr/>
            <p:nvPr/>
          </p:nvSpPr>
          <p:spPr>
            <a:xfrm>
              <a:off x="1872" y="1440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65" name="AutoShape 4" title=""/>
            <p:cNvSpPr/>
            <p:nvPr/>
          </p:nvSpPr>
          <p:spPr>
            <a:xfrm>
              <a:off x="81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66" name="AutoShape 5" title=""/>
            <p:cNvSpPr/>
            <p:nvPr/>
          </p:nvSpPr>
          <p:spPr>
            <a:xfrm>
              <a:off x="153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67" name="AutoShape 6" title=""/>
            <p:cNvSpPr/>
            <p:nvPr/>
          </p:nvSpPr>
          <p:spPr>
            <a:xfrm>
              <a:off x="225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68" name="AutoShape 7" title=""/>
            <p:cNvSpPr/>
            <p:nvPr/>
          </p:nvSpPr>
          <p:spPr>
            <a:xfrm>
              <a:off x="1728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69" name="AutoShape 8" title=""/>
            <p:cNvSpPr/>
            <p:nvPr/>
          </p:nvSpPr>
          <p:spPr>
            <a:xfrm>
              <a:off x="2976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0" name="AutoShape 9" title=""/>
            <p:cNvSpPr/>
            <p:nvPr/>
          </p:nvSpPr>
          <p:spPr>
            <a:xfrm>
              <a:off x="2400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1" name="AutoShape 10" title=""/>
            <p:cNvSpPr/>
            <p:nvPr/>
          </p:nvSpPr>
          <p:spPr>
            <a:xfrm>
              <a:off x="1056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2" name="AutoShape 11" title=""/>
            <p:cNvSpPr/>
            <p:nvPr/>
          </p:nvSpPr>
          <p:spPr>
            <a:xfrm>
              <a:off x="384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3" name="AutoShape 12" title=""/>
            <p:cNvSpPr/>
            <p:nvPr/>
          </p:nvSpPr>
          <p:spPr>
            <a:xfrm>
              <a:off x="2880" y="2016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4" name="AutoShape 13" title=""/>
            <p:cNvSpPr/>
            <p:nvPr/>
          </p:nvSpPr>
          <p:spPr>
            <a:xfrm>
              <a:off x="816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5" name="AutoShape 14" title=""/>
            <p:cNvSpPr/>
            <p:nvPr/>
          </p:nvSpPr>
          <p:spPr>
            <a:xfrm>
              <a:off x="3552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6" name="AutoShape 15" title=""/>
            <p:cNvSpPr/>
            <p:nvPr/>
          </p:nvSpPr>
          <p:spPr>
            <a:xfrm>
              <a:off x="1920" y="3888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7" name="AutoShape 16" title=""/>
            <p:cNvSpPr/>
            <p:nvPr/>
          </p:nvSpPr>
          <p:spPr>
            <a:xfrm>
              <a:off x="2784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8" name="AutoShape 17" title=""/>
            <p:cNvSpPr/>
            <p:nvPr/>
          </p:nvSpPr>
          <p:spPr>
            <a:xfrm>
              <a:off x="2112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79" name="AutoShape 18" title=""/>
            <p:cNvSpPr/>
            <p:nvPr/>
          </p:nvSpPr>
          <p:spPr>
            <a:xfrm>
              <a:off x="1440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19480" name="Text Box 19" title=""/>
            <p:cNvSpPr txBox="1"/>
            <p:nvPr/>
          </p:nvSpPr>
          <p:spPr>
            <a:xfrm>
              <a:off x="1766" y="1209"/>
              <a:ext cx="275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all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481" name="Text Box 20" title=""/>
            <p:cNvSpPr txBox="1"/>
            <p:nvPr/>
          </p:nvSpPr>
          <p:spPr>
            <a:xfrm>
              <a:off x="758" y="1737"/>
              <a:ext cx="39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time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482" name="Text Box 21" title=""/>
            <p:cNvSpPr txBox="1"/>
            <p:nvPr/>
          </p:nvSpPr>
          <p:spPr>
            <a:xfrm>
              <a:off x="1478" y="1737"/>
              <a:ext cx="39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item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483" name="Text Box 22" title=""/>
            <p:cNvSpPr txBox="1"/>
            <p:nvPr/>
          </p:nvSpPr>
          <p:spPr>
            <a:xfrm>
              <a:off x="2198" y="1737"/>
              <a:ext cx="630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location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484" name="Text Box 23" title=""/>
            <p:cNvSpPr txBox="1"/>
            <p:nvPr/>
          </p:nvSpPr>
          <p:spPr>
            <a:xfrm>
              <a:off x="2918" y="1737"/>
              <a:ext cx="630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485" name="Line 24" title=""/>
            <p:cNvSpPr/>
            <p:nvPr/>
          </p:nvSpPr>
          <p:spPr>
            <a:xfrm flipH="1">
              <a:off x="864" y="1488"/>
              <a:ext cx="1056" cy="528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86" name="Line 25" title=""/>
            <p:cNvSpPr/>
            <p:nvPr/>
          </p:nvSpPr>
          <p:spPr>
            <a:xfrm flipH="1">
              <a:off x="1632" y="1488"/>
              <a:ext cx="288" cy="528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87" name="Line 26" title=""/>
            <p:cNvSpPr/>
            <p:nvPr/>
          </p:nvSpPr>
          <p:spPr>
            <a:xfrm>
              <a:off x="1920" y="1488"/>
              <a:ext cx="384" cy="528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88" name="Line 27" title=""/>
            <p:cNvSpPr/>
            <p:nvPr/>
          </p:nvSpPr>
          <p:spPr>
            <a:xfrm>
              <a:off x="1920" y="1488"/>
              <a:ext cx="1056" cy="576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89" name="Line 28" title=""/>
            <p:cNvSpPr/>
            <p:nvPr/>
          </p:nvSpPr>
          <p:spPr>
            <a:xfrm flipH="1">
              <a:off x="432" y="2016"/>
              <a:ext cx="432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0" name="Line 29" title=""/>
            <p:cNvSpPr/>
            <p:nvPr/>
          </p:nvSpPr>
          <p:spPr>
            <a:xfrm>
              <a:off x="864" y="2016"/>
              <a:ext cx="240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1" name="Line 30" title=""/>
            <p:cNvSpPr/>
            <p:nvPr/>
          </p:nvSpPr>
          <p:spPr>
            <a:xfrm>
              <a:off x="864" y="2016"/>
              <a:ext cx="912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2" name="Line 31" title=""/>
            <p:cNvSpPr/>
            <p:nvPr/>
          </p:nvSpPr>
          <p:spPr>
            <a:xfrm flipH="1">
              <a:off x="432" y="2016"/>
              <a:ext cx="1200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3" name="Line 32" title=""/>
            <p:cNvSpPr/>
            <p:nvPr/>
          </p:nvSpPr>
          <p:spPr>
            <a:xfrm>
              <a:off x="1632" y="2016"/>
              <a:ext cx="816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4" name="Line 33" title=""/>
            <p:cNvSpPr/>
            <p:nvPr/>
          </p:nvSpPr>
          <p:spPr>
            <a:xfrm>
              <a:off x="1632" y="2016"/>
              <a:ext cx="1392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5" name="Line 34" title=""/>
            <p:cNvSpPr/>
            <p:nvPr/>
          </p:nvSpPr>
          <p:spPr>
            <a:xfrm>
              <a:off x="2304" y="2016"/>
              <a:ext cx="144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6" name="Line 35" title=""/>
            <p:cNvSpPr/>
            <p:nvPr/>
          </p:nvSpPr>
          <p:spPr>
            <a:xfrm>
              <a:off x="2304" y="2016"/>
              <a:ext cx="1296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7" name="Line 36" title=""/>
            <p:cNvSpPr/>
            <p:nvPr/>
          </p:nvSpPr>
          <p:spPr>
            <a:xfrm flipH="1">
              <a:off x="1104" y="2016"/>
              <a:ext cx="1200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8" name="Line 37" title=""/>
            <p:cNvSpPr/>
            <p:nvPr/>
          </p:nvSpPr>
          <p:spPr>
            <a:xfrm flipH="1">
              <a:off x="1776" y="2064"/>
              <a:ext cx="1200" cy="576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499" name="Line 38" title=""/>
            <p:cNvSpPr/>
            <p:nvPr/>
          </p:nvSpPr>
          <p:spPr>
            <a:xfrm>
              <a:off x="2976" y="2064"/>
              <a:ext cx="48" cy="576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0" name="Line 39" title=""/>
            <p:cNvSpPr/>
            <p:nvPr/>
          </p:nvSpPr>
          <p:spPr>
            <a:xfrm>
              <a:off x="2976" y="2064"/>
              <a:ext cx="624" cy="576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1" name="Line 40" title=""/>
            <p:cNvSpPr/>
            <p:nvPr/>
          </p:nvSpPr>
          <p:spPr>
            <a:xfrm>
              <a:off x="432" y="2640"/>
              <a:ext cx="432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2" name="Line 41" title=""/>
            <p:cNvSpPr/>
            <p:nvPr/>
          </p:nvSpPr>
          <p:spPr>
            <a:xfrm>
              <a:off x="432" y="2640"/>
              <a:ext cx="1056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3" name="Line 42" title=""/>
            <p:cNvSpPr/>
            <p:nvPr/>
          </p:nvSpPr>
          <p:spPr>
            <a:xfrm flipH="1">
              <a:off x="864" y="2640"/>
              <a:ext cx="240" cy="720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4" name="Line 43" title=""/>
            <p:cNvSpPr/>
            <p:nvPr/>
          </p:nvSpPr>
          <p:spPr>
            <a:xfrm>
              <a:off x="1104" y="2640"/>
              <a:ext cx="1056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5" name="Line 44" title=""/>
            <p:cNvSpPr/>
            <p:nvPr/>
          </p:nvSpPr>
          <p:spPr>
            <a:xfrm flipH="1">
              <a:off x="1488" y="2640"/>
              <a:ext cx="288" cy="720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6" name="Line 45" title=""/>
            <p:cNvSpPr/>
            <p:nvPr/>
          </p:nvSpPr>
          <p:spPr>
            <a:xfrm>
              <a:off x="1776" y="2640"/>
              <a:ext cx="384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7" name="Line 46" title=""/>
            <p:cNvSpPr/>
            <p:nvPr/>
          </p:nvSpPr>
          <p:spPr>
            <a:xfrm flipH="1">
              <a:off x="864" y="2640"/>
              <a:ext cx="1584" cy="720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8" name="Line 47" title=""/>
            <p:cNvSpPr/>
            <p:nvPr/>
          </p:nvSpPr>
          <p:spPr>
            <a:xfrm>
              <a:off x="2448" y="2640"/>
              <a:ext cx="384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09" name="Line 48" title=""/>
            <p:cNvSpPr/>
            <p:nvPr/>
          </p:nvSpPr>
          <p:spPr>
            <a:xfrm flipH="1">
              <a:off x="1488" y="2640"/>
              <a:ext cx="1536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0" name="Line 49" title=""/>
            <p:cNvSpPr/>
            <p:nvPr/>
          </p:nvSpPr>
          <p:spPr>
            <a:xfrm flipH="1">
              <a:off x="2832" y="2640"/>
              <a:ext cx="192" cy="720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1" name="Line 50" title=""/>
            <p:cNvSpPr/>
            <p:nvPr/>
          </p:nvSpPr>
          <p:spPr>
            <a:xfrm flipH="1">
              <a:off x="2832" y="2640"/>
              <a:ext cx="768" cy="720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2" name="Line 51" title=""/>
            <p:cNvSpPr/>
            <p:nvPr/>
          </p:nvSpPr>
          <p:spPr>
            <a:xfrm flipH="1">
              <a:off x="2160" y="2640"/>
              <a:ext cx="1440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3" name="Line 52" title=""/>
            <p:cNvSpPr/>
            <p:nvPr/>
          </p:nvSpPr>
          <p:spPr>
            <a:xfrm>
              <a:off x="864" y="3360"/>
              <a:ext cx="1104" cy="576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4" name="Line 53" title=""/>
            <p:cNvSpPr/>
            <p:nvPr/>
          </p:nvSpPr>
          <p:spPr>
            <a:xfrm>
              <a:off x="1488" y="3312"/>
              <a:ext cx="528" cy="672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5" name="Line 54" title=""/>
            <p:cNvSpPr/>
            <p:nvPr/>
          </p:nvSpPr>
          <p:spPr>
            <a:xfrm flipH="1">
              <a:off x="2016" y="3312"/>
              <a:ext cx="144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6" name="Line 55" title=""/>
            <p:cNvSpPr/>
            <p:nvPr/>
          </p:nvSpPr>
          <p:spPr>
            <a:xfrm flipH="1">
              <a:off x="1968" y="3360"/>
              <a:ext cx="864" cy="624"/>
            </a:xfrm>
            <a:prstGeom prst="line">
              <a:avLst/>
            </a:prstGeom>
            <a:noFill/>
            <a:ln>
              <a:solidFill>
                <a:schemeClr val="tx1"/>
              </a:solidFill>
              <a:miter lim="800000"/>
            </a:ln>
          </p:spPr>
        </p:sp>
        <p:sp>
          <p:nvSpPr>
            <p:cNvPr id="19517" name="Text Box 57" title=""/>
            <p:cNvSpPr txBox="1"/>
            <p:nvPr/>
          </p:nvSpPr>
          <p:spPr>
            <a:xfrm>
              <a:off x="806" y="2343"/>
              <a:ext cx="826" cy="21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time,location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18" name="Text Box 58" title=""/>
            <p:cNvSpPr txBox="1"/>
            <p:nvPr/>
          </p:nvSpPr>
          <p:spPr>
            <a:xfrm>
              <a:off x="1430" y="2679"/>
              <a:ext cx="840" cy="21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19" name="Text Box 59" title=""/>
            <p:cNvSpPr txBox="1"/>
            <p:nvPr/>
          </p:nvSpPr>
          <p:spPr>
            <a:xfrm>
              <a:off x="2102" y="2343"/>
              <a:ext cx="826" cy="21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item,location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0" name="Text Box 60" title=""/>
            <p:cNvSpPr txBox="1"/>
            <p:nvPr/>
          </p:nvSpPr>
          <p:spPr>
            <a:xfrm>
              <a:off x="2678" y="2727"/>
              <a:ext cx="840" cy="21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item,supplier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1" name="Text Box 61" title=""/>
            <p:cNvSpPr txBox="1"/>
            <p:nvPr/>
          </p:nvSpPr>
          <p:spPr>
            <a:xfrm>
              <a:off x="3398" y="2343"/>
              <a:ext cx="1032" cy="21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location,supplier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2" name="Text Box 63" title=""/>
            <p:cNvSpPr txBox="1"/>
            <p:nvPr/>
          </p:nvSpPr>
          <p:spPr>
            <a:xfrm>
              <a:off x="1046" y="3463"/>
              <a:ext cx="986" cy="19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400" b="1">
                  <a:latin typeface="Times New Roman" pitchFamily="18" charset="0"/>
                  <a:ea typeface="SimSun" pitchFamily="2" charset="-122"/>
                </a:rPr>
                <a:t>time,item,supplier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3" name="Text Box 64" title=""/>
            <p:cNvSpPr txBox="1"/>
            <p:nvPr/>
          </p:nvSpPr>
          <p:spPr>
            <a:xfrm>
              <a:off x="1728" y="3024"/>
              <a:ext cx="1154" cy="19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400" b="1">
                  <a:latin typeface="Times New Roman" pitchFamily="18" charset="0"/>
                  <a:ea typeface="SimSun" pitchFamily="2" charset="-122"/>
                </a:rPr>
                <a:t>time,location,supplier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4" name="Text Box 66" title=""/>
            <p:cNvSpPr txBox="1"/>
            <p:nvPr/>
          </p:nvSpPr>
          <p:spPr>
            <a:xfrm>
              <a:off x="2486" y="3447"/>
              <a:ext cx="1307" cy="21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item,location,supplier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5" name="Text Box 68" title=""/>
            <p:cNvSpPr txBox="1"/>
            <p:nvPr/>
          </p:nvSpPr>
          <p:spPr>
            <a:xfrm>
              <a:off x="4320" y="1296"/>
              <a:ext cx="1288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zh-CN" altLang="en-US" sz="2000">
                  <a:latin typeface="Times New Roman" pitchFamily="18" charset="0"/>
                  <a:ea typeface="SimSun" pitchFamily="2" charset="-122"/>
                </a:rPr>
                <a:t>0-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D 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apex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 cuboid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6" name="Text Box 69" title=""/>
            <p:cNvSpPr txBox="1"/>
            <p:nvPr/>
          </p:nvSpPr>
          <p:spPr>
            <a:xfrm>
              <a:off x="4310" y="1881"/>
              <a:ext cx="902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zh-CN" altLang="en-US" sz="2000">
                  <a:latin typeface="Times New Roman" pitchFamily="18" charset="0"/>
                  <a:ea typeface="SimSun" pitchFamily="2" charset="-122"/>
                </a:rPr>
                <a:t>1-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D cuboids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7" name="Text Box 70" title=""/>
            <p:cNvSpPr txBox="1"/>
            <p:nvPr/>
          </p:nvSpPr>
          <p:spPr>
            <a:xfrm>
              <a:off x="4310" y="2553"/>
              <a:ext cx="902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zh-CN" altLang="en-US" sz="2000">
                  <a:latin typeface="Times New Roman" pitchFamily="18" charset="0"/>
                  <a:ea typeface="SimSun" pitchFamily="2" charset="-122"/>
                </a:rPr>
                <a:t>2-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D cuboids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8" name="Text Box 71" title=""/>
            <p:cNvSpPr txBox="1"/>
            <p:nvPr/>
          </p:nvSpPr>
          <p:spPr>
            <a:xfrm>
              <a:off x="4310" y="3129"/>
              <a:ext cx="902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zh-CN" altLang="en-US" sz="2000">
                  <a:latin typeface="Times New Roman" pitchFamily="18" charset="0"/>
                  <a:ea typeface="SimSun" pitchFamily="2" charset="-122"/>
                </a:rPr>
                <a:t>3-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D cuboids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9529" name="Text Box 72" title=""/>
            <p:cNvSpPr txBox="1"/>
            <p:nvPr/>
          </p:nvSpPr>
          <p:spPr>
            <a:xfrm>
              <a:off x="4358" y="3705"/>
              <a:ext cx="127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lang="zh-CN" altLang="en-US" sz="2000">
                  <a:latin typeface="Times New Roman" pitchFamily="18" charset="0"/>
                  <a:ea typeface="SimSun" pitchFamily="2" charset="-122"/>
                </a:rPr>
                <a:t>4-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D (</a:t>
              </a:r>
              <a:r>
                <a:rPr lang="en-US" altLang="zh-CN" sz="2000" i="1">
                  <a:latin typeface="Times New Roman" pitchFamily="18" charset="0"/>
                  <a:ea typeface="SimSun" pitchFamily="2" charset="-122"/>
                </a:rPr>
                <a:t>base</a:t>
              </a:r>
              <a:r>
                <a:rPr lang="en-US" altLang="zh-CN" sz="2000">
                  <a:latin typeface="Times New Roman" pitchFamily="18" charset="0"/>
                  <a:ea typeface="SimSun" pitchFamily="2" charset="-122"/>
                </a:rPr>
                <a:t>) cuboid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</p:grp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048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B738318-57EA-46D4-B5D3-4F9985A93D07}" type="slidenum">
              <a:rPr sz="1200"/>
              <a:t>18</a:t>
            </a:fld>
            <a:endParaRPr sz="1200"/>
          </a:p>
        </p:txBody>
      </p:sp>
      <p:sp>
        <p:nvSpPr>
          <p:cNvPr id="20483" name="Rectangle 2" title="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8382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Conceptual Modeling of Data Warehouses</a:t>
            </a:r>
            <a:endParaRPr sz="3200"/>
          </a:p>
        </p:txBody>
      </p:sp>
      <p:sp>
        <p:nvSpPr>
          <p:cNvPr id="20484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8382000" cy="51054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30000"/>
              </a:lnSpc>
            </a:pPr>
            <a:r>
              <a:rPr sz="2400"/>
              <a:t>Modeling data warehouses: dimensions &amp; measures</a:t>
            </a:r>
            <a:endParaRPr sz="2400"/>
          </a:p>
          <a:p>
            <a:pPr lvl="1" eaLnBrk="1" hangingPunct="1">
              <a:lnSpc>
                <a:spcPct val="130000"/>
              </a:lnSpc>
              <a:spcBef>
                <a:spcPct val="10000"/>
              </a:spcBef>
            </a:pPr>
            <a:r>
              <a:rPr sz="2400" u="sng">
                <a:solidFill>
                  <a:schemeClr val="hlink"/>
                </a:solidFill>
              </a:rPr>
              <a:t>Star schema</a:t>
            </a:r>
            <a:r>
              <a:rPr sz="2400"/>
              <a:t>: </a:t>
            </a:r>
            <a:r>
              <a:rPr sz="2400">
                <a:solidFill>
                  <a:srgbClr val="006666"/>
                </a:solidFill>
              </a:rPr>
              <a:t>A fact table in the middle connected to a set of dimension tables </a:t>
            </a:r>
            <a:endParaRPr sz="2400">
              <a:solidFill>
                <a:srgbClr val="006666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10000"/>
              </a:spcBef>
            </a:pPr>
            <a:r>
              <a:rPr sz="2400" u="sng">
                <a:solidFill>
                  <a:schemeClr val="hlink"/>
                </a:solidFill>
              </a:rPr>
              <a:t>Snowflake schema</a:t>
            </a:r>
            <a:r>
              <a:rPr sz="2400"/>
              <a:t>:  </a:t>
            </a:r>
            <a:r>
              <a:rPr sz="2400">
                <a:solidFill>
                  <a:srgbClr val="006666"/>
                </a:solidFill>
              </a:rPr>
              <a:t>A refinement of star schema where some dimensional hierarchy is </a:t>
            </a:r>
            <a:r>
              <a:rPr sz="2400">
                <a:solidFill>
                  <a:schemeClr val="folHlink"/>
                </a:solidFill>
              </a:rPr>
              <a:t>normalized</a:t>
            </a:r>
            <a:r>
              <a:rPr sz="2400">
                <a:solidFill>
                  <a:srgbClr val="006666"/>
                </a:solidFill>
              </a:rPr>
              <a:t> into a set of smaller dimension tables</a:t>
            </a:r>
            <a:r>
              <a:rPr sz="2400"/>
              <a:t>, forming a shape similar to snowflake</a:t>
            </a:r>
            <a:endParaRPr sz="2400"/>
          </a:p>
          <a:p>
            <a:pPr lvl="1" eaLnBrk="1" hangingPunct="1">
              <a:lnSpc>
                <a:spcPct val="130000"/>
              </a:lnSpc>
              <a:spcBef>
                <a:spcPct val="10000"/>
              </a:spcBef>
            </a:pPr>
            <a:r>
              <a:rPr sz="2400" u="sng">
                <a:solidFill>
                  <a:schemeClr val="hlink"/>
                </a:solidFill>
              </a:rPr>
              <a:t>Fact constellations</a:t>
            </a:r>
            <a:r>
              <a:rPr sz="2400"/>
              <a:t>:  </a:t>
            </a:r>
            <a:r>
              <a:rPr sz="2400">
                <a:solidFill>
                  <a:srgbClr val="006666"/>
                </a:solidFill>
              </a:rPr>
              <a:t>Multiple fact tables share dimension tables</a:t>
            </a:r>
            <a:r>
              <a:rPr sz="2400"/>
              <a:t>, viewed as a collection of stars, therefore called </a:t>
            </a:r>
            <a:r>
              <a:rPr sz="2400">
                <a:solidFill>
                  <a:schemeClr val="folHlink"/>
                </a:solidFill>
              </a:rPr>
              <a:t>galaxy schema</a:t>
            </a:r>
            <a:r>
              <a:rPr sz="2400"/>
              <a:t> or fact constellation</a:t>
            </a:r>
            <a:r>
              <a:t> </a:t>
            </a: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150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15F172BE-82CF-431E-8642-F760E612896C}" type="slidenum">
              <a:rPr sz="1200"/>
              <a:t>19</a:t>
            </a:fld>
            <a:endParaRPr sz="1200"/>
          </a:p>
        </p:txBody>
      </p:sp>
      <p:sp>
        <p:nvSpPr>
          <p:cNvPr id="21507" name="Rectangle 2" title=""/>
          <p:cNvSpPr>
            <a:spLocks noGrp="1"/>
          </p:cNvSpPr>
          <p:nvPr>
            <p:ph type="title"/>
          </p:nvPr>
        </p:nvSpPr>
        <p:spPr>
          <a:xfrm>
            <a:off x="495300" y="414338"/>
            <a:ext cx="7772400" cy="498475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Example of </a:t>
            </a:r>
            <a:r>
              <a:rPr b="1"/>
              <a:t>Star Schema</a:t>
            </a:r>
            <a:endParaRPr b="1"/>
          </a:p>
        </p:txBody>
      </p:sp>
      <p:sp>
        <p:nvSpPr>
          <p:cNvPr id="21508" name="Rectangle 3" title=""/>
          <p:cNvSpPr>
            <a:spLocks noGrp="1"/>
          </p:cNvSpPr>
          <p:nvPr>
            <p:ph type="body" idx="1"/>
          </p:nvPr>
        </p:nvSpPr>
        <p:spPr>
          <a:xfrm>
            <a:off x="6419850" y="1676400"/>
            <a:ext cx="2495550" cy="43053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buNone/>
            </a:pPr>
            <a:r>
              <a:rPr sz="2000"/>
              <a:t>   </a:t>
            </a:r>
            <a:endParaRPr sz="2000"/>
          </a:p>
        </p:txBody>
      </p:sp>
      <p:sp>
        <p:nvSpPr>
          <p:cNvPr id="21509" name="Rectangle 5" title=""/>
          <p:cNvSpPr/>
          <p:nvPr/>
        </p:nvSpPr>
        <p:spPr>
          <a:xfrm>
            <a:off x="3548063" y="3162300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grpSp>
        <p:nvGrpSpPr>
          <p:cNvPr id="21510" name="Group 6" title=""/>
          <p:cNvGrpSpPr/>
          <p:nvPr/>
        </p:nvGrpSpPr>
        <p:grpSpPr>
          <a:xfrm>
            <a:off x="304800" y="1295400"/>
            <a:ext cx="1819275" cy="2163763"/>
            <a:chOff x="277" y="1164"/>
            <a:chExt cx="1133" cy="1341"/>
          </a:xfrm>
        </p:grpSpPr>
        <p:sp>
          <p:nvSpPr>
            <p:cNvPr id="21542" name="Rectangle 7" title=""/>
            <p:cNvSpPr/>
            <p:nvPr/>
          </p:nvSpPr>
          <p:spPr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time_key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day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day_of_the_week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month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quarter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year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1543" name="Rectangle 8" title=""/>
            <p:cNvSpPr/>
            <p:nvPr/>
          </p:nvSpPr>
          <p:spPr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time</a:t>
              </a:r>
              <a:endParaRPr sz="2000">
                <a:latin typeface="Times New Roman" pitchFamily="18" charset="0"/>
              </a:endParaRPr>
            </a:p>
          </p:txBody>
        </p:sp>
      </p:grpSp>
      <p:grpSp>
        <p:nvGrpSpPr>
          <p:cNvPr id="21511" name="Group 9" title=""/>
          <p:cNvGrpSpPr/>
          <p:nvPr/>
        </p:nvGrpSpPr>
        <p:grpSpPr>
          <a:xfrm>
            <a:off x="6604000" y="3867150"/>
            <a:ext cx="1831975" cy="1884363"/>
            <a:chOff x="684" y="2196"/>
            <a:chExt cx="1140" cy="1168"/>
          </a:xfrm>
        </p:grpSpPr>
        <p:sp>
          <p:nvSpPr>
            <p:cNvPr id="21540" name="Rectangle 10" title=""/>
            <p:cNvSpPr/>
            <p:nvPr/>
          </p:nvSpPr>
          <p:spPr>
            <a:xfrm>
              <a:off x="684" y="2450"/>
              <a:ext cx="1140" cy="91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location_key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street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city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state_or_province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country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1541" name="Rectangle 11" title=""/>
            <p:cNvSpPr/>
            <p:nvPr/>
          </p:nvSpPr>
          <p:spPr>
            <a:xfrm>
              <a:off x="684" y="2196"/>
              <a:ext cx="630" cy="25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location</a:t>
              </a:r>
              <a:endParaRPr sz="2000">
                <a:latin typeface="Times New Roman" pitchFamily="18" charset="0"/>
              </a:endParaRPr>
            </a:p>
          </p:txBody>
        </p:sp>
      </p:grpSp>
      <p:sp>
        <p:nvSpPr>
          <p:cNvPr id="21512" name="Rectangle 12" title=""/>
          <p:cNvSpPr/>
          <p:nvPr/>
        </p:nvSpPr>
        <p:spPr>
          <a:xfrm>
            <a:off x="3451225" y="2279650"/>
            <a:ext cx="1860550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Sales Fact Table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13" name="Rectangle 13" title=""/>
          <p:cNvSpPr/>
          <p:nvPr/>
        </p:nvSpPr>
        <p:spPr>
          <a:xfrm>
            <a:off x="3548063" y="2697163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1514" name="Rectangle 14" title=""/>
          <p:cNvSpPr/>
          <p:nvPr/>
        </p:nvSpPr>
        <p:spPr>
          <a:xfrm>
            <a:off x="3581400" y="2743200"/>
            <a:ext cx="2057400" cy="396875"/>
          </a:xfrm>
          <a:prstGeom prst="rect">
            <a:avLst/>
          </a:prstGeom>
          <a:solidFill>
            <a:srgbClr val="00FF99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2000">
                <a:latin typeface="Times New Roman" pitchFamily="18" charset="0"/>
              </a:rPr>
              <a:t>           time_key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15" name="Rectangle 15" title=""/>
          <p:cNvSpPr/>
          <p:nvPr/>
        </p:nvSpPr>
        <p:spPr>
          <a:xfrm>
            <a:off x="3582988" y="3192463"/>
            <a:ext cx="2016125" cy="396875"/>
          </a:xfrm>
          <a:prstGeom prst="rect">
            <a:avLst/>
          </a:prstGeom>
          <a:solidFill>
            <a:srgbClr val="FFCC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   item_key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16" name="Rectangle 16" title=""/>
          <p:cNvSpPr/>
          <p:nvPr/>
        </p:nvSpPr>
        <p:spPr>
          <a:xfrm>
            <a:off x="3548063" y="3627438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1517" name="Rectangle 17" title=""/>
          <p:cNvSpPr/>
          <p:nvPr/>
        </p:nvSpPr>
        <p:spPr>
          <a:xfrm>
            <a:off x="3582988" y="3638550"/>
            <a:ext cx="2066925" cy="396875"/>
          </a:xfrm>
          <a:prstGeom prst="rect">
            <a:avLst/>
          </a:prstGeom>
          <a:solidFill>
            <a:srgbClr val="CCECFF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branch_key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18" name="Rectangle 18" title=""/>
          <p:cNvSpPr/>
          <p:nvPr/>
        </p:nvSpPr>
        <p:spPr>
          <a:xfrm>
            <a:off x="3548063" y="4090988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1519" name="Rectangle 19" title=""/>
          <p:cNvSpPr/>
          <p:nvPr/>
        </p:nvSpPr>
        <p:spPr>
          <a:xfrm>
            <a:off x="3581400" y="4114800"/>
            <a:ext cx="2065338" cy="396875"/>
          </a:xfrm>
          <a:prstGeom prst="rect">
            <a:avLst/>
          </a:prstGeom>
          <a:solidFill>
            <a:srgbClr val="FFFF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location_key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20" name="Rectangle 20" title=""/>
          <p:cNvSpPr/>
          <p:nvPr/>
        </p:nvSpPr>
        <p:spPr>
          <a:xfrm>
            <a:off x="3548063" y="4556125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1521" name="Rectangle 21" title=""/>
          <p:cNvSpPr/>
          <p:nvPr/>
        </p:nvSpPr>
        <p:spPr>
          <a:xfrm>
            <a:off x="3582988" y="4606925"/>
            <a:ext cx="1987550" cy="396875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 units_sold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22" name="Rectangle 22" title=""/>
          <p:cNvSpPr/>
          <p:nvPr/>
        </p:nvSpPr>
        <p:spPr>
          <a:xfrm>
            <a:off x="3548063" y="5021263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1523" name="Rectangle 23" title=""/>
          <p:cNvSpPr/>
          <p:nvPr/>
        </p:nvSpPr>
        <p:spPr>
          <a:xfrm>
            <a:off x="3582988" y="5051425"/>
            <a:ext cx="1993900" cy="396875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dollars_sold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24" name="Rectangle 24" title=""/>
          <p:cNvSpPr/>
          <p:nvPr/>
        </p:nvSpPr>
        <p:spPr>
          <a:xfrm>
            <a:off x="3548063" y="5486400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1525" name="Rectangle 25" title=""/>
          <p:cNvSpPr/>
          <p:nvPr/>
        </p:nvSpPr>
        <p:spPr>
          <a:xfrm>
            <a:off x="3563938" y="5497513"/>
            <a:ext cx="1995487" cy="396875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  avg_sales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26" name="Rectangle 26" title=""/>
          <p:cNvSpPr/>
          <p:nvPr/>
        </p:nvSpPr>
        <p:spPr>
          <a:xfrm>
            <a:off x="2057400" y="5905500"/>
            <a:ext cx="1219200" cy="406400"/>
          </a:xfrm>
          <a:prstGeom prst="rect">
            <a:avLst/>
          </a:prstGeom>
          <a:solidFill>
            <a:srgbClr val="FF99CC"/>
          </a:solidFill>
          <a:ln>
            <a:solidFill>
              <a:schemeClr val="tx1"/>
            </a:solidFill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sz="2000">
                <a:latin typeface="Times New Roman" pitchFamily="18" charset="0"/>
              </a:rPr>
              <a:t>Measures</a:t>
            </a:r>
            <a:endParaRPr sz="2000">
              <a:latin typeface="Times New Roman" pitchFamily="18" charset="0"/>
            </a:endParaRPr>
          </a:p>
        </p:txBody>
      </p:sp>
      <p:sp>
        <p:nvSpPr>
          <p:cNvPr id="21527" name="Line 27" title=""/>
          <p:cNvSpPr/>
          <p:nvPr/>
        </p:nvSpPr>
        <p:spPr>
          <a:xfrm flipV="1">
            <a:off x="2771775" y="478155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1528" name="Line 28" title=""/>
          <p:cNvSpPr/>
          <p:nvPr/>
        </p:nvSpPr>
        <p:spPr>
          <a:xfrm flipV="1">
            <a:off x="2752725" y="5324475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1529" name="Line 29" title=""/>
          <p:cNvSpPr/>
          <p:nvPr/>
        </p:nvSpPr>
        <p:spPr>
          <a:xfrm flipV="1">
            <a:off x="2752725" y="5692775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1530" name="Line 30" title=""/>
          <p:cNvSpPr/>
          <p:nvPr/>
        </p:nvSpPr>
        <p:spPr>
          <a:xfrm flipH="1">
            <a:off x="2328863" y="3949700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1531" name="Line 31" title=""/>
          <p:cNvSpPr/>
          <p:nvPr/>
        </p:nvSpPr>
        <p:spPr>
          <a:xfrm flipH="1" flipV="1">
            <a:off x="2133600" y="2514600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 w="sm" len="sm"/>
          </a:ln>
        </p:spPr>
      </p:sp>
      <p:sp>
        <p:nvSpPr>
          <p:cNvPr id="21532" name="Line 32" title=""/>
          <p:cNvSpPr/>
          <p:nvPr/>
        </p:nvSpPr>
        <p:spPr>
          <a:xfrm>
            <a:off x="5580063" y="4356100"/>
            <a:ext cx="1039812" cy="38735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1533" name="Line 33" title=""/>
          <p:cNvSpPr/>
          <p:nvPr/>
        </p:nvSpPr>
        <p:spPr>
          <a:xfrm flipV="1">
            <a:off x="5580063" y="2709863"/>
            <a:ext cx="1077912" cy="677862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grpSp>
        <p:nvGrpSpPr>
          <p:cNvPr id="21534" name="Group 34" title=""/>
          <p:cNvGrpSpPr/>
          <p:nvPr/>
        </p:nvGrpSpPr>
        <p:grpSpPr>
          <a:xfrm>
            <a:off x="6610350" y="1600200"/>
            <a:ext cx="1438275" cy="1925638"/>
            <a:chOff x="3796" y="983"/>
            <a:chExt cx="896" cy="1194"/>
          </a:xfrm>
        </p:grpSpPr>
        <p:sp>
          <p:nvSpPr>
            <p:cNvPr id="21538" name="Rectangle 35" title=""/>
            <p:cNvSpPr/>
            <p:nvPr/>
          </p:nvSpPr>
          <p:spPr>
            <a:xfrm>
              <a:off x="3796" y="1262"/>
              <a:ext cx="896" cy="915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item_key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item_name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brand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type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supplier_type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1539" name="Text Box 36" title=""/>
            <p:cNvSpPr txBox="1"/>
            <p:nvPr/>
          </p:nvSpPr>
          <p:spPr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>
                  <a:latin typeface="Times New Roman" pitchFamily="18" charset="0"/>
                </a:rPr>
                <a:t>item</a:t>
              </a:r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1535" name="Group 37" title=""/>
          <p:cNvGrpSpPr/>
          <p:nvPr/>
        </p:nvGrpSpPr>
        <p:grpSpPr>
          <a:xfrm>
            <a:off x="838200" y="3886200"/>
            <a:ext cx="1509713" cy="1393825"/>
            <a:chOff x="3844" y="2426"/>
            <a:chExt cx="939" cy="864"/>
          </a:xfrm>
        </p:grpSpPr>
        <p:sp>
          <p:nvSpPr>
            <p:cNvPr id="21536" name="Rectangle 38" title=""/>
            <p:cNvSpPr/>
            <p:nvPr/>
          </p:nvSpPr>
          <p:spPr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branch_key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branch_name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branch_type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1537" name="Text Box 39" title=""/>
            <p:cNvSpPr txBox="1"/>
            <p:nvPr/>
          </p:nvSpPr>
          <p:spPr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>
                  <a:latin typeface="Times New Roman" pitchFamily="18" charset="0"/>
                </a:rPr>
                <a:t>branch</a:t>
              </a:r>
              <a:endParaRPr>
                <a:latin typeface="Times New Roman" pitchFamily="18" charset="0"/>
              </a:endParaRPr>
            </a:p>
          </p:txBody>
        </p:sp>
      </p:grp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253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B579693B-C1C2-4D23-B017-5FCF7101B883}" type="slidenum">
              <a:rPr sz="1200"/>
              <a:t>20</a:t>
            </a:fld>
            <a:endParaRPr sz="1200"/>
          </a:p>
        </p:txBody>
      </p:sp>
      <p:sp>
        <p:nvSpPr>
          <p:cNvPr id="22531" name="Rectangle 2" title=""/>
          <p:cNvSpPr>
            <a:spLocks noGrp="1"/>
          </p:cNvSpPr>
          <p:nvPr>
            <p:ph type="title"/>
          </p:nvPr>
        </p:nvSpPr>
        <p:spPr>
          <a:xfrm>
            <a:off x="495300" y="414338"/>
            <a:ext cx="7772400" cy="498475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Example of </a:t>
            </a:r>
            <a:r>
              <a:rPr b="1"/>
              <a:t>Snowflake Schema</a:t>
            </a:r>
            <a:endParaRPr b="1"/>
          </a:p>
        </p:txBody>
      </p:sp>
      <p:sp>
        <p:nvSpPr>
          <p:cNvPr id="22532" name="Rectangle 4" title=""/>
          <p:cNvSpPr/>
          <p:nvPr/>
        </p:nvSpPr>
        <p:spPr>
          <a:xfrm>
            <a:off x="3317875" y="3105150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grpSp>
        <p:nvGrpSpPr>
          <p:cNvPr id="22533" name="Group 5" title=""/>
          <p:cNvGrpSpPr/>
          <p:nvPr/>
        </p:nvGrpSpPr>
        <p:grpSpPr>
          <a:xfrm>
            <a:off x="304800" y="1295400"/>
            <a:ext cx="1819275" cy="2163763"/>
            <a:chOff x="277" y="1164"/>
            <a:chExt cx="1133" cy="1341"/>
          </a:xfrm>
        </p:grpSpPr>
        <p:sp>
          <p:nvSpPr>
            <p:cNvPr id="22573" name="Rectangle 6" title=""/>
            <p:cNvSpPr/>
            <p:nvPr/>
          </p:nvSpPr>
          <p:spPr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time_key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day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day_of_the_week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month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quarter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year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2574" name="Rectangle 7" title=""/>
            <p:cNvSpPr/>
            <p:nvPr/>
          </p:nvSpPr>
          <p:spPr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time</a:t>
              </a:r>
              <a:endParaRPr sz="2000">
                <a:latin typeface="Times New Roman" pitchFamily="18" charset="0"/>
              </a:endParaRPr>
            </a:p>
          </p:txBody>
        </p:sp>
      </p:grpSp>
      <p:grpSp>
        <p:nvGrpSpPr>
          <p:cNvPr id="22534" name="Group 8" title=""/>
          <p:cNvGrpSpPr/>
          <p:nvPr/>
        </p:nvGrpSpPr>
        <p:grpSpPr>
          <a:xfrm>
            <a:off x="5943600" y="3810000"/>
            <a:ext cx="1374775" cy="1331913"/>
            <a:chOff x="684" y="2196"/>
            <a:chExt cx="1298" cy="834"/>
          </a:xfrm>
        </p:grpSpPr>
        <p:sp>
          <p:nvSpPr>
            <p:cNvPr id="22571" name="Rectangle 9" title=""/>
            <p:cNvSpPr/>
            <p:nvPr/>
          </p:nvSpPr>
          <p:spPr>
            <a:xfrm>
              <a:off x="684" y="2450"/>
              <a:ext cx="1298" cy="58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location_key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street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city_key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2572" name="Rectangle 10" title=""/>
            <p:cNvSpPr/>
            <p:nvPr/>
          </p:nvSpPr>
          <p:spPr>
            <a:xfrm>
              <a:off x="684" y="2196"/>
              <a:ext cx="953" cy="25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location</a:t>
              </a:r>
              <a:endParaRPr sz="2000">
                <a:latin typeface="Times New Roman" pitchFamily="18" charset="0"/>
              </a:endParaRPr>
            </a:p>
          </p:txBody>
        </p:sp>
      </p:grpSp>
      <p:sp>
        <p:nvSpPr>
          <p:cNvPr id="22535" name="Rectangle 11" title=""/>
          <p:cNvSpPr/>
          <p:nvPr/>
        </p:nvSpPr>
        <p:spPr>
          <a:xfrm>
            <a:off x="3275013" y="2152650"/>
            <a:ext cx="1860550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Sales Fact Table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36" name="Rectangle 12" title=""/>
          <p:cNvSpPr/>
          <p:nvPr/>
        </p:nvSpPr>
        <p:spPr>
          <a:xfrm>
            <a:off x="3317875" y="2640013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2537" name="Rectangle 13" title=""/>
          <p:cNvSpPr/>
          <p:nvPr/>
        </p:nvSpPr>
        <p:spPr>
          <a:xfrm>
            <a:off x="3351213" y="2686050"/>
            <a:ext cx="2057400" cy="396875"/>
          </a:xfrm>
          <a:prstGeom prst="rect">
            <a:avLst/>
          </a:prstGeom>
          <a:solidFill>
            <a:srgbClr val="00FF99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2000">
                <a:latin typeface="Times New Roman" pitchFamily="18" charset="0"/>
              </a:rPr>
              <a:t>           time_key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38" name="Rectangle 14" title=""/>
          <p:cNvSpPr/>
          <p:nvPr/>
        </p:nvSpPr>
        <p:spPr>
          <a:xfrm>
            <a:off x="3352800" y="3135313"/>
            <a:ext cx="2016125" cy="396875"/>
          </a:xfrm>
          <a:prstGeom prst="rect">
            <a:avLst/>
          </a:prstGeom>
          <a:solidFill>
            <a:srgbClr val="FFCC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   item_key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39" name="Rectangle 15" title=""/>
          <p:cNvSpPr/>
          <p:nvPr/>
        </p:nvSpPr>
        <p:spPr>
          <a:xfrm>
            <a:off x="3317875" y="3570288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2540" name="Rectangle 16" title=""/>
          <p:cNvSpPr/>
          <p:nvPr/>
        </p:nvSpPr>
        <p:spPr>
          <a:xfrm>
            <a:off x="3352800" y="3581400"/>
            <a:ext cx="2066925" cy="396875"/>
          </a:xfrm>
          <a:prstGeom prst="rect">
            <a:avLst/>
          </a:prstGeom>
          <a:solidFill>
            <a:srgbClr val="CCECFF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branch_key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41" name="Rectangle 17" title=""/>
          <p:cNvSpPr/>
          <p:nvPr/>
        </p:nvSpPr>
        <p:spPr>
          <a:xfrm>
            <a:off x="3317875" y="4033838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2542" name="Rectangle 18" title=""/>
          <p:cNvSpPr/>
          <p:nvPr/>
        </p:nvSpPr>
        <p:spPr>
          <a:xfrm>
            <a:off x="3351213" y="4057650"/>
            <a:ext cx="2065337" cy="396875"/>
          </a:xfrm>
          <a:prstGeom prst="rect">
            <a:avLst/>
          </a:prstGeom>
          <a:solidFill>
            <a:srgbClr val="FFFF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location_key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43" name="Rectangle 19" title=""/>
          <p:cNvSpPr/>
          <p:nvPr/>
        </p:nvSpPr>
        <p:spPr>
          <a:xfrm>
            <a:off x="3317875" y="4498975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2544" name="Rectangle 20" title=""/>
          <p:cNvSpPr/>
          <p:nvPr/>
        </p:nvSpPr>
        <p:spPr>
          <a:xfrm>
            <a:off x="3352800" y="4549775"/>
            <a:ext cx="1987550" cy="396875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 units_sold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45" name="Rectangle 21" title=""/>
          <p:cNvSpPr/>
          <p:nvPr/>
        </p:nvSpPr>
        <p:spPr>
          <a:xfrm>
            <a:off x="3317875" y="4964113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2546" name="Rectangle 22" title=""/>
          <p:cNvSpPr/>
          <p:nvPr/>
        </p:nvSpPr>
        <p:spPr>
          <a:xfrm>
            <a:off x="3352800" y="4994275"/>
            <a:ext cx="1993900" cy="396875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dollars_sold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47" name="Rectangle 23" title=""/>
          <p:cNvSpPr/>
          <p:nvPr/>
        </p:nvSpPr>
        <p:spPr>
          <a:xfrm>
            <a:off x="3317875" y="5429250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2548" name="Rectangle 24" title=""/>
          <p:cNvSpPr/>
          <p:nvPr/>
        </p:nvSpPr>
        <p:spPr>
          <a:xfrm>
            <a:off x="3333750" y="5440363"/>
            <a:ext cx="1995488" cy="396875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>
                <a:latin typeface="Times New Roman" pitchFamily="18" charset="0"/>
              </a:rPr>
              <a:t>             avg_sales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49" name="Rectangle 25" title=""/>
          <p:cNvSpPr/>
          <p:nvPr/>
        </p:nvSpPr>
        <p:spPr>
          <a:xfrm>
            <a:off x="1676400" y="5867400"/>
            <a:ext cx="1219200" cy="406400"/>
          </a:xfrm>
          <a:prstGeom prst="rect">
            <a:avLst/>
          </a:prstGeom>
          <a:solidFill>
            <a:srgbClr val="FF99CC"/>
          </a:solidFill>
          <a:ln>
            <a:solidFill>
              <a:schemeClr val="tx1"/>
            </a:solidFill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sz="2000">
                <a:latin typeface="Times New Roman" pitchFamily="18" charset="0"/>
              </a:rPr>
              <a:t>Measures</a:t>
            </a:r>
            <a:endParaRPr sz="2000">
              <a:latin typeface="Times New Roman" pitchFamily="18" charset="0"/>
            </a:endParaRPr>
          </a:p>
        </p:txBody>
      </p:sp>
      <p:sp>
        <p:nvSpPr>
          <p:cNvPr id="22550" name="Line 26" title=""/>
          <p:cNvSpPr/>
          <p:nvPr/>
        </p:nvSpPr>
        <p:spPr>
          <a:xfrm flipV="1">
            <a:off x="2590800" y="472440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2551" name="Line 27" title=""/>
          <p:cNvSpPr/>
          <p:nvPr/>
        </p:nvSpPr>
        <p:spPr>
          <a:xfrm flipV="1">
            <a:off x="2571750" y="5267325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2552" name="Line 28" title=""/>
          <p:cNvSpPr/>
          <p:nvPr/>
        </p:nvSpPr>
        <p:spPr>
          <a:xfrm flipV="1">
            <a:off x="2571750" y="5635625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2553" name="Line 29" title=""/>
          <p:cNvSpPr/>
          <p:nvPr/>
        </p:nvSpPr>
        <p:spPr>
          <a:xfrm flipH="1">
            <a:off x="1981200" y="3886200"/>
            <a:ext cx="1346200" cy="6858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2554" name="Line 30" title=""/>
          <p:cNvSpPr/>
          <p:nvPr/>
        </p:nvSpPr>
        <p:spPr>
          <a:xfrm flipH="1" flipV="1">
            <a:off x="1981200" y="1981200"/>
            <a:ext cx="1522413" cy="866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 w="sm" len="sm"/>
          </a:ln>
        </p:spPr>
      </p:sp>
      <p:sp>
        <p:nvSpPr>
          <p:cNvPr id="22555" name="Line 31" title=""/>
          <p:cNvSpPr/>
          <p:nvPr/>
        </p:nvSpPr>
        <p:spPr>
          <a:xfrm>
            <a:off x="5334000" y="4267200"/>
            <a:ext cx="609600" cy="152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2556" name="Line 32" title=""/>
          <p:cNvSpPr/>
          <p:nvPr/>
        </p:nvSpPr>
        <p:spPr>
          <a:xfrm flipV="1">
            <a:off x="5334000" y="2286000"/>
            <a:ext cx="609600" cy="838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grpSp>
        <p:nvGrpSpPr>
          <p:cNvPr id="22557" name="Group 33" title=""/>
          <p:cNvGrpSpPr/>
          <p:nvPr/>
        </p:nvGrpSpPr>
        <p:grpSpPr>
          <a:xfrm>
            <a:off x="5943600" y="1524000"/>
            <a:ext cx="1374775" cy="1924050"/>
            <a:chOff x="3796" y="983"/>
            <a:chExt cx="857" cy="1193"/>
          </a:xfrm>
        </p:grpSpPr>
        <p:sp>
          <p:nvSpPr>
            <p:cNvPr id="22569" name="Rectangle 34" title=""/>
            <p:cNvSpPr/>
            <p:nvPr/>
          </p:nvSpPr>
          <p:spPr>
            <a:xfrm>
              <a:off x="3796" y="1262"/>
              <a:ext cx="857" cy="914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item_key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item_name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brand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type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supplier_key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2570" name="Text Box 35" title=""/>
            <p:cNvSpPr txBox="1"/>
            <p:nvPr/>
          </p:nvSpPr>
          <p:spPr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>
                  <a:latin typeface="Times New Roman" pitchFamily="18" charset="0"/>
                </a:rPr>
                <a:t>item</a:t>
              </a:r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2558" name="Group 36" title=""/>
          <p:cNvGrpSpPr/>
          <p:nvPr/>
        </p:nvGrpSpPr>
        <p:grpSpPr>
          <a:xfrm>
            <a:off x="609600" y="3886200"/>
            <a:ext cx="1509713" cy="1393825"/>
            <a:chOff x="3844" y="2426"/>
            <a:chExt cx="939" cy="864"/>
          </a:xfrm>
        </p:grpSpPr>
        <p:sp>
          <p:nvSpPr>
            <p:cNvPr id="22567" name="Rectangle 37" title=""/>
            <p:cNvSpPr/>
            <p:nvPr/>
          </p:nvSpPr>
          <p:spPr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branch_key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branch_name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branch_type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2568" name="Text Box 38" title=""/>
            <p:cNvSpPr txBox="1"/>
            <p:nvPr/>
          </p:nvSpPr>
          <p:spPr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>
                  <a:latin typeface="Times New Roman" pitchFamily="18" charset="0"/>
                </a:rPr>
                <a:t>branch</a:t>
              </a:r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2559" name="Group 40" title=""/>
          <p:cNvGrpSpPr/>
          <p:nvPr/>
        </p:nvGrpSpPr>
        <p:grpSpPr>
          <a:xfrm>
            <a:off x="7694613" y="1981200"/>
            <a:ext cx="1449387" cy="998538"/>
            <a:chOff x="3789" y="855"/>
            <a:chExt cx="903" cy="1172"/>
          </a:xfrm>
        </p:grpSpPr>
        <p:sp>
          <p:nvSpPr>
            <p:cNvPr id="22565" name="Rectangle 41" title=""/>
            <p:cNvSpPr/>
            <p:nvPr/>
          </p:nvSpPr>
          <p:spPr>
            <a:xfrm>
              <a:off x="3796" y="1263"/>
              <a:ext cx="896" cy="764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supplier_key</a:t>
              </a:r>
              <a:endParaRPr sz="1800">
                <a:latin typeface="Times New Roman" pitchFamily="18" charset="0"/>
              </a:endParaRPr>
            </a:p>
            <a:p>
              <a:pPr marL="0" lvl="0" indent="0"/>
              <a:r>
                <a:rPr sz="1800">
                  <a:latin typeface="Times New Roman" pitchFamily="18" charset="0"/>
                </a:rPr>
                <a:t>supplier_type</a:t>
              </a:r>
              <a:endParaRPr sz="1800">
                <a:latin typeface="Times New Roman" pitchFamily="18" charset="0"/>
              </a:endParaRPr>
            </a:p>
          </p:txBody>
        </p:sp>
        <p:sp>
          <p:nvSpPr>
            <p:cNvPr id="22566" name="Text Box 42" title=""/>
            <p:cNvSpPr txBox="1"/>
            <p:nvPr/>
          </p:nvSpPr>
          <p:spPr>
            <a:xfrm>
              <a:off x="3789" y="855"/>
              <a:ext cx="732" cy="548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>
                  <a:latin typeface="Times New Roman" pitchFamily="18" charset="0"/>
                </a:rPr>
                <a:t>supplier</a:t>
              </a:r>
              <a:endParaRPr>
                <a:latin typeface="Times New Roman" pitchFamily="18" charset="0"/>
              </a:endParaRPr>
            </a:p>
          </p:txBody>
        </p:sp>
      </p:grpSp>
      <p:sp>
        <p:nvSpPr>
          <p:cNvPr id="22560" name="Line 43" title=""/>
          <p:cNvSpPr/>
          <p:nvPr/>
        </p:nvSpPr>
        <p:spPr>
          <a:xfrm flipV="1">
            <a:off x="7162800" y="2667000"/>
            <a:ext cx="5334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grpSp>
        <p:nvGrpSpPr>
          <p:cNvPr id="22561" name="Group 45" title=""/>
          <p:cNvGrpSpPr/>
          <p:nvPr/>
        </p:nvGrpSpPr>
        <p:grpSpPr>
          <a:xfrm>
            <a:off x="7489825" y="4876800"/>
            <a:ext cx="1654175" cy="1495425"/>
            <a:chOff x="684" y="2196"/>
            <a:chExt cx="1565" cy="913"/>
          </a:xfrm>
        </p:grpSpPr>
        <p:sp>
          <p:nvSpPr>
            <p:cNvPr id="22563" name="Rectangle 46" title=""/>
            <p:cNvSpPr/>
            <p:nvPr/>
          </p:nvSpPr>
          <p:spPr>
            <a:xfrm>
              <a:off x="684" y="2450"/>
              <a:ext cx="1565" cy="659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>
                  <a:latin typeface="Times New Roman" pitchFamily="18" charset="0"/>
                </a:rPr>
                <a:t>city_key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city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state_or_province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country</a:t>
              </a:r>
              <a:endParaRPr sz="1600">
                <a:latin typeface="Times New Roman" pitchFamily="18" charset="0"/>
              </a:endParaRPr>
            </a:p>
          </p:txBody>
        </p:sp>
        <p:sp>
          <p:nvSpPr>
            <p:cNvPr id="22564" name="Rectangle 47" title=""/>
            <p:cNvSpPr/>
            <p:nvPr/>
          </p:nvSpPr>
          <p:spPr>
            <a:xfrm>
              <a:off x="684" y="2196"/>
              <a:ext cx="542" cy="248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>
                  <a:latin typeface="Times New Roman" pitchFamily="18" charset="0"/>
                </a:rPr>
                <a:t>city</a:t>
              </a:r>
              <a:endParaRPr sz="2000">
                <a:latin typeface="Times New Roman" pitchFamily="18" charset="0"/>
              </a:endParaRPr>
            </a:p>
          </p:txBody>
        </p:sp>
      </p:grpSp>
      <p:sp>
        <p:nvSpPr>
          <p:cNvPr id="22562" name="Line 48" title=""/>
          <p:cNvSpPr/>
          <p:nvPr/>
        </p:nvSpPr>
        <p:spPr>
          <a:xfrm>
            <a:off x="6858000" y="5029200"/>
            <a:ext cx="685800" cy="457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355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E074B145-31B8-41AE-AB2C-CC607CEBFD58}" type="slidenum">
              <a:rPr sz="1200"/>
              <a:t>21</a:t>
            </a:fld>
            <a:endParaRPr sz="1200"/>
          </a:p>
        </p:txBody>
      </p:sp>
      <p:sp>
        <p:nvSpPr>
          <p:cNvPr id="23555" name="Rectangle 2" title=""/>
          <p:cNvSpPr>
            <a:spLocks noGrp="1"/>
          </p:cNvSpPr>
          <p:nvPr>
            <p:ph type="title"/>
          </p:nvPr>
        </p:nvSpPr>
        <p:spPr>
          <a:xfrm>
            <a:off x="1119188" y="304800"/>
            <a:ext cx="696595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Example of </a:t>
            </a:r>
            <a:r>
              <a:rPr b="1"/>
              <a:t>Fact Constellation</a:t>
            </a:r>
            <a:endParaRPr b="1"/>
          </a:p>
        </p:txBody>
      </p:sp>
      <p:sp>
        <p:nvSpPr>
          <p:cNvPr id="23556" name="Rectangle 4" title=""/>
          <p:cNvSpPr/>
          <p:nvPr/>
        </p:nvSpPr>
        <p:spPr>
          <a:xfrm>
            <a:off x="2895600" y="3048000"/>
            <a:ext cx="1608138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grpSp>
        <p:nvGrpSpPr>
          <p:cNvPr id="23557" name="Group 5" title=""/>
          <p:cNvGrpSpPr/>
          <p:nvPr/>
        </p:nvGrpSpPr>
        <p:grpSpPr>
          <a:xfrm>
            <a:off x="228600" y="1219200"/>
            <a:ext cx="1639888" cy="1982788"/>
            <a:chOff x="277" y="1164"/>
            <a:chExt cx="1021" cy="1229"/>
          </a:xfrm>
        </p:grpSpPr>
        <p:sp>
          <p:nvSpPr>
            <p:cNvPr id="23617" name="Rectangle 6" title=""/>
            <p:cNvSpPr/>
            <p:nvPr/>
          </p:nvSpPr>
          <p:spPr>
            <a:xfrm>
              <a:off x="277" y="1421"/>
              <a:ext cx="1021" cy="972"/>
            </a:xfrm>
            <a:prstGeom prst="rect">
              <a:avLst/>
            </a:prstGeom>
            <a:solidFill>
              <a:srgbClr val="00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>
                  <a:latin typeface="Times New Roman" pitchFamily="18" charset="0"/>
                </a:rPr>
                <a:t>time_key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day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day_of_the_week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month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quarter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year</a:t>
              </a:r>
              <a:endParaRPr sz="1600">
                <a:latin typeface="Times New Roman" pitchFamily="18" charset="0"/>
              </a:endParaRPr>
            </a:p>
          </p:txBody>
        </p:sp>
        <p:sp>
          <p:nvSpPr>
            <p:cNvPr id="23618" name="Rectangle 7" title=""/>
            <p:cNvSpPr/>
            <p:nvPr/>
          </p:nvSpPr>
          <p:spPr>
            <a:xfrm>
              <a:off x="277" y="1164"/>
              <a:ext cx="374" cy="233"/>
            </a:xfrm>
            <a:prstGeom prst="rect">
              <a:avLst/>
            </a:prstGeom>
            <a:solidFill>
              <a:srgbClr val="00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time</a:t>
              </a:r>
              <a:endParaRPr sz="1800">
                <a:latin typeface="Times New Roman" pitchFamily="18" charset="0"/>
              </a:endParaRPr>
            </a:p>
          </p:txBody>
        </p:sp>
      </p:grpSp>
      <p:grpSp>
        <p:nvGrpSpPr>
          <p:cNvPr id="23558" name="Group 8" title=""/>
          <p:cNvGrpSpPr/>
          <p:nvPr/>
        </p:nvGrpSpPr>
        <p:grpSpPr>
          <a:xfrm>
            <a:off x="5105400" y="4038600"/>
            <a:ext cx="1654175" cy="1733550"/>
            <a:chOff x="684" y="2196"/>
            <a:chExt cx="1030" cy="1075"/>
          </a:xfrm>
        </p:grpSpPr>
        <p:sp>
          <p:nvSpPr>
            <p:cNvPr id="23615" name="Rectangle 9" title=""/>
            <p:cNvSpPr/>
            <p:nvPr/>
          </p:nvSpPr>
          <p:spPr>
            <a:xfrm>
              <a:off x="684" y="2450"/>
              <a:ext cx="1030" cy="821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>
                  <a:latin typeface="Times New Roman" pitchFamily="18" charset="0"/>
                </a:rPr>
                <a:t>location_key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street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city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province_or_state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country</a:t>
              </a:r>
              <a:endParaRPr sz="1600">
                <a:latin typeface="Times New Roman" pitchFamily="18" charset="0"/>
              </a:endParaRPr>
            </a:p>
          </p:txBody>
        </p:sp>
        <p:sp>
          <p:nvSpPr>
            <p:cNvPr id="23616" name="Rectangle 10" title=""/>
            <p:cNvSpPr/>
            <p:nvPr/>
          </p:nvSpPr>
          <p:spPr>
            <a:xfrm>
              <a:off x="684" y="2196"/>
              <a:ext cx="580" cy="233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800">
                  <a:latin typeface="Times New Roman" pitchFamily="18" charset="0"/>
                </a:rPr>
                <a:t>location</a:t>
              </a:r>
              <a:endParaRPr sz="1800">
                <a:latin typeface="Times New Roman" pitchFamily="18" charset="0"/>
              </a:endParaRPr>
            </a:p>
          </p:txBody>
        </p:sp>
      </p:grpSp>
      <p:sp>
        <p:nvSpPr>
          <p:cNvPr id="23559" name="Rectangle 11" title=""/>
          <p:cNvSpPr/>
          <p:nvPr/>
        </p:nvSpPr>
        <p:spPr>
          <a:xfrm>
            <a:off x="2743200" y="2133600"/>
            <a:ext cx="169545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Sales Fact Table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60" name="Rectangle 12" title=""/>
          <p:cNvSpPr/>
          <p:nvPr/>
        </p:nvSpPr>
        <p:spPr>
          <a:xfrm>
            <a:off x="2895600" y="25908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61" name="Rectangle 13" title=""/>
          <p:cNvSpPr/>
          <p:nvPr/>
        </p:nvSpPr>
        <p:spPr>
          <a:xfrm>
            <a:off x="2895600" y="2667000"/>
            <a:ext cx="1601788" cy="366713"/>
          </a:xfrm>
          <a:prstGeom prst="rect">
            <a:avLst/>
          </a:prstGeom>
          <a:solidFill>
            <a:srgbClr val="00FF99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1800">
                <a:latin typeface="Times New Roman" pitchFamily="18" charset="0"/>
              </a:rPr>
              <a:t>time_key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62" name="Rectangle 14" title=""/>
          <p:cNvSpPr/>
          <p:nvPr/>
        </p:nvSpPr>
        <p:spPr>
          <a:xfrm>
            <a:off x="2895600" y="3124200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    item_key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63" name="Rectangle 15" title=""/>
          <p:cNvSpPr/>
          <p:nvPr/>
        </p:nvSpPr>
        <p:spPr>
          <a:xfrm>
            <a:off x="2895600" y="350520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64" name="Rectangle 16" title=""/>
          <p:cNvSpPr/>
          <p:nvPr/>
        </p:nvSpPr>
        <p:spPr>
          <a:xfrm>
            <a:off x="2895600" y="3505200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 branch_key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65" name="Rectangle 17" title=""/>
          <p:cNvSpPr/>
          <p:nvPr/>
        </p:nvSpPr>
        <p:spPr>
          <a:xfrm>
            <a:off x="2895600" y="39624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66" name="Rectangle 18" title=""/>
          <p:cNvSpPr/>
          <p:nvPr/>
        </p:nvSpPr>
        <p:spPr>
          <a:xfrm>
            <a:off x="2894013" y="3981450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location_key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67" name="Rectangle 19" title=""/>
          <p:cNvSpPr/>
          <p:nvPr/>
        </p:nvSpPr>
        <p:spPr>
          <a:xfrm>
            <a:off x="2860675" y="4419600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68" name="Rectangle 20" title=""/>
          <p:cNvSpPr/>
          <p:nvPr/>
        </p:nvSpPr>
        <p:spPr>
          <a:xfrm>
            <a:off x="2895600" y="4473575"/>
            <a:ext cx="1581150" cy="366713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   units_sold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69" name="Rectangle 21" title=""/>
          <p:cNvSpPr/>
          <p:nvPr/>
        </p:nvSpPr>
        <p:spPr>
          <a:xfrm>
            <a:off x="2860675" y="4876800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70" name="Rectangle 22" title=""/>
          <p:cNvSpPr/>
          <p:nvPr/>
        </p:nvSpPr>
        <p:spPr>
          <a:xfrm>
            <a:off x="2895600" y="4918075"/>
            <a:ext cx="1587500" cy="366713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dollars_sold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71" name="Rectangle 23" title=""/>
          <p:cNvSpPr/>
          <p:nvPr/>
        </p:nvSpPr>
        <p:spPr>
          <a:xfrm>
            <a:off x="2860675" y="533400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72" name="Rectangle 24" title=""/>
          <p:cNvSpPr/>
          <p:nvPr/>
        </p:nvSpPr>
        <p:spPr>
          <a:xfrm>
            <a:off x="2876550" y="5364163"/>
            <a:ext cx="1587500" cy="366712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    avg_sales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73" name="Rectangle 25" title=""/>
          <p:cNvSpPr/>
          <p:nvPr/>
        </p:nvSpPr>
        <p:spPr>
          <a:xfrm>
            <a:off x="1295400" y="5715000"/>
            <a:ext cx="1219200" cy="376238"/>
          </a:xfrm>
          <a:prstGeom prst="rect">
            <a:avLst/>
          </a:prstGeom>
          <a:solidFill>
            <a:srgbClr val="FF99CC"/>
          </a:solidFill>
          <a:ln>
            <a:solidFill>
              <a:schemeClr val="tx1"/>
            </a:solidFill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sz="1800">
                <a:latin typeface="Times New Roman" pitchFamily="18" charset="0"/>
              </a:rPr>
              <a:t>Measures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74" name="Line 26" title=""/>
          <p:cNvSpPr/>
          <p:nvPr/>
        </p:nvSpPr>
        <p:spPr>
          <a:xfrm flipV="1">
            <a:off x="2084388" y="4648200"/>
            <a:ext cx="769937" cy="1143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3575" name="Line 27" title=""/>
          <p:cNvSpPr/>
          <p:nvPr/>
        </p:nvSpPr>
        <p:spPr>
          <a:xfrm flipV="1">
            <a:off x="2065338" y="5191125"/>
            <a:ext cx="788987" cy="56197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3576" name="Line 28" title=""/>
          <p:cNvSpPr/>
          <p:nvPr/>
        </p:nvSpPr>
        <p:spPr>
          <a:xfrm flipV="1">
            <a:off x="2065338" y="5559425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3577" name="Line 29" title=""/>
          <p:cNvSpPr/>
          <p:nvPr/>
        </p:nvSpPr>
        <p:spPr>
          <a:xfrm flipH="1">
            <a:off x="1641475" y="3816350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578" name="Line 30" title=""/>
          <p:cNvSpPr/>
          <p:nvPr/>
        </p:nvSpPr>
        <p:spPr>
          <a:xfrm flipH="1" flipV="1">
            <a:off x="1905000" y="2362200"/>
            <a:ext cx="914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 w="sm" len="sm"/>
          </a:ln>
        </p:spPr>
      </p:sp>
      <p:sp>
        <p:nvSpPr>
          <p:cNvPr id="23579" name="Line 31" title=""/>
          <p:cNvSpPr/>
          <p:nvPr/>
        </p:nvSpPr>
        <p:spPr>
          <a:xfrm>
            <a:off x="45720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580" name="Line 32" title=""/>
          <p:cNvSpPr/>
          <p:nvPr/>
        </p:nvSpPr>
        <p:spPr>
          <a:xfrm flipV="1">
            <a:off x="4495800" y="2743200"/>
            <a:ext cx="762000" cy="52546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miter lim="800000"/>
            <a:tailEnd type="triangle"/>
          </a:ln>
        </p:spPr>
      </p:sp>
      <p:grpSp>
        <p:nvGrpSpPr>
          <p:cNvPr id="23581" name="Group 33" title=""/>
          <p:cNvGrpSpPr/>
          <p:nvPr/>
        </p:nvGrpSpPr>
        <p:grpSpPr>
          <a:xfrm>
            <a:off x="5181600" y="1524000"/>
            <a:ext cx="1303338" cy="1744663"/>
            <a:chOff x="3796" y="1002"/>
            <a:chExt cx="812" cy="1081"/>
          </a:xfrm>
        </p:grpSpPr>
        <p:sp>
          <p:nvSpPr>
            <p:cNvPr id="23613" name="Rectangle 34" title=""/>
            <p:cNvSpPr/>
            <p:nvPr/>
          </p:nvSpPr>
          <p:spPr>
            <a:xfrm>
              <a:off x="3796" y="1262"/>
              <a:ext cx="812" cy="821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>
                  <a:latin typeface="Times New Roman" pitchFamily="18" charset="0"/>
                </a:rPr>
                <a:t>item_key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item_name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brand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type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supplier_type</a:t>
              </a:r>
              <a:endParaRPr sz="1600">
                <a:latin typeface="Times New Roman" pitchFamily="18" charset="0"/>
              </a:endParaRPr>
            </a:p>
          </p:txBody>
        </p:sp>
        <p:sp>
          <p:nvSpPr>
            <p:cNvPr id="23614" name="Text Box 35" title=""/>
            <p:cNvSpPr txBox="1"/>
            <p:nvPr/>
          </p:nvSpPr>
          <p:spPr>
            <a:xfrm>
              <a:off x="3953" y="1002"/>
              <a:ext cx="401" cy="252"/>
            </a:xfrm>
            <a:prstGeom prst="rect">
              <a:avLst/>
            </a:prstGeom>
            <a:solidFill>
              <a:srgbClr val="FFCC99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anchor="ctr" anchorCtr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item</a:t>
              </a:r>
              <a:endParaRPr sz="2000">
                <a:latin typeface="Times New Roman" pitchFamily="18" charset="0"/>
              </a:endParaRPr>
            </a:p>
          </p:txBody>
        </p:sp>
      </p:grpSp>
      <p:grpSp>
        <p:nvGrpSpPr>
          <p:cNvPr id="23582" name="Group 36" title=""/>
          <p:cNvGrpSpPr/>
          <p:nvPr/>
        </p:nvGrpSpPr>
        <p:grpSpPr>
          <a:xfrm>
            <a:off x="304800" y="3962400"/>
            <a:ext cx="1290638" cy="1230313"/>
            <a:chOff x="3896" y="2472"/>
            <a:chExt cx="803" cy="762"/>
          </a:xfrm>
        </p:grpSpPr>
        <p:sp>
          <p:nvSpPr>
            <p:cNvPr id="23611" name="Rectangle 37" title=""/>
            <p:cNvSpPr/>
            <p:nvPr/>
          </p:nvSpPr>
          <p:spPr>
            <a:xfrm>
              <a:off x="3896" y="2716"/>
              <a:ext cx="803" cy="518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>
                  <a:latin typeface="Times New Roman" pitchFamily="18" charset="0"/>
                </a:rPr>
                <a:t>branch_key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branch_name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branch_type</a:t>
              </a:r>
              <a:endParaRPr sz="1600">
                <a:latin typeface="Times New Roman" pitchFamily="18" charset="0"/>
              </a:endParaRPr>
            </a:p>
          </p:txBody>
        </p:sp>
        <p:sp>
          <p:nvSpPr>
            <p:cNvPr id="23612" name="Text Box 38" title=""/>
            <p:cNvSpPr txBox="1"/>
            <p:nvPr/>
          </p:nvSpPr>
          <p:spPr>
            <a:xfrm>
              <a:off x="3907" y="2472"/>
              <a:ext cx="507" cy="233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1800">
                  <a:latin typeface="Times New Roman" pitchFamily="18" charset="0"/>
                </a:rPr>
                <a:t>branch</a:t>
              </a:r>
              <a:endParaRPr sz="1800">
                <a:latin typeface="Times New Roman" pitchFamily="18" charset="0"/>
              </a:endParaRPr>
            </a:p>
          </p:txBody>
        </p:sp>
      </p:grpSp>
      <p:sp>
        <p:nvSpPr>
          <p:cNvPr id="23583" name="Rectangle 39" title=""/>
          <p:cNvSpPr/>
          <p:nvPr/>
        </p:nvSpPr>
        <p:spPr>
          <a:xfrm>
            <a:off x="7011988" y="2495550"/>
            <a:ext cx="1608137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84" name="Rectangle 40" title=""/>
          <p:cNvSpPr/>
          <p:nvPr/>
        </p:nvSpPr>
        <p:spPr>
          <a:xfrm>
            <a:off x="6859588" y="1581150"/>
            <a:ext cx="203835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Shipping Fact Table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85" name="Rectangle 41" title=""/>
          <p:cNvSpPr/>
          <p:nvPr/>
        </p:nvSpPr>
        <p:spPr>
          <a:xfrm>
            <a:off x="7011988" y="20383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86" name="Rectangle 42" title=""/>
          <p:cNvSpPr/>
          <p:nvPr/>
        </p:nvSpPr>
        <p:spPr>
          <a:xfrm>
            <a:off x="7011988" y="2114550"/>
            <a:ext cx="1601787" cy="366713"/>
          </a:xfrm>
          <a:prstGeom prst="rect">
            <a:avLst/>
          </a:prstGeom>
          <a:solidFill>
            <a:srgbClr val="00FF99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1800">
                <a:latin typeface="Times New Roman" pitchFamily="18" charset="0"/>
              </a:rPr>
              <a:t>time_key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87" name="Rectangle 43" title=""/>
          <p:cNvSpPr/>
          <p:nvPr/>
        </p:nvSpPr>
        <p:spPr>
          <a:xfrm>
            <a:off x="7011988" y="2571750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    item_key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88" name="Rectangle 44" title=""/>
          <p:cNvSpPr/>
          <p:nvPr/>
        </p:nvSpPr>
        <p:spPr>
          <a:xfrm>
            <a:off x="7011988" y="295275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89" name="Rectangle 45" title=""/>
          <p:cNvSpPr/>
          <p:nvPr/>
        </p:nvSpPr>
        <p:spPr>
          <a:xfrm>
            <a:off x="7011988" y="2952750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shipper_key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90" name="Rectangle 46" title=""/>
          <p:cNvSpPr/>
          <p:nvPr/>
        </p:nvSpPr>
        <p:spPr>
          <a:xfrm>
            <a:off x="7011988" y="34099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91" name="Rectangle 47" title=""/>
          <p:cNvSpPr/>
          <p:nvPr/>
        </p:nvSpPr>
        <p:spPr>
          <a:xfrm>
            <a:off x="7010400" y="3429000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from_location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92" name="Rectangle 48" title=""/>
          <p:cNvSpPr/>
          <p:nvPr/>
        </p:nvSpPr>
        <p:spPr>
          <a:xfrm>
            <a:off x="6977063" y="3867150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93" name="Rectangle 49" title=""/>
          <p:cNvSpPr/>
          <p:nvPr/>
        </p:nvSpPr>
        <p:spPr>
          <a:xfrm>
            <a:off x="7011988" y="3943350"/>
            <a:ext cx="1555750" cy="366713"/>
          </a:xfrm>
          <a:prstGeom prst="rect">
            <a:avLst/>
          </a:prstGeom>
          <a:solidFill>
            <a:srgbClr val="FFFF99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 to_location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94" name="Rectangle 50" title=""/>
          <p:cNvSpPr/>
          <p:nvPr/>
        </p:nvSpPr>
        <p:spPr>
          <a:xfrm>
            <a:off x="6977063" y="4324350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95" name="Rectangle 51" title=""/>
          <p:cNvSpPr/>
          <p:nvPr/>
        </p:nvSpPr>
        <p:spPr>
          <a:xfrm>
            <a:off x="7011988" y="4365625"/>
            <a:ext cx="1574800" cy="366713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  dollars_cost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96" name="Rectangle 52" title=""/>
          <p:cNvSpPr/>
          <p:nvPr/>
        </p:nvSpPr>
        <p:spPr>
          <a:xfrm>
            <a:off x="6977063" y="478155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3597" name="Rectangle 53" title=""/>
          <p:cNvSpPr/>
          <p:nvPr/>
        </p:nvSpPr>
        <p:spPr>
          <a:xfrm>
            <a:off x="6992938" y="4811713"/>
            <a:ext cx="1625600" cy="366712"/>
          </a:xfrm>
          <a:prstGeom prst="rect">
            <a:avLst/>
          </a:prstGeom>
          <a:solidFill>
            <a:srgbClr val="FF99CC"/>
          </a:solidFill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   units_shipped</a:t>
            </a:r>
            <a:endParaRPr sz="1800">
              <a:latin typeface="Times New Roman" pitchFamily="18" charset="0"/>
            </a:endParaRPr>
          </a:p>
        </p:txBody>
      </p:sp>
      <p:sp>
        <p:nvSpPr>
          <p:cNvPr id="23598" name="Line 55" title=""/>
          <p:cNvSpPr/>
          <p:nvPr/>
        </p:nvSpPr>
        <p:spPr>
          <a:xfrm flipH="1" flipV="1">
            <a:off x="6629400" y="1524000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</a:ln>
        </p:spPr>
      </p:sp>
      <p:sp>
        <p:nvSpPr>
          <p:cNvPr id="23599" name="Line 56" title=""/>
          <p:cNvSpPr/>
          <p:nvPr/>
        </p:nvSpPr>
        <p:spPr>
          <a:xfrm flipH="1">
            <a:off x="2743200" y="152400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</a:ln>
        </p:spPr>
      </p:sp>
      <p:sp>
        <p:nvSpPr>
          <p:cNvPr id="23600" name="Line 57" title=""/>
          <p:cNvSpPr/>
          <p:nvPr/>
        </p:nvSpPr>
        <p:spPr>
          <a:xfrm flipH="1">
            <a:off x="1905000" y="1524000"/>
            <a:ext cx="914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601" name="Line 58" title=""/>
          <p:cNvSpPr/>
          <p:nvPr/>
        </p:nvSpPr>
        <p:spPr>
          <a:xfrm flipH="1" flipV="1">
            <a:off x="6477000" y="22860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602" name="Line 59" title=""/>
          <p:cNvSpPr/>
          <p:nvPr/>
        </p:nvSpPr>
        <p:spPr>
          <a:xfrm flipH="1">
            <a:off x="6248400" y="3657600"/>
            <a:ext cx="685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603" name="Line 60" title=""/>
          <p:cNvSpPr/>
          <p:nvPr/>
        </p:nvSpPr>
        <p:spPr>
          <a:xfrm flipH="1">
            <a:off x="6477000" y="41910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604" name="Line 61" title=""/>
          <p:cNvSpPr/>
          <p:nvPr/>
        </p:nvSpPr>
        <p:spPr>
          <a:xfrm flipH="1">
            <a:off x="8991600" y="32004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</a:ln>
        </p:spPr>
      </p:sp>
      <p:grpSp>
        <p:nvGrpSpPr>
          <p:cNvPr id="23605" name="Group 63" title=""/>
          <p:cNvGrpSpPr/>
          <p:nvPr/>
        </p:nvGrpSpPr>
        <p:grpSpPr>
          <a:xfrm>
            <a:off x="7612063" y="5410200"/>
            <a:ext cx="1344612" cy="1473200"/>
            <a:chOff x="3891" y="2472"/>
            <a:chExt cx="836" cy="911"/>
          </a:xfrm>
        </p:grpSpPr>
        <p:sp>
          <p:nvSpPr>
            <p:cNvPr id="23609" name="Rectangle 64" title=""/>
            <p:cNvSpPr/>
            <p:nvPr/>
          </p:nvSpPr>
          <p:spPr>
            <a:xfrm>
              <a:off x="3896" y="2715"/>
              <a:ext cx="831" cy="668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 lIns="92075" tIns="46038" rIns="92075" bIns="46038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>
                  <a:latin typeface="Times New Roman" pitchFamily="18" charset="0"/>
                </a:rPr>
                <a:t>shipper_key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shipper_name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location_key</a:t>
              </a:r>
              <a:endParaRPr sz="1600">
                <a:latin typeface="Times New Roman" pitchFamily="18" charset="0"/>
              </a:endParaRPr>
            </a:p>
            <a:p>
              <a:pPr marL="0" lvl="0" indent="0"/>
              <a:r>
                <a:rPr sz="1600">
                  <a:latin typeface="Times New Roman" pitchFamily="18" charset="0"/>
                </a:rPr>
                <a:t>shipper_type</a:t>
              </a:r>
              <a:endParaRPr sz="1600">
                <a:latin typeface="Times New Roman" pitchFamily="18" charset="0"/>
              </a:endParaRPr>
            </a:p>
          </p:txBody>
        </p:sp>
        <p:sp>
          <p:nvSpPr>
            <p:cNvPr id="23610" name="Text Box 65" title=""/>
            <p:cNvSpPr txBox="1"/>
            <p:nvPr/>
          </p:nvSpPr>
          <p:spPr>
            <a:xfrm>
              <a:off x="3891" y="2472"/>
              <a:ext cx="539" cy="233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1800">
                  <a:latin typeface="Times New Roman" pitchFamily="18" charset="0"/>
                </a:rPr>
                <a:t>shipper</a:t>
              </a:r>
              <a:endParaRPr sz="1800">
                <a:latin typeface="Times New Roman" pitchFamily="18" charset="0"/>
              </a:endParaRPr>
            </a:p>
          </p:txBody>
        </p:sp>
      </p:grpSp>
      <p:sp>
        <p:nvSpPr>
          <p:cNvPr id="23606" name="Line 66" title=""/>
          <p:cNvSpPr/>
          <p:nvPr/>
        </p:nvSpPr>
        <p:spPr>
          <a:xfrm flipH="1">
            <a:off x="8610600" y="4800600"/>
            <a:ext cx="381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triangle"/>
          </a:ln>
        </p:spPr>
      </p:sp>
      <p:sp>
        <p:nvSpPr>
          <p:cNvPr id="23607" name="Line 67" title=""/>
          <p:cNvSpPr/>
          <p:nvPr/>
        </p:nvSpPr>
        <p:spPr>
          <a:xfrm>
            <a:off x="8610600" y="3200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</a:ln>
        </p:spPr>
      </p:sp>
      <p:sp>
        <p:nvSpPr>
          <p:cNvPr id="23608" name="Line 68" title=""/>
          <p:cNvSpPr/>
          <p:nvPr/>
        </p:nvSpPr>
        <p:spPr>
          <a:xfrm flipH="1" flipV="1">
            <a:off x="5867400" y="5791200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triangle"/>
          </a:ln>
        </p:spPr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4578" name="Slide Number Placeholder 4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31C7439C-D97F-40A4-BA8B-3C070534EE16}" type="slidenum">
              <a:rPr sz="1200"/>
              <a:t>22</a:t>
            </a:fld>
            <a:endParaRPr sz="1200"/>
          </a:p>
        </p:txBody>
      </p:sp>
      <p:sp>
        <p:nvSpPr>
          <p:cNvPr id="24579" name="Rectangle 2" title=""/>
          <p:cNvSpPr>
            <a:spLocks noGrp="1"/>
          </p:cNvSpPr>
          <p:nvPr>
            <p:ph type="title"/>
          </p:nvPr>
        </p:nvSpPr>
        <p:spPr>
          <a:xfrm>
            <a:off x="609600" y="533400"/>
            <a:ext cx="8001000" cy="6096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A Concept Hierarchy: </a:t>
            </a:r>
            <a:br>
              <a:rPr sz="3200"/>
            </a:br>
            <a:r>
              <a:rPr sz="3200" b="1"/>
              <a:t>Dimension</a:t>
            </a:r>
            <a:r>
              <a:rPr sz="3200"/>
              <a:t> (location)</a:t>
            </a:r>
            <a:endParaRPr sz="3200"/>
          </a:p>
        </p:txBody>
      </p:sp>
      <p:sp>
        <p:nvSpPr>
          <p:cNvPr id="24580" name="Text Box 3" title=""/>
          <p:cNvSpPr txBox="1"/>
          <p:nvPr/>
        </p:nvSpPr>
        <p:spPr>
          <a:xfrm>
            <a:off x="4876800" y="1447800"/>
            <a:ext cx="487363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all</a:t>
            </a:r>
            <a:endParaRPr>
              <a:latin typeface="Times New Roman" pitchFamily="18" charset="0"/>
            </a:endParaRPr>
          </a:p>
        </p:txBody>
      </p:sp>
      <p:sp>
        <p:nvSpPr>
          <p:cNvPr id="24581" name="Text Box 4" title=""/>
          <p:cNvSpPr txBox="1"/>
          <p:nvPr/>
        </p:nvSpPr>
        <p:spPr>
          <a:xfrm>
            <a:off x="3352800" y="2438400"/>
            <a:ext cx="10636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Europe</a:t>
            </a:r>
            <a:endParaRPr>
              <a:latin typeface="Times New Roman" pitchFamily="18" charset="0"/>
            </a:endParaRPr>
          </a:p>
        </p:txBody>
      </p:sp>
      <p:sp>
        <p:nvSpPr>
          <p:cNvPr id="24582" name="Text Box 5" title=""/>
          <p:cNvSpPr txBox="1"/>
          <p:nvPr/>
        </p:nvSpPr>
        <p:spPr>
          <a:xfrm>
            <a:off x="6400800" y="2438400"/>
            <a:ext cx="20955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North_America</a:t>
            </a:r>
            <a:endParaRPr>
              <a:latin typeface="Times New Roman" pitchFamily="18" charset="0"/>
            </a:endParaRPr>
          </a:p>
        </p:txBody>
      </p:sp>
      <p:sp>
        <p:nvSpPr>
          <p:cNvPr id="24583" name="Text Box 6" title=""/>
          <p:cNvSpPr txBox="1"/>
          <p:nvPr/>
        </p:nvSpPr>
        <p:spPr>
          <a:xfrm>
            <a:off x="8029575" y="3505200"/>
            <a:ext cx="11144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Mexico</a:t>
            </a:r>
            <a:endParaRPr>
              <a:latin typeface="Times New Roman" pitchFamily="18" charset="0"/>
            </a:endParaRPr>
          </a:p>
        </p:txBody>
      </p:sp>
      <p:sp>
        <p:nvSpPr>
          <p:cNvPr id="24584" name="Text Box 7" title=""/>
          <p:cNvSpPr txBox="1"/>
          <p:nvPr/>
        </p:nvSpPr>
        <p:spPr>
          <a:xfrm>
            <a:off x="5943600" y="3505200"/>
            <a:ext cx="1096963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Canada</a:t>
            </a:r>
            <a:endParaRPr>
              <a:latin typeface="Times New Roman" pitchFamily="18" charset="0"/>
            </a:endParaRPr>
          </a:p>
        </p:txBody>
      </p:sp>
      <p:sp>
        <p:nvSpPr>
          <p:cNvPr id="24585" name="Text Box 8" title=""/>
          <p:cNvSpPr txBox="1"/>
          <p:nvPr/>
        </p:nvSpPr>
        <p:spPr>
          <a:xfrm>
            <a:off x="4227513" y="3505200"/>
            <a:ext cx="877887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Spain</a:t>
            </a:r>
            <a:endParaRPr>
              <a:latin typeface="Times New Roman" pitchFamily="18" charset="0"/>
            </a:endParaRPr>
          </a:p>
        </p:txBody>
      </p:sp>
      <p:sp>
        <p:nvSpPr>
          <p:cNvPr id="24586" name="Text Box 9" title=""/>
          <p:cNvSpPr txBox="1"/>
          <p:nvPr/>
        </p:nvSpPr>
        <p:spPr>
          <a:xfrm>
            <a:off x="2209800" y="3505200"/>
            <a:ext cx="13176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Germany</a:t>
            </a:r>
            <a:endParaRPr>
              <a:latin typeface="Times New Roman" pitchFamily="18" charset="0"/>
            </a:endParaRPr>
          </a:p>
        </p:txBody>
      </p:sp>
      <p:sp>
        <p:nvSpPr>
          <p:cNvPr id="24587" name="Text Box 10" title=""/>
          <p:cNvSpPr txBox="1"/>
          <p:nvPr/>
        </p:nvSpPr>
        <p:spPr>
          <a:xfrm>
            <a:off x="4876800" y="4572000"/>
            <a:ext cx="15208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Vancouver</a:t>
            </a:r>
            <a:endParaRPr>
              <a:latin typeface="Times New Roman" pitchFamily="18" charset="0"/>
            </a:endParaRPr>
          </a:p>
        </p:txBody>
      </p:sp>
      <p:sp>
        <p:nvSpPr>
          <p:cNvPr id="24588" name="Text Box 11" title=""/>
          <p:cNvSpPr txBox="1"/>
          <p:nvPr/>
        </p:nvSpPr>
        <p:spPr>
          <a:xfrm>
            <a:off x="6019800" y="5562600"/>
            <a:ext cx="128428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M. Wind</a:t>
            </a:r>
            <a:endParaRPr>
              <a:latin typeface="Times New Roman" pitchFamily="18" charset="0"/>
            </a:endParaRPr>
          </a:p>
        </p:txBody>
      </p:sp>
      <p:sp>
        <p:nvSpPr>
          <p:cNvPr id="24589" name="Text Box 12" title=""/>
          <p:cNvSpPr txBox="1"/>
          <p:nvPr/>
        </p:nvSpPr>
        <p:spPr>
          <a:xfrm>
            <a:off x="4191000" y="5562600"/>
            <a:ext cx="11652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L. Chan</a:t>
            </a:r>
            <a:endParaRPr>
              <a:latin typeface="Times New Roman" pitchFamily="18" charset="0"/>
            </a:endParaRPr>
          </a:p>
        </p:txBody>
      </p:sp>
      <p:sp>
        <p:nvSpPr>
          <p:cNvPr id="24590" name="Text Box 13" title=""/>
          <p:cNvSpPr txBox="1"/>
          <p:nvPr/>
        </p:nvSpPr>
        <p:spPr>
          <a:xfrm>
            <a:off x="5334000" y="2438400"/>
            <a:ext cx="4127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...</a:t>
            </a:r>
            <a:endParaRPr>
              <a:latin typeface="Times New Roman" pitchFamily="18" charset="0"/>
            </a:endParaRPr>
          </a:p>
        </p:txBody>
      </p:sp>
      <p:sp>
        <p:nvSpPr>
          <p:cNvPr id="24591" name="Text Box 14" title=""/>
          <p:cNvSpPr txBox="1"/>
          <p:nvPr/>
        </p:nvSpPr>
        <p:spPr>
          <a:xfrm>
            <a:off x="7391400" y="3505200"/>
            <a:ext cx="4127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...</a:t>
            </a:r>
            <a:endParaRPr>
              <a:latin typeface="Times New Roman" pitchFamily="18" charset="0"/>
            </a:endParaRPr>
          </a:p>
        </p:txBody>
      </p:sp>
      <p:sp>
        <p:nvSpPr>
          <p:cNvPr id="24592" name="Text Box 15" title=""/>
          <p:cNvSpPr txBox="1"/>
          <p:nvPr/>
        </p:nvSpPr>
        <p:spPr>
          <a:xfrm>
            <a:off x="3657600" y="3505200"/>
            <a:ext cx="4127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...</a:t>
            </a:r>
            <a:endParaRPr>
              <a:latin typeface="Times New Roman" pitchFamily="18" charset="0"/>
            </a:endParaRPr>
          </a:p>
        </p:txBody>
      </p:sp>
      <p:sp>
        <p:nvSpPr>
          <p:cNvPr id="24593" name="Text Box 16" title=""/>
          <p:cNvSpPr txBox="1"/>
          <p:nvPr/>
        </p:nvSpPr>
        <p:spPr>
          <a:xfrm>
            <a:off x="3429000" y="4648200"/>
            <a:ext cx="4127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...</a:t>
            </a:r>
            <a:endParaRPr>
              <a:latin typeface="Times New Roman" pitchFamily="18" charset="0"/>
            </a:endParaRPr>
          </a:p>
        </p:txBody>
      </p:sp>
      <p:sp>
        <p:nvSpPr>
          <p:cNvPr id="24594" name="Text Box 17" title=""/>
          <p:cNvSpPr txBox="1"/>
          <p:nvPr/>
        </p:nvSpPr>
        <p:spPr>
          <a:xfrm>
            <a:off x="6477000" y="4572000"/>
            <a:ext cx="4127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...</a:t>
            </a:r>
            <a:endParaRPr>
              <a:latin typeface="Times New Roman" pitchFamily="18" charset="0"/>
            </a:endParaRPr>
          </a:p>
        </p:txBody>
      </p:sp>
      <p:sp>
        <p:nvSpPr>
          <p:cNvPr id="24595" name="Text Box 18" title=""/>
          <p:cNvSpPr txBox="1"/>
          <p:nvPr/>
        </p:nvSpPr>
        <p:spPr>
          <a:xfrm>
            <a:off x="5486400" y="5562600"/>
            <a:ext cx="4127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...</a:t>
            </a:r>
            <a:endParaRPr>
              <a:latin typeface="Times New Roman" pitchFamily="18" charset="0"/>
            </a:endParaRPr>
          </a:p>
        </p:txBody>
      </p:sp>
      <p:sp>
        <p:nvSpPr>
          <p:cNvPr id="24596" name="Line 19" title=""/>
          <p:cNvSpPr/>
          <p:nvPr/>
        </p:nvSpPr>
        <p:spPr>
          <a:xfrm flipH="1">
            <a:off x="3886200" y="1828800"/>
            <a:ext cx="12192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597" name="Line 20" title=""/>
          <p:cNvSpPr/>
          <p:nvPr/>
        </p:nvSpPr>
        <p:spPr>
          <a:xfrm>
            <a:off x="5105400" y="1828800"/>
            <a:ext cx="22098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598" name="Line 21" title=""/>
          <p:cNvSpPr/>
          <p:nvPr/>
        </p:nvSpPr>
        <p:spPr>
          <a:xfrm flipH="1">
            <a:off x="2819400" y="2819400"/>
            <a:ext cx="9906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599" name="Line 22" title=""/>
          <p:cNvSpPr/>
          <p:nvPr/>
        </p:nvSpPr>
        <p:spPr>
          <a:xfrm>
            <a:off x="3810000" y="2819400"/>
            <a:ext cx="8382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0" name="Line 23" title=""/>
          <p:cNvSpPr/>
          <p:nvPr/>
        </p:nvSpPr>
        <p:spPr>
          <a:xfrm flipH="1">
            <a:off x="6477000" y="2819400"/>
            <a:ext cx="9906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1" name="Line 24" title=""/>
          <p:cNvSpPr/>
          <p:nvPr/>
        </p:nvSpPr>
        <p:spPr>
          <a:xfrm>
            <a:off x="7467600" y="2819400"/>
            <a:ext cx="11430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2" name="Line 25" title=""/>
          <p:cNvSpPr/>
          <p:nvPr/>
        </p:nvSpPr>
        <p:spPr>
          <a:xfrm flipH="1">
            <a:off x="2362200" y="3886200"/>
            <a:ext cx="5334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3" name="Line 26" title=""/>
          <p:cNvSpPr/>
          <p:nvPr/>
        </p:nvSpPr>
        <p:spPr>
          <a:xfrm>
            <a:off x="2895600" y="3886200"/>
            <a:ext cx="6096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4" name="Line 27" title=""/>
          <p:cNvSpPr/>
          <p:nvPr/>
        </p:nvSpPr>
        <p:spPr>
          <a:xfrm flipH="1">
            <a:off x="4191000" y="38862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5" name="Line 28" title=""/>
          <p:cNvSpPr/>
          <p:nvPr/>
        </p:nvSpPr>
        <p:spPr>
          <a:xfrm>
            <a:off x="4572000" y="38862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6" name="Line 29" title=""/>
          <p:cNvSpPr/>
          <p:nvPr/>
        </p:nvSpPr>
        <p:spPr>
          <a:xfrm flipH="1">
            <a:off x="8229600" y="38862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7" name="Line 30" title=""/>
          <p:cNvSpPr/>
          <p:nvPr/>
        </p:nvSpPr>
        <p:spPr>
          <a:xfrm>
            <a:off x="8610600" y="38862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8" name="Line 31" title=""/>
          <p:cNvSpPr/>
          <p:nvPr/>
        </p:nvSpPr>
        <p:spPr>
          <a:xfrm flipH="1">
            <a:off x="2057400" y="51054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09" name="Line 32" title=""/>
          <p:cNvSpPr/>
          <p:nvPr/>
        </p:nvSpPr>
        <p:spPr>
          <a:xfrm>
            <a:off x="2438400" y="51054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0" name="Line 33" title=""/>
          <p:cNvSpPr/>
          <p:nvPr/>
        </p:nvSpPr>
        <p:spPr>
          <a:xfrm flipH="1">
            <a:off x="4876800" y="4953000"/>
            <a:ext cx="6858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1" name="Line 34" title=""/>
          <p:cNvSpPr/>
          <p:nvPr/>
        </p:nvSpPr>
        <p:spPr>
          <a:xfrm>
            <a:off x="5562600" y="4953000"/>
            <a:ext cx="990600" cy="685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2" name="Text Box 35" title=""/>
          <p:cNvSpPr txBox="1"/>
          <p:nvPr/>
        </p:nvSpPr>
        <p:spPr>
          <a:xfrm>
            <a:off x="304800" y="1524000"/>
            <a:ext cx="487363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solidFill>
                  <a:schemeClr val="hlink"/>
                </a:solidFill>
                <a:latin typeface="Times New Roman" pitchFamily="18" charset="0"/>
              </a:rPr>
              <a:t>all</a:t>
            </a:r>
            <a:endParaRPr>
              <a:latin typeface="Times New Roman" pitchFamily="18" charset="0"/>
            </a:endParaRPr>
          </a:p>
        </p:txBody>
      </p:sp>
      <p:sp>
        <p:nvSpPr>
          <p:cNvPr id="24613" name="Text Box 36" title=""/>
          <p:cNvSpPr txBox="1"/>
          <p:nvPr/>
        </p:nvSpPr>
        <p:spPr>
          <a:xfrm>
            <a:off x="228600" y="2514600"/>
            <a:ext cx="9620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solidFill>
                  <a:schemeClr val="hlink"/>
                </a:solidFill>
                <a:latin typeface="Times New Roman" pitchFamily="18" charset="0"/>
              </a:rPr>
              <a:t>region</a:t>
            </a:r>
            <a:endParaRPr>
              <a:latin typeface="Times New Roman" pitchFamily="18" charset="0"/>
            </a:endParaRPr>
          </a:p>
        </p:txBody>
      </p:sp>
      <p:sp>
        <p:nvSpPr>
          <p:cNvPr id="24614" name="Text Box 37" title=""/>
          <p:cNvSpPr txBox="1"/>
          <p:nvPr/>
        </p:nvSpPr>
        <p:spPr>
          <a:xfrm>
            <a:off x="304800" y="5638800"/>
            <a:ext cx="893763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solidFill>
                  <a:schemeClr val="hlink"/>
                </a:solidFill>
                <a:latin typeface="Times New Roman" pitchFamily="18" charset="0"/>
              </a:rPr>
              <a:t>office</a:t>
            </a:r>
            <a:endParaRPr>
              <a:latin typeface="Times New Roman" pitchFamily="18" charset="0"/>
            </a:endParaRPr>
          </a:p>
        </p:txBody>
      </p:sp>
      <p:sp>
        <p:nvSpPr>
          <p:cNvPr id="24615" name="Line 38" title=""/>
          <p:cNvSpPr/>
          <p:nvPr/>
        </p:nvSpPr>
        <p:spPr>
          <a:xfrm flipH="1">
            <a:off x="7315200" y="50292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6" name="Line 39" title=""/>
          <p:cNvSpPr/>
          <p:nvPr/>
        </p:nvSpPr>
        <p:spPr>
          <a:xfrm>
            <a:off x="7696200" y="5029200"/>
            <a:ext cx="381000" cy="304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7" name="Line 40" title=""/>
          <p:cNvSpPr/>
          <p:nvPr/>
        </p:nvSpPr>
        <p:spPr>
          <a:xfrm flipH="1">
            <a:off x="5638800" y="3886200"/>
            <a:ext cx="7620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8" name="Line 41" title=""/>
          <p:cNvSpPr/>
          <p:nvPr/>
        </p:nvSpPr>
        <p:spPr>
          <a:xfrm>
            <a:off x="6400800" y="3886200"/>
            <a:ext cx="10668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4619" name="Text Box 42" title=""/>
          <p:cNvSpPr txBox="1"/>
          <p:nvPr/>
        </p:nvSpPr>
        <p:spPr>
          <a:xfrm>
            <a:off x="228600" y="3581400"/>
            <a:ext cx="11144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solidFill>
                  <a:schemeClr val="hlink"/>
                </a:solidFill>
                <a:latin typeface="Times New Roman" pitchFamily="18" charset="0"/>
              </a:rPr>
              <a:t>country</a:t>
            </a:r>
            <a:endParaRPr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24620" name="Line 43" title=""/>
          <p:cNvSpPr/>
          <p:nvPr/>
        </p:nvSpPr>
        <p:spPr>
          <a:xfrm flipH="1">
            <a:off x="609600" y="1905000"/>
            <a:ext cx="0" cy="762000"/>
          </a:xfrm>
          <a:prstGeom prst="line">
            <a:avLst/>
          </a:prstGeom>
          <a:noFill/>
          <a:ln>
            <a:solidFill>
              <a:schemeClr val="tx1"/>
            </a:solidFill>
            <a:prstDash val="sysDot"/>
            <a:miter lim="800000"/>
          </a:ln>
        </p:spPr>
      </p:sp>
      <p:sp>
        <p:nvSpPr>
          <p:cNvPr id="24621" name="Line 44" title=""/>
          <p:cNvSpPr/>
          <p:nvPr/>
        </p:nvSpPr>
        <p:spPr>
          <a:xfrm flipH="1">
            <a:off x="609600" y="2971800"/>
            <a:ext cx="0" cy="762000"/>
          </a:xfrm>
          <a:prstGeom prst="line">
            <a:avLst/>
          </a:prstGeom>
          <a:noFill/>
          <a:ln>
            <a:solidFill>
              <a:schemeClr val="tx1"/>
            </a:solidFill>
            <a:prstDash val="sysDot"/>
            <a:miter lim="800000"/>
          </a:ln>
        </p:spPr>
      </p:sp>
      <p:sp>
        <p:nvSpPr>
          <p:cNvPr id="24622" name="Line 45" title=""/>
          <p:cNvSpPr/>
          <p:nvPr/>
        </p:nvSpPr>
        <p:spPr>
          <a:xfrm flipH="1">
            <a:off x="609600" y="3962400"/>
            <a:ext cx="0" cy="762000"/>
          </a:xfrm>
          <a:prstGeom prst="line">
            <a:avLst/>
          </a:prstGeom>
          <a:noFill/>
          <a:ln>
            <a:solidFill>
              <a:schemeClr val="tx1"/>
            </a:solidFill>
            <a:prstDash val="sysDot"/>
            <a:miter lim="800000"/>
          </a:ln>
        </p:spPr>
      </p:sp>
      <p:sp>
        <p:nvSpPr>
          <p:cNvPr id="24623" name="Line 46" title=""/>
          <p:cNvSpPr/>
          <p:nvPr/>
        </p:nvSpPr>
        <p:spPr>
          <a:xfrm flipH="1">
            <a:off x="609600" y="5029200"/>
            <a:ext cx="0" cy="685800"/>
          </a:xfrm>
          <a:prstGeom prst="line">
            <a:avLst/>
          </a:prstGeom>
          <a:noFill/>
          <a:ln>
            <a:solidFill>
              <a:schemeClr val="tx1"/>
            </a:solidFill>
            <a:prstDash val="sysDot"/>
            <a:miter lim="800000"/>
          </a:ln>
        </p:spPr>
      </p:sp>
      <p:sp>
        <p:nvSpPr>
          <p:cNvPr id="24624" name="Text Box 47" title=""/>
          <p:cNvSpPr txBox="1"/>
          <p:nvPr/>
        </p:nvSpPr>
        <p:spPr>
          <a:xfrm>
            <a:off x="7086600" y="4648200"/>
            <a:ext cx="1165225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Toronto</a:t>
            </a:r>
            <a:endParaRPr>
              <a:latin typeface="Times New Roman" pitchFamily="18" charset="0"/>
            </a:endParaRPr>
          </a:p>
        </p:txBody>
      </p:sp>
      <p:sp>
        <p:nvSpPr>
          <p:cNvPr id="24625" name="Text Box 48" title=""/>
          <p:cNvSpPr txBox="1"/>
          <p:nvPr/>
        </p:nvSpPr>
        <p:spPr>
          <a:xfrm>
            <a:off x="1828800" y="4648200"/>
            <a:ext cx="133508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Frankfurt</a:t>
            </a:r>
            <a:endParaRPr>
              <a:latin typeface="Times New Roman" pitchFamily="18" charset="0"/>
            </a:endParaRPr>
          </a:p>
        </p:txBody>
      </p:sp>
      <p:sp>
        <p:nvSpPr>
          <p:cNvPr id="24626" name="Text Box 49" title=""/>
          <p:cNvSpPr txBox="1"/>
          <p:nvPr/>
        </p:nvSpPr>
        <p:spPr>
          <a:xfrm>
            <a:off x="304800" y="4648200"/>
            <a:ext cx="639763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solidFill>
                  <a:schemeClr val="hlink"/>
                </a:solidFill>
                <a:latin typeface="Times New Roman" pitchFamily="18" charset="0"/>
              </a:rPr>
              <a:t>city</a:t>
            </a:r>
            <a:endParaRPr>
              <a:latin typeface="Times New Roman" pitchFamily="18" charset="0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560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E09D20C1-66FB-445D-8804-D783C43B4822}" type="slidenum">
              <a:rPr sz="1200"/>
              <a:t>23</a:t>
            </a:fld>
            <a:endParaRPr sz="1200"/>
          </a:p>
        </p:txBody>
      </p:sp>
      <p:sp>
        <p:nvSpPr>
          <p:cNvPr id="25603" name="Rectangle 2" title="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706438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 b="1"/>
              <a:t>Data Cube Measures</a:t>
            </a:r>
            <a:r>
              <a:rPr sz="3200"/>
              <a:t>: Three Categories</a:t>
            </a:r>
            <a:endParaRPr sz="3200"/>
          </a:p>
        </p:txBody>
      </p:sp>
      <p:sp>
        <p:nvSpPr>
          <p:cNvPr id="25604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447800"/>
            <a:ext cx="8534400" cy="49530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2400" u="sng">
                <a:solidFill>
                  <a:schemeClr val="hlink"/>
                </a:solidFill>
              </a:rPr>
              <a:t>Distributive</a:t>
            </a:r>
            <a:r>
              <a:rPr sz="2400"/>
              <a:t>: if the result derived by applying the function to </a:t>
            </a:r>
            <a:r>
              <a:rPr sz="2400" i="1"/>
              <a:t>n </a:t>
            </a:r>
            <a:r>
              <a:rPr sz="2400"/>
              <a:t>aggregate values is the same as that derived by applying the function on all the data without partitioning</a:t>
            </a:r>
            <a:endParaRPr sz="2400"/>
          </a:p>
          <a:p>
            <a:pPr lvl="2" eaLnBrk="1" hangingPunct="1">
              <a:lnSpc>
                <a:spcPct val="110000"/>
              </a:lnSpc>
            </a:pPr>
            <a:r>
              <a:rPr sz="2000"/>
              <a:t>E.g., count(), sum(), min(), max()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400" u="sng">
                <a:solidFill>
                  <a:schemeClr val="hlink"/>
                </a:solidFill>
              </a:rPr>
              <a:t>Algebraic</a:t>
            </a:r>
            <a:r>
              <a:rPr sz="2400">
                <a:solidFill>
                  <a:srgbClr val="121328"/>
                </a:solidFill>
              </a:rPr>
              <a:t>:</a:t>
            </a:r>
            <a:r>
              <a:rPr sz="2400">
                <a:solidFill>
                  <a:schemeClr val="hlink"/>
                </a:solidFill>
              </a:rPr>
              <a:t> </a:t>
            </a:r>
            <a:r>
              <a:rPr sz="2400"/>
              <a:t>if it can be computed by an algebraic function with </a:t>
            </a:r>
            <a:r>
              <a:rPr sz="2400" i="1"/>
              <a:t>M</a:t>
            </a:r>
            <a:r>
              <a:rPr sz="2400"/>
              <a:t> arguments (where</a:t>
            </a:r>
            <a:r>
              <a:rPr sz="2400" i="1"/>
              <a:t> M</a:t>
            </a:r>
            <a:r>
              <a:rPr sz="2400"/>
              <a:t> is a bounded integer), each of which is obtained by applying a distributive aggregate function</a:t>
            </a:r>
            <a:endParaRPr sz="2400">
              <a:solidFill>
                <a:srgbClr val="121328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sz="2000">
                <a:solidFill>
                  <a:srgbClr val="121328"/>
                </a:solidFill>
              </a:rPr>
              <a:t>E.g.,</a:t>
            </a:r>
            <a:r>
              <a:rPr sz="2000">
                <a:solidFill>
                  <a:schemeClr val="hlink"/>
                </a:solidFill>
              </a:rPr>
              <a:t>  </a:t>
            </a:r>
            <a:r>
              <a:rPr sz="2000">
                <a:solidFill>
                  <a:srgbClr val="121328"/>
                </a:solidFill>
              </a:rPr>
              <a:t>avg(), min_N(), standard_deviation()</a:t>
            </a:r>
            <a:endParaRPr sz="2000">
              <a:solidFill>
                <a:srgbClr val="121328"/>
              </a:solidFill>
            </a:endParaRPr>
          </a:p>
          <a:p>
            <a:pPr lvl="0" eaLnBrk="1" hangingPunct="1">
              <a:lnSpc>
                <a:spcPct val="110000"/>
              </a:lnSpc>
            </a:pPr>
            <a:r>
              <a:rPr sz="2400" u="sng">
                <a:solidFill>
                  <a:schemeClr val="hlink"/>
                </a:solidFill>
              </a:rPr>
              <a:t>Holistic</a:t>
            </a:r>
            <a:r>
              <a:rPr sz="2400">
                <a:solidFill>
                  <a:schemeClr val="hlink"/>
                </a:solidFill>
              </a:rPr>
              <a:t>: </a:t>
            </a:r>
            <a:r>
              <a:rPr sz="2400"/>
              <a:t>if there is no constant bound on the storage size needed to describe a subaggregate.</a:t>
            </a:r>
            <a:r>
              <a:rPr sz="2400">
                <a:solidFill>
                  <a:schemeClr val="hlink"/>
                </a:solidFill>
              </a:rPr>
              <a:t>  </a:t>
            </a:r>
            <a:endParaRPr sz="2400">
              <a:solidFill>
                <a:schemeClr val="hlink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sz="2000"/>
              <a:t>E.g., median(), mode(), rank()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662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D38A786-D0D1-4547-80A9-0A415EBA27EC}" type="slidenum">
              <a:rPr sz="1200"/>
              <a:t>24</a:t>
            </a:fld>
            <a:endParaRPr sz="1200"/>
          </a:p>
        </p:txBody>
      </p:sp>
      <p:sp>
        <p:nvSpPr>
          <p:cNvPr id="26627" name="Rectangle 2" title=""/>
          <p:cNvSpPr>
            <a:spLocks noGrp="1"/>
          </p:cNvSpPr>
          <p:nvPr>
            <p:ph type="title"/>
          </p:nvPr>
        </p:nvSpPr>
        <p:spPr>
          <a:xfrm>
            <a:off x="990600" y="304800"/>
            <a:ext cx="7162800" cy="6096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View of Warehouses and Hierarchies</a:t>
            </a:r>
          </a:p>
        </p:txBody>
      </p:sp>
      <p:pic>
        <p:nvPicPr>
          <p:cNvPr id="26628" name="Picture 3" descr="worksp2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73175"/>
            <a:ext cx="6858000" cy="5260975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26629" name="Picture 4" descr="reghier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133600"/>
            <a:ext cx="2171700" cy="4467225"/>
          </a:xfrm>
          <a:prstGeom prst="rect">
            <a:avLst/>
          </a:prstGeom>
          <a:noFill/>
          <a:ln>
            <a:noFill/>
            <a:miter lim="800000"/>
          </a:ln>
        </p:spPr>
      </p:pic>
      <p:sp>
        <p:nvSpPr>
          <p:cNvPr id="26630" name="Rectangle 5" title=""/>
          <p:cNvSpPr>
            <a:spLocks noGrp="1"/>
          </p:cNvSpPr>
          <p:nvPr>
            <p:ph type="body" sz="half" idx="1"/>
          </p:nvPr>
        </p:nvSpPr>
        <p:spPr>
          <a:xfrm>
            <a:off x="5105400" y="2819400"/>
            <a:ext cx="4038600" cy="32766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lvl="0" eaLnBrk="1" hangingPunct="1">
              <a:lnSpc>
                <a:spcPct val="110000"/>
              </a:lnSpc>
              <a:buNone/>
            </a:pPr>
            <a:r>
              <a:rPr u="sng">
                <a:solidFill>
                  <a:srgbClr val="006666"/>
                </a:solidFill>
              </a:rPr>
              <a:t>Specification of hierarchies</a:t>
            </a:r>
            <a:endParaRPr u="sng">
              <a:solidFill>
                <a:srgbClr val="006666"/>
              </a:solidFill>
            </a:endParaRPr>
          </a:p>
          <a:p>
            <a:pPr lvl="0" eaLnBrk="1" hangingPunct="1">
              <a:lnSpc>
                <a:spcPct val="110000"/>
              </a:lnSpc>
            </a:pPr>
            <a:r>
              <a:t>Schema hierarchy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>
                <a:solidFill>
                  <a:schemeClr val="folHlink"/>
                </a:solidFill>
              </a:rPr>
              <a:t>day &lt; {month &lt; quarter; week} &lt; year</a:t>
            </a:r>
            <a:endParaRPr>
              <a:solidFill>
                <a:schemeClr val="folHlink"/>
              </a:solidFill>
            </a:endParaRPr>
          </a:p>
          <a:p>
            <a:pPr lvl="0" eaLnBrk="1" hangingPunct="1">
              <a:lnSpc>
                <a:spcPct val="110000"/>
              </a:lnSpc>
            </a:pPr>
            <a:r>
              <a:t>Set_grouping hierarchy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>
                <a:solidFill>
                  <a:schemeClr val="folHlink"/>
                </a:solidFill>
              </a:rPr>
              <a:t>{1..10} &lt; inexpensive</a:t>
            </a:r>
            <a:endParaRPr>
              <a:solidFill>
                <a:schemeClr val="folHlink"/>
              </a:solidFill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765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A3D7291F-7DAC-4499-951A-5CC1B13C934F}" type="slidenum">
              <a:rPr sz="1200"/>
              <a:t>25</a:t>
            </a:fld>
            <a:endParaRPr sz="1200"/>
          </a:p>
        </p:txBody>
      </p:sp>
      <p:sp>
        <p:nvSpPr>
          <p:cNvPr id="27651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Multidimensional Data</a:t>
            </a:r>
          </a:p>
        </p:txBody>
      </p:sp>
      <p:sp>
        <p:nvSpPr>
          <p:cNvPr id="27652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562100"/>
            <a:ext cx="8302625" cy="45720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/>
            <a:r>
              <a:t>Sales volume as a function of product, month, and region</a:t>
            </a:r>
          </a:p>
        </p:txBody>
      </p:sp>
      <p:sp>
        <p:nvSpPr>
          <p:cNvPr id="27653" name="AutoShape 4" title=""/>
          <p:cNvSpPr/>
          <p:nvPr/>
        </p:nvSpPr>
        <p:spPr>
          <a:xfrm>
            <a:off x="1377950" y="3130550"/>
            <a:ext cx="3263900" cy="2882900"/>
          </a:xfrm>
          <a:prstGeom prst="cube">
            <a:avLst>
              <a:gd name="adj" fmla="val 24995"/>
            </a:avLst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7654" name="Line 5" title=""/>
          <p:cNvSpPr/>
          <p:nvPr/>
        </p:nvSpPr>
        <p:spPr>
          <a:xfrm>
            <a:off x="1371600" y="41910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55" name="Line 6" title=""/>
          <p:cNvSpPr/>
          <p:nvPr/>
        </p:nvSpPr>
        <p:spPr>
          <a:xfrm>
            <a:off x="1371600" y="44958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56" name="Line 7" title=""/>
          <p:cNvSpPr/>
          <p:nvPr/>
        </p:nvSpPr>
        <p:spPr>
          <a:xfrm>
            <a:off x="1371600" y="48768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57" name="Line 8" title=""/>
          <p:cNvSpPr/>
          <p:nvPr/>
        </p:nvSpPr>
        <p:spPr>
          <a:xfrm>
            <a:off x="1371600" y="51816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58" name="Line 9" title=""/>
          <p:cNvSpPr/>
          <p:nvPr/>
        </p:nvSpPr>
        <p:spPr>
          <a:xfrm>
            <a:off x="1371600" y="54864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59" name="Line 10" title=""/>
          <p:cNvSpPr/>
          <p:nvPr/>
        </p:nvSpPr>
        <p:spPr>
          <a:xfrm>
            <a:off x="1371600" y="57912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0" name="Line 11" title=""/>
          <p:cNvSpPr/>
          <p:nvPr/>
        </p:nvSpPr>
        <p:spPr>
          <a:xfrm flipH="1">
            <a:off x="16764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1" name="Line 12" title=""/>
          <p:cNvSpPr/>
          <p:nvPr/>
        </p:nvSpPr>
        <p:spPr>
          <a:xfrm flipH="1">
            <a:off x="23622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2" name="Line 13" title=""/>
          <p:cNvSpPr/>
          <p:nvPr/>
        </p:nvSpPr>
        <p:spPr>
          <a:xfrm flipH="1">
            <a:off x="27432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3" name="Line 14" title=""/>
          <p:cNvSpPr/>
          <p:nvPr/>
        </p:nvSpPr>
        <p:spPr>
          <a:xfrm flipH="1">
            <a:off x="30480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4" name="Line 15" title=""/>
          <p:cNvSpPr/>
          <p:nvPr/>
        </p:nvSpPr>
        <p:spPr>
          <a:xfrm flipH="1">
            <a:off x="33528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5" name="Line 16" title=""/>
          <p:cNvSpPr/>
          <p:nvPr/>
        </p:nvSpPr>
        <p:spPr>
          <a:xfrm flipH="1">
            <a:off x="19812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6" name="Line 17" title=""/>
          <p:cNvSpPr/>
          <p:nvPr/>
        </p:nvSpPr>
        <p:spPr>
          <a:xfrm flipV="1">
            <a:off x="1676400" y="3124200"/>
            <a:ext cx="7620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7" name="Line 18" title=""/>
          <p:cNvSpPr/>
          <p:nvPr/>
        </p:nvSpPr>
        <p:spPr>
          <a:xfrm flipV="1">
            <a:off x="1981200" y="31242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8" name="Line 19" title=""/>
          <p:cNvSpPr/>
          <p:nvPr/>
        </p:nvSpPr>
        <p:spPr>
          <a:xfrm flipV="1">
            <a:off x="2362200" y="31242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69" name="Line 20" title=""/>
          <p:cNvSpPr/>
          <p:nvPr/>
        </p:nvSpPr>
        <p:spPr>
          <a:xfrm flipV="1">
            <a:off x="3048000" y="31242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0" name="Line 21" title=""/>
          <p:cNvSpPr/>
          <p:nvPr/>
        </p:nvSpPr>
        <p:spPr>
          <a:xfrm flipV="1">
            <a:off x="3352800" y="31242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1" name="Line 22" title=""/>
          <p:cNvSpPr/>
          <p:nvPr/>
        </p:nvSpPr>
        <p:spPr>
          <a:xfrm flipV="1">
            <a:off x="3657600" y="31242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2" name="Line 23" title=""/>
          <p:cNvSpPr/>
          <p:nvPr/>
        </p:nvSpPr>
        <p:spPr>
          <a:xfrm>
            <a:off x="1905000" y="3352800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3" name="Line 24" title=""/>
          <p:cNvSpPr/>
          <p:nvPr/>
        </p:nvSpPr>
        <p:spPr>
          <a:xfrm>
            <a:off x="1676400" y="35814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4" name="Line 25" title=""/>
          <p:cNvSpPr/>
          <p:nvPr/>
        </p:nvSpPr>
        <p:spPr>
          <a:xfrm flipH="1">
            <a:off x="3657600" y="3886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5" name="Line 26" title=""/>
          <p:cNvSpPr/>
          <p:nvPr/>
        </p:nvSpPr>
        <p:spPr>
          <a:xfrm flipH="1">
            <a:off x="4419600" y="3352800"/>
            <a:ext cx="0" cy="2209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6" name="Line 27" title=""/>
          <p:cNvSpPr/>
          <p:nvPr/>
        </p:nvSpPr>
        <p:spPr>
          <a:xfrm flipV="1">
            <a:off x="3962400" y="3505200"/>
            <a:ext cx="6858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7" name="Line 28" title=""/>
          <p:cNvSpPr/>
          <p:nvPr/>
        </p:nvSpPr>
        <p:spPr>
          <a:xfrm flipV="1">
            <a:off x="3962400" y="38862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8" name="Line 29" title=""/>
          <p:cNvSpPr/>
          <p:nvPr/>
        </p:nvSpPr>
        <p:spPr>
          <a:xfrm flipV="1">
            <a:off x="3962400" y="42672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79" name="Line 30" title=""/>
          <p:cNvSpPr/>
          <p:nvPr/>
        </p:nvSpPr>
        <p:spPr>
          <a:xfrm flipV="1">
            <a:off x="3962400" y="45720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80" name="Line 31" title=""/>
          <p:cNvSpPr/>
          <p:nvPr/>
        </p:nvSpPr>
        <p:spPr>
          <a:xfrm flipV="1">
            <a:off x="3962400" y="48768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81" name="Line 32" title=""/>
          <p:cNvSpPr/>
          <p:nvPr/>
        </p:nvSpPr>
        <p:spPr>
          <a:xfrm flipV="1">
            <a:off x="3962400" y="5105400"/>
            <a:ext cx="6858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82" name="Rectangle 33" title=""/>
          <p:cNvSpPr/>
          <p:nvPr/>
        </p:nvSpPr>
        <p:spPr>
          <a:xfrm rot="16200000" flipH="1">
            <a:off x="348456" y="4528344"/>
            <a:ext cx="113188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Product</a:t>
            </a:r>
            <a:endParaRPr>
              <a:latin typeface="Times New Roman" pitchFamily="18" charset="0"/>
            </a:endParaRPr>
          </a:p>
        </p:txBody>
      </p:sp>
      <p:sp>
        <p:nvSpPr>
          <p:cNvPr id="27683" name="Rectangle 34" title=""/>
          <p:cNvSpPr/>
          <p:nvPr/>
        </p:nvSpPr>
        <p:spPr>
          <a:xfrm rot="18720000">
            <a:off x="686593" y="2971007"/>
            <a:ext cx="1065213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Region</a:t>
            </a:r>
            <a:endParaRPr>
              <a:latin typeface="Times New Roman" pitchFamily="18" charset="0"/>
            </a:endParaRPr>
          </a:p>
        </p:txBody>
      </p:sp>
      <p:sp>
        <p:nvSpPr>
          <p:cNvPr id="27684" name="Rectangle 35" title=""/>
          <p:cNvSpPr/>
          <p:nvPr/>
        </p:nvSpPr>
        <p:spPr>
          <a:xfrm>
            <a:off x="2117725" y="6003925"/>
            <a:ext cx="99695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>
                <a:latin typeface="Times New Roman" pitchFamily="18" charset="0"/>
              </a:rPr>
              <a:t>Month</a:t>
            </a:r>
            <a:endParaRPr>
              <a:latin typeface="Times New Roman" pitchFamily="18" charset="0"/>
            </a:endParaRPr>
          </a:p>
        </p:txBody>
      </p:sp>
      <p:sp>
        <p:nvSpPr>
          <p:cNvPr id="27685" name="Line 36" title=""/>
          <p:cNvSpPr/>
          <p:nvPr/>
        </p:nvSpPr>
        <p:spPr>
          <a:xfrm flipH="1">
            <a:off x="4267200" y="35814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86" name="Line 37" title=""/>
          <p:cNvSpPr/>
          <p:nvPr/>
        </p:nvSpPr>
        <p:spPr>
          <a:xfrm flipV="1">
            <a:off x="2743200" y="31242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87" name="Rectangle 38" title=""/>
          <p:cNvSpPr/>
          <p:nvPr/>
        </p:nvSpPr>
        <p:spPr>
          <a:xfrm>
            <a:off x="4572000" y="2362200"/>
            <a:ext cx="4137025" cy="7016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 b="1">
                <a:latin typeface="Times New Roman" pitchFamily="18" charset="0"/>
              </a:rPr>
              <a:t>Dimensions: </a:t>
            </a:r>
            <a:r>
              <a:rPr sz="2000" b="1" i="1">
                <a:latin typeface="Times New Roman" pitchFamily="18" charset="0"/>
              </a:rPr>
              <a:t>Product, Location, Time</a:t>
            </a:r>
            <a:endParaRPr sz="2000" b="1" i="1">
              <a:latin typeface="Times New Roman" pitchFamily="18" charset="0"/>
            </a:endParaRPr>
          </a:p>
          <a:p>
            <a:pPr marL="0" lvl="0" indent="0"/>
            <a:r>
              <a:rPr sz="2000" b="1">
                <a:latin typeface="Times New Roman" pitchFamily="18" charset="0"/>
              </a:rPr>
              <a:t>Hierarchical summarization paths</a:t>
            </a:r>
            <a:endParaRPr sz="2000" b="1">
              <a:latin typeface="Times New Roman" pitchFamily="18" charset="0"/>
            </a:endParaRPr>
          </a:p>
        </p:txBody>
      </p:sp>
      <p:sp>
        <p:nvSpPr>
          <p:cNvPr id="27688" name="Rectangle 39" title=""/>
          <p:cNvSpPr/>
          <p:nvPr/>
        </p:nvSpPr>
        <p:spPr>
          <a:xfrm>
            <a:off x="5105400" y="3276600"/>
            <a:ext cx="3830638" cy="22256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000" b="1">
                <a:latin typeface="Times New Roman" pitchFamily="18" charset="0"/>
              </a:rPr>
              <a:t>Industry   Region         Year</a:t>
            </a:r>
            <a:endParaRPr sz="2000" b="1">
              <a:latin typeface="Times New Roman" pitchFamily="18" charset="0"/>
            </a:endParaRPr>
          </a:p>
          <a:p>
            <a:pPr marL="0" lvl="0" indent="0"/>
            <a:endParaRPr sz="2000" b="1">
              <a:latin typeface="Times New Roman" pitchFamily="18" charset="0"/>
            </a:endParaRPr>
          </a:p>
          <a:p>
            <a:pPr marL="0" lvl="0" indent="0"/>
            <a:r>
              <a:rPr sz="2000" b="1">
                <a:latin typeface="Times New Roman" pitchFamily="18" charset="0"/>
              </a:rPr>
              <a:t>Category   Country  Quarter</a:t>
            </a:r>
            <a:endParaRPr sz="2000" b="1">
              <a:latin typeface="Times New Roman" pitchFamily="18" charset="0"/>
            </a:endParaRPr>
          </a:p>
          <a:p>
            <a:pPr marL="0" lvl="0" indent="0"/>
            <a:endParaRPr sz="2000" b="1">
              <a:latin typeface="Times New Roman" pitchFamily="18" charset="0"/>
            </a:endParaRPr>
          </a:p>
          <a:p>
            <a:pPr marL="0" lvl="0" indent="0"/>
            <a:r>
              <a:rPr sz="2000" b="1">
                <a:latin typeface="Times New Roman" pitchFamily="18" charset="0"/>
              </a:rPr>
              <a:t>Product      City     Month    Week</a:t>
            </a:r>
            <a:endParaRPr sz="2000" b="1">
              <a:latin typeface="Times New Roman" pitchFamily="18" charset="0"/>
            </a:endParaRPr>
          </a:p>
          <a:p>
            <a:pPr marL="0" lvl="0" indent="0"/>
            <a:endParaRPr sz="2000" b="1">
              <a:latin typeface="Times New Roman" pitchFamily="18" charset="0"/>
            </a:endParaRPr>
          </a:p>
          <a:p>
            <a:pPr marL="0" lvl="0" indent="0"/>
            <a:r>
              <a:rPr sz="2000" b="1">
                <a:latin typeface="Times New Roman" pitchFamily="18" charset="0"/>
              </a:rPr>
              <a:t>                   Office         Day</a:t>
            </a:r>
            <a:endParaRPr sz="2000" b="1">
              <a:latin typeface="Times New Roman" pitchFamily="18" charset="0"/>
            </a:endParaRPr>
          </a:p>
        </p:txBody>
      </p:sp>
      <p:sp>
        <p:nvSpPr>
          <p:cNvPr id="27689" name="Line 40" title=""/>
          <p:cNvSpPr/>
          <p:nvPr/>
        </p:nvSpPr>
        <p:spPr>
          <a:xfrm flipH="1">
            <a:off x="5638800" y="3657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0" name="Line 41" title=""/>
          <p:cNvSpPr/>
          <p:nvPr/>
        </p:nvSpPr>
        <p:spPr>
          <a:xfrm flipH="1">
            <a:off x="6705600" y="3657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1" name="Line 42" title=""/>
          <p:cNvSpPr/>
          <p:nvPr/>
        </p:nvSpPr>
        <p:spPr>
          <a:xfrm flipH="1">
            <a:off x="7924800" y="3657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2" name="Line 43" title=""/>
          <p:cNvSpPr/>
          <p:nvPr/>
        </p:nvSpPr>
        <p:spPr>
          <a:xfrm flipH="1">
            <a:off x="5638800" y="4267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3" name="Line 44" title=""/>
          <p:cNvSpPr/>
          <p:nvPr/>
        </p:nvSpPr>
        <p:spPr>
          <a:xfrm flipH="1">
            <a:off x="6705600" y="4267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4" name="Line 45" title=""/>
          <p:cNvSpPr/>
          <p:nvPr/>
        </p:nvSpPr>
        <p:spPr>
          <a:xfrm flipH="1">
            <a:off x="6705600" y="48768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5" name="Line 46" title=""/>
          <p:cNvSpPr/>
          <p:nvPr/>
        </p:nvSpPr>
        <p:spPr>
          <a:xfrm flipH="1">
            <a:off x="7620000" y="4267200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6" name="Line 47" title=""/>
          <p:cNvSpPr/>
          <p:nvPr/>
        </p:nvSpPr>
        <p:spPr>
          <a:xfrm>
            <a:off x="8077200" y="3657600"/>
            <a:ext cx="533400" cy="914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7" name="Line 48" title=""/>
          <p:cNvSpPr/>
          <p:nvPr/>
        </p:nvSpPr>
        <p:spPr>
          <a:xfrm>
            <a:off x="7620000" y="4800600"/>
            <a:ext cx="30480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7698" name="Line 49" title=""/>
          <p:cNvSpPr/>
          <p:nvPr/>
        </p:nvSpPr>
        <p:spPr>
          <a:xfrm flipH="1">
            <a:off x="8001000" y="4800600"/>
            <a:ext cx="30480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8674" name="Slide Number Placeholder 4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5664F1B-73C6-4F24-BBB5-10A56FCFBE67}" type="slidenum">
              <a:rPr sz="1200"/>
              <a:t>26</a:t>
            </a:fld>
            <a:endParaRPr sz="1200"/>
          </a:p>
        </p:txBody>
      </p:sp>
      <p:sp>
        <p:nvSpPr>
          <p:cNvPr id="28675" name="Rectangle 2" title=""/>
          <p:cNvSpPr>
            <a:spLocks noGrp="1"/>
          </p:cNvSpPr>
          <p:nvPr>
            <p:ph type="title"/>
          </p:nvPr>
        </p:nvSpPr>
        <p:spPr>
          <a:xfrm>
            <a:off x="609600" y="350838"/>
            <a:ext cx="7847013" cy="577850"/>
          </a:xfrm>
          <a:noFill/>
          <a:ln>
            <a:miter lim="800000"/>
          </a:ln>
        </p:spPr>
        <p:txBody>
          <a:bodyPr wrap="square" lIns="90488" tIns="44450" rIns="90488" bIns="44450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A Sample Data Cube</a:t>
            </a:r>
            <a:endParaRPr sz="2800"/>
          </a:p>
        </p:txBody>
      </p:sp>
      <p:sp>
        <p:nvSpPr>
          <p:cNvPr id="28676" name="Rectangle 3" title=""/>
          <p:cNvSpPr/>
          <p:nvPr/>
        </p:nvSpPr>
        <p:spPr>
          <a:xfrm>
            <a:off x="704850" y="6191250"/>
            <a:ext cx="8001000" cy="18288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92075" tIns="46038" rIns="92075" bIns="46038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buFont typeface="Monotype Sorts" pitchFamily="2" charset="2"/>
            </a:pPr>
            <a:endParaRPr sz="2000">
              <a:latin typeface="Times New Roman" pitchFamily="18" charset="0"/>
            </a:endParaRPr>
          </a:p>
        </p:txBody>
      </p:sp>
      <p:sp>
        <p:nvSpPr>
          <p:cNvPr id="28677" name="AutoShape 4" title=""/>
          <p:cNvSpPr/>
          <p:nvPr/>
        </p:nvSpPr>
        <p:spPr>
          <a:xfrm>
            <a:off x="6378575" y="1485900"/>
            <a:ext cx="2403475" cy="657225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</a:ln>
        </p:spPr>
        <p:txBody>
          <a:bodyPr wrap="none" lIns="90488" tIns="44450" rIns="90488" bIns="44450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sz="2000" b="1">
                <a:latin typeface="Times New Roman" pitchFamily="18" charset="0"/>
              </a:rPr>
              <a:t>Total annual sales</a:t>
            </a:r>
            <a:endParaRPr sz="2000" b="1">
              <a:latin typeface="Times New Roman" pitchFamily="18" charset="0"/>
            </a:endParaRPr>
          </a:p>
          <a:p>
            <a:pPr marL="0" lvl="0" indent="0" algn="ctr"/>
            <a:r>
              <a:rPr sz="2000" b="1">
                <a:latin typeface="Times New Roman" pitchFamily="18" charset="0"/>
              </a:rPr>
              <a:t>of  TVs in U.S.A.</a:t>
            </a:r>
            <a:endParaRPr b="1">
              <a:latin typeface="Times New Roman" pitchFamily="18" charset="0"/>
            </a:endParaRPr>
          </a:p>
        </p:txBody>
      </p:sp>
      <p:grpSp>
        <p:nvGrpSpPr>
          <p:cNvPr id="28678" name="Group 5" title=""/>
          <p:cNvGrpSpPr/>
          <p:nvPr/>
        </p:nvGrpSpPr>
        <p:grpSpPr>
          <a:xfrm>
            <a:off x="762000" y="1600200"/>
            <a:ext cx="7127875" cy="4760913"/>
            <a:chOff x="444" y="1008"/>
            <a:chExt cx="4490" cy="2999"/>
          </a:xfrm>
        </p:grpSpPr>
        <p:sp>
          <p:nvSpPr>
            <p:cNvPr id="28679" name="Rectangle 6" title=""/>
            <p:cNvSpPr/>
            <p:nvPr/>
          </p:nvSpPr>
          <p:spPr>
            <a:xfrm>
              <a:off x="2412" y="1008"/>
              <a:ext cx="498" cy="286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b="1">
                  <a:latin typeface="Times New Roman" pitchFamily="18" charset="0"/>
                </a:rPr>
                <a:t>Date</a:t>
              </a:r>
              <a:endParaRPr b="1">
                <a:latin typeface="Times New Roman" pitchFamily="18" charset="0"/>
              </a:endParaRPr>
            </a:p>
          </p:txBody>
        </p:sp>
        <p:sp>
          <p:nvSpPr>
            <p:cNvPr id="28680" name="Rectangle 7" title=""/>
            <p:cNvSpPr/>
            <p:nvPr/>
          </p:nvSpPr>
          <p:spPr>
            <a:xfrm rot="18600000">
              <a:off x="276" y="1342"/>
              <a:ext cx="775" cy="286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b="1">
                  <a:latin typeface="Times New Roman" pitchFamily="18" charset="0"/>
                </a:rPr>
                <a:t>Product</a:t>
              </a:r>
              <a:endParaRPr b="1">
                <a:latin typeface="Times New Roman" pitchFamily="18" charset="0"/>
              </a:endParaRPr>
            </a:p>
          </p:txBody>
        </p:sp>
        <p:sp>
          <p:nvSpPr>
            <p:cNvPr id="28681" name="Rectangle 8" title=""/>
            <p:cNvSpPr/>
            <p:nvPr/>
          </p:nvSpPr>
          <p:spPr>
            <a:xfrm rot="16200000">
              <a:off x="4378" y="2088"/>
              <a:ext cx="808" cy="286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b="1">
                  <a:latin typeface="Times New Roman" pitchFamily="18" charset="0"/>
                </a:rPr>
                <a:t>Country</a:t>
              </a:r>
              <a:endParaRPr b="1">
                <a:latin typeface="Times New Roman" pitchFamily="18" charset="0"/>
              </a:endParaRPr>
            </a:p>
          </p:txBody>
        </p:sp>
        <p:grpSp>
          <p:nvGrpSpPr>
            <p:cNvPr id="28682" name="Group 9" title=""/>
            <p:cNvGrpSpPr/>
            <p:nvPr/>
          </p:nvGrpSpPr>
          <p:grpSpPr>
            <a:xfrm>
              <a:off x="3604" y="3717"/>
              <a:ext cx="1330" cy="290"/>
              <a:chOff x="3508" y="3022"/>
              <a:chExt cx="1330" cy="290"/>
            </a:xfrm>
          </p:grpSpPr>
          <p:sp>
            <p:nvSpPr>
              <p:cNvPr id="28742" name="WordArt 10" title=""/>
              <p:cNvSpPr>
                <a:spLocks noTextEdit="1"/>
              </p:cNvSpPr>
              <p:nvPr/>
            </p:nvSpPr>
            <p:spPr>
              <a:xfrm>
                <a:off x="3854" y="3022"/>
                <a:ext cx="984" cy="290"/>
              </a:xfrm>
            </p:spPr>
            <p:txBody>
              <a:bodyPr wrap="none" fromWordArt="1">
                <a:prstTxWarp prst="textPlain">
                  <a:avLst/>
                </a:prstTxWarp>
                <a:noAutofit/>
              </a:bodyPr>
              <a:lstStyle/>
              <a:p>
                <a:pPr algn="ctr"/>
                <a:r>
                  <a:rPr sz="3600" kern="10">
                    <a:ln>
                      <a:noFill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9933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effectLst>
                      <a:outerShdw dist="35921" dir="2700000" algn="ctr">
                        <a:srgbClr val="C0C0C0"/>
                      </a:outerShdw>
                    </a:effectLst>
                    <a:latin typeface="Impact"/>
                  </a:rPr>
                  <a:t>All, All, All</a:t>
                </a:r>
              </a:p>
            </p:txBody>
          </p:sp>
          <p:sp>
            <p:nvSpPr>
              <p:cNvPr id="28743" name="AutoShape 11" title=""/>
              <p:cNvSpPr/>
              <p:nvPr/>
            </p:nvSpPr>
            <p:spPr>
              <a:xfrm flipH="1">
                <a:off x="3508" y="3060"/>
                <a:ext cx="209" cy="187"/>
              </a:xfrm>
              <a:prstGeom prst="rightArrow">
                <a:avLst>
                  <a:gd name="adj1" fmla="val 50000"/>
                  <a:gd name="adj2" fmla="val 55888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</p:grpSp>
        <p:sp>
          <p:nvSpPr>
            <p:cNvPr id="28683" name="AutoShape 12" title=""/>
            <p:cNvSpPr/>
            <p:nvPr/>
          </p:nvSpPr>
          <p:spPr>
            <a:xfrm>
              <a:off x="3473" y="2787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84" name="AutoShape 13" title=""/>
            <p:cNvSpPr/>
            <p:nvPr/>
          </p:nvSpPr>
          <p:spPr>
            <a:xfrm>
              <a:off x="3473" y="232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85" name="AutoShape 14" title=""/>
            <p:cNvSpPr/>
            <p:nvPr/>
          </p:nvSpPr>
          <p:spPr>
            <a:xfrm>
              <a:off x="3473" y="187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86" name="AutoShape 15" title=""/>
            <p:cNvSpPr/>
            <p:nvPr/>
          </p:nvSpPr>
          <p:spPr>
            <a:xfrm>
              <a:off x="3296" y="295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87" name="AutoShape 16" title=""/>
            <p:cNvSpPr/>
            <p:nvPr/>
          </p:nvSpPr>
          <p:spPr>
            <a:xfrm>
              <a:off x="3296" y="250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88" name="AutoShape 17" title=""/>
            <p:cNvSpPr/>
            <p:nvPr/>
          </p:nvSpPr>
          <p:spPr>
            <a:xfrm>
              <a:off x="3296" y="2043"/>
              <a:ext cx="640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89" name="AutoShape 18" title=""/>
            <p:cNvSpPr/>
            <p:nvPr/>
          </p:nvSpPr>
          <p:spPr>
            <a:xfrm>
              <a:off x="3118" y="3130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0" name="AutoShape 19" title=""/>
            <p:cNvSpPr/>
            <p:nvPr/>
          </p:nvSpPr>
          <p:spPr>
            <a:xfrm>
              <a:off x="3118" y="2673"/>
              <a:ext cx="641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1" name="AutoShape 20" title=""/>
            <p:cNvSpPr/>
            <p:nvPr/>
          </p:nvSpPr>
          <p:spPr>
            <a:xfrm>
              <a:off x="3118" y="2214"/>
              <a:ext cx="641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2" name="Rectangle 21" title=""/>
            <p:cNvSpPr/>
            <p:nvPr/>
          </p:nvSpPr>
          <p:spPr>
            <a:xfrm>
              <a:off x="444" y="1866"/>
              <a:ext cx="416" cy="24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 i="1">
                  <a:latin typeface="Arial"/>
                </a:rPr>
                <a:t>sum</a:t>
              </a:r>
              <a:endParaRPr sz="1600" i="1">
                <a:latin typeface="Arial"/>
              </a:endParaRPr>
            </a:p>
          </p:txBody>
        </p:sp>
        <p:sp>
          <p:nvSpPr>
            <p:cNvPr id="28693" name="Rectangle 22" title=""/>
            <p:cNvSpPr/>
            <p:nvPr/>
          </p:nvSpPr>
          <p:spPr>
            <a:xfrm>
              <a:off x="3616" y="1206"/>
              <a:ext cx="416" cy="248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2000" i="1">
                  <a:latin typeface="Arial"/>
                </a:rPr>
                <a:t>sum</a:t>
              </a:r>
              <a:endParaRPr sz="1600" i="1">
                <a:latin typeface="Arial"/>
              </a:endParaRPr>
            </a:p>
          </p:txBody>
        </p:sp>
        <p:sp>
          <p:nvSpPr>
            <p:cNvPr id="28694" name="AutoShape 23" title=""/>
            <p:cNvSpPr/>
            <p:nvPr/>
          </p:nvSpPr>
          <p:spPr>
            <a:xfrm>
              <a:off x="1346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5" name="AutoShape 24" title=""/>
            <p:cNvSpPr/>
            <p:nvPr/>
          </p:nvSpPr>
          <p:spPr>
            <a:xfrm>
              <a:off x="1170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6" name="AutoShape 25" title=""/>
            <p:cNvSpPr/>
            <p:nvPr/>
          </p:nvSpPr>
          <p:spPr>
            <a:xfrm>
              <a:off x="992" y="1771"/>
              <a:ext cx="640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7" name="AutoShape 26" title=""/>
            <p:cNvSpPr/>
            <p:nvPr/>
          </p:nvSpPr>
          <p:spPr>
            <a:xfrm>
              <a:off x="1879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8" name="AutoShape 27" title=""/>
            <p:cNvSpPr/>
            <p:nvPr/>
          </p:nvSpPr>
          <p:spPr>
            <a:xfrm>
              <a:off x="1701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699" name="AutoShape 28" title=""/>
            <p:cNvSpPr/>
            <p:nvPr/>
          </p:nvSpPr>
          <p:spPr>
            <a:xfrm>
              <a:off x="1524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0" name="AutoShape 29" title=""/>
            <p:cNvSpPr/>
            <p:nvPr/>
          </p:nvSpPr>
          <p:spPr>
            <a:xfrm>
              <a:off x="2410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1" name="AutoShape 30" title=""/>
            <p:cNvSpPr/>
            <p:nvPr/>
          </p:nvSpPr>
          <p:spPr>
            <a:xfrm>
              <a:off x="2233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2" name="AutoShape 31" title=""/>
            <p:cNvSpPr/>
            <p:nvPr/>
          </p:nvSpPr>
          <p:spPr>
            <a:xfrm>
              <a:off x="2055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3" name="AutoShape 32" title=""/>
            <p:cNvSpPr/>
            <p:nvPr/>
          </p:nvSpPr>
          <p:spPr>
            <a:xfrm>
              <a:off x="2942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4" name="AutoShape 33" title=""/>
            <p:cNvSpPr/>
            <p:nvPr/>
          </p:nvSpPr>
          <p:spPr>
            <a:xfrm>
              <a:off x="2766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5" name="AutoShape 34" title=""/>
            <p:cNvSpPr/>
            <p:nvPr/>
          </p:nvSpPr>
          <p:spPr>
            <a:xfrm>
              <a:off x="2588" y="1771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6" name="AutoShape 35" title=""/>
            <p:cNvSpPr/>
            <p:nvPr/>
          </p:nvSpPr>
          <p:spPr>
            <a:xfrm>
              <a:off x="3475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7" name="AutoShape 36" title=""/>
            <p:cNvSpPr/>
            <p:nvPr/>
          </p:nvSpPr>
          <p:spPr>
            <a:xfrm>
              <a:off x="3297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sp>
          <p:nvSpPr>
            <p:cNvPr id="28708" name="AutoShape 37" title=""/>
            <p:cNvSpPr/>
            <p:nvPr/>
          </p:nvSpPr>
          <p:spPr>
            <a:xfrm>
              <a:off x="3119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 anchorCtr="0">
              <a:no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eaLnBrk="1" hangingPunct="1"/>
            </a:p>
          </p:txBody>
        </p:sp>
        <p:grpSp>
          <p:nvGrpSpPr>
            <p:cNvPr id="28709" name="Group 38" title=""/>
            <p:cNvGrpSpPr/>
            <p:nvPr/>
          </p:nvGrpSpPr>
          <p:grpSpPr>
            <a:xfrm>
              <a:off x="823" y="1926"/>
              <a:ext cx="2768" cy="1937"/>
              <a:chOff x="1388" y="1937"/>
              <a:chExt cx="2026" cy="1310"/>
            </a:xfrm>
          </p:grpSpPr>
          <p:sp>
            <p:nvSpPr>
              <p:cNvPr id="28722" name="AutoShape 39" title=""/>
              <p:cNvSpPr/>
              <p:nvPr/>
            </p:nvSpPr>
            <p:spPr>
              <a:xfrm>
                <a:off x="1388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3" name="AutoShape 40" title=""/>
              <p:cNvSpPr/>
              <p:nvPr/>
            </p:nvSpPr>
            <p:spPr>
              <a:xfrm>
                <a:off x="1778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4" name="AutoShape 41" title=""/>
              <p:cNvSpPr/>
              <p:nvPr/>
            </p:nvSpPr>
            <p:spPr>
              <a:xfrm>
                <a:off x="1388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5" name="AutoShape 42" title=""/>
              <p:cNvSpPr/>
              <p:nvPr/>
            </p:nvSpPr>
            <p:spPr>
              <a:xfrm>
                <a:off x="1389" y="2258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6" name="AutoShape 43" title=""/>
              <p:cNvSpPr/>
              <p:nvPr/>
            </p:nvSpPr>
            <p:spPr>
              <a:xfrm>
                <a:off x="1778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7" name="AutoShape 44" title=""/>
              <p:cNvSpPr/>
              <p:nvPr/>
            </p:nvSpPr>
            <p:spPr>
              <a:xfrm>
                <a:off x="1778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8" name="AutoShape 45" title=""/>
              <p:cNvSpPr/>
              <p:nvPr/>
            </p:nvSpPr>
            <p:spPr>
              <a:xfrm>
                <a:off x="2167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29" name="AutoShape 46" title=""/>
              <p:cNvSpPr/>
              <p:nvPr/>
            </p:nvSpPr>
            <p:spPr>
              <a:xfrm>
                <a:off x="2167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0" name="AutoShape 47" title=""/>
              <p:cNvSpPr/>
              <p:nvPr/>
            </p:nvSpPr>
            <p:spPr>
              <a:xfrm>
                <a:off x="2167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1" name="AutoShape 48" title=""/>
              <p:cNvSpPr/>
              <p:nvPr/>
            </p:nvSpPr>
            <p:spPr>
              <a:xfrm>
                <a:off x="2556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2" name="AutoShape 49" title=""/>
              <p:cNvSpPr/>
              <p:nvPr/>
            </p:nvSpPr>
            <p:spPr>
              <a:xfrm>
                <a:off x="2556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3" name="AutoShape 50" title=""/>
              <p:cNvSpPr/>
              <p:nvPr/>
            </p:nvSpPr>
            <p:spPr>
              <a:xfrm>
                <a:off x="2556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4" name="AutoShape 51" title=""/>
              <p:cNvSpPr/>
              <p:nvPr/>
            </p:nvSpPr>
            <p:spPr>
              <a:xfrm>
                <a:off x="2946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00336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5" name="AutoShape 52" title=""/>
              <p:cNvSpPr/>
              <p:nvPr/>
            </p:nvSpPr>
            <p:spPr>
              <a:xfrm>
                <a:off x="2946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6" name="AutoShape 53" title=""/>
              <p:cNvSpPr/>
              <p:nvPr/>
            </p:nvSpPr>
            <p:spPr>
              <a:xfrm>
                <a:off x="2946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7" name="AutoShape 54" title=""/>
              <p:cNvSpPr/>
              <p:nvPr/>
            </p:nvSpPr>
            <p:spPr>
              <a:xfrm>
                <a:off x="1389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8" name="AutoShape 55" title=""/>
              <p:cNvSpPr/>
              <p:nvPr/>
            </p:nvSpPr>
            <p:spPr>
              <a:xfrm>
                <a:off x="1779" y="1948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39" name="AutoShape 56" title=""/>
              <p:cNvSpPr/>
              <p:nvPr/>
            </p:nvSpPr>
            <p:spPr>
              <a:xfrm>
                <a:off x="2168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40" name="AutoShape 57" title=""/>
              <p:cNvSpPr/>
              <p:nvPr/>
            </p:nvSpPr>
            <p:spPr>
              <a:xfrm>
                <a:off x="2557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eaLnBrk="1" hangingPunct="1"/>
              </a:p>
            </p:txBody>
          </p:sp>
          <p:sp>
            <p:nvSpPr>
              <p:cNvPr id="28741" name="AutoShape 58" title=""/>
              <p:cNvSpPr/>
              <p:nvPr/>
            </p:nvSpPr>
            <p:spPr>
              <a:xfrm>
                <a:off x="2946" y="193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 anchorCtr="0">
                <a:noAutofit/>
              </a:bodyPr>
              <a:lstStyle>
                <a:defPPr>
                  <a:defRPr lang="en-US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en-US" altLang="en-US" sz="2400" b="0" i="0" u="none" baseline="0">
                    <a:solidFill>
                      <a:schemeClr val="tx1"/>
                    </a:solidFill>
                    <a:effectLst/>
                    <a:latin typeface="Tahoma" pitchFamily="34" charset="0"/>
                  </a:defRPr>
                </a:lvl5pPr>
              </a:lstStyle>
              <a:p>
                <a:pPr marL="0" lvl="0" indent="0" algn="ctr"/>
                <a:endParaRPr b="1">
                  <a:latin typeface="Times New Roman" pitchFamily="18" charset="0"/>
                </a:endParaRPr>
              </a:p>
            </p:txBody>
          </p:sp>
        </p:grpSp>
        <p:sp>
          <p:nvSpPr>
            <p:cNvPr id="28710" name="Rectangle 59" title=""/>
            <p:cNvSpPr/>
            <p:nvPr/>
          </p:nvSpPr>
          <p:spPr>
            <a:xfrm>
              <a:off x="2468" y="1182"/>
              <a:ext cx="769" cy="2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/>
              <a:r>
                <a:rPr sz="1600" i="1">
                  <a:latin typeface="Arial"/>
                </a:rPr>
                <a:t> </a:t>
              </a:r>
              <a:endParaRPr sz="1600" i="1">
                <a:latin typeface="Arial"/>
              </a:endParaRPr>
            </a:p>
          </p:txBody>
        </p:sp>
        <p:sp>
          <p:nvSpPr>
            <p:cNvPr id="28711" name="Text Box 60" title=""/>
            <p:cNvSpPr txBox="1"/>
            <p:nvPr/>
          </p:nvSpPr>
          <p:spPr>
            <a:xfrm>
              <a:off x="1103" y="1300"/>
              <a:ext cx="330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TV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2" name="Text Box 61" title=""/>
            <p:cNvSpPr txBox="1"/>
            <p:nvPr/>
          </p:nvSpPr>
          <p:spPr>
            <a:xfrm>
              <a:off x="679" y="1669"/>
              <a:ext cx="446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VCR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3" name="Text Box 62" title=""/>
            <p:cNvSpPr txBox="1"/>
            <p:nvPr/>
          </p:nvSpPr>
          <p:spPr>
            <a:xfrm>
              <a:off x="941" y="1492"/>
              <a:ext cx="312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PC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4" name="Text Box 63" title=""/>
            <p:cNvSpPr txBox="1"/>
            <p:nvPr/>
          </p:nvSpPr>
          <p:spPr>
            <a:xfrm>
              <a:off x="1472" y="1197"/>
              <a:ext cx="40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1Qtr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5" name="Text Box 64" title=""/>
            <p:cNvSpPr txBox="1"/>
            <p:nvPr/>
          </p:nvSpPr>
          <p:spPr>
            <a:xfrm>
              <a:off x="2036" y="1185"/>
              <a:ext cx="40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2Qtr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6" name="Text Box 65" title=""/>
            <p:cNvSpPr txBox="1"/>
            <p:nvPr/>
          </p:nvSpPr>
          <p:spPr>
            <a:xfrm>
              <a:off x="2528" y="1209"/>
              <a:ext cx="40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3Qtr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7" name="Text Box 66" title=""/>
            <p:cNvSpPr txBox="1"/>
            <p:nvPr/>
          </p:nvSpPr>
          <p:spPr>
            <a:xfrm>
              <a:off x="3104" y="1221"/>
              <a:ext cx="409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/>
              <a:r>
                <a:rPr sz="2000">
                  <a:latin typeface="Times New Roman" pitchFamily="18" charset="0"/>
                </a:rPr>
                <a:t>4Qtr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8" name="Text Box 67" title=""/>
            <p:cNvSpPr txBox="1"/>
            <p:nvPr/>
          </p:nvSpPr>
          <p:spPr>
            <a:xfrm>
              <a:off x="4085" y="1482"/>
              <a:ext cx="517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</a:pPr>
              <a:r>
                <a:rPr sz="2000">
                  <a:latin typeface="Times New Roman" pitchFamily="18" charset="0"/>
                </a:rPr>
                <a:t>U.S.A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19" name="Text Box 68" title=""/>
            <p:cNvSpPr txBox="1"/>
            <p:nvPr/>
          </p:nvSpPr>
          <p:spPr>
            <a:xfrm>
              <a:off x="4034" y="1974"/>
              <a:ext cx="596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</a:pPr>
              <a:r>
                <a:rPr sz="2000">
                  <a:latin typeface="Times New Roman" pitchFamily="18" charset="0"/>
                </a:rPr>
                <a:t>Canada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20" name="Text Box 69" title=""/>
            <p:cNvSpPr txBox="1"/>
            <p:nvPr/>
          </p:nvSpPr>
          <p:spPr>
            <a:xfrm>
              <a:off x="4054" y="2394"/>
              <a:ext cx="604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</a:pPr>
              <a:r>
                <a:rPr sz="2000">
                  <a:latin typeface="Times New Roman" pitchFamily="18" charset="0"/>
                </a:rPr>
                <a:t>Mexico</a:t>
              </a:r>
              <a:endParaRPr>
                <a:latin typeface="Times New Roman" pitchFamily="18" charset="0"/>
              </a:endParaRPr>
            </a:p>
          </p:txBody>
        </p:sp>
        <p:sp>
          <p:nvSpPr>
            <p:cNvPr id="28721" name="Text Box 70" title=""/>
            <p:cNvSpPr txBox="1"/>
            <p:nvPr/>
          </p:nvSpPr>
          <p:spPr>
            <a:xfrm>
              <a:off x="4180" y="2874"/>
              <a:ext cx="374" cy="25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</a:pPr>
              <a:r>
                <a:rPr sz="2000" i="1">
                  <a:latin typeface="Times New Roman" pitchFamily="18" charset="0"/>
                </a:rPr>
                <a:t>sum</a:t>
              </a:r>
              <a:endParaRPr>
                <a:latin typeface="Times New Roman" pitchFamily="18" charset="0"/>
              </a:endParaRPr>
            </a:p>
          </p:txBody>
        </p:sp>
      </p:grp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2969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A8D68C11-6D03-40C0-910E-7514DAEED30C}" type="slidenum">
              <a:rPr sz="1200"/>
              <a:t>27</a:t>
            </a:fld>
            <a:endParaRPr sz="1200"/>
          </a:p>
        </p:txBody>
      </p:sp>
      <p:sp>
        <p:nvSpPr>
          <p:cNvPr id="29699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>
                <a:ea typeface="SimSun" pitchFamily="2" charset="-122"/>
              </a:rPr>
              <a:t>Cuboids Corresponding to the Cube</a:t>
            </a:r>
            <a:endParaRPr lang="en-US" altLang="zh-CN">
              <a:ea typeface="SimSun" pitchFamily="2" charset="-122"/>
            </a:endParaRPr>
          </a:p>
        </p:txBody>
      </p:sp>
      <p:sp>
        <p:nvSpPr>
          <p:cNvPr id="29700" name="AutoShape 3" title=""/>
          <p:cNvSpPr/>
          <p:nvPr/>
        </p:nvSpPr>
        <p:spPr>
          <a:xfrm>
            <a:off x="3352800" y="23622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1" name="AutoShape 4" title=""/>
          <p:cNvSpPr/>
          <p:nvPr/>
        </p:nvSpPr>
        <p:spPr>
          <a:xfrm>
            <a:off x="22098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2" name="AutoShape 5" title=""/>
          <p:cNvSpPr/>
          <p:nvPr/>
        </p:nvSpPr>
        <p:spPr>
          <a:xfrm>
            <a:off x="35052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3" name="AutoShape 6" title=""/>
          <p:cNvSpPr/>
          <p:nvPr/>
        </p:nvSpPr>
        <p:spPr>
          <a:xfrm>
            <a:off x="44958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4" name="AutoShape 7" title=""/>
          <p:cNvSpPr/>
          <p:nvPr/>
        </p:nvSpPr>
        <p:spPr>
          <a:xfrm>
            <a:off x="1905000" y="38862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5" name="AutoShape 8" title=""/>
          <p:cNvSpPr/>
          <p:nvPr/>
        </p:nvSpPr>
        <p:spPr>
          <a:xfrm>
            <a:off x="5410200" y="39624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6" name="AutoShape 9" title=""/>
          <p:cNvSpPr/>
          <p:nvPr/>
        </p:nvSpPr>
        <p:spPr>
          <a:xfrm>
            <a:off x="3048000" y="39624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7" name="AutoShape 10" title=""/>
          <p:cNvSpPr/>
          <p:nvPr/>
        </p:nvSpPr>
        <p:spPr>
          <a:xfrm>
            <a:off x="3352800" y="4876800"/>
            <a:ext cx="152400" cy="228600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29708" name="Text Box 11" title=""/>
          <p:cNvSpPr txBox="1"/>
          <p:nvPr/>
        </p:nvSpPr>
        <p:spPr>
          <a:xfrm>
            <a:off x="3184525" y="1995488"/>
            <a:ext cx="450850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2000" b="1">
                <a:latin typeface="Times New Roman" pitchFamily="18" charset="0"/>
                <a:ea typeface="SimSun" pitchFamily="2" charset="-122"/>
              </a:rPr>
              <a:t>all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09" name="Line 12" title=""/>
          <p:cNvSpPr/>
          <p:nvPr/>
        </p:nvSpPr>
        <p:spPr>
          <a:xfrm flipH="1">
            <a:off x="2286000" y="2438400"/>
            <a:ext cx="11430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0" name="Line 13" title=""/>
          <p:cNvSpPr/>
          <p:nvPr/>
        </p:nvSpPr>
        <p:spPr>
          <a:xfrm>
            <a:off x="3429000" y="2438400"/>
            <a:ext cx="11430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1" name="Line 14" title=""/>
          <p:cNvSpPr/>
          <p:nvPr/>
        </p:nvSpPr>
        <p:spPr>
          <a:xfrm>
            <a:off x="3429000" y="2438400"/>
            <a:ext cx="1524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2" name="Line 15" title=""/>
          <p:cNvSpPr/>
          <p:nvPr/>
        </p:nvSpPr>
        <p:spPr>
          <a:xfrm flipH="1">
            <a:off x="1981200" y="3200400"/>
            <a:ext cx="3048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3" name="Line 16" title=""/>
          <p:cNvSpPr/>
          <p:nvPr/>
        </p:nvSpPr>
        <p:spPr>
          <a:xfrm flipH="1">
            <a:off x="1981200" y="3200400"/>
            <a:ext cx="1600200" cy="7620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4" name="Line 17" title=""/>
          <p:cNvSpPr/>
          <p:nvPr/>
        </p:nvSpPr>
        <p:spPr>
          <a:xfrm>
            <a:off x="2286000" y="3200400"/>
            <a:ext cx="8382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5" name="Line 18" title=""/>
          <p:cNvSpPr/>
          <p:nvPr/>
        </p:nvSpPr>
        <p:spPr>
          <a:xfrm flipH="1">
            <a:off x="3124200" y="3200400"/>
            <a:ext cx="14478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6" name="Line 19" title=""/>
          <p:cNvSpPr/>
          <p:nvPr/>
        </p:nvSpPr>
        <p:spPr>
          <a:xfrm>
            <a:off x="3581400" y="3200400"/>
            <a:ext cx="19050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7" name="Line 20" title=""/>
          <p:cNvSpPr/>
          <p:nvPr/>
        </p:nvSpPr>
        <p:spPr>
          <a:xfrm>
            <a:off x="4572000" y="3200400"/>
            <a:ext cx="914400" cy="838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8" name="Line 21" title=""/>
          <p:cNvSpPr/>
          <p:nvPr/>
        </p:nvSpPr>
        <p:spPr>
          <a:xfrm>
            <a:off x="1981200" y="3962400"/>
            <a:ext cx="144780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19" name="Line 22" title=""/>
          <p:cNvSpPr/>
          <p:nvPr/>
        </p:nvSpPr>
        <p:spPr>
          <a:xfrm>
            <a:off x="3124200" y="4038600"/>
            <a:ext cx="304800" cy="9144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20" name="Line 23" title=""/>
          <p:cNvSpPr/>
          <p:nvPr/>
        </p:nvSpPr>
        <p:spPr>
          <a:xfrm flipH="1">
            <a:off x="3429000" y="4038600"/>
            <a:ext cx="2057400" cy="9144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29721" name="Text Box 24" title=""/>
          <p:cNvSpPr txBox="1"/>
          <p:nvPr/>
        </p:nvSpPr>
        <p:spPr>
          <a:xfrm>
            <a:off x="1524000" y="2740025"/>
            <a:ext cx="88265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product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2" name="Text Box 25" title=""/>
          <p:cNvSpPr txBox="1"/>
          <p:nvPr/>
        </p:nvSpPr>
        <p:spPr>
          <a:xfrm>
            <a:off x="3032125" y="2757488"/>
            <a:ext cx="606425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2000">
                <a:latin typeface="Times New Roman" pitchFamily="18" charset="0"/>
                <a:ea typeface="SimSun" pitchFamily="2" charset="-122"/>
              </a:rPr>
              <a:t>date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3" name="Text Box 26" title=""/>
          <p:cNvSpPr txBox="1"/>
          <p:nvPr/>
        </p:nvSpPr>
        <p:spPr>
          <a:xfrm>
            <a:off x="4403725" y="2681288"/>
            <a:ext cx="958850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2000">
                <a:latin typeface="Times New Roman" pitchFamily="18" charset="0"/>
                <a:ea typeface="SimSun" pitchFamily="2" charset="-122"/>
              </a:rPr>
              <a:t>country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4" name="Text Box 27" title=""/>
          <p:cNvSpPr txBox="1"/>
          <p:nvPr/>
        </p:nvSpPr>
        <p:spPr>
          <a:xfrm>
            <a:off x="746125" y="3543300"/>
            <a:ext cx="132080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product,date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5" name="Text Box 28" title=""/>
          <p:cNvSpPr txBox="1"/>
          <p:nvPr/>
        </p:nvSpPr>
        <p:spPr>
          <a:xfrm>
            <a:off x="2727325" y="3543300"/>
            <a:ext cx="163830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product,country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6" name="Text Box 29" title=""/>
          <p:cNvSpPr txBox="1"/>
          <p:nvPr/>
        </p:nvSpPr>
        <p:spPr>
          <a:xfrm>
            <a:off x="5241925" y="3543300"/>
            <a:ext cx="137795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date, country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7" name="Text Box 30" title=""/>
          <p:cNvSpPr txBox="1"/>
          <p:nvPr/>
        </p:nvSpPr>
        <p:spPr>
          <a:xfrm>
            <a:off x="2498725" y="4991100"/>
            <a:ext cx="219075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800">
                <a:latin typeface="Times New Roman" pitchFamily="18" charset="0"/>
                <a:ea typeface="SimSun" pitchFamily="2" charset="-122"/>
              </a:rPr>
              <a:t>product, date, country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8" name="Text Box 31" title=""/>
          <p:cNvSpPr txBox="1"/>
          <p:nvPr/>
        </p:nvSpPr>
        <p:spPr>
          <a:xfrm>
            <a:off x="6553200" y="2286000"/>
            <a:ext cx="2044700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zh-CN" altLang="en-US" sz="2000">
                <a:latin typeface="Times New Roman" pitchFamily="18" charset="0"/>
                <a:ea typeface="SimSun" pitchFamily="2" charset="-122"/>
              </a:rPr>
              <a:t>0-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D 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apex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 cuboid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29" name="Text Box 32" title=""/>
          <p:cNvSpPr txBox="1"/>
          <p:nvPr/>
        </p:nvSpPr>
        <p:spPr>
          <a:xfrm>
            <a:off x="6537325" y="2909888"/>
            <a:ext cx="1431925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zh-CN" altLang="en-US" sz="2000">
                <a:latin typeface="Times New Roman" pitchFamily="18" charset="0"/>
                <a:ea typeface="SimSun" pitchFamily="2" charset="-122"/>
              </a:rPr>
              <a:t>1-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D cuboids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30" name="Text Box 33" title=""/>
          <p:cNvSpPr txBox="1"/>
          <p:nvPr/>
        </p:nvSpPr>
        <p:spPr>
          <a:xfrm>
            <a:off x="6537325" y="3900488"/>
            <a:ext cx="1431925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zh-CN" altLang="en-US" sz="2000">
                <a:latin typeface="Times New Roman" pitchFamily="18" charset="0"/>
                <a:ea typeface="SimSun" pitchFamily="2" charset="-122"/>
              </a:rPr>
              <a:t>2-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D cuboids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731" name="Text Box 34" title=""/>
          <p:cNvSpPr txBox="1"/>
          <p:nvPr/>
        </p:nvSpPr>
        <p:spPr>
          <a:xfrm>
            <a:off x="6537325" y="4738688"/>
            <a:ext cx="2030413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zh-CN" altLang="en-US" sz="2000">
                <a:latin typeface="Times New Roman" pitchFamily="18" charset="0"/>
                <a:ea typeface="SimSun" pitchFamily="2" charset="-122"/>
              </a:rPr>
              <a:t>3-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D (</a:t>
            </a:r>
            <a:r>
              <a:rPr lang="en-US" altLang="zh-CN" sz="2000" i="1">
                <a:latin typeface="Times New Roman" pitchFamily="18" charset="0"/>
                <a:ea typeface="SimSun" pitchFamily="2" charset="-122"/>
              </a:rPr>
              <a:t>base</a:t>
            </a:r>
            <a:r>
              <a:rPr lang="en-US" altLang="zh-CN" sz="2000">
                <a:latin typeface="Times New Roman" pitchFamily="18" charset="0"/>
                <a:ea typeface="SimSun" pitchFamily="2" charset="-122"/>
              </a:rPr>
              <a:t>) cuboid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072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5EF03C4C-B639-430D-AC56-50AB63F7B2CB}" type="slidenum">
              <a:rPr sz="1200"/>
              <a:t>28</a:t>
            </a:fld>
            <a:endParaRPr sz="1200"/>
          </a:p>
        </p:txBody>
      </p:sp>
      <p:sp>
        <p:nvSpPr>
          <p:cNvPr id="30723" name="Rectangle 1026" title=""/>
          <p:cNvSpPr>
            <a:spLocks noGrp="1"/>
          </p:cNvSpPr>
          <p:nvPr>
            <p:ph type="title"/>
          </p:nvPr>
        </p:nvSpPr>
        <p:spPr>
          <a:xfrm>
            <a:off x="990600" y="152400"/>
            <a:ext cx="7239000" cy="8382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Typical OLAP Operations</a:t>
            </a:r>
          </a:p>
        </p:txBody>
      </p:sp>
      <p:sp>
        <p:nvSpPr>
          <p:cNvPr id="30724" name="Rectangle 1027" title=""/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8763000" cy="49530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/>
            <a:r>
              <a:rPr sz="2000">
                <a:solidFill>
                  <a:schemeClr val="hlink"/>
                </a:solidFill>
              </a:rPr>
              <a:t>Roll up (drill-up):</a:t>
            </a:r>
            <a:r>
              <a:rPr sz="2000"/>
              <a:t> summarize data</a:t>
            </a:r>
            <a:endParaRPr sz="2000"/>
          </a:p>
          <a:p>
            <a:pPr lvl="1" eaLnBrk="1" hangingPunct="1"/>
            <a:r>
              <a:rPr sz="2400" i="1"/>
              <a:t>by climbing up hierarchy or by dimension reduction</a:t>
            </a:r>
            <a:endParaRPr sz="2400"/>
          </a:p>
          <a:p>
            <a:pPr lvl="0" eaLnBrk="1" hangingPunct="1"/>
            <a:r>
              <a:rPr sz="2000">
                <a:solidFill>
                  <a:schemeClr val="hlink"/>
                </a:solidFill>
              </a:rPr>
              <a:t>Drill down (roll down):</a:t>
            </a:r>
            <a:r>
              <a:rPr sz="2000"/>
              <a:t> reverse of roll-up</a:t>
            </a:r>
            <a:endParaRPr sz="2000"/>
          </a:p>
          <a:p>
            <a:pPr lvl="1" eaLnBrk="1" hangingPunct="1"/>
            <a:r>
              <a:rPr sz="2400" i="1"/>
              <a:t>from higher level summary to lower level summary or detailed data, or introducing new dimensions</a:t>
            </a:r>
            <a:endParaRPr sz="2400" i="1"/>
          </a:p>
          <a:p>
            <a:pPr lvl="0" eaLnBrk="1" hangingPunct="1"/>
            <a:r>
              <a:rPr sz="2000">
                <a:solidFill>
                  <a:schemeClr val="hlink"/>
                </a:solidFill>
              </a:rPr>
              <a:t>Slice and dice:</a:t>
            </a:r>
            <a:r>
              <a:rPr sz="2000"/>
              <a:t> </a:t>
            </a:r>
            <a:r>
              <a:rPr sz="2400" i="1"/>
              <a:t>project and select</a:t>
            </a:r>
            <a:r>
              <a:rPr sz="2400"/>
              <a:t> </a:t>
            </a:r>
            <a:endParaRPr sz="2400"/>
          </a:p>
          <a:p>
            <a:pPr lvl="0" eaLnBrk="1" hangingPunct="1"/>
            <a:r>
              <a:rPr sz="2000">
                <a:solidFill>
                  <a:schemeClr val="hlink"/>
                </a:solidFill>
              </a:rPr>
              <a:t>Pivot (rotate):</a:t>
            </a:r>
            <a:r>
              <a:rPr sz="2000"/>
              <a:t> </a:t>
            </a:r>
            <a:endParaRPr sz="2000"/>
          </a:p>
          <a:p>
            <a:pPr lvl="1" eaLnBrk="1" hangingPunct="1"/>
            <a:r>
              <a:rPr sz="2400" i="1"/>
              <a:t>reorient the cube, visualization, 3D to series of 2D planes</a:t>
            </a:r>
            <a:endParaRPr sz="2400" i="1"/>
          </a:p>
          <a:p>
            <a:pPr lvl="0" eaLnBrk="1" hangingPunct="1"/>
            <a:r>
              <a:rPr sz="2000"/>
              <a:t>Other operations</a:t>
            </a:r>
            <a:endParaRPr sz="2000"/>
          </a:p>
          <a:p>
            <a:pPr lvl="1" eaLnBrk="1" hangingPunct="1"/>
            <a:r>
              <a:rPr sz="2400" i="1">
                <a:solidFill>
                  <a:schemeClr val="hlink"/>
                </a:solidFill>
              </a:rPr>
              <a:t>drill across:</a:t>
            </a:r>
            <a:r>
              <a:rPr sz="2400" i="1"/>
              <a:t> involving (across) more than one fact table</a:t>
            </a:r>
            <a:endParaRPr sz="2400"/>
          </a:p>
          <a:p>
            <a:pPr lvl="1" eaLnBrk="1" hangingPunct="1"/>
            <a:r>
              <a:rPr sz="2400" i="1">
                <a:solidFill>
                  <a:schemeClr val="hlink"/>
                </a:solidFill>
              </a:rPr>
              <a:t>drill through:</a:t>
            </a:r>
            <a:r>
              <a:rPr sz="2400" i="1"/>
              <a:t> through the bottom level of the cube to its back-end relational tables (using SQL)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174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1B60ECBF-AFB6-416D-9102-06D6C362A52D}" type="slidenum">
              <a:rPr sz="1200"/>
              <a:t>29</a:t>
            </a:fld>
            <a:endParaRPr sz="1200"/>
          </a:p>
        </p:txBody>
      </p:sp>
      <p:pic>
        <p:nvPicPr>
          <p:cNvPr id="31747" name="Picture 1059" descr="ha02f10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2400"/>
            <a:ext cx="7620000" cy="6629400"/>
          </a:xfrm>
          <a:prstGeom prst="rect">
            <a:avLst/>
          </a:prstGeom>
          <a:noFill/>
          <a:ln>
            <a:noFill/>
            <a:miter lim="800000"/>
          </a:ln>
        </p:spPr>
      </p:pic>
      <p:sp>
        <p:nvSpPr>
          <p:cNvPr id="31748" name="Text Box 1061" title=""/>
          <p:cNvSpPr txBox="1"/>
          <p:nvPr/>
        </p:nvSpPr>
        <p:spPr>
          <a:xfrm>
            <a:off x="152400" y="2362200"/>
            <a:ext cx="2209800" cy="5810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sz="1600"/>
              <a:t>Fig. 3.10 Typical OLAP Operations</a:t>
            </a:r>
            <a:endParaRPr sz="16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277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B52E5743-33E0-4965-B55E-02D1AC29F26B}" type="slidenum">
              <a:rPr sz="1200"/>
              <a:t>30</a:t>
            </a:fld>
            <a:endParaRPr sz="1200"/>
          </a:p>
        </p:txBody>
      </p:sp>
      <p:sp>
        <p:nvSpPr>
          <p:cNvPr id="32771" name="Rectangle 2" title=""/>
          <p:cNvSpPr>
            <a:spLocks noGrp="1"/>
          </p:cNvSpPr>
          <p:nvPr>
            <p:ph type="title"/>
          </p:nvPr>
        </p:nvSpPr>
        <p:spPr>
          <a:xfrm>
            <a:off x="1295400" y="304800"/>
            <a:ext cx="6858000" cy="7620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A Star-Net Query Model</a:t>
            </a:r>
            <a:endParaRPr sz="2400"/>
          </a:p>
        </p:txBody>
      </p:sp>
      <p:sp>
        <p:nvSpPr>
          <p:cNvPr id="32772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buNone/>
            </a:pPr>
            <a:r>
              <a:t> </a:t>
            </a:r>
          </a:p>
        </p:txBody>
      </p:sp>
      <p:sp>
        <p:nvSpPr>
          <p:cNvPr id="32773" name="Oval 4" title=""/>
          <p:cNvSpPr/>
          <p:nvPr/>
        </p:nvSpPr>
        <p:spPr>
          <a:xfrm>
            <a:off x="4349750" y="3587750"/>
            <a:ext cx="215900" cy="2159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74" name="Oval 5" title=""/>
          <p:cNvSpPr/>
          <p:nvPr/>
        </p:nvSpPr>
        <p:spPr>
          <a:xfrm>
            <a:off x="3740150" y="3054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75" name="Oval 6" title=""/>
          <p:cNvSpPr/>
          <p:nvPr/>
        </p:nvSpPr>
        <p:spPr>
          <a:xfrm>
            <a:off x="2901950" y="23685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76" name="Oval 7" title=""/>
          <p:cNvSpPr/>
          <p:nvPr/>
        </p:nvSpPr>
        <p:spPr>
          <a:xfrm>
            <a:off x="38163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77" name="Oval 8" title=""/>
          <p:cNvSpPr/>
          <p:nvPr/>
        </p:nvSpPr>
        <p:spPr>
          <a:xfrm>
            <a:off x="27495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78" name="Oval 9" title=""/>
          <p:cNvSpPr/>
          <p:nvPr/>
        </p:nvSpPr>
        <p:spPr>
          <a:xfrm>
            <a:off x="14541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79" name="Oval 10" title=""/>
          <p:cNvSpPr/>
          <p:nvPr/>
        </p:nvSpPr>
        <p:spPr>
          <a:xfrm>
            <a:off x="3740150" y="4197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0" name="Oval 11" title=""/>
          <p:cNvSpPr/>
          <p:nvPr/>
        </p:nvSpPr>
        <p:spPr>
          <a:xfrm>
            <a:off x="4349750" y="4578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1" name="Oval 12" title=""/>
          <p:cNvSpPr/>
          <p:nvPr/>
        </p:nvSpPr>
        <p:spPr>
          <a:xfrm>
            <a:off x="4349750" y="21399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2" name="Oval 13" title=""/>
          <p:cNvSpPr/>
          <p:nvPr/>
        </p:nvSpPr>
        <p:spPr>
          <a:xfrm>
            <a:off x="4349750" y="29019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3" name="Oval 14" title=""/>
          <p:cNvSpPr/>
          <p:nvPr/>
        </p:nvSpPr>
        <p:spPr>
          <a:xfrm>
            <a:off x="6864350" y="57975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4" name="Oval 15" title=""/>
          <p:cNvSpPr/>
          <p:nvPr/>
        </p:nvSpPr>
        <p:spPr>
          <a:xfrm>
            <a:off x="5949950" y="5111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5" name="Oval 16" title=""/>
          <p:cNvSpPr/>
          <p:nvPr/>
        </p:nvSpPr>
        <p:spPr>
          <a:xfrm>
            <a:off x="5264150" y="45021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6" name="Oval 17" title=""/>
          <p:cNvSpPr/>
          <p:nvPr/>
        </p:nvSpPr>
        <p:spPr>
          <a:xfrm>
            <a:off x="73977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7" name="Oval 18" title=""/>
          <p:cNvSpPr/>
          <p:nvPr/>
        </p:nvSpPr>
        <p:spPr>
          <a:xfrm>
            <a:off x="62547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8" name="Oval 19" title=""/>
          <p:cNvSpPr/>
          <p:nvPr/>
        </p:nvSpPr>
        <p:spPr>
          <a:xfrm>
            <a:off x="52641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89" name="Oval 20" title=""/>
          <p:cNvSpPr/>
          <p:nvPr/>
        </p:nvSpPr>
        <p:spPr>
          <a:xfrm>
            <a:off x="6559550" y="21399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90" name="Oval 21" title=""/>
          <p:cNvSpPr/>
          <p:nvPr/>
        </p:nvSpPr>
        <p:spPr>
          <a:xfrm>
            <a:off x="2825750" y="48831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91" name="Oval 22" title=""/>
          <p:cNvSpPr/>
          <p:nvPr/>
        </p:nvSpPr>
        <p:spPr>
          <a:xfrm>
            <a:off x="1682750" y="56451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92" name="Oval 23" title=""/>
          <p:cNvSpPr/>
          <p:nvPr/>
        </p:nvSpPr>
        <p:spPr>
          <a:xfrm>
            <a:off x="4349750" y="5721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2793" name="Line 24" title=""/>
          <p:cNvSpPr/>
          <p:nvPr/>
        </p:nvSpPr>
        <p:spPr>
          <a:xfrm flipH="1">
            <a:off x="4419600" y="3048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794" name="Line 25" title=""/>
          <p:cNvSpPr/>
          <p:nvPr/>
        </p:nvSpPr>
        <p:spPr>
          <a:xfrm flipH="1">
            <a:off x="4419600" y="22860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795" name="Line 26" title=""/>
          <p:cNvSpPr/>
          <p:nvPr/>
        </p:nvSpPr>
        <p:spPr>
          <a:xfrm flipH="1">
            <a:off x="4419600" y="38100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796" name="Line 27" title=""/>
          <p:cNvSpPr/>
          <p:nvPr/>
        </p:nvSpPr>
        <p:spPr>
          <a:xfrm flipH="1">
            <a:off x="4419600" y="47244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797" name="Line 28" title=""/>
          <p:cNvSpPr/>
          <p:nvPr/>
        </p:nvSpPr>
        <p:spPr>
          <a:xfrm>
            <a:off x="4572000" y="3657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798" name="Line 29" title=""/>
          <p:cNvSpPr/>
          <p:nvPr/>
        </p:nvSpPr>
        <p:spPr>
          <a:xfrm>
            <a:off x="5410200" y="3657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799" name="Line 30" title=""/>
          <p:cNvSpPr/>
          <p:nvPr/>
        </p:nvSpPr>
        <p:spPr>
          <a:xfrm>
            <a:off x="6400800" y="36576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0" name="Line 31" title=""/>
          <p:cNvSpPr/>
          <p:nvPr/>
        </p:nvSpPr>
        <p:spPr>
          <a:xfrm>
            <a:off x="3962400" y="3657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1" name="Line 32" title=""/>
          <p:cNvSpPr/>
          <p:nvPr/>
        </p:nvSpPr>
        <p:spPr>
          <a:xfrm>
            <a:off x="2895600" y="36576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2" name="Line 33" title=""/>
          <p:cNvSpPr/>
          <p:nvPr/>
        </p:nvSpPr>
        <p:spPr>
          <a:xfrm>
            <a:off x="1600200" y="36576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3" name="Line 34" title=""/>
          <p:cNvSpPr/>
          <p:nvPr/>
        </p:nvSpPr>
        <p:spPr>
          <a:xfrm flipV="1">
            <a:off x="4572000" y="2286000"/>
            <a:ext cx="1981200" cy="1371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4" name="Line 35" title=""/>
          <p:cNvSpPr/>
          <p:nvPr/>
        </p:nvSpPr>
        <p:spPr>
          <a:xfrm flipV="1">
            <a:off x="6705600" y="17526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5" name="Line 36" title=""/>
          <p:cNvSpPr/>
          <p:nvPr/>
        </p:nvSpPr>
        <p:spPr>
          <a:xfrm flipH="1">
            <a:off x="3886200" y="38100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6" name="Line 37" title=""/>
          <p:cNvSpPr/>
          <p:nvPr/>
        </p:nvSpPr>
        <p:spPr>
          <a:xfrm flipH="1">
            <a:off x="2971800" y="4343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7" name="Line 38" title=""/>
          <p:cNvSpPr/>
          <p:nvPr/>
        </p:nvSpPr>
        <p:spPr>
          <a:xfrm flipV="1">
            <a:off x="1828800" y="4953000"/>
            <a:ext cx="9906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8" name="Line 39" title=""/>
          <p:cNvSpPr/>
          <p:nvPr/>
        </p:nvSpPr>
        <p:spPr>
          <a:xfrm>
            <a:off x="3886200" y="32004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09" name="Line 40" title=""/>
          <p:cNvSpPr/>
          <p:nvPr/>
        </p:nvSpPr>
        <p:spPr>
          <a:xfrm>
            <a:off x="3048000" y="2514600"/>
            <a:ext cx="685800" cy="533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0" name="Line 41" title=""/>
          <p:cNvSpPr/>
          <p:nvPr/>
        </p:nvSpPr>
        <p:spPr>
          <a:xfrm>
            <a:off x="1981200" y="17526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1" name="Line 42" title=""/>
          <p:cNvSpPr/>
          <p:nvPr/>
        </p:nvSpPr>
        <p:spPr>
          <a:xfrm>
            <a:off x="4572000" y="3810000"/>
            <a:ext cx="6858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2" name="Line 43" title=""/>
          <p:cNvSpPr/>
          <p:nvPr/>
        </p:nvSpPr>
        <p:spPr>
          <a:xfrm>
            <a:off x="5410200" y="4648200"/>
            <a:ext cx="533400" cy="457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3" name="Line 44" title=""/>
          <p:cNvSpPr/>
          <p:nvPr/>
        </p:nvSpPr>
        <p:spPr>
          <a:xfrm>
            <a:off x="6096000" y="5257800"/>
            <a:ext cx="76200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4" name="Line 45" title=""/>
          <p:cNvSpPr/>
          <p:nvPr/>
        </p:nvSpPr>
        <p:spPr>
          <a:xfrm>
            <a:off x="7010400" y="5943600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5" name="Line 46" title=""/>
          <p:cNvSpPr/>
          <p:nvPr/>
        </p:nvSpPr>
        <p:spPr>
          <a:xfrm flipH="1">
            <a:off x="4419600" y="5867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6" name="Line 47" title=""/>
          <p:cNvSpPr/>
          <p:nvPr/>
        </p:nvSpPr>
        <p:spPr>
          <a:xfrm flipH="1">
            <a:off x="1219200" y="5791200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7" name="Line 48" title=""/>
          <p:cNvSpPr/>
          <p:nvPr/>
        </p:nvSpPr>
        <p:spPr>
          <a:xfrm flipH="1">
            <a:off x="9144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8" name="Line 49" title=""/>
          <p:cNvSpPr/>
          <p:nvPr/>
        </p:nvSpPr>
        <p:spPr>
          <a:xfrm>
            <a:off x="75438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19" name="Rectangle 50" title=""/>
          <p:cNvSpPr/>
          <p:nvPr/>
        </p:nvSpPr>
        <p:spPr>
          <a:xfrm>
            <a:off x="974725" y="1423988"/>
            <a:ext cx="177800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Shipping Method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0" name="Rectangle 51" title=""/>
          <p:cNvSpPr/>
          <p:nvPr/>
        </p:nvSpPr>
        <p:spPr>
          <a:xfrm>
            <a:off x="1203325" y="2262188"/>
            <a:ext cx="16319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AIR-EXPRESS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1" name="Rectangle 52" title=""/>
          <p:cNvSpPr/>
          <p:nvPr/>
        </p:nvSpPr>
        <p:spPr>
          <a:xfrm>
            <a:off x="2727325" y="2947988"/>
            <a:ext cx="9588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TRUCK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2" name="Rectangle 53" title=""/>
          <p:cNvSpPr/>
          <p:nvPr/>
        </p:nvSpPr>
        <p:spPr>
          <a:xfrm>
            <a:off x="4479925" y="2795588"/>
            <a:ext cx="9588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ORDER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3" name="Line 54" title=""/>
          <p:cNvSpPr/>
          <p:nvPr/>
        </p:nvSpPr>
        <p:spPr>
          <a:xfrm flipH="1">
            <a:off x="4419600" y="1600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32824" name="Rectangle 55" title=""/>
          <p:cNvSpPr/>
          <p:nvPr/>
        </p:nvSpPr>
        <p:spPr>
          <a:xfrm>
            <a:off x="3413125" y="1271588"/>
            <a:ext cx="175260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Customer Orders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5" name="Rectangle 56" title=""/>
          <p:cNvSpPr/>
          <p:nvPr/>
        </p:nvSpPr>
        <p:spPr>
          <a:xfrm>
            <a:off x="4479925" y="2033588"/>
            <a:ext cx="15430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CONTRACTS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6" name="Rectangle 57" title=""/>
          <p:cNvSpPr/>
          <p:nvPr/>
        </p:nvSpPr>
        <p:spPr>
          <a:xfrm>
            <a:off x="7375525" y="1652588"/>
            <a:ext cx="10731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Customer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7" name="Rectangle 58" title=""/>
          <p:cNvSpPr/>
          <p:nvPr/>
        </p:nvSpPr>
        <p:spPr>
          <a:xfrm>
            <a:off x="8061325" y="3481388"/>
            <a:ext cx="8953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Product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8" name="Rectangle 59" title=""/>
          <p:cNvSpPr/>
          <p:nvPr/>
        </p:nvSpPr>
        <p:spPr>
          <a:xfrm>
            <a:off x="6689725" y="3862388"/>
            <a:ext cx="208280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PRODUCT GROUP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29" name="Rectangle 60" title=""/>
          <p:cNvSpPr/>
          <p:nvPr/>
        </p:nvSpPr>
        <p:spPr>
          <a:xfrm>
            <a:off x="5546725" y="3252788"/>
            <a:ext cx="182880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PRODUCT LINE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0" name="Rectangle 61" title=""/>
          <p:cNvSpPr/>
          <p:nvPr/>
        </p:nvSpPr>
        <p:spPr>
          <a:xfrm>
            <a:off x="4784725" y="3786188"/>
            <a:ext cx="186690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PRODUCT ITEM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1" name="Rectangle 62" title=""/>
          <p:cNvSpPr/>
          <p:nvPr/>
        </p:nvSpPr>
        <p:spPr>
          <a:xfrm>
            <a:off x="5394325" y="4395788"/>
            <a:ext cx="181610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SALES PERSON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2" name="Rectangle 63" title=""/>
          <p:cNvSpPr/>
          <p:nvPr/>
        </p:nvSpPr>
        <p:spPr>
          <a:xfrm>
            <a:off x="6080125" y="5005388"/>
            <a:ext cx="12128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DISTRICT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3" name="Rectangle 64" title=""/>
          <p:cNvSpPr/>
          <p:nvPr/>
        </p:nvSpPr>
        <p:spPr>
          <a:xfrm>
            <a:off x="7070725" y="5691188"/>
            <a:ext cx="12001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DIVISION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4" name="Rectangle 65" title=""/>
          <p:cNvSpPr/>
          <p:nvPr/>
        </p:nvSpPr>
        <p:spPr>
          <a:xfrm>
            <a:off x="7299325" y="6224588"/>
            <a:ext cx="13779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Organization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5" name="Rectangle 66" title=""/>
          <p:cNvSpPr/>
          <p:nvPr/>
        </p:nvSpPr>
        <p:spPr>
          <a:xfrm>
            <a:off x="3794125" y="6224588"/>
            <a:ext cx="11493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Promotion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6" name="Rectangle 67" title=""/>
          <p:cNvSpPr/>
          <p:nvPr/>
        </p:nvSpPr>
        <p:spPr>
          <a:xfrm>
            <a:off x="2574925" y="4167188"/>
            <a:ext cx="7175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CITY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7" name="Rectangle 68" title=""/>
          <p:cNvSpPr/>
          <p:nvPr/>
        </p:nvSpPr>
        <p:spPr>
          <a:xfrm>
            <a:off x="1812925" y="4700588"/>
            <a:ext cx="12890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COUNTRY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8" name="Rectangle 69" title=""/>
          <p:cNvSpPr/>
          <p:nvPr/>
        </p:nvSpPr>
        <p:spPr>
          <a:xfrm>
            <a:off x="593725" y="5462588"/>
            <a:ext cx="10477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REGION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39" name="Rectangle 70" title=""/>
          <p:cNvSpPr/>
          <p:nvPr/>
        </p:nvSpPr>
        <p:spPr>
          <a:xfrm>
            <a:off x="288925" y="6072188"/>
            <a:ext cx="9969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Location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40" name="Rectangle 71" title=""/>
          <p:cNvSpPr/>
          <p:nvPr/>
        </p:nvSpPr>
        <p:spPr>
          <a:xfrm>
            <a:off x="3260725" y="3709988"/>
            <a:ext cx="8953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DAILY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41" name="Rectangle 72" title=""/>
          <p:cNvSpPr/>
          <p:nvPr/>
        </p:nvSpPr>
        <p:spPr>
          <a:xfrm>
            <a:off x="2193925" y="3709988"/>
            <a:ext cx="9461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QTRLY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42" name="Rectangle 73" title=""/>
          <p:cNvSpPr/>
          <p:nvPr/>
        </p:nvSpPr>
        <p:spPr>
          <a:xfrm>
            <a:off x="898525" y="3709988"/>
            <a:ext cx="13144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ANNUALY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43" name="Rectangle 74" title=""/>
          <p:cNvSpPr/>
          <p:nvPr/>
        </p:nvSpPr>
        <p:spPr>
          <a:xfrm>
            <a:off x="288925" y="3481388"/>
            <a:ext cx="666750" cy="3667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92075" tIns="46038" rIns="92075" bIns="46038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>
                <a:latin typeface="Times New Roman" pitchFamily="18" charset="0"/>
              </a:rPr>
              <a:t>Time</a:t>
            </a:r>
            <a:endParaRPr sz="1800">
              <a:latin typeface="Times New Roman" pitchFamily="18" charset="0"/>
            </a:endParaRPr>
          </a:p>
        </p:txBody>
      </p:sp>
      <p:sp>
        <p:nvSpPr>
          <p:cNvPr id="32844" name="Line 75" title=""/>
          <p:cNvSpPr/>
          <p:nvPr/>
        </p:nvSpPr>
        <p:spPr>
          <a:xfrm>
            <a:off x="2819400" y="3657600"/>
            <a:ext cx="76200" cy="1295400"/>
          </a:xfrm>
          <a:prstGeom prst="line">
            <a:avLst/>
          </a:prstGeom>
          <a:noFill/>
          <a:ln w="38100">
            <a:solidFill>
              <a:srgbClr val="00CC66"/>
            </a:solidFill>
            <a:miter lim="800000"/>
          </a:ln>
        </p:spPr>
      </p:sp>
      <p:sp>
        <p:nvSpPr>
          <p:cNvPr id="32845" name="Line 76" title=""/>
          <p:cNvSpPr/>
          <p:nvPr/>
        </p:nvSpPr>
        <p:spPr>
          <a:xfrm>
            <a:off x="2895600" y="4953000"/>
            <a:ext cx="3124200" cy="228600"/>
          </a:xfrm>
          <a:prstGeom prst="line">
            <a:avLst/>
          </a:prstGeom>
          <a:noFill/>
          <a:ln w="38100">
            <a:solidFill>
              <a:srgbClr val="00CC66"/>
            </a:solidFill>
            <a:miter lim="800000"/>
          </a:ln>
        </p:spPr>
      </p:sp>
      <p:sp>
        <p:nvSpPr>
          <p:cNvPr id="32846" name="Line 77" title=""/>
          <p:cNvSpPr/>
          <p:nvPr/>
        </p:nvSpPr>
        <p:spPr>
          <a:xfrm flipV="1">
            <a:off x="6019800" y="3657600"/>
            <a:ext cx="1447800" cy="1524000"/>
          </a:xfrm>
          <a:prstGeom prst="line">
            <a:avLst/>
          </a:prstGeom>
          <a:noFill/>
          <a:ln w="38100">
            <a:solidFill>
              <a:srgbClr val="00CC66"/>
            </a:solidFill>
            <a:miter lim="800000"/>
          </a:ln>
        </p:spPr>
      </p:sp>
      <p:sp>
        <p:nvSpPr>
          <p:cNvPr id="32847" name="Line 78" title=""/>
          <p:cNvSpPr/>
          <p:nvPr/>
        </p:nvSpPr>
        <p:spPr>
          <a:xfrm>
            <a:off x="4419600" y="2209800"/>
            <a:ext cx="3048000" cy="1447800"/>
          </a:xfrm>
          <a:prstGeom prst="line">
            <a:avLst/>
          </a:prstGeom>
          <a:noFill/>
          <a:ln w="38100">
            <a:solidFill>
              <a:srgbClr val="00CC66"/>
            </a:solidFill>
            <a:miter lim="800000"/>
          </a:ln>
        </p:spPr>
      </p:sp>
      <p:sp>
        <p:nvSpPr>
          <p:cNvPr id="32848" name="Line 79" title=""/>
          <p:cNvSpPr/>
          <p:nvPr/>
        </p:nvSpPr>
        <p:spPr>
          <a:xfrm flipV="1">
            <a:off x="2819400" y="2209800"/>
            <a:ext cx="1600200" cy="1447800"/>
          </a:xfrm>
          <a:prstGeom prst="line">
            <a:avLst/>
          </a:prstGeom>
          <a:noFill/>
          <a:ln w="38100">
            <a:solidFill>
              <a:srgbClr val="00CC66"/>
            </a:solidFill>
            <a:miter lim="800000"/>
          </a:ln>
        </p:spPr>
      </p:sp>
      <p:sp>
        <p:nvSpPr>
          <p:cNvPr id="32849" name="Text Box 80" title=""/>
          <p:cNvSpPr txBox="1"/>
          <p:nvPr/>
        </p:nvSpPr>
        <p:spPr>
          <a:xfrm>
            <a:off x="1600200" y="5943600"/>
            <a:ext cx="2133600" cy="7016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sz="2000"/>
              <a:t>Each circle is called a </a:t>
            </a:r>
            <a:r>
              <a:rPr sz="2000" u="sng">
                <a:solidFill>
                  <a:schemeClr val="folHlink"/>
                </a:solidFill>
              </a:rPr>
              <a:t>footprint</a:t>
            </a:r>
            <a:endParaRPr sz="2000" u="sng">
              <a:solidFill>
                <a:schemeClr val="folHlink"/>
              </a:solidFill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379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AC2F90C9-0002-4DBF-9830-CC1CFEF0B3D1}" type="slidenum">
              <a:rPr sz="1200"/>
              <a:t>31</a:t>
            </a:fld>
            <a:endParaRPr sz="1200"/>
          </a:p>
        </p:txBody>
      </p:sp>
      <p:pic>
        <p:nvPicPr>
          <p:cNvPr id="33795" name="Picture 2" descr="browse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71600"/>
            <a:ext cx="6076950" cy="5172075"/>
          </a:xfrm>
          <a:prstGeom prst="rect">
            <a:avLst/>
          </a:prstGeom>
          <a:noFill/>
          <a:ln>
            <a:noFill/>
            <a:miter lim="800000"/>
          </a:ln>
        </p:spPr>
      </p:pic>
      <p:sp>
        <p:nvSpPr>
          <p:cNvPr id="33796" name="Rectangle 3" title=""/>
          <p:cNvSpPr>
            <a:spLocks noGrp="1"/>
          </p:cNvSpPr>
          <p:nvPr>
            <p:ph type="title"/>
          </p:nvPr>
        </p:nvSpPr>
        <p:spPr>
          <a:xfrm>
            <a:off x="1371600" y="228600"/>
            <a:ext cx="5486400" cy="9144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Browsing a Data Cube</a:t>
            </a:r>
          </a:p>
        </p:txBody>
      </p:sp>
      <p:sp>
        <p:nvSpPr>
          <p:cNvPr id="33797" name="Rectangle 4" title=""/>
          <p:cNvSpPr>
            <a:spLocks noGrp="1"/>
          </p:cNvSpPr>
          <p:nvPr>
            <p:ph type="body" idx="1"/>
          </p:nvPr>
        </p:nvSpPr>
        <p:spPr>
          <a:xfrm>
            <a:off x="4876800" y="5105400"/>
            <a:ext cx="4419600" cy="14478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90000"/>
              </a:lnSpc>
            </a:pPr>
            <a:r>
              <a:t>Visualization</a:t>
            </a:r>
          </a:p>
          <a:p>
            <a:pPr lvl="0" eaLnBrk="1" hangingPunct="1">
              <a:lnSpc>
                <a:spcPct val="90000"/>
              </a:lnSpc>
            </a:pPr>
            <a:r>
              <a:t>OLAP capabilities</a:t>
            </a:r>
          </a:p>
          <a:p>
            <a:pPr lvl="0" eaLnBrk="1" hangingPunct="1">
              <a:lnSpc>
                <a:spcPct val="90000"/>
              </a:lnSpc>
            </a:pPr>
            <a:r>
              <a:t>Interactive manipulation</a:t>
            </a: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481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CD36503D-D1BF-463E-82BB-DBFCF7D51626}" type="slidenum">
              <a:rPr sz="1200"/>
              <a:t>32</a:t>
            </a:fld>
            <a:endParaRPr sz="1200"/>
          </a:p>
        </p:txBody>
      </p:sp>
      <p:sp>
        <p:nvSpPr>
          <p:cNvPr id="34819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34820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3820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t>Data Warehouse: Basic Concepts</a:t>
            </a:r>
          </a:p>
          <a:p>
            <a:pPr lvl="0" eaLnBrk="1" hangingPunct="1">
              <a:lnSpc>
                <a:spcPct val="140000"/>
              </a:lnSpc>
            </a:pPr>
            <a:r>
              <a:t>Data Warehouse Modeling: Data Cube and OLAP</a:t>
            </a:r>
          </a:p>
          <a:p>
            <a:pPr lvl="0" eaLnBrk="1" hangingPunct="1">
              <a:lnSpc>
                <a:spcPct val="140000"/>
              </a:lnSpc>
            </a:pPr>
            <a:r>
              <a:t>Data Warehouse Design and Usage</a:t>
            </a:r>
          </a:p>
          <a:p>
            <a:pPr lvl="0" eaLnBrk="1" hangingPunct="1">
              <a:lnSpc>
                <a:spcPct val="140000"/>
              </a:lnSpc>
            </a:pPr>
            <a:r>
              <a:t>Data Warehouse Implementation</a:t>
            </a:r>
          </a:p>
          <a:p>
            <a:pPr lvl="0" eaLnBrk="1" hangingPunct="1">
              <a:lnSpc>
                <a:spcPct val="140000"/>
              </a:lnSpc>
            </a:pPr>
            <a:r>
              <a:t>Data Generalization by Attribute-Oriented Induction</a:t>
            </a:r>
          </a:p>
          <a:p>
            <a:pPr lvl="0" eaLnBrk="1" hangingPunct="1">
              <a:lnSpc>
                <a:spcPct val="140000"/>
              </a:lnSpc>
            </a:pPr>
            <a:r>
              <a:t>Summary</a:t>
            </a:r>
          </a:p>
        </p:txBody>
      </p:sp>
      <p:sp>
        <p:nvSpPr>
          <p:cNvPr id="34821" name="AutoShape 4" title=""/>
          <p:cNvSpPr/>
          <p:nvPr/>
        </p:nvSpPr>
        <p:spPr>
          <a:xfrm rot="9060000">
            <a:off x="6629400" y="2895600"/>
            <a:ext cx="3810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584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5BFBE46-FC76-4C1F-97BD-C98611A583D4}" type="slidenum">
              <a:rPr sz="1200"/>
              <a:t>33</a:t>
            </a:fld>
            <a:endParaRPr sz="1200"/>
          </a:p>
        </p:txBody>
      </p:sp>
      <p:sp>
        <p:nvSpPr>
          <p:cNvPr id="35843" name="Rectangle 2" title="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8382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Design of Data Warehouse: A Business Analysis Framework</a:t>
            </a:r>
            <a:endParaRPr sz="3200"/>
          </a:p>
        </p:txBody>
      </p:sp>
      <p:sp>
        <p:nvSpPr>
          <p:cNvPr id="35844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305800" cy="51816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2400"/>
              <a:t>Four views regarding the design of a data warehouse </a:t>
            </a:r>
            <a:endParaRPr sz="2400"/>
          </a:p>
          <a:p>
            <a:pPr lvl="1" eaLnBrk="1" hangingPunct="1">
              <a:lnSpc>
                <a:spcPct val="110000"/>
              </a:lnSpc>
            </a:pPr>
            <a:r>
              <a:rPr sz="2400">
                <a:solidFill>
                  <a:schemeClr val="hlink"/>
                </a:solidFill>
              </a:rPr>
              <a:t>Top-down view</a:t>
            </a:r>
            <a:endParaRPr sz="2400">
              <a:solidFill>
                <a:schemeClr val="hlink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sz="2000"/>
              <a:t>allows selection of the relevant information necessary for the data warehouse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400">
                <a:solidFill>
                  <a:schemeClr val="hlink"/>
                </a:solidFill>
              </a:rPr>
              <a:t>Data source view</a:t>
            </a:r>
            <a:endParaRPr sz="2400">
              <a:solidFill>
                <a:schemeClr val="hlink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sz="2000"/>
              <a:t>exposes the information being captured, stored, and managed by operational systems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400">
                <a:solidFill>
                  <a:schemeClr val="hlink"/>
                </a:solidFill>
              </a:rPr>
              <a:t>Data warehouse view</a:t>
            </a:r>
            <a:endParaRPr sz="2400">
              <a:solidFill>
                <a:schemeClr val="hlink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sz="2000"/>
              <a:t>consists of fact tables and dimension tables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400">
                <a:solidFill>
                  <a:schemeClr val="hlink"/>
                </a:solidFill>
              </a:rPr>
              <a:t>Business query view</a:t>
            </a:r>
            <a:r>
              <a:rPr sz="2400"/>
              <a:t> </a:t>
            </a:r>
            <a:endParaRPr sz="2400"/>
          </a:p>
          <a:p>
            <a:pPr lvl="2" eaLnBrk="1" hangingPunct="1">
              <a:lnSpc>
                <a:spcPct val="110000"/>
              </a:lnSpc>
            </a:pPr>
            <a:r>
              <a:rPr sz="2000"/>
              <a:t>sees the perspectives of data in the warehouse from the view of end-user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686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97E49D26-A9DF-4EA8-89F8-2B30A1B0DCE2}" type="slidenum">
              <a:rPr sz="1200"/>
              <a:t>34</a:t>
            </a:fld>
            <a:endParaRPr sz="1200"/>
          </a:p>
        </p:txBody>
      </p:sp>
      <p:sp>
        <p:nvSpPr>
          <p:cNvPr id="36867" name="Rectangle 2" title="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0866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 Design Process </a:t>
            </a:r>
          </a:p>
        </p:txBody>
      </p:sp>
      <p:sp>
        <p:nvSpPr>
          <p:cNvPr id="36868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8458200" cy="51816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2000" b="1"/>
              <a:t>Top-down, bottom-up approaches or a combination</a:t>
            </a:r>
            <a:r>
              <a:rPr sz="2000"/>
              <a:t> of both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 u="sng"/>
              <a:t>Top-down</a:t>
            </a:r>
            <a:r>
              <a:rPr sz="2000"/>
              <a:t>: Starts with overall design and planning (mature)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 u="sng"/>
              <a:t>Bottom-up</a:t>
            </a:r>
            <a:r>
              <a:rPr sz="2000"/>
              <a:t>: Starts with experiments and prototypes (rapid)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 b="1"/>
              <a:t>From software engineering point of view</a:t>
            </a:r>
            <a:endParaRPr sz="2000" b="1"/>
          </a:p>
          <a:p>
            <a:pPr lvl="1" eaLnBrk="1" hangingPunct="1">
              <a:lnSpc>
                <a:spcPct val="110000"/>
              </a:lnSpc>
            </a:pPr>
            <a:r>
              <a:rPr sz="2000" u="sng"/>
              <a:t>Waterfal</a:t>
            </a:r>
            <a:r>
              <a:rPr sz="2000"/>
              <a:t>l: structured and systematic analysis at each step before proceeding to the next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 u="sng"/>
              <a:t>Spiral</a:t>
            </a:r>
            <a:r>
              <a:rPr sz="2000"/>
              <a:t>:  rapid generation of increasingly functional systems, short turn around time, quick turn around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 b="1"/>
              <a:t>Typical data warehouse design process</a:t>
            </a:r>
            <a:endParaRPr sz="2000" b="1"/>
          </a:p>
          <a:p>
            <a:pPr lvl="1" eaLnBrk="1" hangingPunct="1">
              <a:lnSpc>
                <a:spcPct val="110000"/>
              </a:lnSpc>
            </a:pPr>
            <a:r>
              <a:rPr sz="2000"/>
              <a:t>Choose a </a:t>
            </a:r>
            <a:r>
              <a:rPr sz="2000">
                <a:solidFill>
                  <a:schemeClr val="folHlink"/>
                </a:solidFill>
              </a:rPr>
              <a:t>business process</a:t>
            </a:r>
            <a:r>
              <a:rPr sz="2000"/>
              <a:t> to model, e.g., orders, invoices, etc.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Choose the </a:t>
            </a:r>
            <a:r>
              <a:rPr sz="2000" i="1" u="sng">
                <a:solidFill>
                  <a:schemeClr val="folHlink"/>
                </a:solidFill>
              </a:rPr>
              <a:t>grain</a:t>
            </a:r>
            <a:r>
              <a:rPr sz="2000">
                <a:solidFill>
                  <a:schemeClr val="folHlink"/>
                </a:solidFill>
              </a:rPr>
              <a:t> (</a:t>
            </a:r>
            <a:r>
              <a:rPr sz="2000" i="1">
                <a:solidFill>
                  <a:schemeClr val="folHlink"/>
                </a:solidFill>
              </a:rPr>
              <a:t>atomic level of data</a:t>
            </a:r>
            <a:r>
              <a:rPr sz="2000">
                <a:solidFill>
                  <a:schemeClr val="folHlink"/>
                </a:solidFill>
              </a:rPr>
              <a:t>)</a:t>
            </a:r>
            <a:r>
              <a:rPr sz="2000"/>
              <a:t> of the business process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Choose the </a:t>
            </a:r>
            <a:r>
              <a:rPr sz="2000">
                <a:solidFill>
                  <a:schemeClr val="folHlink"/>
                </a:solidFill>
              </a:rPr>
              <a:t>dimensions</a:t>
            </a:r>
            <a:r>
              <a:rPr sz="2000"/>
              <a:t> that will apply to each fact table record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Choose the </a:t>
            </a:r>
            <a:r>
              <a:rPr sz="2000">
                <a:solidFill>
                  <a:schemeClr val="folHlink"/>
                </a:solidFill>
              </a:rPr>
              <a:t>measure</a:t>
            </a:r>
            <a:r>
              <a:rPr sz="2000"/>
              <a:t> that will populate each fact table record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789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54B4D28-350B-4E69-AA0E-75A8214F7F0C}" type="slidenum">
              <a:rPr sz="1200"/>
              <a:t>35</a:t>
            </a:fld>
            <a:endParaRPr sz="1200"/>
          </a:p>
        </p:txBody>
      </p:sp>
      <p:sp>
        <p:nvSpPr>
          <p:cNvPr id="37891" name="Rectangle 2" title=""/>
          <p:cNvSpPr>
            <a:spLocks noGrp="1"/>
          </p:cNvSpPr>
          <p:nvPr>
            <p:ph type="title"/>
          </p:nvPr>
        </p:nvSpPr>
        <p:spPr>
          <a:xfrm>
            <a:off x="1371600" y="304800"/>
            <a:ext cx="6705600" cy="9906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 Development: A Recommended Approach</a:t>
            </a:r>
          </a:p>
        </p:txBody>
      </p:sp>
      <p:sp>
        <p:nvSpPr>
          <p:cNvPr id="37892" name="Rectangle 3" title=""/>
          <p:cNvSpPr/>
          <p:nvPr/>
        </p:nvSpPr>
        <p:spPr>
          <a:xfrm>
            <a:off x="609600" y="6019800"/>
            <a:ext cx="7772400" cy="5334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7893" name="Text Box 4" title=""/>
          <p:cNvSpPr txBox="1"/>
          <p:nvPr/>
        </p:nvSpPr>
        <p:spPr>
          <a:xfrm>
            <a:off x="1371600" y="6019800"/>
            <a:ext cx="6356350" cy="519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2800" b="1">
                <a:latin typeface="Times New Roman" pitchFamily="18" charset="0"/>
              </a:rPr>
              <a:t>Define a high-level corporate data model</a:t>
            </a:r>
            <a:endParaRPr>
              <a:latin typeface="Times New Roman" pitchFamily="18" charset="0"/>
            </a:endParaRPr>
          </a:p>
        </p:txBody>
      </p:sp>
      <p:sp>
        <p:nvSpPr>
          <p:cNvPr id="37894" name="Rectangle 5" title=""/>
          <p:cNvSpPr/>
          <p:nvPr/>
        </p:nvSpPr>
        <p:spPr>
          <a:xfrm>
            <a:off x="1066800" y="3886200"/>
            <a:ext cx="1295400" cy="7620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7895" name="Text Box 6" title=""/>
          <p:cNvSpPr txBox="1"/>
          <p:nvPr/>
        </p:nvSpPr>
        <p:spPr>
          <a:xfrm>
            <a:off x="1219200" y="3886200"/>
            <a:ext cx="1082675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b="1">
                <a:latin typeface="Times New Roman" pitchFamily="18" charset="0"/>
              </a:rPr>
              <a:t>Data Mart</a:t>
            </a:r>
            <a:endParaRPr b="1">
              <a:latin typeface="Times New Roman" pitchFamily="18" charset="0"/>
            </a:endParaRPr>
          </a:p>
        </p:txBody>
      </p:sp>
      <p:sp>
        <p:nvSpPr>
          <p:cNvPr id="37896" name="Line 7" title=""/>
          <p:cNvSpPr/>
          <p:nvPr/>
        </p:nvSpPr>
        <p:spPr>
          <a:xfrm>
            <a:off x="2362200" y="4191000"/>
            <a:ext cx="1524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37897" name="Line 8" title=""/>
          <p:cNvSpPr/>
          <p:nvPr/>
        </p:nvSpPr>
        <p:spPr>
          <a:xfrm flipH="1">
            <a:off x="2514600" y="4191000"/>
            <a:ext cx="0" cy="1828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len="lg"/>
          </a:ln>
        </p:spPr>
      </p:sp>
      <p:sp>
        <p:nvSpPr>
          <p:cNvPr id="37898" name="Rectangle 9" title=""/>
          <p:cNvSpPr/>
          <p:nvPr/>
        </p:nvSpPr>
        <p:spPr>
          <a:xfrm>
            <a:off x="2971800" y="3886200"/>
            <a:ext cx="1295400" cy="7620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7899" name="Text Box 10" title=""/>
          <p:cNvSpPr txBox="1"/>
          <p:nvPr/>
        </p:nvSpPr>
        <p:spPr>
          <a:xfrm>
            <a:off x="3124200" y="3886200"/>
            <a:ext cx="1082675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b="1">
                <a:latin typeface="Times New Roman" pitchFamily="18" charset="0"/>
              </a:rPr>
              <a:t>Data Mart</a:t>
            </a:r>
            <a:endParaRPr b="1">
              <a:latin typeface="Times New Roman" pitchFamily="18" charset="0"/>
            </a:endParaRPr>
          </a:p>
        </p:txBody>
      </p:sp>
      <p:sp>
        <p:nvSpPr>
          <p:cNvPr id="37900" name="Line 11" title=""/>
          <p:cNvSpPr/>
          <p:nvPr/>
        </p:nvSpPr>
        <p:spPr>
          <a:xfrm>
            <a:off x="4267200" y="4191000"/>
            <a:ext cx="1524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37901" name="Line 12" title=""/>
          <p:cNvSpPr/>
          <p:nvPr/>
        </p:nvSpPr>
        <p:spPr>
          <a:xfrm flipH="1">
            <a:off x="4419600" y="4191000"/>
            <a:ext cx="0" cy="1828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len="lg"/>
          </a:ln>
        </p:spPr>
      </p:sp>
      <p:sp>
        <p:nvSpPr>
          <p:cNvPr id="37902" name="Line 13" title=""/>
          <p:cNvSpPr/>
          <p:nvPr/>
        </p:nvSpPr>
        <p:spPr>
          <a:xfrm flipH="1" flipV="1">
            <a:off x="3505200" y="46482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03" name="Line 14" title=""/>
          <p:cNvSpPr/>
          <p:nvPr/>
        </p:nvSpPr>
        <p:spPr>
          <a:xfrm flipH="1" flipV="1">
            <a:off x="1676400" y="46482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04" name="Rectangle 15" title=""/>
          <p:cNvSpPr/>
          <p:nvPr/>
        </p:nvSpPr>
        <p:spPr>
          <a:xfrm>
            <a:off x="1981200" y="2209800"/>
            <a:ext cx="1752600" cy="9906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7905" name="Rectangle 16" title=""/>
          <p:cNvSpPr/>
          <p:nvPr/>
        </p:nvSpPr>
        <p:spPr>
          <a:xfrm>
            <a:off x="5486400" y="3657600"/>
            <a:ext cx="1981200" cy="12954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7906" name="Rectangle 17" title=""/>
          <p:cNvSpPr/>
          <p:nvPr/>
        </p:nvSpPr>
        <p:spPr>
          <a:xfrm>
            <a:off x="5257800" y="1447800"/>
            <a:ext cx="2438400" cy="12192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  <p:sp>
        <p:nvSpPr>
          <p:cNvPr id="37907" name="Line 18" title=""/>
          <p:cNvSpPr/>
          <p:nvPr/>
        </p:nvSpPr>
        <p:spPr>
          <a:xfrm>
            <a:off x="3733800" y="2667000"/>
            <a:ext cx="10668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37908" name="Line 19" title=""/>
          <p:cNvSpPr/>
          <p:nvPr/>
        </p:nvSpPr>
        <p:spPr>
          <a:xfrm flipH="1">
            <a:off x="4800600" y="2667000"/>
            <a:ext cx="0" cy="3352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len="lg"/>
          </a:ln>
        </p:spPr>
      </p:sp>
      <p:sp>
        <p:nvSpPr>
          <p:cNvPr id="37909" name="Line 20" title=""/>
          <p:cNvSpPr/>
          <p:nvPr/>
        </p:nvSpPr>
        <p:spPr>
          <a:xfrm flipH="1">
            <a:off x="5105400" y="4191000"/>
            <a:ext cx="0" cy="1828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len="lg"/>
          </a:ln>
        </p:spPr>
      </p:sp>
      <p:sp>
        <p:nvSpPr>
          <p:cNvPr id="37910" name="Line 21" title=""/>
          <p:cNvSpPr/>
          <p:nvPr/>
        </p:nvSpPr>
        <p:spPr>
          <a:xfrm>
            <a:off x="5105400" y="4191000"/>
            <a:ext cx="3810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37911" name="Line 22" title=""/>
          <p:cNvSpPr/>
          <p:nvPr/>
        </p:nvSpPr>
        <p:spPr>
          <a:xfrm flipV="1">
            <a:off x="1676400" y="3200400"/>
            <a:ext cx="106680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12" name="Line 23" title=""/>
          <p:cNvSpPr/>
          <p:nvPr/>
        </p:nvSpPr>
        <p:spPr>
          <a:xfrm flipV="1">
            <a:off x="3200400" y="1981200"/>
            <a:ext cx="205740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13" name="Line 24" title=""/>
          <p:cNvSpPr/>
          <p:nvPr/>
        </p:nvSpPr>
        <p:spPr>
          <a:xfrm flipH="1" flipV="1">
            <a:off x="2895600" y="3200400"/>
            <a:ext cx="76200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14" name="Line 25" title=""/>
          <p:cNvSpPr/>
          <p:nvPr/>
        </p:nvSpPr>
        <p:spPr>
          <a:xfrm flipH="1" flipV="1">
            <a:off x="6477000" y="4953000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15" name="Line 26" title=""/>
          <p:cNvSpPr/>
          <p:nvPr/>
        </p:nvSpPr>
        <p:spPr>
          <a:xfrm flipH="1" flipV="1">
            <a:off x="6400800" y="2667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lg" len="lg"/>
          </a:ln>
        </p:spPr>
      </p:sp>
      <p:sp>
        <p:nvSpPr>
          <p:cNvPr id="37916" name="Text Box 27" title=""/>
          <p:cNvSpPr txBox="1"/>
          <p:nvPr/>
        </p:nvSpPr>
        <p:spPr>
          <a:xfrm>
            <a:off x="1981200" y="2209800"/>
            <a:ext cx="1905000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Distributed Data Marts</a:t>
            </a:r>
            <a:endParaRPr>
              <a:latin typeface="Times New Roman" pitchFamily="18" charset="0"/>
            </a:endParaRPr>
          </a:p>
        </p:txBody>
      </p:sp>
      <p:sp>
        <p:nvSpPr>
          <p:cNvPr id="37917" name="Rectangle 28" title=""/>
          <p:cNvSpPr/>
          <p:nvPr/>
        </p:nvSpPr>
        <p:spPr>
          <a:xfrm>
            <a:off x="5334000" y="1676400"/>
            <a:ext cx="2362200" cy="822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Multi-Tier Data Warehouse</a:t>
            </a:r>
            <a:endParaRPr sz="2000" b="1">
              <a:latin typeface="Times New Roman" pitchFamily="18" charset="0"/>
            </a:endParaRPr>
          </a:p>
        </p:txBody>
      </p:sp>
      <p:sp>
        <p:nvSpPr>
          <p:cNvPr id="37918" name="Rectangle 29" title=""/>
          <p:cNvSpPr/>
          <p:nvPr/>
        </p:nvSpPr>
        <p:spPr>
          <a:xfrm>
            <a:off x="5638800" y="3733800"/>
            <a:ext cx="1752600" cy="11874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b="1">
                <a:latin typeface="Times New Roman" pitchFamily="18" charset="0"/>
              </a:rPr>
              <a:t>Enterprise Data Warehouse</a:t>
            </a:r>
            <a:endParaRPr b="1">
              <a:latin typeface="Times New Roman" pitchFamily="18" charset="0"/>
            </a:endParaRPr>
          </a:p>
        </p:txBody>
      </p:sp>
      <p:sp>
        <p:nvSpPr>
          <p:cNvPr id="37919" name="Text Box 30" title=""/>
          <p:cNvSpPr txBox="1"/>
          <p:nvPr/>
        </p:nvSpPr>
        <p:spPr>
          <a:xfrm>
            <a:off x="3733800" y="5334000"/>
            <a:ext cx="220980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r>
              <a:rPr sz="1800" b="1">
                <a:latin typeface="Times New Roman" pitchFamily="18" charset="0"/>
              </a:rPr>
              <a:t>Model refinement</a:t>
            </a:r>
            <a:endParaRPr sz="2000" b="1">
              <a:latin typeface="Times New Roman" pitchFamily="18" charset="0"/>
            </a:endParaRPr>
          </a:p>
        </p:txBody>
      </p:sp>
      <p:sp>
        <p:nvSpPr>
          <p:cNvPr id="37920" name="Rectangle 31" title=""/>
          <p:cNvSpPr/>
          <p:nvPr/>
        </p:nvSpPr>
        <p:spPr>
          <a:xfrm>
            <a:off x="1676400" y="5334000"/>
            <a:ext cx="1930400" cy="3667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sz="1800" b="1">
                <a:latin typeface="Times New Roman" pitchFamily="18" charset="0"/>
              </a:rPr>
              <a:t>Model refinement</a:t>
            </a:r>
            <a:endParaRPr sz="2000" b="1">
              <a:latin typeface="Times New Roman" pitchFamily="18" charset="0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891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27684B98-1C49-479A-B2E8-8DDD9109B915}" type="slidenum">
              <a:rPr sz="1200"/>
              <a:t>36</a:t>
            </a:fld>
            <a:endParaRPr sz="1200"/>
          </a:p>
        </p:txBody>
      </p:sp>
      <p:sp>
        <p:nvSpPr>
          <p:cNvPr id="38915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Data Warehouse Usage</a:t>
            </a:r>
          </a:p>
        </p:txBody>
      </p:sp>
      <p:sp>
        <p:nvSpPr>
          <p:cNvPr id="38916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1054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20000"/>
              </a:lnSpc>
            </a:pPr>
            <a:r>
              <a:rPr sz="2000"/>
              <a:t>Three kinds of data warehouse applications</a:t>
            </a:r>
            <a:endParaRPr sz="2000"/>
          </a:p>
          <a:p>
            <a:pPr lvl="1" eaLnBrk="1" hangingPunct="1">
              <a:lnSpc>
                <a:spcPct val="120000"/>
              </a:lnSpc>
            </a:pPr>
            <a:r>
              <a:rPr sz="2000">
                <a:solidFill>
                  <a:schemeClr val="hlink"/>
                </a:solidFill>
              </a:rPr>
              <a:t>Information processing</a:t>
            </a:r>
            <a:endParaRPr sz="2000">
              <a:solidFill>
                <a:schemeClr val="hlink"/>
              </a:solidFill>
            </a:endParaRPr>
          </a:p>
          <a:p>
            <a:pPr lvl="2" eaLnBrk="1" hangingPunct="1">
              <a:lnSpc>
                <a:spcPct val="120000"/>
              </a:lnSpc>
            </a:pPr>
            <a:r>
              <a:rPr sz="2000"/>
              <a:t>supports querying, basic statistical analysis, and reporting using crosstabs, tables, charts and graphs</a:t>
            </a:r>
            <a:endParaRPr sz="2000"/>
          </a:p>
          <a:p>
            <a:pPr lvl="1" eaLnBrk="1" hangingPunct="1">
              <a:lnSpc>
                <a:spcPct val="120000"/>
              </a:lnSpc>
            </a:pPr>
            <a:r>
              <a:rPr sz="2000">
                <a:solidFill>
                  <a:schemeClr val="hlink"/>
                </a:solidFill>
              </a:rPr>
              <a:t>Analytical processing</a:t>
            </a:r>
            <a:endParaRPr sz="2000">
              <a:solidFill>
                <a:schemeClr val="hlink"/>
              </a:solidFill>
            </a:endParaRPr>
          </a:p>
          <a:p>
            <a:pPr lvl="2" eaLnBrk="1" hangingPunct="1">
              <a:lnSpc>
                <a:spcPct val="120000"/>
              </a:lnSpc>
            </a:pPr>
            <a:r>
              <a:rPr sz="2000"/>
              <a:t>multidimensional analysis of data warehouse data</a:t>
            </a:r>
            <a:endParaRPr sz="2000"/>
          </a:p>
          <a:p>
            <a:pPr lvl="2" eaLnBrk="1" hangingPunct="1">
              <a:lnSpc>
                <a:spcPct val="120000"/>
              </a:lnSpc>
            </a:pPr>
            <a:r>
              <a:rPr sz="2000"/>
              <a:t>supports basic OLAP operations, slice-dice, drilling, pivoting</a:t>
            </a:r>
            <a:endParaRPr sz="2000"/>
          </a:p>
          <a:p>
            <a:pPr lvl="1" eaLnBrk="1" hangingPunct="1">
              <a:lnSpc>
                <a:spcPct val="120000"/>
              </a:lnSpc>
            </a:pPr>
            <a:r>
              <a:rPr sz="2000">
                <a:solidFill>
                  <a:schemeClr val="hlink"/>
                </a:solidFill>
              </a:rPr>
              <a:t>Data mining</a:t>
            </a:r>
            <a:endParaRPr sz="2000">
              <a:solidFill>
                <a:schemeClr val="hlink"/>
              </a:solidFill>
            </a:endParaRPr>
          </a:p>
          <a:p>
            <a:pPr lvl="2" eaLnBrk="1" hangingPunct="1">
              <a:lnSpc>
                <a:spcPct val="120000"/>
              </a:lnSpc>
            </a:pPr>
            <a:r>
              <a:rPr sz="2000"/>
              <a:t>knowledge discovery from hidden patterns </a:t>
            </a:r>
            <a:endParaRPr sz="2000"/>
          </a:p>
          <a:p>
            <a:pPr lvl="2" eaLnBrk="1" hangingPunct="1">
              <a:lnSpc>
                <a:spcPct val="120000"/>
              </a:lnSpc>
            </a:pPr>
            <a:r>
              <a:rPr sz="2000"/>
              <a:t>supports associations, constructing analytical models, performing classification and prediction, and presenting the mining results using visualization tools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3993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8ABAE40B-8330-4587-9182-0AEB8E2BEE39}" type="slidenum">
              <a:rPr sz="1200"/>
              <a:t>37</a:t>
            </a:fld>
            <a:endParaRPr sz="1200"/>
          </a:p>
        </p:txBody>
      </p:sp>
      <p:sp>
        <p:nvSpPr>
          <p:cNvPr id="39939" name="Rectangle 2" title="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10600" cy="935038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>
                <a:solidFill>
                  <a:srgbClr val="170981"/>
                </a:solidFill>
              </a:rPr>
              <a:t>From On-Line Analytical Processing (OLAP) </a:t>
            </a:r>
            <a:br>
              <a:rPr sz="3200">
                <a:solidFill>
                  <a:srgbClr val="170981"/>
                </a:solidFill>
              </a:rPr>
            </a:br>
            <a:r>
              <a:rPr sz="3200">
                <a:solidFill>
                  <a:srgbClr val="170981"/>
                </a:solidFill>
              </a:rPr>
              <a:t>to On Line Analytical Mining (OLAM)</a:t>
            </a:r>
            <a:endParaRPr>
              <a:solidFill>
                <a:srgbClr val="170981"/>
              </a:solidFill>
            </a:endParaRPr>
          </a:p>
        </p:txBody>
      </p:sp>
      <p:sp>
        <p:nvSpPr>
          <p:cNvPr id="39940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/>
            <a:r>
              <a:rPr sz="2400"/>
              <a:t>Why </a:t>
            </a:r>
            <a:r>
              <a:rPr sz="2400">
                <a:solidFill>
                  <a:schemeClr val="hlink"/>
                </a:solidFill>
              </a:rPr>
              <a:t>online analytical mining</a:t>
            </a:r>
            <a:r>
              <a:rPr sz="2400"/>
              <a:t>?</a:t>
            </a:r>
            <a:endParaRPr sz="2400"/>
          </a:p>
          <a:p>
            <a:pPr lvl="1" eaLnBrk="1" hangingPunct="1"/>
            <a:r>
              <a:rPr sz="2400"/>
              <a:t>High quality of data in data warehouses</a:t>
            </a:r>
            <a:endParaRPr sz="2400"/>
          </a:p>
          <a:p>
            <a:pPr lvl="2" eaLnBrk="1" hangingPunct="1"/>
            <a:r>
              <a:t>DW contains integrated, consistent, cleaned data</a:t>
            </a:r>
          </a:p>
          <a:p>
            <a:pPr lvl="1" eaLnBrk="1" hangingPunct="1"/>
            <a:r>
              <a:rPr sz="2400"/>
              <a:t>Available information processing structure surrounding data warehouses</a:t>
            </a:r>
            <a:endParaRPr sz="2400"/>
          </a:p>
          <a:p>
            <a:pPr lvl="2" eaLnBrk="1" hangingPunct="1"/>
            <a:r>
              <a:t>ODBC, OLEDB, Web accessing, service facilities, reporting and OLAP tools</a:t>
            </a:r>
          </a:p>
          <a:p>
            <a:pPr lvl="1" eaLnBrk="1" hangingPunct="1"/>
            <a:r>
              <a:rPr sz="2400"/>
              <a:t>OLAP-based exploratory data analysis</a:t>
            </a:r>
            <a:endParaRPr sz="2400"/>
          </a:p>
          <a:p>
            <a:pPr lvl="2" eaLnBrk="1" hangingPunct="1"/>
            <a:r>
              <a:t>Mining with drilling, dicing, pivoting, etc.</a:t>
            </a:r>
          </a:p>
          <a:p>
            <a:pPr lvl="1" eaLnBrk="1" hangingPunct="1"/>
            <a:r>
              <a:rPr sz="2400"/>
              <a:t>On-line selection of data mining functions</a:t>
            </a:r>
            <a:endParaRPr sz="2400"/>
          </a:p>
          <a:p>
            <a:pPr lvl="2" eaLnBrk="1" hangingPunct="1"/>
            <a:r>
              <a:t>Integration and swapping of multiple mining functions, algorithms, and tasks</a:t>
            </a: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096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EAA86211-0064-419F-919B-9F80B22951A1}" type="slidenum">
              <a:rPr sz="1200"/>
              <a:t>38</a:t>
            </a:fld>
            <a:endParaRPr sz="1200"/>
          </a:p>
        </p:txBody>
      </p:sp>
      <p:sp>
        <p:nvSpPr>
          <p:cNvPr id="40963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40964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3820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t>Data Warehouse: Basic Concepts</a:t>
            </a:r>
          </a:p>
          <a:p>
            <a:pPr lvl="0" eaLnBrk="1" hangingPunct="1">
              <a:lnSpc>
                <a:spcPct val="140000"/>
              </a:lnSpc>
            </a:pPr>
            <a:r>
              <a:t>Data Warehouse Modeling: Data Cube and OLAP</a:t>
            </a:r>
          </a:p>
          <a:p>
            <a:pPr lvl="0" eaLnBrk="1" hangingPunct="1">
              <a:lnSpc>
                <a:spcPct val="140000"/>
              </a:lnSpc>
            </a:pPr>
            <a:r>
              <a:t>Data Warehouse Design and Usage</a:t>
            </a:r>
          </a:p>
          <a:p>
            <a:pPr lvl="0" eaLnBrk="1" hangingPunct="1">
              <a:lnSpc>
                <a:spcPct val="140000"/>
              </a:lnSpc>
            </a:pPr>
            <a:r>
              <a:t>Data Warehouse Implementation</a:t>
            </a:r>
          </a:p>
          <a:p>
            <a:pPr lvl="0" eaLnBrk="1" hangingPunct="1">
              <a:lnSpc>
                <a:spcPct val="140000"/>
              </a:lnSpc>
            </a:pPr>
            <a:r>
              <a:t>Data Generalization by Attribute-Oriented Induction</a:t>
            </a:r>
          </a:p>
          <a:p>
            <a:pPr lvl="0" eaLnBrk="1" hangingPunct="1">
              <a:lnSpc>
                <a:spcPct val="140000"/>
              </a:lnSpc>
            </a:pPr>
            <a:r>
              <a:t>Summary</a:t>
            </a:r>
          </a:p>
        </p:txBody>
      </p:sp>
      <p:sp>
        <p:nvSpPr>
          <p:cNvPr id="40965" name="AutoShape 4" title=""/>
          <p:cNvSpPr/>
          <p:nvPr/>
        </p:nvSpPr>
        <p:spPr>
          <a:xfrm rot="9060000">
            <a:off x="6324600" y="3581400"/>
            <a:ext cx="3810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198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94438FE2-C67D-4C70-A7E8-ED1EA8259927}" type="slidenum">
              <a:rPr sz="1200"/>
              <a:t>39</a:t>
            </a:fld>
            <a:endParaRPr sz="1200"/>
          </a:p>
        </p:txBody>
      </p:sp>
      <p:sp>
        <p:nvSpPr>
          <p:cNvPr id="41987" name="Rectangle 2" title=""/>
          <p:cNvSpPr>
            <a:spLocks noGrp="1"/>
          </p:cNvSpPr>
          <p:nvPr>
            <p:ph type="title"/>
          </p:nvPr>
        </p:nvSpPr>
        <p:spPr>
          <a:xfrm>
            <a:off x="838200" y="304800"/>
            <a:ext cx="7367588" cy="685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Efficient Data Cube Computation</a:t>
            </a:r>
          </a:p>
        </p:txBody>
      </p:sp>
      <p:sp>
        <p:nvSpPr>
          <p:cNvPr id="41988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382000" cy="54102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0" indent="-342900" eaLnBrk="1" hangingPunct="1">
              <a:lnSpc>
                <a:spcPct val="110000"/>
              </a:lnSpc>
            </a:pPr>
            <a:r>
              <a:rPr sz="2400"/>
              <a:t>Data cube can be viewed as a lattice of cuboids  </a:t>
            </a:r>
            <a:endParaRPr sz="2400"/>
          </a:p>
          <a:p>
            <a:pPr marL="742950" lvl="1" indent="-285750" eaLnBrk="1" hangingPunct="1">
              <a:lnSpc>
                <a:spcPct val="110000"/>
              </a:lnSpc>
            </a:pPr>
            <a:r>
              <a:rPr sz="2400"/>
              <a:t>The bottom-most cuboid is the base cuboid</a:t>
            </a:r>
            <a:endParaRPr sz="2400"/>
          </a:p>
          <a:p>
            <a:pPr marL="742950" lvl="1" indent="-285750" eaLnBrk="1" hangingPunct="1">
              <a:lnSpc>
                <a:spcPct val="110000"/>
              </a:lnSpc>
            </a:pPr>
            <a:r>
              <a:rPr sz="2400"/>
              <a:t>The top-most cuboid (apex) contains only one cell</a:t>
            </a:r>
            <a:endParaRPr sz="2400"/>
          </a:p>
          <a:p>
            <a:pPr marL="742950" lvl="1" indent="-285750" eaLnBrk="1" hangingPunct="1">
              <a:lnSpc>
                <a:spcPct val="110000"/>
              </a:lnSpc>
            </a:pPr>
            <a:r>
              <a:rPr sz="2400">
                <a:solidFill>
                  <a:schemeClr val="folHlink"/>
                </a:solidFill>
              </a:rPr>
              <a:t>How many cuboids</a:t>
            </a:r>
            <a:r>
              <a:rPr sz="2400"/>
              <a:t> in an n-dimensional cube with L levels?</a:t>
            </a:r>
            <a:endParaRPr sz="2400"/>
          </a:p>
          <a:p>
            <a:pPr marL="742950" lvl="1" indent="-285750" eaLnBrk="1" hangingPunct="1">
              <a:lnSpc>
                <a:spcPct val="110000"/>
              </a:lnSpc>
            </a:pPr>
            <a:endParaRPr sz="2400"/>
          </a:p>
          <a:p>
            <a:pPr marL="342900" lvl="0" indent="-342900" eaLnBrk="1" hangingPunct="1">
              <a:lnSpc>
                <a:spcPct val="110000"/>
              </a:lnSpc>
            </a:pPr>
            <a:r>
              <a:rPr sz="2400"/>
              <a:t>Materialization of data cube</a:t>
            </a:r>
            <a:endParaRPr sz="2400"/>
          </a:p>
          <a:p>
            <a:pPr marL="742950" lvl="1" indent="-285750" eaLnBrk="1" hangingPunct="1">
              <a:lnSpc>
                <a:spcPct val="110000"/>
              </a:lnSpc>
            </a:pPr>
            <a:r>
              <a:rPr sz="2400"/>
              <a:t>Materialize </a:t>
            </a:r>
            <a:r>
              <a:rPr sz="2400" u="sng"/>
              <a:t>every</a:t>
            </a:r>
            <a:r>
              <a:rPr sz="2400"/>
              <a:t> (cuboid) (</a:t>
            </a:r>
            <a:r>
              <a:rPr sz="2400" b="1"/>
              <a:t>full materialization</a:t>
            </a:r>
            <a:r>
              <a:rPr sz="2400"/>
              <a:t>), </a:t>
            </a:r>
            <a:r>
              <a:rPr sz="2400" u="sng"/>
              <a:t>none </a:t>
            </a:r>
            <a:r>
              <a:rPr sz="2400"/>
              <a:t>(</a:t>
            </a:r>
            <a:r>
              <a:rPr sz="2400" b="1"/>
              <a:t>no materialization</a:t>
            </a:r>
            <a:r>
              <a:rPr sz="2400"/>
              <a:t>), or </a:t>
            </a:r>
            <a:r>
              <a:rPr sz="2400" u="sng">
                <a:solidFill>
                  <a:schemeClr val="hlink"/>
                </a:solidFill>
              </a:rPr>
              <a:t>some (</a:t>
            </a:r>
            <a:r>
              <a:rPr sz="2400" b="1" u="sng">
                <a:solidFill>
                  <a:schemeClr val="hlink"/>
                </a:solidFill>
              </a:rPr>
              <a:t>partial materialization</a:t>
            </a:r>
            <a:r>
              <a:rPr sz="2400" u="sng">
                <a:solidFill>
                  <a:schemeClr val="hlink"/>
                </a:solidFill>
              </a:rPr>
              <a:t>)</a:t>
            </a:r>
            <a:endParaRPr sz="2400">
              <a:solidFill>
                <a:schemeClr val="hlink"/>
              </a:solidFill>
            </a:endParaRPr>
          </a:p>
          <a:p>
            <a:pPr marL="742950" lvl="1" indent="-285750" eaLnBrk="1" hangingPunct="1">
              <a:lnSpc>
                <a:spcPct val="110000"/>
              </a:lnSpc>
            </a:pPr>
            <a:r>
              <a:rPr sz="2400"/>
              <a:t>Selection of which cuboids to materialize</a:t>
            </a:r>
            <a:endParaRPr sz="2400"/>
          </a:p>
          <a:p>
            <a:pPr marL="1085850" lvl="2" indent="-228600" eaLnBrk="1" hangingPunct="1">
              <a:lnSpc>
                <a:spcPct val="110000"/>
              </a:lnSpc>
            </a:pPr>
            <a:r>
              <a:t>Based on size, sharing, access frequency, etc.</a:t>
            </a:r>
          </a:p>
        </p:txBody>
      </p:sp>
      <p:graphicFrame>
        <p:nvGraphicFramePr>
          <p:cNvPr id="41989" name="Object 4" title=""/>
          <p:cNvGraphicFramePr>
            <a:graphicFrameLocks noChangeAspect="1"/>
          </p:cNvGraphicFramePr>
          <p:nvPr/>
        </p:nvGraphicFramePr>
        <p:xfrm>
          <a:off x="3048000" y="3200400"/>
          <a:ext cx="2133600" cy="6858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9" name="Equation" r:id="rId3" imgW="2133600" imgH="685800" progId="Equation.3">
                  <p:embed/>
                </p:oleObj>
              </mc:Choice>
              <mc:Fallback>
                <p:oleObj name="Equation" r:id="rId3" imgW="2133600" imgH="6858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0" y="3200400"/>
                        <a:ext cx="2133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301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FE577436-47FE-4000-A924-A5695C584CB1}" type="slidenum">
              <a:rPr sz="1200"/>
              <a:t>40</a:t>
            </a:fld>
            <a:endParaRPr sz="1200"/>
          </a:p>
        </p:txBody>
      </p:sp>
      <p:sp>
        <p:nvSpPr>
          <p:cNvPr id="43011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The “Compute Cube” Operator</a:t>
            </a:r>
          </a:p>
        </p:txBody>
      </p:sp>
      <p:sp>
        <p:nvSpPr>
          <p:cNvPr id="43012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7848600" cy="51816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algn="just" eaLnBrk="1" hangingPunct="1">
              <a:spcAft>
                <a:spcPts val="600"/>
              </a:spcAft>
            </a:pPr>
            <a:r>
              <a:rPr sz="2000"/>
              <a:t>Cube definition and computation in DMQL</a:t>
            </a:r>
            <a:endParaRPr sz="2000"/>
          </a:p>
          <a:p>
            <a:pPr lvl="2" algn="just" eaLnBrk="1" hangingPunct="1">
              <a:spcAft>
                <a:spcPts val="600"/>
              </a:spcAft>
              <a:buNone/>
            </a:pPr>
            <a:r>
              <a:rPr sz="2000">
                <a:solidFill>
                  <a:schemeClr val="hlink"/>
                </a:solidFill>
              </a:rPr>
              <a:t>define cube </a:t>
            </a:r>
            <a:r>
              <a:rPr sz="2000"/>
              <a:t>sales [item, city, year]: sum (sales_in_dollars)</a:t>
            </a:r>
            <a:endParaRPr sz="2000">
              <a:solidFill>
                <a:schemeClr val="hlink"/>
              </a:solidFill>
            </a:endParaRPr>
          </a:p>
          <a:p>
            <a:pPr lvl="2" algn="just" eaLnBrk="1" hangingPunct="1">
              <a:spcAft>
                <a:spcPts val="600"/>
              </a:spcAft>
              <a:buNone/>
            </a:pPr>
            <a:r>
              <a:rPr sz="2000">
                <a:solidFill>
                  <a:schemeClr val="hlink"/>
                </a:solidFill>
              </a:rPr>
              <a:t>compute cube</a:t>
            </a:r>
            <a:r>
              <a:rPr sz="2000"/>
              <a:t> sales</a:t>
            </a:r>
            <a:endParaRPr sz="2000"/>
          </a:p>
          <a:p>
            <a:pPr lvl="0" algn="just" eaLnBrk="1" hangingPunct="1">
              <a:spcAft>
                <a:spcPts val="600"/>
              </a:spcAft>
            </a:pPr>
            <a:r>
              <a:rPr sz="2000"/>
              <a:t>Transform it into a SQL-like language (with a new operator </a:t>
            </a:r>
            <a:r>
              <a:rPr sz="2000">
                <a:solidFill>
                  <a:schemeClr val="hlink"/>
                </a:solidFill>
              </a:rPr>
              <a:t>cube by</a:t>
            </a:r>
            <a:r>
              <a:rPr sz="2000"/>
              <a:t>, introduced by Gray et al.’96)</a:t>
            </a:r>
            <a:endParaRPr sz="2000"/>
          </a:p>
          <a:p>
            <a:pPr lvl="2" algn="just" eaLnBrk="1" hangingPunct="1">
              <a:spcAft>
                <a:spcPts val="600"/>
              </a:spcAft>
              <a:buNone/>
            </a:pPr>
            <a:r>
              <a:rPr sz="2000"/>
              <a:t>SELECT item, city, year, SUM (amount)</a:t>
            </a:r>
            <a:endParaRPr sz="2000"/>
          </a:p>
          <a:p>
            <a:pPr lvl="2" algn="just" eaLnBrk="1" hangingPunct="1">
              <a:spcAft>
                <a:spcPts val="600"/>
              </a:spcAft>
              <a:buNone/>
            </a:pPr>
            <a:r>
              <a:rPr sz="2000"/>
              <a:t>FROM SALES</a:t>
            </a:r>
            <a:endParaRPr sz="2000"/>
          </a:p>
          <a:p>
            <a:pPr lvl="2" algn="just" eaLnBrk="1" hangingPunct="1">
              <a:buNone/>
            </a:pPr>
            <a:r>
              <a:rPr sz="2000">
                <a:solidFill>
                  <a:schemeClr val="hlink"/>
                </a:solidFill>
              </a:rPr>
              <a:t>CUBE BY</a:t>
            </a:r>
            <a:r>
              <a:rPr sz="2000"/>
              <a:t> item, city, year</a:t>
            </a:r>
            <a:endParaRPr sz="2000" i="1"/>
          </a:p>
          <a:p>
            <a:pPr lvl="0" algn="just" eaLnBrk="1" hangingPunct="1"/>
            <a:r>
              <a:rPr sz="2000"/>
              <a:t>Need compute the following Group-Bys</a:t>
            </a:r>
            <a:r>
              <a:rPr sz="2000" i="1"/>
              <a:t> </a:t>
            </a:r>
            <a:endParaRPr sz="2000" i="1"/>
          </a:p>
          <a:p>
            <a:pPr lvl="2" algn="just" eaLnBrk="1" hangingPunct="1">
              <a:buNone/>
            </a:pPr>
            <a:r>
              <a:rPr sz="2000" i="1">
                <a:solidFill>
                  <a:schemeClr val="hlink"/>
                </a:solidFill>
              </a:rPr>
              <a:t>(</a:t>
            </a:r>
            <a:r>
              <a:rPr sz="2000" i="1">
                <a:solidFill>
                  <a:srgbClr val="FF3300"/>
                </a:solidFill>
              </a:rPr>
              <a:t>date, product, customer),</a:t>
            </a:r>
            <a:endParaRPr sz="2000" i="1">
              <a:solidFill>
                <a:srgbClr val="FF3300"/>
              </a:solidFill>
            </a:endParaRPr>
          </a:p>
          <a:p>
            <a:pPr lvl="2" algn="just" eaLnBrk="1" hangingPunct="1">
              <a:buNone/>
            </a:pPr>
            <a:r>
              <a:rPr sz="2000" i="1">
                <a:solidFill>
                  <a:srgbClr val="FF3300"/>
                </a:solidFill>
              </a:rPr>
              <a:t>(date,product),(date, customer), (product, customer),</a:t>
            </a:r>
            <a:endParaRPr sz="2000" i="1">
              <a:solidFill>
                <a:srgbClr val="FF3300"/>
              </a:solidFill>
            </a:endParaRPr>
          </a:p>
          <a:p>
            <a:pPr lvl="2" algn="just" eaLnBrk="1" hangingPunct="1">
              <a:buNone/>
            </a:pPr>
            <a:r>
              <a:rPr sz="2000" i="1">
                <a:solidFill>
                  <a:srgbClr val="FF3300"/>
                </a:solidFill>
              </a:rPr>
              <a:t>(date), (product), (customer)</a:t>
            </a:r>
            <a:endParaRPr sz="2000" i="1">
              <a:solidFill>
                <a:srgbClr val="FF3300"/>
              </a:solidFill>
            </a:endParaRPr>
          </a:p>
          <a:p>
            <a:pPr lvl="2" algn="just" eaLnBrk="1" hangingPunct="1">
              <a:buNone/>
            </a:pPr>
            <a:r>
              <a:rPr sz="2000" i="1">
                <a:solidFill>
                  <a:srgbClr val="FF3300"/>
                </a:solidFill>
              </a:rPr>
              <a:t>() </a:t>
            </a:r>
            <a:endParaRPr sz="2000">
              <a:solidFill>
                <a:srgbClr val="FF3300"/>
              </a:solidFill>
            </a:endParaRPr>
          </a:p>
        </p:txBody>
      </p:sp>
      <p:grpSp>
        <p:nvGrpSpPr>
          <p:cNvPr id="43013" name="Group 24" title=""/>
          <p:cNvGrpSpPr/>
          <p:nvPr/>
        </p:nvGrpSpPr>
        <p:grpSpPr>
          <a:xfrm>
            <a:off x="5156200" y="3048000"/>
            <a:ext cx="3987800" cy="3094038"/>
            <a:chOff x="3056" y="2160"/>
            <a:chExt cx="2512" cy="1949"/>
          </a:xfrm>
        </p:grpSpPr>
        <p:sp>
          <p:nvSpPr>
            <p:cNvPr id="43014" name="Line 4" title=""/>
            <p:cNvSpPr/>
            <p:nvPr/>
          </p:nvSpPr>
          <p:spPr>
            <a:xfrm flipV="1">
              <a:off x="4356" y="3408"/>
              <a:ext cx="672" cy="480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15" name="Line 5" title=""/>
            <p:cNvSpPr/>
            <p:nvPr/>
          </p:nvSpPr>
          <p:spPr>
            <a:xfrm flipH="1" flipV="1">
              <a:off x="4376" y="3384"/>
              <a:ext cx="1" cy="528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16" name="Freeform 6" title=""/>
            <p:cNvSpPr/>
            <p:nvPr/>
          </p:nvSpPr>
          <p:spPr bwMode="auto">
            <a:xfrm>
              <a:off x="3712" y="3432"/>
              <a:ext cx="664" cy="480"/>
            </a:xfrm>
            <a:custGeom>
              <a:gdLst>
                <a:gd name="GT0" fmla="+- l w 0"/>
                <a:gd name="GT1" fmla="+- t h 0"/>
              </a:gdLst>
              <a:cxnLst>
                <a:cxn ang="0">
                  <a:pos x="664" y="480"/>
                </a:cxn>
                <a:cxn ang="0">
                  <a:pos x="0" y="0"/>
                </a:cxn>
              </a:cxnLst>
              <a:rect l="l" t="t" r="GT0" b="GT1"/>
              <a:pathLst>
                <a:path w="664" h="480">
                  <a:moveTo>
                    <a:pt x="664" y="48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</p:spPr>
        </p:sp>
        <p:sp>
          <p:nvSpPr>
            <p:cNvPr id="43017" name="Text Box 7" title=""/>
            <p:cNvSpPr txBox="1"/>
            <p:nvPr/>
          </p:nvSpPr>
          <p:spPr>
            <a:xfrm>
              <a:off x="4032" y="2688"/>
              <a:ext cx="576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>
                <a:spcBef>
                  <a:spcPct val="50000"/>
                </a:spcBef>
              </a:pPr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(item)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18" name="Line 8" title=""/>
            <p:cNvSpPr/>
            <p:nvPr/>
          </p:nvSpPr>
          <p:spPr>
            <a:xfrm>
              <a:off x="3704" y="2808"/>
              <a:ext cx="1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19" name="Line 9" title=""/>
            <p:cNvSpPr/>
            <p:nvPr/>
          </p:nvSpPr>
          <p:spPr>
            <a:xfrm>
              <a:off x="3704" y="2808"/>
              <a:ext cx="672" cy="576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0" name="Line 10" title=""/>
            <p:cNvSpPr/>
            <p:nvPr/>
          </p:nvSpPr>
          <p:spPr>
            <a:xfrm>
              <a:off x="5048" y="2856"/>
              <a:ext cx="1" cy="576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1" name="Line 11" title=""/>
            <p:cNvSpPr/>
            <p:nvPr/>
          </p:nvSpPr>
          <p:spPr>
            <a:xfrm>
              <a:off x="4376" y="2808"/>
              <a:ext cx="672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2" name="Line 12" title=""/>
            <p:cNvSpPr/>
            <p:nvPr/>
          </p:nvSpPr>
          <p:spPr>
            <a:xfrm flipH="1" flipV="1">
              <a:off x="4424" y="2376"/>
              <a:ext cx="624" cy="480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3" name="Line 13" title=""/>
            <p:cNvSpPr/>
            <p:nvPr/>
          </p:nvSpPr>
          <p:spPr>
            <a:xfrm flipV="1">
              <a:off x="3704" y="2376"/>
              <a:ext cx="720" cy="432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4" name="Line 14" title=""/>
            <p:cNvSpPr/>
            <p:nvPr/>
          </p:nvSpPr>
          <p:spPr>
            <a:xfrm flipH="1">
              <a:off x="4376" y="2376"/>
              <a:ext cx="48" cy="432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5" name="Text Box 15" title=""/>
            <p:cNvSpPr txBox="1"/>
            <p:nvPr/>
          </p:nvSpPr>
          <p:spPr>
            <a:xfrm>
              <a:off x="3354" y="2688"/>
              <a:ext cx="312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(city)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26" name="Text Box 16" title=""/>
            <p:cNvSpPr txBox="1"/>
            <p:nvPr/>
          </p:nvSpPr>
          <p:spPr>
            <a:xfrm>
              <a:off x="4328" y="2160"/>
              <a:ext cx="212" cy="231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27" name="Line 17" title=""/>
            <p:cNvSpPr/>
            <p:nvPr/>
          </p:nvSpPr>
          <p:spPr>
            <a:xfrm flipV="1">
              <a:off x="3704" y="2808"/>
              <a:ext cx="672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8" name="Line 18" title=""/>
            <p:cNvSpPr/>
            <p:nvPr/>
          </p:nvSpPr>
          <p:spPr>
            <a:xfrm flipV="1">
              <a:off x="4376" y="2856"/>
              <a:ext cx="672" cy="528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miter lim="800000"/>
            </a:ln>
          </p:spPr>
        </p:sp>
        <p:sp>
          <p:nvSpPr>
            <p:cNvPr id="43029" name="Text Box 19" title=""/>
            <p:cNvSpPr txBox="1"/>
            <p:nvPr/>
          </p:nvSpPr>
          <p:spPr>
            <a:xfrm>
              <a:off x="5032" y="2688"/>
              <a:ext cx="344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(year)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30" name="Text Box 20" title=""/>
            <p:cNvSpPr txBox="1"/>
            <p:nvPr/>
          </p:nvSpPr>
          <p:spPr>
            <a:xfrm>
              <a:off x="3056" y="3360"/>
              <a:ext cx="640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(city, item)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31" name="Text Box 21" title=""/>
            <p:cNvSpPr txBox="1"/>
            <p:nvPr/>
          </p:nvSpPr>
          <p:spPr>
            <a:xfrm>
              <a:off x="4032" y="3360"/>
              <a:ext cx="632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(city, year)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32" name="Text Box 22" title=""/>
            <p:cNvSpPr txBox="1"/>
            <p:nvPr/>
          </p:nvSpPr>
          <p:spPr>
            <a:xfrm>
              <a:off x="4896" y="3360"/>
              <a:ext cx="672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(item, year)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  <p:sp>
          <p:nvSpPr>
            <p:cNvPr id="43033" name="Text Box 23" title=""/>
            <p:cNvSpPr txBox="1"/>
            <p:nvPr/>
          </p:nvSpPr>
          <p:spPr>
            <a:xfrm>
              <a:off x="3888" y="3936"/>
              <a:ext cx="960" cy="173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en-US" altLang="en-US" sz="2400" b="0" i="0" u="none" baseline="0">
                  <a:solidFill>
                    <a:schemeClr val="tx1"/>
                  </a:solidFill>
                  <a:effectLst/>
                  <a:latin typeface="Tahoma" pitchFamily="34" charset="0"/>
                </a:defRPr>
              </a:lvl5pPr>
            </a:lstStyle>
            <a:p>
              <a:pPr marL="0" lvl="0" indent="0" algn="r"/>
              <a:r>
                <a:rPr sz="1800">
                  <a:solidFill>
                    <a:srgbClr val="008484"/>
                  </a:solidFill>
                  <a:latin typeface="Times New Roman" pitchFamily="18" charset="0"/>
                </a:rPr>
                <a:t>(city, item, year)</a:t>
              </a:r>
              <a:endParaRPr sz="1800" u="sng">
                <a:solidFill>
                  <a:srgbClr val="008484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403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8ACF3D51-7F87-489F-A932-1C9FC3B390E4}" type="slidenum">
              <a:rPr sz="1200"/>
              <a:t>41</a:t>
            </a:fld>
            <a:endParaRPr sz="1200"/>
          </a:p>
        </p:txBody>
      </p:sp>
      <p:sp>
        <p:nvSpPr>
          <p:cNvPr id="44035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Indexing OLAP Data: </a:t>
            </a:r>
            <a:r>
              <a:rPr b="1"/>
              <a:t>Bitmap Index</a:t>
            </a:r>
            <a:endParaRPr sz="3200" b="1"/>
          </a:p>
        </p:txBody>
      </p:sp>
      <p:sp>
        <p:nvSpPr>
          <p:cNvPr id="44036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8534400" cy="27432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0" indent="-342900" eaLnBrk="1" hangingPunct="1"/>
            <a:r>
              <a:rPr sz="2000"/>
              <a:t>Index on a particular column</a:t>
            </a:r>
            <a:endParaRPr sz="2000"/>
          </a:p>
          <a:p>
            <a:pPr marL="342900" lvl="0" indent="-342900" eaLnBrk="1" hangingPunct="1"/>
            <a:r>
              <a:rPr sz="2000"/>
              <a:t>Each value in the column has a bit vector: bit-op is fast</a:t>
            </a:r>
            <a:endParaRPr sz="2000"/>
          </a:p>
          <a:p>
            <a:pPr marL="342900" lvl="0" indent="-342900" eaLnBrk="1" hangingPunct="1"/>
            <a:r>
              <a:rPr sz="2000"/>
              <a:t>The length of the bit vector: # of records in the base table</a:t>
            </a:r>
            <a:endParaRPr sz="2000"/>
          </a:p>
          <a:p>
            <a:pPr marL="342900" lvl="0" indent="-342900" eaLnBrk="1" hangingPunct="1"/>
            <a:r>
              <a:rPr sz="2000"/>
              <a:t>The </a:t>
            </a:r>
            <a:r>
              <a:rPr sz="2000" i="1"/>
              <a:t> i</a:t>
            </a:r>
            <a:r>
              <a:rPr sz="2000"/>
              <a:t>-th bit is set if the </a:t>
            </a:r>
            <a:r>
              <a:rPr sz="2000" i="1"/>
              <a:t> i</a:t>
            </a:r>
            <a:r>
              <a:rPr sz="2000"/>
              <a:t>-th row of the base table has the value for the indexed column</a:t>
            </a:r>
            <a:endParaRPr sz="2000"/>
          </a:p>
          <a:p>
            <a:pPr marL="342900" lvl="0" indent="-342900" eaLnBrk="1" hangingPunct="1"/>
            <a:r>
              <a:rPr sz="2000"/>
              <a:t>not suitable for high cardinality domains</a:t>
            </a:r>
            <a:endParaRPr sz="2000"/>
          </a:p>
          <a:p>
            <a:pPr marL="342900" lvl="1" indent="-342900" eaLnBrk="1" hangingPunct="1">
              <a:buClr>
                <a:schemeClr val="folHlink"/>
              </a:buClr>
              <a:buSzPct val="60000"/>
            </a:pPr>
            <a:r>
              <a:rPr sz="2000"/>
              <a:t>A recent bit compression technique, Word-Aligned Hybrid (WAH), makes it work for high cardinality domain as well [Wu, et al. TODS’06]</a:t>
            </a:r>
            <a:endParaRPr sz="2000"/>
          </a:p>
          <a:p>
            <a:pPr marL="342900" lvl="0" indent="-342900" eaLnBrk="1" hangingPunct="1"/>
            <a:endParaRPr sz="2000"/>
          </a:p>
        </p:txBody>
      </p:sp>
      <p:graphicFrame>
        <p:nvGraphicFramePr>
          <p:cNvPr id="44037" name="Object 4" title=""/>
          <p:cNvGraphicFramePr>
            <a:graphicFrameLocks noChangeAspect="1"/>
          </p:cNvGraphicFramePr>
          <p:nvPr/>
        </p:nvGraphicFramePr>
        <p:xfrm>
          <a:off x="228600" y="4419600"/>
          <a:ext cx="2571750" cy="20764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0" name="Worksheet" r:id="rId3" imgW="2571750" imgH="2076450" progId="Excel.Sheet.8">
                  <p:embed/>
                </p:oleObj>
              </mc:Choice>
              <mc:Fallback>
                <p:oleObj name="Worksheet" r:id="rId3" imgW="2571750" imgH="2076450" progId="Excel.Shee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" y="4419600"/>
                        <a:ext cx="2571750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5" title=""/>
          <p:cNvGraphicFramePr>
            <a:graphicFrameLocks noChangeAspect="1"/>
          </p:cNvGraphicFramePr>
          <p:nvPr/>
        </p:nvGraphicFramePr>
        <p:xfrm>
          <a:off x="6496050" y="4495800"/>
          <a:ext cx="2647950" cy="19812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1" name="Worksheet" r:id="rId5" imgW="2647950" imgH="1981200" progId="Excel.Sheet.8">
                  <p:embed/>
                </p:oleObj>
              </mc:Choice>
              <mc:Fallback>
                <p:oleObj name="Worksheet" r:id="rId5" imgW="2647950" imgH="1981200" progId="Excel.Shee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6050" y="4495800"/>
                        <a:ext cx="264795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6" title=""/>
          <p:cNvGraphicFramePr>
            <a:graphicFrameLocks noChangeAspect="1"/>
          </p:cNvGraphicFramePr>
          <p:nvPr/>
        </p:nvGraphicFramePr>
        <p:xfrm>
          <a:off x="2895600" y="4495800"/>
          <a:ext cx="3505200" cy="19812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2" name="Worksheet" r:id="rId7" imgW="3505200" imgH="1981200" progId="Excel.Sheet.8">
                  <p:embed/>
                </p:oleObj>
              </mc:Choice>
              <mc:Fallback>
                <p:oleObj name="Worksheet" r:id="rId7" imgW="3505200" imgH="1981200" progId="Excel.Shee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5600" y="4495800"/>
                        <a:ext cx="35052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 Box 7" title=""/>
          <p:cNvSpPr txBox="1"/>
          <p:nvPr/>
        </p:nvSpPr>
        <p:spPr>
          <a:xfrm>
            <a:off x="533400" y="3962400"/>
            <a:ext cx="151288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b="1">
                <a:latin typeface="Times New Roman" pitchFamily="18" charset="0"/>
              </a:rPr>
              <a:t>Base table</a:t>
            </a:r>
            <a:endParaRPr>
              <a:latin typeface="Times New Roman" pitchFamily="18" charset="0"/>
            </a:endParaRPr>
          </a:p>
        </p:txBody>
      </p:sp>
      <p:sp>
        <p:nvSpPr>
          <p:cNvPr id="44041" name="Text Box 8" title=""/>
          <p:cNvSpPr txBox="1"/>
          <p:nvPr/>
        </p:nvSpPr>
        <p:spPr>
          <a:xfrm>
            <a:off x="2971800" y="4038600"/>
            <a:ext cx="231933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b="1">
                <a:latin typeface="Times New Roman" pitchFamily="18" charset="0"/>
              </a:rPr>
              <a:t>Index on Region</a:t>
            </a:r>
            <a:endParaRPr>
              <a:latin typeface="Times New Roman" pitchFamily="18" charset="0"/>
            </a:endParaRPr>
          </a:p>
        </p:txBody>
      </p:sp>
      <p:sp>
        <p:nvSpPr>
          <p:cNvPr id="44042" name="Text Box 9" title=""/>
          <p:cNvSpPr txBox="1"/>
          <p:nvPr/>
        </p:nvSpPr>
        <p:spPr>
          <a:xfrm>
            <a:off x="6553200" y="4038600"/>
            <a:ext cx="2065338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/>
            <a:r>
              <a:rPr b="1">
                <a:latin typeface="Times New Roman" pitchFamily="18" charset="0"/>
              </a:rPr>
              <a:t>Index on Type</a:t>
            </a:r>
            <a:endParaRPr>
              <a:latin typeface="Times New Roman" pitchFamily="18" charset="0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505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C066C6F4-B5BB-4847-8EA3-0881E5D4509A}" type="slidenum">
              <a:rPr sz="1200"/>
              <a:t>42</a:t>
            </a:fld>
            <a:endParaRPr sz="1200"/>
          </a:p>
        </p:txBody>
      </p:sp>
      <p:pic>
        <p:nvPicPr>
          <p:cNvPr id="45059" name="Picture 4" descr="ji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6400"/>
            <a:ext cx="3048000" cy="4713288"/>
          </a:xfrm>
          <a:prstGeom prst="rect">
            <a:avLst/>
          </a:prstGeom>
          <a:noFill/>
          <a:ln>
            <a:noFill/>
            <a:miter lim="800000"/>
          </a:ln>
        </p:spPr>
      </p:pic>
      <p:sp>
        <p:nvSpPr>
          <p:cNvPr id="45060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560388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Indexing OLAP Data: </a:t>
            </a:r>
            <a:r>
              <a:rPr b="1"/>
              <a:t>Join Indices</a:t>
            </a:r>
            <a:endParaRPr b="1"/>
          </a:p>
        </p:txBody>
      </p:sp>
      <p:sp>
        <p:nvSpPr>
          <p:cNvPr id="45061" name="Rectangle 3" title=""/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6096000" cy="51054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/>
            <a:r>
              <a:rPr sz="2000"/>
              <a:t>Join index: JI(R-id, S-id) where R (R-id, …) </a:t>
            </a:r>
            <a:r>
              <a:rPr sz="2000">
                <a:sym typeface="MT Extra" pitchFamily="18" charset="2"/>
              </a:rPr>
              <a:t> S (S-id, …)</a:t>
            </a:r>
            <a:endParaRPr sz="2000">
              <a:sym typeface="MT Extra" pitchFamily="18" charset="2"/>
            </a:endParaRPr>
          </a:p>
          <a:p>
            <a:pPr lvl="0" eaLnBrk="1" hangingPunct="1"/>
            <a:r>
              <a:rPr sz="2000"/>
              <a:t>Traditional indices map the values to a list of record ids</a:t>
            </a:r>
            <a:endParaRPr sz="2000"/>
          </a:p>
          <a:p>
            <a:pPr lvl="1" eaLnBrk="1" hangingPunct="1"/>
            <a:r>
              <a:rPr sz="2000"/>
              <a:t>It materializes relational join in JI file and speeds up relational join </a:t>
            </a:r>
            <a:endParaRPr sz="2000"/>
          </a:p>
          <a:p>
            <a:pPr lvl="0" eaLnBrk="1" hangingPunct="1"/>
            <a:r>
              <a:rPr sz="2000"/>
              <a:t>In data warehouses, join index relates the values of the </a:t>
            </a:r>
            <a:r>
              <a:rPr sz="2000" u="sng">
                <a:solidFill>
                  <a:schemeClr val="hlink"/>
                </a:solidFill>
              </a:rPr>
              <a:t>dimensions</a:t>
            </a:r>
            <a:r>
              <a:rPr sz="2000"/>
              <a:t> of a start schema to </a:t>
            </a:r>
            <a:r>
              <a:rPr sz="2000" u="sng">
                <a:solidFill>
                  <a:schemeClr val="hlink"/>
                </a:solidFill>
              </a:rPr>
              <a:t>rows</a:t>
            </a:r>
            <a:r>
              <a:rPr sz="2000"/>
              <a:t> in the fact table.</a:t>
            </a:r>
            <a:endParaRPr sz="2000"/>
          </a:p>
          <a:p>
            <a:pPr lvl="1" eaLnBrk="1" hangingPunct="1"/>
            <a:r>
              <a:rPr sz="2000"/>
              <a:t>E.g. fact table: </a:t>
            </a:r>
            <a:r>
              <a:rPr sz="2000" i="1"/>
              <a:t>Sales </a:t>
            </a:r>
            <a:r>
              <a:rPr sz="2000"/>
              <a:t>and two dimensions </a:t>
            </a:r>
            <a:r>
              <a:rPr sz="2000" i="1"/>
              <a:t>city</a:t>
            </a:r>
            <a:r>
              <a:rPr sz="2000"/>
              <a:t> and </a:t>
            </a:r>
            <a:r>
              <a:rPr sz="2000" i="1"/>
              <a:t>product</a:t>
            </a:r>
            <a:endParaRPr sz="2000"/>
          </a:p>
          <a:p>
            <a:pPr lvl="2" eaLnBrk="1" hangingPunct="1"/>
            <a:r>
              <a:rPr sz="2000"/>
              <a:t>A join index on </a:t>
            </a:r>
            <a:r>
              <a:rPr sz="2000" i="1"/>
              <a:t>city</a:t>
            </a:r>
            <a:r>
              <a:rPr sz="2000"/>
              <a:t> maintains for each distinct city a list of R-IDs of the tuples recording the Sales in the city </a:t>
            </a:r>
            <a:endParaRPr sz="2000"/>
          </a:p>
          <a:p>
            <a:pPr lvl="1" eaLnBrk="1" hangingPunct="1"/>
            <a:r>
              <a:rPr sz="2000"/>
              <a:t>Join indices can span multiple dimensions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608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E33386E5-2C54-4E6B-95D7-8FA924A521E6}" type="slidenum">
              <a:rPr sz="1200"/>
              <a:t>43</a:t>
            </a:fld>
            <a:endParaRPr sz="1200"/>
          </a:p>
        </p:txBody>
      </p:sp>
      <p:sp>
        <p:nvSpPr>
          <p:cNvPr id="46083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560388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Efficient Processing OLAP Queries</a:t>
            </a:r>
          </a:p>
        </p:txBody>
      </p:sp>
      <p:sp>
        <p:nvSpPr>
          <p:cNvPr id="46084" name="Rectangle 3" title=""/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8686800" cy="52578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rPr sz="1800" b="1"/>
              <a:t>Determine which operations</a:t>
            </a:r>
            <a:r>
              <a:rPr sz="1800"/>
              <a:t> should be performed on the available cuboids</a:t>
            </a:r>
            <a:endParaRPr sz="1800"/>
          </a:p>
          <a:p>
            <a:pPr lvl="1" eaLnBrk="1" hangingPunct="1">
              <a:lnSpc>
                <a:spcPct val="140000"/>
              </a:lnSpc>
            </a:pPr>
            <a:r>
              <a:rPr sz="1800"/>
              <a:t>Transform </a:t>
            </a:r>
            <a:r>
              <a:rPr sz="1800">
                <a:solidFill>
                  <a:schemeClr val="folHlink"/>
                </a:solidFill>
              </a:rPr>
              <a:t>drill</a:t>
            </a:r>
            <a:r>
              <a:rPr sz="1800"/>
              <a:t>, </a:t>
            </a:r>
            <a:r>
              <a:rPr sz="1800">
                <a:solidFill>
                  <a:schemeClr val="folHlink"/>
                </a:solidFill>
              </a:rPr>
              <a:t>roll</a:t>
            </a:r>
            <a:r>
              <a:rPr sz="1800"/>
              <a:t>, etc. into corresponding SQL and/or OLAP operations, e.g., </a:t>
            </a:r>
            <a:r>
              <a:rPr sz="1800">
                <a:solidFill>
                  <a:schemeClr val="folHlink"/>
                </a:solidFill>
              </a:rPr>
              <a:t>dice</a:t>
            </a:r>
            <a:r>
              <a:rPr sz="1800"/>
              <a:t> = selection + projection</a:t>
            </a:r>
            <a:endParaRPr sz="1800"/>
          </a:p>
          <a:p>
            <a:pPr lvl="0" eaLnBrk="1" hangingPunct="1">
              <a:lnSpc>
                <a:spcPct val="140000"/>
              </a:lnSpc>
            </a:pPr>
            <a:r>
              <a:rPr sz="1800" b="1"/>
              <a:t>Determine which materialized cuboid(s)</a:t>
            </a:r>
            <a:r>
              <a:rPr sz="1800"/>
              <a:t> should be selected for OLAP op.</a:t>
            </a:r>
            <a:endParaRPr sz="1800"/>
          </a:p>
          <a:p>
            <a:pPr lvl="1" eaLnBrk="1" hangingPunct="1">
              <a:lnSpc>
                <a:spcPct val="140000"/>
              </a:lnSpc>
            </a:pPr>
            <a:r>
              <a:rPr sz="1800"/>
              <a:t>Let the query to be processed be on {</a:t>
            </a:r>
            <a:r>
              <a:rPr sz="1800" i="1"/>
              <a:t>brand, province_or_state</a:t>
            </a:r>
            <a:r>
              <a:rPr sz="1800"/>
              <a:t>} with the condition “</a:t>
            </a:r>
            <a:r>
              <a:rPr sz="1800" i="1"/>
              <a:t>year = 2004</a:t>
            </a:r>
            <a:r>
              <a:rPr sz="1800"/>
              <a:t>”, and there are 4 materialized cuboids available:</a:t>
            </a:r>
            <a:endParaRPr sz="1800"/>
          </a:p>
          <a:p>
            <a:pPr lvl="2" eaLnBrk="1" hangingPunct="1">
              <a:lnSpc>
                <a:spcPct val="140000"/>
              </a:lnSpc>
              <a:buNone/>
            </a:pPr>
            <a:r>
              <a:rPr sz="1800"/>
              <a:t>1) {</a:t>
            </a:r>
            <a:r>
              <a:rPr sz="1800" i="1"/>
              <a:t>year, item_name, city</a:t>
            </a:r>
            <a:r>
              <a:rPr sz="1800"/>
              <a:t>}  </a:t>
            </a:r>
            <a:endParaRPr sz="1800"/>
          </a:p>
          <a:p>
            <a:pPr lvl="2" eaLnBrk="1" hangingPunct="1">
              <a:lnSpc>
                <a:spcPct val="140000"/>
              </a:lnSpc>
              <a:buNone/>
            </a:pPr>
            <a:r>
              <a:rPr sz="1800"/>
              <a:t>2) {</a:t>
            </a:r>
            <a:r>
              <a:rPr sz="1800" i="1"/>
              <a:t>year, brand, country</a:t>
            </a:r>
            <a:r>
              <a:rPr sz="1800"/>
              <a:t>}</a:t>
            </a:r>
            <a:endParaRPr sz="1800"/>
          </a:p>
          <a:p>
            <a:pPr lvl="2" eaLnBrk="1" hangingPunct="1">
              <a:lnSpc>
                <a:spcPct val="140000"/>
              </a:lnSpc>
              <a:buNone/>
            </a:pPr>
            <a:r>
              <a:rPr sz="1800"/>
              <a:t>3) {</a:t>
            </a:r>
            <a:r>
              <a:rPr sz="1800" i="1"/>
              <a:t>year, brand, province_or_state</a:t>
            </a:r>
            <a:r>
              <a:rPr sz="1800"/>
              <a:t>}</a:t>
            </a:r>
            <a:endParaRPr sz="1800"/>
          </a:p>
          <a:p>
            <a:pPr lvl="2" eaLnBrk="1" hangingPunct="1">
              <a:lnSpc>
                <a:spcPct val="140000"/>
              </a:lnSpc>
              <a:buNone/>
            </a:pPr>
            <a:r>
              <a:rPr sz="1800"/>
              <a:t>4) {</a:t>
            </a:r>
            <a:r>
              <a:rPr sz="1800" i="1"/>
              <a:t>item_name, province_or_state</a:t>
            </a:r>
            <a:r>
              <a:rPr sz="1800"/>
              <a:t>}  where </a:t>
            </a:r>
            <a:r>
              <a:rPr sz="1800" i="1"/>
              <a:t>year = 2004</a:t>
            </a:r>
            <a:endParaRPr sz="1800" i="1"/>
          </a:p>
          <a:p>
            <a:pPr lvl="2" eaLnBrk="1" hangingPunct="1">
              <a:lnSpc>
                <a:spcPct val="140000"/>
              </a:lnSpc>
              <a:buNone/>
            </a:pPr>
            <a:r>
              <a:rPr sz="1800"/>
              <a:t>Which should be selected to process the query?</a:t>
            </a:r>
            <a:endParaRPr sz="1800"/>
          </a:p>
          <a:p>
            <a:pPr lvl="0" eaLnBrk="1" hangingPunct="1">
              <a:lnSpc>
                <a:spcPct val="140000"/>
              </a:lnSpc>
            </a:pPr>
            <a:r>
              <a:rPr sz="1800"/>
              <a:t>Explore indexing structures and compressed vs. dense array structs in MOLAP</a:t>
            </a:r>
            <a:endParaRPr sz="18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710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83DFBCBE-BB52-4AE1-A998-96C42DF9C711}" type="slidenum">
              <a:rPr sz="1200"/>
              <a:t>44</a:t>
            </a:fld>
            <a:endParaRPr sz="1200"/>
          </a:p>
        </p:txBody>
      </p:sp>
      <p:sp>
        <p:nvSpPr>
          <p:cNvPr id="47107" name="Rectangle 2" title=""/>
          <p:cNvSpPr>
            <a:spLocks noGrp="1"/>
          </p:cNvSpPr>
          <p:nvPr>
            <p:ph type="title"/>
          </p:nvPr>
        </p:nvSpPr>
        <p:spPr>
          <a:xfrm>
            <a:off x="531813" y="304800"/>
            <a:ext cx="8231187" cy="560388"/>
          </a:xfrm>
          <a:noFill/>
          <a:ln>
            <a:miter lim="800000"/>
          </a:ln>
        </p:spPr>
        <p:txBody>
          <a:bodyPr wrap="square" lIns="92075" tIns="46038" rIns="92075" bIns="46038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OLAP Server Architectures</a:t>
            </a:r>
          </a:p>
        </p:txBody>
      </p:sp>
      <p:sp>
        <p:nvSpPr>
          <p:cNvPr id="47108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2000" u="sng">
                <a:solidFill>
                  <a:schemeClr val="hlink"/>
                </a:solidFill>
              </a:rPr>
              <a:t>Relational OLAP (ROLAP)</a:t>
            </a:r>
            <a:r>
              <a:rPr sz="2000"/>
              <a:t> 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Use relational or extended-relational DBMS to store and manage warehouse data and OLAP middle ware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Include optimization of DBMS backend, implementation of aggregation navigation logic, and additional tools and services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Greater scalability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 u="sng">
                <a:solidFill>
                  <a:schemeClr val="hlink"/>
                </a:solidFill>
              </a:rPr>
              <a:t>Multidimensional OLAP (MOLAP)</a:t>
            </a:r>
            <a:r>
              <a:rPr sz="2000">
                <a:solidFill>
                  <a:schemeClr val="hlink"/>
                </a:solidFill>
              </a:rPr>
              <a:t> </a:t>
            </a:r>
            <a:endParaRPr sz="2000">
              <a:solidFill>
                <a:schemeClr val="hlink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sz="2000"/>
              <a:t>Sparse array-based multidimensional storage engine 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Fast indexing to pre-computed summarized data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 u="sng">
                <a:solidFill>
                  <a:schemeClr val="hlink"/>
                </a:solidFill>
              </a:rPr>
              <a:t>Hybrid OLAP (HOLAP)</a:t>
            </a:r>
            <a:r>
              <a:rPr sz="2000">
                <a:solidFill>
                  <a:schemeClr val="hlink"/>
                </a:solidFill>
              </a:rPr>
              <a:t> </a:t>
            </a:r>
            <a:r>
              <a:rPr sz="2000"/>
              <a:t>(e.g., Microsoft SQLServer)</a:t>
            </a:r>
            <a:endParaRPr sz="2000"/>
          </a:p>
          <a:p>
            <a:pPr lvl="1" eaLnBrk="1" hangingPunct="1">
              <a:lnSpc>
                <a:spcPct val="110000"/>
              </a:lnSpc>
            </a:pPr>
            <a:r>
              <a:rPr sz="2000"/>
              <a:t>Flexibility, e.g., low level: relational, high-level: array</a:t>
            </a:r>
            <a:endParaRPr sz="2000"/>
          </a:p>
          <a:p>
            <a:pPr lvl="0" eaLnBrk="1" hangingPunct="1">
              <a:lnSpc>
                <a:spcPct val="110000"/>
              </a:lnSpc>
            </a:pPr>
            <a:r>
              <a:rPr sz="2000">
                <a:solidFill>
                  <a:schemeClr val="hlink"/>
                </a:solidFill>
              </a:rPr>
              <a:t>Specialized SQL servers </a:t>
            </a:r>
            <a:r>
              <a:rPr sz="2000"/>
              <a:t>(e.g., Redbricks) </a:t>
            </a:r>
            <a:endParaRPr sz="2000">
              <a:solidFill>
                <a:schemeClr val="hlink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sz="2000"/>
              <a:t>Specialized support for SQL queries over star/snowflake schemas</a:t>
            </a:r>
            <a:endParaRPr sz="2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813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A02230AE-1F25-4642-86B0-64259A64A183}" type="slidenum">
              <a:rPr sz="1200"/>
              <a:t>45</a:t>
            </a:fld>
            <a:endParaRPr sz="1200"/>
          </a:p>
        </p:txBody>
      </p:sp>
      <p:sp>
        <p:nvSpPr>
          <p:cNvPr id="48131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48132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3820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t>Data Warehouse: Basic Concepts</a:t>
            </a:r>
          </a:p>
          <a:p>
            <a:pPr lvl="0" eaLnBrk="1" hangingPunct="1">
              <a:lnSpc>
                <a:spcPct val="140000"/>
              </a:lnSpc>
            </a:pPr>
            <a:r>
              <a:t>Data Warehouse Modeling: Data Cube and OLAP</a:t>
            </a:r>
          </a:p>
          <a:p>
            <a:pPr lvl="0" eaLnBrk="1" hangingPunct="1">
              <a:lnSpc>
                <a:spcPct val="140000"/>
              </a:lnSpc>
            </a:pPr>
            <a:r>
              <a:t>Data Warehouse Design and Usage</a:t>
            </a:r>
          </a:p>
          <a:p>
            <a:pPr lvl="0" eaLnBrk="1" hangingPunct="1">
              <a:lnSpc>
                <a:spcPct val="140000"/>
              </a:lnSpc>
            </a:pPr>
            <a:r>
              <a:t>Data Warehouse Implementation</a:t>
            </a:r>
          </a:p>
          <a:p>
            <a:pPr lvl="0" eaLnBrk="1" hangingPunct="1">
              <a:lnSpc>
                <a:spcPct val="140000"/>
              </a:lnSpc>
            </a:pPr>
            <a:r>
              <a:t>Data Generalization by Attribute-Oriented Induction</a:t>
            </a:r>
          </a:p>
          <a:p>
            <a:pPr lvl="0" eaLnBrk="1" hangingPunct="1">
              <a:lnSpc>
                <a:spcPct val="140000"/>
              </a:lnSpc>
            </a:pPr>
            <a:r>
              <a:t>Summary</a:t>
            </a:r>
          </a:p>
        </p:txBody>
      </p:sp>
      <p:sp>
        <p:nvSpPr>
          <p:cNvPr id="48133" name="AutoShape 4" title=""/>
          <p:cNvSpPr/>
          <p:nvPr/>
        </p:nvSpPr>
        <p:spPr>
          <a:xfrm rot="9060000">
            <a:off x="7772400" y="4191000"/>
            <a:ext cx="3810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4915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BA985465-4F69-4408-8CC1-EF84E96F05AD}" type="slidenum">
              <a:rPr sz="1200"/>
              <a:t>46</a:t>
            </a:fld>
            <a:endParaRPr sz="1200"/>
          </a:p>
        </p:txBody>
      </p:sp>
      <p:sp>
        <p:nvSpPr>
          <p:cNvPr id="49155" name="Rectangle 2" title=""/>
          <p:cNvSpPr>
            <a:spLocks noGrp="1"/>
          </p:cNvSpPr>
          <p:nvPr>
            <p:ph type="title"/>
          </p:nvPr>
        </p:nvSpPr>
        <p:spPr>
          <a:xfrm>
            <a:off x="1200150" y="381000"/>
            <a:ext cx="6661150" cy="6096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>
                <a:ea typeface="SimSun" pitchFamily="2" charset="-122"/>
              </a:rPr>
              <a:t>Attribute-Oriented Induction</a:t>
            </a:r>
            <a:endParaRPr lang="en-US" altLang="zh-CN">
              <a:ea typeface="SimSun" pitchFamily="2" charset="-122"/>
            </a:endParaRPr>
          </a:p>
        </p:txBody>
      </p:sp>
      <p:sp>
        <p:nvSpPr>
          <p:cNvPr id="49156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382000" cy="4878388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Proposed in 1989 (KDD ‘89 workshop)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Not confined to categorical data nor particular measures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How it is done?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Collect the task-relevant data (</a:t>
            </a:r>
            <a:r>
              <a:rPr lang="en-US" altLang="zh-CN" sz="2400" i="1">
                <a:ea typeface="SimSun" pitchFamily="2" charset="-122"/>
              </a:rPr>
              <a:t>initial relation</a:t>
            </a:r>
            <a:r>
              <a:rPr lang="en-US" altLang="zh-CN" sz="2400">
                <a:ea typeface="SimSun" pitchFamily="2" charset="-122"/>
              </a:rPr>
              <a:t>) using a relational database query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Perform generalization by </a:t>
            </a:r>
            <a:r>
              <a:rPr lang="en-US" altLang="zh-CN" sz="2400" u="sng">
                <a:ea typeface="SimSun" pitchFamily="2" charset="-122"/>
              </a:rPr>
              <a:t>attribute removal</a:t>
            </a:r>
            <a:r>
              <a:rPr lang="en-US" altLang="zh-CN" sz="2400">
                <a:ea typeface="SimSun" pitchFamily="2" charset="-122"/>
              </a:rPr>
              <a:t> or </a:t>
            </a:r>
            <a:r>
              <a:rPr lang="en-US" altLang="zh-CN" sz="2400" u="sng">
                <a:ea typeface="SimSun" pitchFamily="2" charset="-122"/>
              </a:rPr>
              <a:t>attribute generalization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Apply aggregation by merging identical, generalized tuples and accumulating their respective counts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>
                <a:ea typeface="SimSun" pitchFamily="2" charset="-122"/>
              </a:rPr>
              <a:t>Interaction with users for knowledge presentation</a:t>
            </a:r>
            <a:endParaRPr lang="en-US" altLang="zh-CN" sz="2400"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017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6CBA7F54-BC4E-482E-AE93-C40B994B8370}" type="slidenum">
              <a:rPr sz="1200"/>
              <a:t>47</a:t>
            </a:fld>
            <a:endParaRPr sz="1200"/>
          </a:p>
        </p:txBody>
      </p:sp>
      <p:sp>
        <p:nvSpPr>
          <p:cNvPr id="50179" name="Rectangle 2" title="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096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>
                <a:ea typeface="SimSun" pitchFamily="2" charset="-122"/>
              </a:rPr>
              <a:t>Attribute-Oriented Induction: An Example</a:t>
            </a:r>
            <a:endParaRPr lang="en-US" altLang="zh-CN">
              <a:ea typeface="SimSun" pitchFamily="2" charset="-122"/>
            </a:endParaRPr>
          </a:p>
        </p:txBody>
      </p:sp>
      <p:sp>
        <p:nvSpPr>
          <p:cNvPr id="50180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305800" cy="53340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  <a:buNone/>
            </a:pPr>
            <a:r>
              <a:rPr lang="en-US" altLang="zh-CN" sz="2400">
                <a:solidFill>
                  <a:srgbClr val="006666"/>
                </a:solidFill>
                <a:latin typeface="Arial"/>
                <a:ea typeface="SimSun" pitchFamily="2" charset="-122"/>
              </a:rPr>
              <a:t>Example:  Describe general characteristics of graduate students in the University database</a:t>
            </a:r>
            <a:endParaRPr lang="en-US" altLang="zh-CN" sz="2400">
              <a:latin typeface="Arial"/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>
                <a:latin typeface="Arial"/>
                <a:ea typeface="SimSun" pitchFamily="2" charset="-122"/>
              </a:rPr>
              <a:t>Step 1. Fetch relevant set of data using an SQL statement, e.g.,</a:t>
            </a:r>
            <a:endParaRPr lang="en-US" altLang="zh-CN" sz="2400">
              <a:latin typeface="Arial"/>
              <a:ea typeface="SimSun" pitchFamily="2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b="1">
                <a:solidFill>
                  <a:schemeClr val="folHlink"/>
                </a:solidFill>
                <a:latin typeface="Arial"/>
                <a:ea typeface="SimSun" pitchFamily="2" charset="-122"/>
              </a:rPr>
              <a:t>Select</a:t>
            </a:r>
            <a:r>
              <a:rPr lang="en-US" altLang="zh-CN">
                <a:latin typeface="Arial"/>
                <a:ea typeface="SimSun" pitchFamily="2" charset="-122"/>
              </a:rPr>
              <a:t> * (i.e., name, gender, major, birth_place, birth_date, residence, phone#, gpa)</a:t>
            </a:r>
            <a:endParaRPr lang="en-US" altLang="zh-CN">
              <a:latin typeface="Arial"/>
              <a:ea typeface="SimSun" pitchFamily="2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b="1">
                <a:solidFill>
                  <a:schemeClr val="folHlink"/>
                </a:solidFill>
                <a:latin typeface="Arial"/>
                <a:ea typeface="SimSun" pitchFamily="2" charset="-122"/>
              </a:rPr>
              <a:t>from</a:t>
            </a:r>
            <a:r>
              <a:rPr lang="en-US" altLang="zh-CN">
                <a:latin typeface="Arial"/>
                <a:ea typeface="SimSun" pitchFamily="2" charset="-122"/>
              </a:rPr>
              <a:t> student</a:t>
            </a:r>
            <a:endParaRPr lang="en-US" altLang="zh-CN">
              <a:latin typeface="Arial"/>
              <a:ea typeface="SimSun" pitchFamily="2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b="1">
                <a:solidFill>
                  <a:schemeClr val="folHlink"/>
                </a:solidFill>
                <a:latin typeface="Arial"/>
                <a:ea typeface="SimSun" pitchFamily="2" charset="-122"/>
              </a:rPr>
              <a:t>where </a:t>
            </a:r>
            <a:r>
              <a:rPr lang="en-US" altLang="zh-CN">
                <a:latin typeface="Arial"/>
                <a:ea typeface="SimSun" pitchFamily="2" charset="-122"/>
              </a:rPr>
              <a:t> student_status in {“Msc”, “MBA”, “PhD” }</a:t>
            </a:r>
            <a:endParaRPr lang="en-US" altLang="zh-CN">
              <a:latin typeface="Arial"/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>
                <a:latin typeface="Arial"/>
                <a:ea typeface="SimSun" pitchFamily="2" charset="-122"/>
              </a:rPr>
              <a:t>Step 2. Perform attribute-oriented induction</a:t>
            </a:r>
            <a:endParaRPr lang="en-US" altLang="zh-CN" sz="2400">
              <a:latin typeface="Arial"/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>
                <a:latin typeface="Arial"/>
                <a:ea typeface="SimSun" pitchFamily="2" charset="-122"/>
              </a:rPr>
              <a:t>Step 3. Present results in generalized relation, cross-tab, or rule forms</a:t>
            </a:r>
            <a:endParaRPr lang="zh-CN" altLang="en-US" sz="2400">
              <a:latin typeface="Arial"/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120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30CAC4C5-2D4E-4B66-91DF-B1C09E21252D}" type="slidenum">
              <a:rPr sz="1200"/>
              <a:t>48</a:t>
            </a:fld>
            <a:endParaRPr sz="1200"/>
          </a:p>
        </p:txBody>
      </p:sp>
      <p:sp>
        <p:nvSpPr>
          <p:cNvPr id="51203" name="Rectangle 2" title=""/>
          <p:cNvSpPr>
            <a:spLocks noGrp="1"/>
          </p:cNvSpPr>
          <p:nvPr>
            <p:ph type="title"/>
          </p:nvPr>
        </p:nvSpPr>
        <p:spPr>
          <a:xfrm>
            <a:off x="457200" y="463550"/>
            <a:ext cx="8154988" cy="3683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 sz="3200">
                <a:ea typeface="SimSun" pitchFamily="2" charset="-122"/>
              </a:rPr>
              <a:t>Class Characterization: An Example</a:t>
            </a:r>
            <a:endParaRPr lang="en-US" altLang="zh-CN" sz="2400">
              <a:ea typeface="SimSun" pitchFamily="2" charset="-122"/>
            </a:endParaRPr>
          </a:p>
        </p:txBody>
      </p:sp>
      <p:graphicFrame>
        <p:nvGraphicFramePr>
          <p:cNvPr id="51204" name="Object 3" title=""/>
          <p:cNvGraphicFramePr>
            <a:graphicFrameLocks noChangeAspect="1"/>
          </p:cNvGraphicFramePr>
          <p:nvPr/>
        </p:nvGraphicFramePr>
        <p:xfrm>
          <a:off x="838200" y="1447800"/>
          <a:ext cx="7769225" cy="23749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3" name="Document" r:id="rId3" imgW="7769225" imgH="2374900" progId="Word.Document.8">
                  <p:embed/>
                </p:oleObj>
              </mc:Choice>
              <mc:Fallback>
                <p:oleObj name="Document" r:id="rId3" imgW="7769225" imgH="23749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1447800"/>
                        <a:ext cx="7769225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Line 4" title=""/>
          <p:cNvSpPr/>
          <p:nvPr/>
        </p:nvSpPr>
        <p:spPr>
          <a:xfrm flipH="1">
            <a:off x="19764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06" name="Line 5" title=""/>
          <p:cNvSpPr/>
          <p:nvPr/>
        </p:nvSpPr>
        <p:spPr>
          <a:xfrm flipH="1">
            <a:off x="26622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07" name="Line 6" title=""/>
          <p:cNvSpPr/>
          <p:nvPr/>
        </p:nvSpPr>
        <p:spPr>
          <a:xfrm flipH="1">
            <a:off x="34242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08" name="Line 7" title=""/>
          <p:cNvSpPr/>
          <p:nvPr/>
        </p:nvSpPr>
        <p:spPr>
          <a:xfrm flipH="1">
            <a:off x="47196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09" name="Line 8" title=""/>
          <p:cNvSpPr/>
          <p:nvPr/>
        </p:nvSpPr>
        <p:spPr>
          <a:xfrm flipH="1">
            <a:off x="57102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0" name="Line 9" title=""/>
          <p:cNvSpPr/>
          <p:nvPr/>
        </p:nvSpPr>
        <p:spPr>
          <a:xfrm flipH="1">
            <a:off x="70818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1" name="Line 10" title=""/>
          <p:cNvSpPr/>
          <p:nvPr/>
        </p:nvSpPr>
        <p:spPr>
          <a:xfrm flipH="1">
            <a:off x="79962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2" name="Line 11" title=""/>
          <p:cNvSpPr/>
          <p:nvPr/>
        </p:nvSpPr>
        <p:spPr>
          <a:xfrm flipH="1">
            <a:off x="9096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3" name="Line 12" title=""/>
          <p:cNvSpPr/>
          <p:nvPr/>
        </p:nvSpPr>
        <p:spPr>
          <a:xfrm flipH="1">
            <a:off x="8605838" y="1447800"/>
            <a:ext cx="0" cy="2133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graphicFrame>
        <p:nvGraphicFramePr>
          <p:cNvPr id="51214" name="Object 13" title=""/>
          <p:cNvGraphicFramePr>
            <a:graphicFrameLocks noChangeAspect="1"/>
          </p:cNvGraphicFramePr>
          <p:nvPr/>
        </p:nvGraphicFramePr>
        <p:xfrm>
          <a:off x="1600200" y="3657600"/>
          <a:ext cx="6227763" cy="13589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4" name="Document" r:id="rId5" imgW="6227763" imgH="1358900" progId="Word.Document.8">
                  <p:embed/>
                </p:oleObj>
              </mc:Choice>
              <mc:Fallback>
                <p:oleObj name="Document" r:id="rId5" imgW="6227763" imgH="13589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200" y="3657600"/>
                        <a:ext cx="6227763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Line 14" title=""/>
          <p:cNvSpPr/>
          <p:nvPr/>
        </p:nvSpPr>
        <p:spPr>
          <a:xfrm flipH="1">
            <a:off x="16764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6" name="Line 15" title=""/>
          <p:cNvSpPr/>
          <p:nvPr/>
        </p:nvSpPr>
        <p:spPr>
          <a:xfrm flipH="1">
            <a:off x="23622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7" name="Line 16" title=""/>
          <p:cNvSpPr/>
          <p:nvPr/>
        </p:nvSpPr>
        <p:spPr>
          <a:xfrm flipH="1">
            <a:off x="30480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8" name="Line 17" title=""/>
          <p:cNvSpPr/>
          <p:nvPr/>
        </p:nvSpPr>
        <p:spPr>
          <a:xfrm flipH="1">
            <a:off x="41910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19" name="Line 18" title=""/>
          <p:cNvSpPr/>
          <p:nvPr/>
        </p:nvSpPr>
        <p:spPr>
          <a:xfrm flipH="1">
            <a:off x="51816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0" name="Line 19" title=""/>
          <p:cNvSpPr/>
          <p:nvPr/>
        </p:nvSpPr>
        <p:spPr>
          <a:xfrm flipH="1">
            <a:off x="61722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1" name="Line 20" title=""/>
          <p:cNvSpPr/>
          <p:nvPr/>
        </p:nvSpPr>
        <p:spPr>
          <a:xfrm flipH="1">
            <a:off x="72390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2" name="Line 21" title=""/>
          <p:cNvSpPr/>
          <p:nvPr/>
        </p:nvSpPr>
        <p:spPr>
          <a:xfrm flipH="1">
            <a:off x="7848600" y="3657600"/>
            <a:ext cx="0" cy="9906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3" name="Line 22" title=""/>
          <p:cNvSpPr/>
          <p:nvPr/>
        </p:nvSpPr>
        <p:spPr>
          <a:xfrm>
            <a:off x="1676400" y="3886200"/>
            <a:ext cx="61722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graphicFrame>
        <p:nvGraphicFramePr>
          <p:cNvPr id="51224" name="Object 23" title=""/>
          <p:cNvGraphicFramePr>
            <a:graphicFrameLocks noChangeAspect="1"/>
          </p:cNvGraphicFramePr>
          <p:nvPr/>
        </p:nvGraphicFramePr>
        <p:xfrm>
          <a:off x="2663825" y="4727575"/>
          <a:ext cx="4321175" cy="1887538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5" name="Document" r:id="rId7" imgW="4321175" imgH="1887538" progId="Word.Document.8">
                  <p:embed/>
                </p:oleObj>
              </mc:Choice>
              <mc:Fallback>
                <p:oleObj name="Document" r:id="rId7" imgW="4321175" imgH="1887538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3825" y="4727575"/>
                        <a:ext cx="4321175" cy="1887538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5" name="Line 24" title=""/>
          <p:cNvSpPr/>
          <p:nvPr/>
        </p:nvSpPr>
        <p:spPr>
          <a:xfrm flipH="1">
            <a:off x="5029200" y="4724400"/>
            <a:ext cx="0" cy="1600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6" name="Line 25" title=""/>
          <p:cNvSpPr/>
          <p:nvPr/>
        </p:nvSpPr>
        <p:spPr>
          <a:xfrm flipH="1">
            <a:off x="4267200" y="4724400"/>
            <a:ext cx="0" cy="1600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7" name="Line 26" title=""/>
          <p:cNvSpPr/>
          <p:nvPr/>
        </p:nvSpPr>
        <p:spPr>
          <a:xfrm flipH="1">
            <a:off x="6172200" y="4724400"/>
            <a:ext cx="0" cy="1600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8" name="Line 27" title=""/>
          <p:cNvSpPr/>
          <p:nvPr/>
        </p:nvSpPr>
        <p:spPr>
          <a:xfrm flipH="1">
            <a:off x="7010400" y="4724400"/>
            <a:ext cx="0" cy="1600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29" name="Line 28" title=""/>
          <p:cNvSpPr/>
          <p:nvPr/>
        </p:nvSpPr>
        <p:spPr>
          <a:xfrm>
            <a:off x="2743200" y="5410200"/>
            <a:ext cx="42672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30" name="Line 29" title=""/>
          <p:cNvSpPr/>
          <p:nvPr/>
        </p:nvSpPr>
        <p:spPr>
          <a:xfrm>
            <a:off x="2743200" y="4724400"/>
            <a:ext cx="1524000" cy="6858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31" name="Line 30" title=""/>
          <p:cNvSpPr/>
          <p:nvPr/>
        </p:nvSpPr>
        <p:spPr>
          <a:xfrm>
            <a:off x="2743200" y="5943600"/>
            <a:ext cx="42672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32" name="Line 31" title=""/>
          <p:cNvSpPr/>
          <p:nvPr/>
        </p:nvSpPr>
        <p:spPr>
          <a:xfrm>
            <a:off x="2743200" y="5638800"/>
            <a:ext cx="4267200" cy="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33" name="Line 32" title=""/>
          <p:cNvSpPr/>
          <p:nvPr/>
        </p:nvSpPr>
        <p:spPr>
          <a:xfrm flipH="1">
            <a:off x="2743200" y="4724400"/>
            <a:ext cx="0" cy="1600200"/>
          </a:xfrm>
          <a:prstGeom prst="line">
            <a:avLst/>
          </a:prstGeom>
          <a:noFill/>
          <a:ln>
            <a:solidFill>
              <a:schemeClr val="tx1"/>
            </a:solidFill>
            <a:miter lim="800000"/>
          </a:ln>
        </p:spPr>
      </p:sp>
      <p:sp>
        <p:nvSpPr>
          <p:cNvPr id="51234" name="Text Box 33" title=""/>
          <p:cNvSpPr txBox="1"/>
          <p:nvPr/>
        </p:nvSpPr>
        <p:spPr>
          <a:xfrm>
            <a:off x="228600" y="3810000"/>
            <a:ext cx="1387475" cy="825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600" b="1">
                <a:latin typeface="Times New Roman" pitchFamily="18" charset="0"/>
                <a:ea typeface="SimSun" pitchFamily="2" charset="-122"/>
              </a:rPr>
              <a:t>Prime Generalized Relation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35" name="Text Box 34" title=""/>
          <p:cNvSpPr txBox="1"/>
          <p:nvPr/>
        </p:nvSpPr>
        <p:spPr>
          <a:xfrm>
            <a:off x="0" y="1752600"/>
            <a:ext cx="1143000" cy="5810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/>
            <a:r>
              <a:rPr lang="en-US" altLang="zh-CN" sz="1600" b="1">
                <a:latin typeface="Times New Roman" pitchFamily="18" charset="0"/>
                <a:ea typeface="SimSun" pitchFamily="2" charset="-122"/>
              </a:rPr>
              <a:t>Initial Relation</a:t>
            </a:r>
            <a:endParaRPr lang="en-US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236" name="Text Box 35" title=""/>
          <p:cNvSpPr txBox="1"/>
          <p:nvPr/>
        </p:nvSpPr>
        <p:spPr>
          <a:xfrm>
            <a:off x="2667000" y="6400800"/>
            <a:ext cx="16764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>
              <a:spcBef>
                <a:spcPct val="50000"/>
              </a:spcBef>
            </a:pPr>
            <a:endParaRPr lang="zh-CN" altLang="en-US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4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222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29E409F4-A09A-4956-9718-2E9C680480B9}" type="slidenum">
              <a:rPr sz="1200"/>
              <a:t>49</a:t>
            </a:fld>
            <a:endParaRPr sz="1200"/>
          </a:p>
        </p:txBody>
      </p:sp>
      <p:sp>
        <p:nvSpPr>
          <p:cNvPr id="52227" name="Rectangle 2" title="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7620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 sz="3200">
                <a:ea typeface="SimSun" pitchFamily="2" charset="-122"/>
              </a:rPr>
              <a:t>Basic Principles of Attribute-Oriented Induction</a:t>
            </a:r>
            <a:endParaRPr lang="en-US" altLang="zh-CN" b="1">
              <a:ea typeface="SimSun" pitchFamily="2" charset="-122"/>
            </a:endParaRPr>
          </a:p>
        </p:txBody>
      </p:sp>
      <p:sp>
        <p:nvSpPr>
          <p:cNvPr id="52228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485900"/>
            <a:ext cx="8496300" cy="51054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Data focusing</a:t>
            </a:r>
            <a:r>
              <a:rPr lang="en-US" altLang="zh-CN" sz="2400">
                <a:ea typeface="SimSun" pitchFamily="2" charset="-122"/>
              </a:rPr>
              <a:t>: task-relevant data, including dimensions, and the result is the </a:t>
            </a:r>
            <a:r>
              <a:rPr lang="en-US" altLang="zh-CN" sz="2400" i="1">
                <a:ea typeface="SimSun" pitchFamily="2" charset="-122"/>
              </a:rPr>
              <a:t>initial relation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Attribute-removal</a:t>
            </a:r>
            <a:r>
              <a:rPr lang="en-US" altLang="zh-CN" sz="2400">
                <a:ea typeface="SimSun" pitchFamily="2" charset="-122"/>
              </a:rPr>
              <a:t>: remove attribute</a:t>
            </a:r>
            <a:r>
              <a:rPr lang="en-US" altLang="zh-CN" sz="2400" i="1">
                <a:ea typeface="SimSun" pitchFamily="2" charset="-122"/>
              </a:rPr>
              <a:t> A </a:t>
            </a:r>
            <a:r>
              <a:rPr lang="en-US" altLang="zh-CN" sz="2400">
                <a:ea typeface="SimSun" pitchFamily="2" charset="-122"/>
              </a:rPr>
              <a:t>if there is a large set of distinct values for </a:t>
            </a:r>
            <a:r>
              <a:rPr lang="en-US" altLang="zh-CN" sz="2400" i="1">
                <a:ea typeface="SimSun" pitchFamily="2" charset="-122"/>
              </a:rPr>
              <a:t>A</a:t>
            </a:r>
            <a:r>
              <a:rPr lang="en-US" altLang="zh-CN" sz="2400">
                <a:ea typeface="SimSun" pitchFamily="2" charset="-122"/>
              </a:rPr>
              <a:t> but (1) there is no generalization operator on </a:t>
            </a:r>
            <a:r>
              <a:rPr lang="en-US" altLang="zh-CN" sz="2400" i="1">
                <a:ea typeface="SimSun" pitchFamily="2" charset="-122"/>
              </a:rPr>
              <a:t>A</a:t>
            </a:r>
            <a:r>
              <a:rPr lang="en-US" altLang="zh-CN" sz="2400">
                <a:ea typeface="SimSun" pitchFamily="2" charset="-122"/>
              </a:rPr>
              <a:t>, or (2) </a:t>
            </a:r>
            <a:r>
              <a:rPr lang="en-US" altLang="zh-CN" sz="2400" i="1">
                <a:ea typeface="SimSun" pitchFamily="2" charset="-122"/>
              </a:rPr>
              <a:t>A</a:t>
            </a:r>
            <a:r>
              <a:rPr lang="en-US" altLang="zh-CN" sz="2400">
                <a:ea typeface="SimSun" pitchFamily="2" charset="-122"/>
              </a:rPr>
              <a:t>’s higher level concepts are expressed in terms of other attributes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Attribute-generalization</a:t>
            </a:r>
            <a:r>
              <a:rPr lang="en-US" altLang="zh-CN" sz="2400">
                <a:ea typeface="SimSun" pitchFamily="2" charset="-122"/>
              </a:rPr>
              <a:t>: If there is a large set of distinct values for </a:t>
            </a:r>
            <a:r>
              <a:rPr lang="en-US" altLang="zh-CN" sz="2400" i="1">
                <a:ea typeface="SimSun" pitchFamily="2" charset="-122"/>
              </a:rPr>
              <a:t>A</a:t>
            </a:r>
            <a:r>
              <a:rPr lang="en-US" altLang="zh-CN" sz="2400">
                <a:ea typeface="SimSun" pitchFamily="2" charset="-122"/>
              </a:rPr>
              <a:t>, and there exists a set of generalization operators on</a:t>
            </a:r>
            <a:r>
              <a:rPr lang="en-US" altLang="zh-CN" sz="2400" i="1">
                <a:ea typeface="SimSun" pitchFamily="2" charset="-122"/>
              </a:rPr>
              <a:t> A</a:t>
            </a:r>
            <a:r>
              <a:rPr lang="en-US" altLang="zh-CN" sz="2400">
                <a:ea typeface="SimSun" pitchFamily="2" charset="-122"/>
              </a:rPr>
              <a:t>, then select an operator and generalize</a:t>
            </a:r>
            <a:r>
              <a:rPr lang="en-US" altLang="zh-CN" sz="2400" i="1">
                <a:ea typeface="SimSun" pitchFamily="2" charset="-122"/>
              </a:rPr>
              <a:t> A</a:t>
            </a:r>
            <a:r>
              <a:rPr lang="en-US" altLang="zh-CN" sz="2400">
                <a:ea typeface="SimSun" pitchFamily="2" charset="-122"/>
              </a:rPr>
              <a:t> 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Attribute-threshold control</a:t>
            </a:r>
            <a:r>
              <a:rPr lang="en-US" altLang="zh-CN" sz="2400">
                <a:ea typeface="SimSun" pitchFamily="2" charset="-122"/>
              </a:rPr>
              <a:t>: typical 2-8, specified/default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Generalized relation threshold control</a:t>
            </a:r>
            <a:r>
              <a:rPr lang="en-US" altLang="zh-CN" sz="2400">
                <a:ea typeface="SimSun" pitchFamily="2" charset="-122"/>
              </a:rPr>
              <a:t>: control the final relation/rule size</a:t>
            </a:r>
            <a:endParaRPr lang="en-US" altLang="zh-CN" sz="2400"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325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397E0F7-2E9D-41A9-B856-53315104A75B}" type="slidenum">
              <a:rPr sz="1200"/>
              <a:t>50</a:t>
            </a:fld>
            <a:endParaRPr sz="1200"/>
          </a:p>
        </p:txBody>
      </p:sp>
      <p:sp>
        <p:nvSpPr>
          <p:cNvPr id="53251" name="Rectangle 2" title=""/>
          <p:cNvSpPr>
            <a:spLocks noGrp="1"/>
          </p:cNvSpPr>
          <p:nvPr>
            <p:ph type="title"/>
          </p:nvPr>
        </p:nvSpPr>
        <p:spPr>
          <a:xfrm>
            <a:off x="457200" y="304800"/>
            <a:ext cx="8458200" cy="7620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 sz="3200">
                <a:ea typeface="SimSun" pitchFamily="2" charset="-122"/>
              </a:rPr>
              <a:t>Attribute-Oriented Induction: Basic Algorithm </a:t>
            </a:r>
            <a:endParaRPr lang="en-US" altLang="zh-CN" sz="3200">
              <a:ea typeface="SimSun" pitchFamily="2" charset="-122"/>
            </a:endParaRPr>
          </a:p>
        </p:txBody>
      </p:sp>
      <p:sp>
        <p:nvSpPr>
          <p:cNvPr id="53252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447800"/>
            <a:ext cx="86106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InitialRel</a:t>
            </a:r>
            <a:r>
              <a:rPr lang="en-US" altLang="zh-CN" sz="2400">
                <a:ea typeface="SimSun" pitchFamily="2" charset="-122"/>
              </a:rPr>
              <a:t>: Query processing of task-relevant data, deriving the </a:t>
            </a:r>
            <a:r>
              <a:rPr lang="en-US" altLang="zh-CN" sz="2400" i="1">
                <a:ea typeface="SimSun" pitchFamily="2" charset="-122"/>
              </a:rPr>
              <a:t>initial relation</a:t>
            </a:r>
            <a:r>
              <a:rPr lang="en-US" altLang="zh-CN" sz="2400">
                <a:ea typeface="SimSun" pitchFamily="2" charset="-122"/>
              </a:rPr>
              <a:t>.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PreGen</a:t>
            </a:r>
            <a:r>
              <a:rPr lang="en-US" altLang="zh-CN" sz="2400" u="sng">
                <a:ea typeface="SimSun" pitchFamily="2" charset="-122"/>
              </a:rPr>
              <a:t>:</a:t>
            </a:r>
            <a:r>
              <a:rPr lang="en-US" altLang="zh-CN" sz="2400">
                <a:ea typeface="SimSun" pitchFamily="2" charset="-122"/>
              </a:rPr>
              <a:t>  Based on the analysis of the number of distinct values in each attribute, determine generalization plan for each attribute: removal? or how high to generalize?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PrimeGen</a:t>
            </a:r>
            <a:r>
              <a:rPr lang="en-US" altLang="zh-CN" sz="2400">
                <a:ea typeface="SimSun" pitchFamily="2" charset="-122"/>
              </a:rPr>
              <a:t>: Based on the PreGen plan, perform generalization to the right level to derive a “prime generalized relation”, accumulating the counts.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</a:pPr>
            <a:r>
              <a:rPr lang="en-US" altLang="zh-CN" sz="2400" u="sng">
                <a:solidFill>
                  <a:schemeClr val="hlink"/>
                </a:solidFill>
                <a:ea typeface="SimSun" pitchFamily="2" charset="-122"/>
              </a:rPr>
              <a:t>Presentation</a:t>
            </a:r>
            <a:r>
              <a:rPr lang="en-US" altLang="zh-CN" sz="2400">
                <a:ea typeface="SimSun" pitchFamily="2" charset="-122"/>
              </a:rPr>
              <a:t>: User interaction: (1) adjust levels by drilling, (2) pivoting, (3) mapping into rules, cross tabs, visualization presentations.</a:t>
            </a:r>
            <a:endParaRPr lang="en-US" altLang="zh-CN" sz="2400"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427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41827C5F-3501-41C6-8CCF-062228EE7F85}" type="slidenum">
              <a:rPr sz="1200"/>
              <a:t>51</a:t>
            </a:fld>
            <a:endParaRPr sz="1200"/>
          </a:p>
        </p:txBody>
      </p:sp>
      <p:sp>
        <p:nvSpPr>
          <p:cNvPr id="54275" name="Rectangle 2" title=""/>
          <p:cNvSpPr>
            <a:spLocks noGrp="1"/>
          </p:cNvSpPr>
          <p:nvPr>
            <p:ph type="title"/>
          </p:nvPr>
        </p:nvSpPr>
        <p:spPr>
          <a:xfrm>
            <a:off x="1295400" y="228600"/>
            <a:ext cx="6934200" cy="8382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 sz="3200">
                <a:ea typeface="SimSun" pitchFamily="2" charset="-122"/>
              </a:rPr>
              <a:t>Presentation of Generalized Results</a:t>
            </a:r>
            <a:endParaRPr lang="en-US" altLang="zh-CN" b="1">
              <a:ea typeface="SimSun" pitchFamily="2" charset="-122"/>
            </a:endParaRPr>
          </a:p>
        </p:txBody>
      </p:sp>
      <p:sp>
        <p:nvSpPr>
          <p:cNvPr id="54276" name="Rectangle 3" title=""/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8572500" cy="5257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20000"/>
              </a:lnSpc>
            </a:pPr>
            <a:r>
              <a:rPr lang="en-US" altLang="zh-CN" sz="2000" u="sng">
                <a:ea typeface="SimSun" pitchFamily="2" charset="-122"/>
              </a:rPr>
              <a:t>Generalized relation</a:t>
            </a:r>
            <a:r>
              <a:rPr lang="en-US" altLang="zh-CN" sz="2000">
                <a:ea typeface="SimSun" pitchFamily="2" charset="-122"/>
              </a:rPr>
              <a:t>: 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ea typeface="SimSun" pitchFamily="2" charset="-122"/>
              </a:rPr>
              <a:t>Relations where some or all attributes are generalized, with counts or other aggregation values accumulated.</a:t>
            </a:r>
            <a:endParaRPr lang="en-US" altLang="zh-CN" sz="2000">
              <a:ea typeface="SimSun" pitchFamily="2" charset="-122"/>
            </a:endParaRPr>
          </a:p>
          <a:p>
            <a:pPr lvl="0" eaLnBrk="1" hangingPunct="1">
              <a:lnSpc>
                <a:spcPct val="120000"/>
              </a:lnSpc>
            </a:pPr>
            <a:r>
              <a:rPr lang="en-US" altLang="zh-CN" sz="2000" u="sng">
                <a:ea typeface="SimSun" pitchFamily="2" charset="-122"/>
              </a:rPr>
              <a:t>Cross tabulation</a:t>
            </a:r>
            <a:r>
              <a:rPr lang="en-US" altLang="zh-CN" sz="2000">
                <a:ea typeface="SimSun" pitchFamily="2" charset="-122"/>
              </a:rPr>
              <a:t>: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ea typeface="SimSun" pitchFamily="2" charset="-122"/>
              </a:rPr>
              <a:t>Mapping results into cross tabulation form (similar to contingency tables). 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u="sng">
                <a:ea typeface="SimSun" pitchFamily="2" charset="-122"/>
              </a:rPr>
              <a:t>Visualization techniques</a:t>
            </a:r>
            <a:r>
              <a:rPr lang="en-US" altLang="zh-CN" sz="2000">
                <a:ea typeface="SimSun" pitchFamily="2" charset="-122"/>
              </a:rPr>
              <a:t>: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ea typeface="SimSun" pitchFamily="2" charset="-122"/>
              </a:rPr>
              <a:t>Pie charts, bar charts, curves, cubes, and other visual forms.</a:t>
            </a:r>
            <a:endParaRPr lang="en-US" altLang="zh-CN" sz="2000">
              <a:ea typeface="SimSun" pitchFamily="2" charset="-122"/>
            </a:endParaRPr>
          </a:p>
          <a:p>
            <a:pPr lvl="0" eaLnBrk="1" hangingPunct="1">
              <a:lnSpc>
                <a:spcPct val="120000"/>
              </a:lnSpc>
            </a:pPr>
            <a:r>
              <a:rPr lang="en-US" altLang="zh-CN" sz="2000" u="sng">
                <a:ea typeface="SimSun" pitchFamily="2" charset="-122"/>
              </a:rPr>
              <a:t>Quantitative characteristic rules</a:t>
            </a:r>
            <a:r>
              <a:rPr lang="en-US" altLang="zh-CN" sz="2000">
                <a:ea typeface="SimSun" pitchFamily="2" charset="-122"/>
              </a:rPr>
              <a:t>: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ea typeface="SimSun" pitchFamily="2" charset="-122"/>
              </a:rPr>
              <a:t>Mapping generalized result into characteristic rules with quantitative information associated with it, e.g.,</a:t>
            </a:r>
            <a:endParaRPr lang="en-US" altLang="zh-CN" sz="1800">
              <a:ea typeface="SimSun" pitchFamily="2" charset="-122"/>
            </a:endParaRPr>
          </a:p>
        </p:txBody>
      </p:sp>
      <p:graphicFrame>
        <p:nvGraphicFramePr>
          <p:cNvPr id="54277" name="Object 4" title=""/>
          <p:cNvGraphicFramePr>
            <a:graphicFrameLocks noChangeAspect="1"/>
          </p:cNvGraphicFramePr>
          <p:nvPr/>
        </p:nvGraphicFramePr>
        <p:xfrm>
          <a:off x="762000" y="5867400"/>
          <a:ext cx="7704138" cy="6223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6" name="Equation" r:id="rId3" imgW="7704138" imgH="622300" progId="Equation.3">
                  <p:embed/>
                </p:oleObj>
              </mc:Choice>
              <mc:Fallback>
                <p:oleObj name="Equation" r:id="rId3" imgW="7704138" imgH="6223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5867400"/>
                        <a:ext cx="770413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  <a:miter lim="800000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529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A177C326-F250-46AB-BDD7-D1604046F3FF}" type="slidenum">
              <a:rPr sz="1200"/>
              <a:t>52</a:t>
            </a:fld>
            <a:endParaRPr sz="1200"/>
          </a:p>
        </p:txBody>
      </p:sp>
      <p:sp>
        <p:nvSpPr>
          <p:cNvPr id="55299" name="Rectangle 2" title=""/>
          <p:cNvSpPr>
            <a:spLocks noGrp="1"/>
          </p:cNvSpPr>
          <p:nvPr>
            <p:ph type="title"/>
          </p:nvPr>
        </p:nvSpPr>
        <p:spPr>
          <a:xfrm>
            <a:off x="914400" y="304800"/>
            <a:ext cx="7272338" cy="7620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 sz="3200">
                <a:ea typeface="SimSun" pitchFamily="2" charset="-122"/>
              </a:rPr>
              <a:t>Mining Class Comparisons</a:t>
            </a:r>
            <a:endParaRPr lang="en-US" altLang="zh-CN" sz="2400">
              <a:ea typeface="SimSun" pitchFamily="2" charset="-122"/>
            </a:endParaRPr>
          </a:p>
        </p:txBody>
      </p:sp>
      <p:sp>
        <p:nvSpPr>
          <p:cNvPr id="55300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447800"/>
            <a:ext cx="8534400" cy="51816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  <a:buSzPct val="80000"/>
            </a:pPr>
            <a:r>
              <a:rPr lang="en-US" altLang="zh-CN" sz="2000" u="sng">
                <a:ea typeface="SimSun" pitchFamily="2" charset="-122"/>
              </a:rPr>
              <a:t>Comparison:</a:t>
            </a:r>
            <a:r>
              <a:rPr lang="en-US" altLang="zh-CN" sz="2000">
                <a:ea typeface="SimSun" pitchFamily="2" charset="-122"/>
              </a:rPr>
              <a:t> Comparing two or more classes</a:t>
            </a:r>
            <a:endParaRPr lang="en-US" altLang="zh-CN" sz="20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  <a:buSzPct val="80000"/>
            </a:pPr>
            <a:r>
              <a:rPr lang="en-US" altLang="zh-CN" sz="2000" u="sng">
                <a:ea typeface="SimSun" pitchFamily="2" charset="-122"/>
              </a:rPr>
              <a:t>Method:</a:t>
            </a:r>
            <a:r>
              <a:rPr lang="en-US" altLang="zh-CN" sz="2000">
                <a:ea typeface="SimSun" pitchFamily="2" charset="-122"/>
              </a:rPr>
              <a:t> 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Partition the set of relevant data into the target class and the contrasting class(es) 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Generalize both classes to the same high level concepts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Compare tuples with the same high level descriptions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Present for every tuple its description and two measures</a:t>
            </a:r>
            <a:endParaRPr lang="en-US" altLang="zh-CN" sz="2000">
              <a:ea typeface="SimSun" pitchFamily="2" charset="-122"/>
            </a:endParaRPr>
          </a:p>
          <a:p>
            <a:pPr lvl="2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support - distribution within single class</a:t>
            </a:r>
            <a:endParaRPr lang="en-US" altLang="zh-CN" sz="2000">
              <a:ea typeface="SimSun" pitchFamily="2" charset="-122"/>
            </a:endParaRPr>
          </a:p>
          <a:p>
            <a:pPr lvl="2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comparison - distribution between classes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Highlight the tuples with strong discriminant features </a:t>
            </a:r>
            <a:endParaRPr lang="en-US" altLang="zh-CN" sz="2000">
              <a:ea typeface="SimSun" pitchFamily="2" charset="-122"/>
            </a:endParaRPr>
          </a:p>
          <a:p>
            <a:pPr lvl="0" eaLnBrk="1" hangingPunct="1">
              <a:lnSpc>
                <a:spcPct val="110000"/>
              </a:lnSpc>
              <a:buSzPct val="80000"/>
            </a:pPr>
            <a:r>
              <a:rPr lang="en-US" altLang="zh-CN" sz="2000" u="sng">
                <a:ea typeface="SimSun" pitchFamily="2" charset="-122"/>
              </a:rPr>
              <a:t>Relevance Analysis:</a:t>
            </a:r>
            <a:endParaRPr lang="en-US" altLang="zh-CN" sz="2000">
              <a:ea typeface="SimSun" pitchFamily="2" charset="-122"/>
            </a:endParaRPr>
          </a:p>
          <a:p>
            <a:pPr lvl="1" eaLnBrk="1" hangingPunct="1">
              <a:lnSpc>
                <a:spcPct val="110000"/>
              </a:lnSpc>
              <a:buSzPct val="80000"/>
            </a:pPr>
            <a:r>
              <a:rPr lang="en-US" altLang="zh-CN" sz="2000">
                <a:ea typeface="SimSun" pitchFamily="2" charset="-122"/>
              </a:rPr>
              <a:t>Find attributes (features) which best distinguish different classes</a:t>
            </a:r>
            <a:endParaRPr lang="en-US" altLang="zh-CN" sz="2000"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6322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F7530A40-B8B7-4E05-B1AA-1C5FF89299DA}" type="slidenum">
              <a:rPr sz="1200"/>
              <a:t>53</a:t>
            </a:fld>
            <a:endParaRPr sz="1200"/>
          </a:p>
        </p:txBody>
      </p:sp>
      <p:sp>
        <p:nvSpPr>
          <p:cNvPr id="56323" name="Rectangle 2" title="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6731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lang="en-US" altLang="zh-CN">
                <a:ea typeface="SimSun" pitchFamily="2" charset="-122"/>
              </a:rPr>
              <a:t>Concept Description vs. Cube-Based OLAP</a:t>
            </a:r>
            <a:endParaRPr lang="en-US" altLang="zh-CN">
              <a:ea typeface="SimSun" pitchFamily="2" charset="-122"/>
            </a:endParaRPr>
          </a:p>
        </p:txBody>
      </p:sp>
      <p:sp>
        <p:nvSpPr>
          <p:cNvPr id="56324" name="Rectangle 3" title=""/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8686800" cy="51816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buSzPct val="80000"/>
            </a:pPr>
            <a:r>
              <a:rPr lang="en-US" altLang="zh-CN" sz="2400" b="1">
                <a:ea typeface="SimSun" pitchFamily="2" charset="-122"/>
              </a:rPr>
              <a:t>Similarity</a:t>
            </a:r>
            <a:r>
              <a:rPr lang="en-US" altLang="zh-CN" sz="2400">
                <a:ea typeface="SimSun" pitchFamily="2" charset="-122"/>
              </a:rPr>
              <a:t>: 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buSzPct val="80000"/>
            </a:pPr>
            <a:r>
              <a:rPr lang="en-US" altLang="zh-CN" sz="2400">
                <a:ea typeface="SimSun" pitchFamily="2" charset="-122"/>
              </a:rPr>
              <a:t>Data generalization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buSzPct val="80000"/>
            </a:pPr>
            <a:r>
              <a:rPr lang="en-US" altLang="zh-CN" sz="2400">
                <a:ea typeface="SimSun" pitchFamily="2" charset="-122"/>
              </a:rPr>
              <a:t>Presentation of data summarization at multiple levels of abstraction</a:t>
            </a:r>
            <a:endParaRPr lang="en-US" altLang="zh-CN" sz="2400">
              <a:ea typeface="SimSun" pitchFamily="2" charset="-122"/>
            </a:endParaRPr>
          </a:p>
          <a:p>
            <a:pPr lvl="1" eaLnBrk="1" hangingPunct="1">
              <a:buSzPct val="80000"/>
            </a:pPr>
            <a:r>
              <a:rPr lang="en-US" altLang="zh-CN" sz="2400">
                <a:ea typeface="SimSun" pitchFamily="2" charset="-122"/>
              </a:rPr>
              <a:t>Interactive drilling, pivoting, slicing and dicing</a:t>
            </a:r>
            <a:endParaRPr lang="en-US" altLang="zh-CN" sz="2400">
              <a:ea typeface="SimSun" pitchFamily="2" charset="-122"/>
            </a:endParaRPr>
          </a:p>
          <a:p>
            <a:pPr lvl="0" eaLnBrk="1" hangingPunct="1">
              <a:buSzPct val="80000"/>
            </a:pPr>
            <a:r>
              <a:rPr lang="en-US" altLang="zh-CN" sz="2400" b="1">
                <a:ea typeface="SimSun" pitchFamily="2" charset="-122"/>
              </a:rPr>
              <a:t>Differences</a:t>
            </a:r>
            <a:r>
              <a:rPr lang="en-US" altLang="zh-CN" sz="2400">
                <a:ea typeface="SimSun" pitchFamily="2" charset="-122"/>
              </a:rPr>
              <a:t>:</a:t>
            </a:r>
            <a:endParaRPr lang="en-US" altLang="zh-CN" sz="2400">
              <a:ea typeface="SimSun" pitchFamily="2" charset="-122"/>
            </a:endParaRPr>
          </a:p>
          <a:p>
            <a:pPr lvl="1" eaLnBrk="1" hangingPunct="1"/>
            <a:r>
              <a:rPr lang="en-US" altLang="zh-CN" sz="2400">
                <a:ea typeface="SimSun" pitchFamily="2" charset="-122"/>
              </a:rPr>
              <a:t>OLAP has systematic preprocessing, query independent, and can drill down to rather low level</a:t>
            </a:r>
            <a:endParaRPr lang="en-US" altLang="zh-CN" sz="2400">
              <a:ea typeface="SimSun" pitchFamily="2" charset="-122"/>
            </a:endParaRPr>
          </a:p>
          <a:p>
            <a:pPr lvl="1" eaLnBrk="1" hangingPunct="1"/>
            <a:r>
              <a:rPr lang="en-US" altLang="zh-CN" sz="2400">
                <a:ea typeface="SimSun" pitchFamily="2" charset="-122"/>
              </a:rPr>
              <a:t>AOI has automated desired level allocation, and may perform dimension relevance analysis/ranking when there are many relevant dimensions</a:t>
            </a:r>
            <a:endParaRPr lang="en-US" altLang="zh-CN" sz="2400">
              <a:ea typeface="SimSun" pitchFamily="2" charset="-122"/>
            </a:endParaRPr>
          </a:p>
          <a:p>
            <a:pPr lvl="1" eaLnBrk="1" hangingPunct="1"/>
            <a:r>
              <a:rPr lang="en-US" altLang="zh-CN" sz="2400">
                <a:ea typeface="SimSun" pitchFamily="2" charset="-122"/>
              </a:rPr>
              <a:t>AOI works on the data which are not in relational forms</a:t>
            </a:r>
            <a:endParaRPr lang="en-US" altLang="zh-CN" sz="2400">
              <a:ea typeface="SimSun" pitchFamily="2" charset="-122"/>
            </a:endParaRPr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734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DDB6C644-4EA4-4DC2-B1C3-E802E12F18B5}" type="slidenum">
              <a:rPr sz="1200"/>
              <a:t>54</a:t>
            </a:fld>
            <a:endParaRPr sz="1200"/>
          </a:p>
        </p:txBody>
      </p:sp>
      <p:sp>
        <p:nvSpPr>
          <p:cNvPr id="57347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57348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382000" cy="48768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40000"/>
              </a:lnSpc>
            </a:pPr>
            <a:r>
              <a:t>Data Warehouse: Basic Concepts</a:t>
            </a:r>
          </a:p>
          <a:p>
            <a:pPr lvl="0" eaLnBrk="1" hangingPunct="1">
              <a:lnSpc>
                <a:spcPct val="140000"/>
              </a:lnSpc>
            </a:pPr>
            <a:r>
              <a:t>Data Warehouse Modeling: Data Cube and OLAP</a:t>
            </a:r>
          </a:p>
          <a:p>
            <a:pPr lvl="0" eaLnBrk="1" hangingPunct="1">
              <a:lnSpc>
                <a:spcPct val="140000"/>
              </a:lnSpc>
            </a:pPr>
            <a:r>
              <a:t>Data Warehouse Design and Usage</a:t>
            </a:r>
          </a:p>
          <a:p>
            <a:pPr lvl="0" eaLnBrk="1" hangingPunct="1">
              <a:lnSpc>
                <a:spcPct val="140000"/>
              </a:lnSpc>
            </a:pPr>
            <a:r>
              <a:t>Data Warehouse Implementation</a:t>
            </a:r>
          </a:p>
          <a:p>
            <a:pPr lvl="0" eaLnBrk="1" hangingPunct="1">
              <a:lnSpc>
                <a:spcPct val="140000"/>
              </a:lnSpc>
            </a:pPr>
            <a:r>
              <a:t>Data Generalization by Attribute-Oriented Induction</a:t>
            </a:r>
          </a:p>
          <a:p>
            <a:pPr lvl="0" eaLnBrk="1" hangingPunct="1">
              <a:lnSpc>
                <a:spcPct val="140000"/>
              </a:lnSpc>
            </a:pPr>
            <a:r>
              <a:t>Summary</a:t>
            </a:r>
          </a:p>
        </p:txBody>
      </p:sp>
      <p:sp>
        <p:nvSpPr>
          <p:cNvPr id="57349" name="AutoShape 4" title=""/>
          <p:cNvSpPr/>
          <p:nvPr/>
        </p:nvSpPr>
        <p:spPr>
          <a:xfrm rot="9060000">
            <a:off x="2743200" y="5486400"/>
            <a:ext cx="3810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>
            <a:solidFill>
              <a:schemeClr val="tx1"/>
            </a:solidFill>
            <a:miter lim="800000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837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BABD805A-4D5E-4672-9962-A5DCCAAFBFD6}" type="slidenum">
              <a:rPr sz="1200"/>
              <a:t>55</a:t>
            </a:fld>
            <a:endParaRPr sz="1200"/>
          </a:p>
        </p:txBody>
      </p:sp>
      <p:sp>
        <p:nvSpPr>
          <p:cNvPr id="58371" name="Rectangle 2" title="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>
                <a:solidFill>
                  <a:srgbClr val="170981"/>
                </a:solidFill>
              </a:rPr>
              <a:t>Summary</a:t>
            </a:r>
            <a:endParaRPr sz="3200">
              <a:solidFill>
                <a:srgbClr val="170981"/>
              </a:solidFill>
            </a:endParaRPr>
          </a:p>
        </p:txBody>
      </p:sp>
      <p:sp>
        <p:nvSpPr>
          <p:cNvPr id="58372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</a:pPr>
            <a:r>
              <a:rPr sz="1800">
                <a:solidFill>
                  <a:schemeClr val="folHlink"/>
                </a:solidFill>
              </a:rPr>
              <a:t>Data warehousing</a:t>
            </a:r>
            <a:r>
              <a:rPr sz="1800"/>
              <a:t>: A </a:t>
            </a:r>
            <a:r>
              <a:rPr sz="1800">
                <a:solidFill>
                  <a:schemeClr val="hlink"/>
                </a:solidFill>
              </a:rPr>
              <a:t>multi-dimensional model</a:t>
            </a:r>
            <a:r>
              <a:rPr sz="1800"/>
              <a:t> of a data warehouse</a:t>
            </a:r>
            <a:endParaRPr sz="1800"/>
          </a:p>
          <a:p>
            <a:pPr lvl="1" eaLnBrk="1" hangingPunct="1">
              <a:lnSpc>
                <a:spcPct val="110000"/>
              </a:lnSpc>
            </a:pPr>
            <a:r>
              <a:rPr sz="1800"/>
              <a:t>A data cube consists of </a:t>
            </a:r>
            <a:r>
              <a:rPr sz="1800" i="1"/>
              <a:t>dimensions</a:t>
            </a:r>
            <a:r>
              <a:rPr sz="1800"/>
              <a:t> &amp; </a:t>
            </a:r>
            <a:r>
              <a:rPr sz="1800" i="1"/>
              <a:t>measures</a:t>
            </a:r>
            <a:endParaRPr sz="1800" i="1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/>
              <a:t>Star schema, snowflake schema, fact constellations</a:t>
            </a:r>
            <a:endParaRPr sz="18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>
                <a:solidFill>
                  <a:schemeClr val="hlink"/>
                </a:solidFill>
              </a:rPr>
              <a:t>OLAP</a:t>
            </a:r>
            <a:r>
              <a:rPr sz="1800"/>
              <a:t> operations: drilling, rolling, slicing, dicing and pivoting</a:t>
            </a:r>
            <a:endParaRPr sz="1800"/>
          </a:p>
          <a:p>
            <a:pPr lvl="0" eaLnBrk="1" hangingPunct="1">
              <a:lnSpc>
                <a:spcPct val="110000"/>
              </a:lnSpc>
            </a:pPr>
            <a:r>
              <a:rPr sz="1800">
                <a:solidFill>
                  <a:schemeClr val="folHlink"/>
                </a:solidFill>
              </a:rPr>
              <a:t>Data Warehouse Architecture, Design, and Usage</a:t>
            </a:r>
            <a:endParaRPr sz="180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sz="1800"/>
              <a:t>Multi-tiered architecture</a:t>
            </a:r>
            <a:endParaRPr sz="1800"/>
          </a:p>
          <a:p>
            <a:pPr lvl="1" eaLnBrk="1" hangingPunct="1">
              <a:lnSpc>
                <a:spcPct val="110000"/>
              </a:lnSpc>
            </a:pPr>
            <a:r>
              <a:rPr sz="1800"/>
              <a:t>Business analysis design framework</a:t>
            </a:r>
            <a:endParaRPr sz="1800"/>
          </a:p>
          <a:p>
            <a:pPr lvl="1" eaLnBrk="1" hangingPunct="1">
              <a:lnSpc>
                <a:spcPct val="110000"/>
              </a:lnSpc>
            </a:pPr>
            <a:r>
              <a:rPr sz="1800"/>
              <a:t>Information processing, analytical processing, data mining, </a:t>
            </a:r>
            <a:r>
              <a:rPr sz="1800">
                <a:solidFill>
                  <a:schemeClr val="hlink"/>
                </a:solidFill>
              </a:rPr>
              <a:t>OLAM</a:t>
            </a:r>
            <a:r>
              <a:rPr sz="1800"/>
              <a:t> (Online Analytical Mining)</a:t>
            </a:r>
            <a:endParaRPr sz="1800"/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>
                <a:solidFill>
                  <a:schemeClr val="folHlink"/>
                </a:solidFill>
              </a:rPr>
              <a:t>Implementation</a:t>
            </a:r>
            <a:r>
              <a:rPr sz="1800"/>
              <a:t>: Efficient computation of data cubes</a:t>
            </a:r>
            <a:endParaRPr sz="18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/>
              <a:t>Partial vs. full vs. no materialization</a:t>
            </a:r>
            <a:endParaRPr sz="18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/>
              <a:t>Indexing OALP data: Bitmap index and join index</a:t>
            </a:r>
            <a:endParaRPr sz="18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/>
              <a:t>OLAP query processing </a:t>
            </a:r>
            <a:endParaRPr sz="180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sz="1800"/>
              <a:t>OLAP servers: ROLAP, MOLAP, HOLAP</a:t>
            </a:r>
            <a:endParaRPr sz="1800"/>
          </a:p>
          <a:p>
            <a:pPr lvl="0" eaLnBrk="1" hangingPunct="1">
              <a:lnSpc>
                <a:spcPct val="110000"/>
              </a:lnSpc>
            </a:pPr>
            <a:r>
              <a:rPr sz="1800">
                <a:solidFill>
                  <a:schemeClr val="folHlink"/>
                </a:solidFill>
              </a:rPr>
              <a:t>Data generalization</a:t>
            </a:r>
            <a:r>
              <a:rPr sz="1800"/>
              <a:t>: Attribute-oriented induction</a:t>
            </a:r>
            <a:endParaRPr sz="18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5939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E22E0EDF-77A5-49F9-B51A-C7AEECAEED06}" type="slidenum">
              <a:rPr sz="1200"/>
              <a:t>56</a:t>
            </a:fld>
            <a:endParaRPr sz="1200"/>
          </a:p>
        </p:txBody>
      </p:sp>
      <p:sp>
        <p:nvSpPr>
          <p:cNvPr id="59395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References (I)</a:t>
            </a:r>
          </a:p>
        </p:txBody>
      </p:sp>
      <p:sp>
        <p:nvSpPr>
          <p:cNvPr id="59396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2578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sz="1600"/>
              <a:t>S. Agarwal, R. Agrawal, P. M. Deshpande, A. Gupta, J. F. Naughton, R. Ramakrishnan, and S. Sarawagi.  On the computation of multidimensional aggregates.  VLDB’96</a:t>
            </a:r>
            <a:endParaRPr sz="1600"/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sz="1600"/>
              <a:t>D. Agrawal, A. E. Abbadi, A. Singh, and T. Yurek. Efficient view maintenance in data warehouses. SIGMOD’97</a:t>
            </a:r>
            <a:endParaRPr sz="1600"/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sz="1600"/>
              <a:t>R. Agrawal, A. Gupta, and S. Sarawagi. Modeling multidimensional databases.  ICDE’97</a:t>
            </a:r>
            <a:endParaRPr sz="1600"/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sz="1600">
                <a:solidFill>
                  <a:schemeClr val="hlink"/>
                </a:solidFill>
              </a:rPr>
              <a:t>S. Chaudhuri and U. Dayal. An overview of data warehousing and OLAP technology. ACM SIGMOD Record, 26:65-74, 1997</a:t>
            </a:r>
            <a:endParaRPr sz="1600">
              <a:solidFill>
                <a:schemeClr val="hlink"/>
              </a:solidFill>
            </a:endParaRPr>
          </a:p>
          <a:p>
            <a:pPr lvl="0" eaLnBrk="1" hangingPunct="1">
              <a:lnSpc>
                <a:spcPct val="110000"/>
              </a:lnSpc>
            </a:pPr>
            <a:r>
              <a:rPr sz="1600"/>
              <a:t>E. F. Codd, S. B. Codd, and C. T. Salley. Beyond decision support. Computer World, 27, July 1993.</a:t>
            </a:r>
            <a:endParaRPr sz="1600">
              <a:solidFill>
                <a:schemeClr val="hlink"/>
              </a:solidFill>
            </a:endParaRPr>
          </a:p>
          <a:p>
            <a:pPr lvl="0"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sz="1600"/>
              <a:t>J. Gray, et al. Data cube: A relational aggregation operator generalizing group-by, cross-tab and sub-totals.  Data Mining and Knowledge Discovery, 1:29-54, 1997.</a:t>
            </a:r>
            <a:endParaRPr sz="1600"/>
          </a:p>
          <a:p>
            <a:pPr lvl="0" eaLnBrk="1" hangingPunct="1">
              <a:lnSpc>
                <a:spcPct val="110000"/>
              </a:lnSpc>
            </a:pPr>
            <a:r>
              <a:rPr sz="1600"/>
              <a:t>A. Gupta and I. S. Mumick. Materialized Views: Techniques, Implementations, and Applications. MIT Press, 1999.</a:t>
            </a:r>
            <a:endParaRPr sz="1600"/>
          </a:p>
          <a:p>
            <a:pPr lvl="0" eaLnBrk="1" hangingPunct="1">
              <a:lnSpc>
                <a:spcPct val="110000"/>
              </a:lnSpc>
            </a:pPr>
            <a:r>
              <a:rPr sz="1600"/>
              <a:t>J. Han. Towards on-line analytical mining in large databases. </a:t>
            </a:r>
            <a:r>
              <a:rPr sz="1600" i="1"/>
              <a:t>ACM SIGMOD Record</a:t>
            </a:r>
            <a:r>
              <a:rPr sz="1600"/>
              <a:t>, 27:97-107, 1998. </a:t>
            </a:r>
            <a:endParaRPr sz="1600"/>
          </a:p>
          <a:p>
            <a:pPr lvl="0" eaLnBrk="1" hangingPunct="1">
              <a:lnSpc>
                <a:spcPct val="110000"/>
              </a:lnSpc>
            </a:pPr>
            <a:r>
              <a:rPr sz="1600"/>
              <a:t>V. Harinarayan, A. Rajaraman, and J. D. Ullman. Implementing data cubes efficiently. SIGMOD’96</a:t>
            </a:r>
            <a:endParaRPr sz="16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0418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74293C9-3B99-4099-9D5D-B6A3DC1EB401}" type="slidenum">
              <a:rPr sz="1200"/>
              <a:t>57</a:t>
            </a:fld>
            <a:endParaRPr sz="1200"/>
          </a:p>
        </p:txBody>
      </p:sp>
      <p:sp>
        <p:nvSpPr>
          <p:cNvPr id="60419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References (II)</a:t>
            </a:r>
          </a:p>
        </p:txBody>
      </p:sp>
      <p:sp>
        <p:nvSpPr>
          <p:cNvPr id="60420" name="Rectangle 3" title="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8610600" cy="53340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/>
            <a:r>
              <a:rPr sz="1800"/>
              <a:t>C. Imhoff, N. Galemmo, and J. G. Geiger. Mastering Data Warehouse Design: Relational and Dimensional Techniques. John Wiley, 2003</a:t>
            </a:r>
            <a:endParaRPr sz="1800"/>
          </a:p>
          <a:p>
            <a:pPr lvl="0" eaLnBrk="1" hangingPunct="1"/>
            <a:r>
              <a:rPr sz="1800"/>
              <a:t>W. H. Inmon. Building the Data Warehouse. John Wiley, 1996</a:t>
            </a:r>
            <a:endParaRPr sz="1800"/>
          </a:p>
          <a:p>
            <a:pPr lvl="0" eaLnBrk="1" hangingPunct="1"/>
            <a:r>
              <a:rPr sz="1800"/>
              <a:t>R. Kimball and M. Ross.  The Data Warehouse Toolkit: The Complete Guide to Dimensional Modeling. 2ed. John Wiley, 2002</a:t>
            </a:r>
            <a:endParaRPr sz="1800"/>
          </a:p>
          <a:p>
            <a:pPr lvl="0" eaLnBrk="1" hangingPunct="1"/>
            <a:r>
              <a:rPr sz="1800"/>
              <a:t>P. O'Neil and D. Quass. Improved query performance with variant indexes. SIGMOD'97</a:t>
            </a:r>
            <a:endParaRPr sz="1800"/>
          </a:p>
          <a:p>
            <a:pPr lvl="0" eaLnBrk="1" hangingPunct="1"/>
            <a:r>
              <a:rPr sz="1800"/>
              <a:t>Microsoft. OLEDB for OLAP programmer's reference version 1.0. In http://www.microsoft.com/data/oledb/olap, 1998</a:t>
            </a:r>
            <a:endParaRPr sz="1800"/>
          </a:p>
          <a:p>
            <a:pPr lvl="0" eaLnBrk="1" hangingPunct="1"/>
            <a:r>
              <a:rPr sz="1800"/>
              <a:t>A. Shoshani.  OLAP and statistical databases: Similarities and differences. PODS’00.</a:t>
            </a:r>
            <a:endParaRPr sz="1800"/>
          </a:p>
          <a:p>
            <a:pPr lvl="0" eaLnBrk="1" hangingPunct="1"/>
            <a:r>
              <a:rPr sz="1800"/>
              <a:t>S. Sarawagi and M. Stonebraker. Efficient organization of large multidimensional arrays. ICDE'94</a:t>
            </a:r>
            <a:endParaRPr sz="1800"/>
          </a:p>
          <a:p>
            <a:pPr lvl="0" eaLnBrk="1" hangingPunct="1"/>
            <a:r>
              <a:rPr sz="1800"/>
              <a:t>P. Valduriez. Join indices. ACM Trans. Database Systems, 12:218-246, 1987.</a:t>
            </a:r>
            <a:endParaRPr sz="1800"/>
          </a:p>
          <a:p>
            <a:pPr lvl="0" eaLnBrk="1" hangingPunct="1"/>
            <a:r>
              <a:rPr sz="1800"/>
              <a:t>J. Widom. Research problems in data warehousing.  CIKM’95.</a:t>
            </a:r>
            <a:endParaRPr sz="1800"/>
          </a:p>
          <a:p>
            <a:pPr lvl="0" eaLnBrk="1" hangingPunct="1"/>
            <a:r>
              <a:rPr sz="1800"/>
              <a:t>K. Wu, E. Otoo, and A. Shoshani, Optimal Bitmap Indices with Efficient Compression, ACM Trans. on Database Systems (TODS), 31(1), 2006, pp. 1-38.</a:t>
            </a:r>
            <a:endParaRPr sz="1800"/>
          </a:p>
          <a:p>
            <a:pPr lvl="0" eaLnBrk="1" hangingPunct="1">
              <a:buNone/>
            </a:pPr>
            <a:endParaRPr sz="18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1442" name="Date Placeholder 3" title=""/>
          <p:cNvSpPr txBox="1">
            <a:spLocks noGrp="1"/>
          </p:cNvSpPr>
          <p:nvPr>
            <p:ph type="dt" idx="10"/>
          </p:nvPr>
        </p:nvSpPr>
        <p:spPr>
          <a:xfrm>
            <a:off x="152400" y="6324600"/>
            <a:ext cx="1905000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eaLnBrk="1" hangingPunct="1"/>
            <a:fld id="{E58A12A6-1E3C-49F3-B868-834B0143E0AB}" type="datetime3">
              <a:rPr lang="en-US" altLang="en-US" sz="1200"/>
              <a:t>27 April 2026</a:t>
            </a:fld>
            <a:endParaRPr sz="1200"/>
          </a:p>
        </p:txBody>
      </p:sp>
      <p:sp>
        <p:nvSpPr>
          <p:cNvPr id="61443" name="Footer Placeholder 4" title=""/>
          <p:cNvSpPr txBox="1">
            <a:spLocks noGrp="1"/>
          </p:cNvSpPr>
          <p:nvPr>
            <p:ph type="ftr" idx="11"/>
          </p:nvPr>
        </p:nvSpPr>
        <p:spPr>
          <a:xfrm>
            <a:off x="3200400" y="6324600"/>
            <a:ext cx="2895600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ctr" eaLnBrk="1" hangingPunct="1"/>
            <a:r>
              <a:rPr sz="1200"/>
              <a:t>Data Mining: Concepts and Techniques</a:t>
            </a:r>
            <a:endParaRPr sz="1200"/>
          </a:p>
        </p:txBody>
      </p:sp>
      <p:sp>
        <p:nvSpPr>
          <p:cNvPr id="61444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0BE89843-C0C7-42F2-936B-997379413A83}" type="slidenum">
              <a:rPr sz="1200"/>
              <a:t>58</a:t>
            </a:fld>
            <a:endParaRPr sz="1200"/>
          </a:p>
        </p:txBody>
      </p:sp>
      <p:pic>
        <p:nvPicPr>
          <p:cNvPr id="61445" name="Picture 6" descr="IMG_0009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0237" y="-471487"/>
            <a:ext cx="10404475" cy="7802562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5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2466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81A34CE9-67EA-4003-AF44-5235F14EEE49}" type="slidenum">
              <a:rPr sz="1200"/>
              <a:t>59</a:t>
            </a:fld>
            <a:endParaRPr sz="1200"/>
          </a:p>
        </p:txBody>
      </p:sp>
      <p:sp>
        <p:nvSpPr>
          <p:cNvPr id="62467" name="Rectangle 2" title=""/>
          <p:cNvSpPr>
            <a:spLocks noGrp="1"/>
          </p:cNvSpPr>
          <p:nvPr>
            <p:ph type="title"/>
          </p:nvPr>
        </p:nvSpPr>
        <p:spPr>
          <a:xfrm>
            <a:off x="0" y="76200"/>
            <a:ext cx="9220200" cy="1066800"/>
          </a:xfrm>
          <a:noFill/>
          <a:ln>
            <a:miter lim="800000"/>
          </a:ln>
        </p:spPr>
        <p:txBody>
          <a:bodyPr wrap="square" lIns="92075" tIns="46038" rIns="92075" bIns="46038" anchor="ctr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rPr sz="3200"/>
              <a:t>Chapter 4: Data Warehousing and On-line Analytical Processing</a:t>
            </a:r>
            <a:endParaRPr sz="3200"/>
          </a:p>
        </p:txBody>
      </p:sp>
      <p:sp>
        <p:nvSpPr>
          <p:cNvPr id="62468" name="Rectangle 3" title="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382000" cy="5334000"/>
          </a:xfrm>
          <a:noFill/>
          <a:ln>
            <a:miter lim="800000"/>
          </a:ln>
        </p:spPr>
        <p:txBody>
          <a:bodyPr wrap="square" lIns="92075" tIns="46038" rIns="92075" bIns="46038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90000"/>
              </a:lnSpc>
            </a:pPr>
            <a:r>
              <a:rPr sz="1000"/>
              <a:t>Data Warehouse: Basic Concepts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(a) What Is a Data Warehouse?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(b) Data Warehouse: A Multi-Tiered Architecture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(c) Three Data Warehouse Models: Enterprise Warehouse, Data Mart, ad Virtual Warehouse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(d) Extraction, Transformation and Loading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(e) Metadata Repository</a:t>
            </a:r>
            <a:endParaRPr sz="1000"/>
          </a:p>
          <a:p>
            <a:pPr lvl="0" eaLnBrk="1" hangingPunct="1">
              <a:lnSpc>
                <a:spcPct val="90000"/>
              </a:lnSpc>
            </a:pPr>
            <a:r>
              <a:rPr sz="1000"/>
              <a:t>Data Warehouse Modeling: Data Cube and OLAP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(a) Cube: A Lattice of Cuboids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(b) Conceptual Modeling of Data Warehouses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(c) Stars, Snowflakes, and Fact Constellations: Schemas for Multidimensional Databases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(d) Dimensions: The Role of Concept Hierarchy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(e) Measures: Their Categorization and Computation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(f) Cube Definitions in Database systems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(g) Typical OLAP Operations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(h) A Starnet Query Model for Querying Multidimensional Databases</a:t>
            </a:r>
            <a:endParaRPr sz="1000"/>
          </a:p>
          <a:p>
            <a:pPr lvl="0" eaLnBrk="1" hangingPunct="1">
              <a:lnSpc>
                <a:spcPct val="90000"/>
              </a:lnSpc>
            </a:pPr>
            <a:r>
              <a:rPr sz="1000"/>
              <a:t>Data Warehouse Design and Usage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(a) Design of Data Warehouses: A Business Analysis Framework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(b) Data Warehouses Design Processes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(c) Data Warehouse Usage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(d) From On-Line Analytical Processing to On-Line Analytical Mining</a:t>
            </a:r>
            <a:endParaRPr sz="1000"/>
          </a:p>
          <a:p>
            <a:pPr lvl="0" eaLnBrk="1" hangingPunct="1">
              <a:lnSpc>
                <a:spcPct val="90000"/>
              </a:lnSpc>
            </a:pPr>
            <a:r>
              <a:rPr sz="1000"/>
              <a:t>Data Warehouse Implementation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(a) Efficient Data Cube Computation: Cube Operation, Materialization of Data Cubes, and Iceberg Cubes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(b) Indexing OLAP Data: Bitmap Index and Join Index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(c) Efficient Processing of OLAP Queries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(d) OLAP Server Architectures: ROLAP vs. MOLAP vs. HOLAP</a:t>
            </a:r>
            <a:endParaRPr sz="1000"/>
          </a:p>
          <a:p>
            <a:pPr lvl="0" eaLnBrk="1" hangingPunct="1">
              <a:lnSpc>
                <a:spcPct val="90000"/>
              </a:lnSpc>
            </a:pPr>
            <a:r>
              <a:rPr sz="1000"/>
              <a:t>Data Generalization by Attribute-Oriented Induction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(a) Attribute-Oriented Induction for Data Characterization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(b) Efficient Implementation of Attribute-Oriented Induction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(c) Attribute-Oriented Induction for Class Comparisons</a:t>
            </a:r>
            <a:endParaRPr sz="1000"/>
          </a:p>
          <a:p>
            <a:pPr lvl="1" eaLnBrk="1" hangingPunct="1">
              <a:lnSpc>
                <a:spcPct val="90000"/>
              </a:lnSpc>
            </a:pPr>
            <a:r>
              <a:rPr sz="1000"/>
              <a:t>(d) Attribute-Oriented Induction vs. Cube-Based OLAP</a:t>
            </a:r>
            <a:endParaRPr sz="1000"/>
          </a:p>
          <a:p>
            <a:pPr lvl="0" eaLnBrk="1" hangingPunct="1">
              <a:lnSpc>
                <a:spcPct val="90000"/>
              </a:lnSpc>
            </a:pPr>
            <a:r>
              <a:rPr sz="1000"/>
              <a:t>Summary</a:t>
            </a:r>
            <a:endParaRPr sz="10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slides/slide6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63490" name="Slide Number Placeholder 5" title="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en-US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Tahoma" pitchFamily="34" charset="0"/>
              </a:defRPr>
            </a:lvl5pPr>
          </a:lstStyle>
          <a:p>
            <a:pPr marL="0" lvl="0" indent="0" algn="r" eaLnBrk="1" hangingPunct="1"/>
            <a:fld id="{8C225CB8-C4A1-4BED-AEC9-D27F8ED6CF37}" type="slidenum">
              <a:rPr sz="1200"/>
              <a:t>60</a:t>
            </a:fld>
            <a:endParaRPr sz="1200"/>
          </a:p>
        </p:txBody>
      </p:sp>
      <p:sp>
        <p:nvSpPr>
          <p:cNvPr id="63491" name="Rectangle 2" title="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  <a:noFill/>
          <a:ln>
            <a:miter lim="800000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3600" b="0" i="0" u="none" baseline="0">
                <a:solidFill>
                  <a:schemeClr val="tx2"/>
                </a:solidFill>
                <a:latin typeface="Berlin Sans FB Demi" pitchFamily="34" charset="0"/>
                <a:ea typeface="+mj-ea"/>
                <a:cs typeface="+mj-cs"/>
              </a:defRPr>
            </a:lvl1pPr>
          </a:lstStyle>
          <a:p>
            <a:pPr lvl="0" eaLnBrk="1" hangingPunct="1"/>
            <a:r>
              <a:t>Compression of Bitmap Indices</a:t>
            </a:r>
          </a:p>
        </p:txBody>
      </p:sp>
      <p:sp>
        <p:nvSpPr>
          <p:cNvPr id="63492" name="Rectangle 3" title="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8382000" cy="5334000"/>
          </a:xfrm>
          <a:noFill/>
          <a:ln>
            <a:miter lim="800000"/>
          </a:ln>
        </p:spPr>
        <p:txBody>
          <a:bodyPr wrap="square" lIns="91440" tIns="45720" rIns="91440" bIns="45720" anchor="t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0" lang="en-US" altLang="en-US" sz="2800" b="0" i="0" u="none" baseline="0">
                <a:solidFill>
                  <a:schemeClr val="tx1"/>
                </a:solidFill>
                <a:effectLst/>
                <a:latin typeface="+mn-lt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0" lang="en-US" altLang="en-US" sz="2400" b="0" i="0" u="none" baseline="0">
                <a:solidFill>
                  <a:schemeClr val="tx1"/>
                </a:solidFill>
                <a:effectLst/>
                <a:latin typeface="+mn-lt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0" lang="en-US" altLang="en-US" sz="2000" b="0" i="0" u="none" baseline="0">
                <a:solidFill>
                  <a:schemeClr val="tx1"/>
                </a:solidFill>
                <a:effectLst/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lang="en-US" altLang="en-US"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130000"/>
              </a:lnSpc>
            </a:pPr>
            <a:r>
              <a:rPr sz="2400"/>
              <a:t>Bitmap indexes must be compressed to reduce I/O costs and minimize CPU usage</a:t>
            </a:r>
            <a:r>
              <a:rPr sz="2400">
                <a:ea typeface="Tahoma" pitchFamily="34" charset="0"/>
              </a:rPr>
              <a:t>—</a:t>
            </a:r>
            <a:r>
              <a:rPr sz="2400"/>
              <a:t>majority of the bits are 0’s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Two compression schemes:</a:t>
            </a:r>
            <a:endParaRPr sz="2400"/>
          </a:p>
          <a:p>
            <a:pPr lvl="1" eaLnBrk="1" hangingPunct="1">
              <a:lnSpc>
                <a:spcPct val="130000"/>
              </a:lnSpc>
            </a:pPr>
            <a:r>
              <a:rPr sz="2400"/>
              <a:t>Byte-aligned Bitmap Code (BBC) </a:t>
            </a:r>
            <a:endParaRPr sz="2400"/>
          </a:p>
          <a:p>
            <a:pPr lvl="1" eaLnBrk="1" hangingPunct="1">
              <a:lnSpc>
                <a:spcPct val="130000"/>
              </a:lnSpc>
            </a:pPr>
            <a:r>
              <a:rPr sz="2400"/>
              <a:t>Word-Aligned Hybrid (WAH) code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Time and space required to operate on compressed bitmap is proportional to the total size of the bitmap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Optimal on attributes of low cardinality as well as those of high cardinality.</a:t>
            </a:r>
            <a:endParaRPr sz="2400"/>
          </a:p>
          <a:p>
            <a:pPr lvl="0" eaLnBrk="1" hangingPunct="1">
              <a:lnSpc>
                <a:spcPct val="130000"/>
              </a:lnSpc>
            </a:pPr>
            <a:r>
              <a:rPr sz="2400"/>
              <a:t>WAH out performs BBC by about a factor of two</a:t>
            </a:r>
            <a:endParaRPr sz="2400"/>
          </a:p>
        </p:txBody>
      </p:sp>
    </p:spTree>
  </p:cSld>
  <p:clrMapOvr>
    <a:masterClrMapping/>
  </p:clrMapOvr>
  <mc:AlternateContent>
    <mc:Choice xmlns:p14="http://schemas.microsoft.com/office/powerpoint/2010/main" Requires="p14">
      <p:transition p14:dur="1200">
        <p:zoom/>
      </p:transition>
    </mc:Choice>
    <mc:Fallback>
      <p:transition>
        <p:zoom/>
      </p:transition>
    </mc:Fallback>
  </mc:AlternateContent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5.09.14"/>
  <p:tag name="AS_TITLE" val="Aspose.Slides for .NET 4.0"/>
  <p:tag name="AS_VERSION" val="25.9"/>
</p:tagLst>
</file>

<file path=ppt/theme/theme1.xml><?xml version="1.0" encoding="utf-8"?>
<a:theme xmlns:r="http://schemas.openxmlformats.org/officeDocument/2006/relationships"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Berlin Sans FB Demi"/>
        <a:cs typeface="Arial"/>
      </a:majorFont>
      <a:minorFont>
        <a:latin typeface="Tahoma"/>
        <a:ea typeface="Tahoma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>S.F.U.</Company>
  <PresentationFormat>On-screen Show (4:3)</PresentationFormat>
  <Paragraphs>743</Paragraphs>
  <Slides>60</Slides>
  <Notes>59</Notes>
  <TotalTime>7412</TotalTime>
  <HiddenSlides>0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baseType="lpstr" size="70">
      <vt:lpstr>Arial</vt:lpstr>
      <vt:lpstr>Tahoma</vt:lpstr>
      <vt:lpstr>Berlin Sans FB Demi</vt:lpstr>
      <vt:lpstr>Wingdings</vt:lpstr>
      <vt:lpstr>Times New Roman</vt:lpstr>
      <vt:lpstr>SimSun</vt:lpstr>
      <vt:lpstr>Monotype Sorts</vt:lpstr>
      <vt:lpstr>MT Extra</vt:lpstr>
      <vt:lpstr>Calibri</vt:lpstr>
      <vt:lpstr>Blends</vt:lpstr>
      <vt:lpstr>Data Mining:  Concepts and Techniques (3rd ed.)— Chapter 4 —</vt:lpstr>
      <vt:lpstr>PowerPoint Presentation</vt:lpstr>
      <vt:lpstr>Chapter 4: Data Warehousing and On-line Analytical Processing</vt:lpstr>
      <vt:lpstr>What is a Data Warehouse?</vt:lpstr>
      <vt:lpstr>Data Warehouse—Subject-Oriented</vt:lpstr>
      <vt:lpstr>Data Warehouse—Integrated</vt:lpstr>
      <vt:lpstr>Data Warehouse—Time Variant</vt:lpstr>
      <vt:lpstr>Data Warehouse—Nonvolatile</vt:lpstr>
      <vt:lpstr>OLTP vs. OLAP</vt:lpstr>
      <vt:lpstr>Why a Separate Data Warehouse?</vt:lpstr>
      <vt:lpstr>PowerPoint Presentation</vt:lpstr>
      <vt:lpstr>Three Data Warehouse Models</vt:lpstr>
      <vt:lpstr>Extraction, Transformation, and Loading (ETL)</vt:lpstr>
      <vt:lpstr>Metadata Repository</vt:lpstr>
      <vt:lpstr>Chapter 4: Data Warehousing and On-line Analytical Processing</vt:lpstr>
      <vt:lpstr>From Tables and Spreadsheets to Data Cubes</vt:lpstr>
      <vt:lpstr>Cube: A Lattice of Cuboids</vt:lpstr>
      <vt:lpstr>Conceptual Modeling of Data Warehouses</vt:lpstr>
      <vt:lpstr>Example of Star Schema</vt:lpstr>
      <vt:lpstr>Example of Snowflake Schema</vt:lpstr>
      <vt:lpstr>Example of Fact Constellation</vt:lpstr>
      <vt:lpstr>A Concept Hierarchy: Dimension (location)</vt:lpstr>
      <vt:lpstr>Data Cube Measures: Three Categories</vt:lpstr>
      <vt:lpstr>View of Warehouses and Hierarchies</vt:lpstr>
      <vt:lpstr>Multidimensional Data</vt:lpstr>
      <vt:lpstr>A Sample Data Cube</vt:lpstr>
      <vt:lpstr>Cuboids Corresponding to the Cube</vt:lpstr>
      <vt:lpstr>Typical OLAP Operations</vt:lpstr>
      <vt:lpstr>PowerPoint Presentation</vt:lpstr>
      <vt:lpstr>A Star-Net Query Model</vt:lpstr>
      <vt:lpstr>Browsing a Data Cube</vt:lpstr>
      <vt:lpstr>Chapter 4: Data Warehousing and On-line Analytical Processing</vt:lpstr>
      <vt:lpstr>Design of Data Warehouse: A Business Analysis Framework</vt:lpstr>
      <vt:lpstr>Data Warehouse Design Process </vt:lpstr>
      <vt:lpstr>Data Warehouse Development: A Recommended Approach</vt:lpstr>
      <vt:lpstr>Data Warehouse Usage</vt:lpstr>
      <vt:lpstr>From On-Line Analytical Processing (OLAP) to On Line Analytical Mining (OLAM)</vt:lpstr>
      <vt:lpstr>Chapter 4: Data Warehousing and On-line Analytical Processing</vt:lpstr>
      <vt:lpstr>Efficient Data Cube Computation</vt:lpstr>
      <vt:lpstr>The “Compute Cube” Operator</vt:lpstr>
      <vt:lpstr>Indexing OLAP Data: Bitmap Index</vt:lpstr>
      <vt:lpstr>Indexing OLAP Data: Join Indices</vt:lpstr>
      <vt:lpstr>Efficient Processing OLAP Queries</vt:lpstr>
      <vt:lpstr>OLAP Server Architectures</vt:lpstr>
      <vt:lpstr>Chapter 4: Data Warehousing and On-line Analytical Processing</vt:lpstr>
      <vt:lpstr>Attribute-Oriented Induction</vt:lpstr>
      <vt:lpstr>Attribute-Oriented Induction: An Example</vt:lpstr>
      <vt:lpstr>Class Characterization: An Example</vt:lpstr>
      <vt:lpstr>Basic Principles of Attribute-Oriented Induction</vt:lpstr>
      <vt:lpstr>Attribute-Oriented Induction: Basic Algorithm </vt:lpstr>
      <vt:lpstr>Presentation of Generalized Results</vt:lpstr>
      <vt:lpstr>Mining Class Comparisons</vt:lpstr>
      <vt:lpstr>Concept Description vs. Cube-Based OLAP</vt:lpstr>
      <vt:lpstr>Chapter 4: Data Warehousing and On-line Analytical Processing</vt:lpstr>
      <vt:lpstr>Summary</vt:lpstr>
      <vt:lpstr>References (I)</vt:lpstr>
      <vt:lpstr>References (II)</vt:lpstr>
      <vt:lpstr>PowerPoint Presentation</vt:lpstr>
      <vt:lpstr>Chapter 4: Data Warehousing and On-line Analytical Processing</vt:lpstr>
      <vt:lpstr>Compression of Bitmap Indices</vt:lpstr>
    </vt:vector>
  </TitlesOfParts>
  <LinksUpToDate>0</LinksUpToDate>
  <SharedDoc>0</SharedDoc>
  <HyperlinksChanged>0</HyperlinksChanged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No Slide Title</dc:title>
  <cp:revision>433</cp:revision>
  <cp:lastPrinted>2011-10-11T21:02:16.309</cp:lastPrinted>
  <dcterms:created xsi:type="dcterms:W3CDTF">1998-06-19T04:38:52Z</dcterms:created>
  <dcterms:modified xsi:type="dcterms:W3CDTF">2026-04-27T17:37:28Z</dcterms:modified>
</cp:coreProperties>
</file>