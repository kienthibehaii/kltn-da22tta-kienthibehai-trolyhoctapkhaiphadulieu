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2"/>
  </p:notesMasterIdLst>
  <p:handoutMasterIdLst>
    <p:handoutMasterId r:id="rId73"/>
  </p:handoutMasterIdLst>
  <p:sldIdLst>
    <p:sldId id="1375" r:id="rId2"/>
    <p:sldId id="1397" r:id="rId3"/>
    <p:sldId id="1383" r:id="rId4"/>
    <p:sldId id="1184" r:id="rId5"/>
    <p:sldId id="1185" r:id="rId6"/>
    <p:sldId id="1295" r:id="rId7"/>
    <p:sldId id="1299" r:id="rId8"/>
    <p:sldId id="1300" r:id="rId9"/>
    <p:sldId id="1301" r:id="rId10"/>
    <p:sldId id="1302" r:id="rId11"/>
    <p:sldId id="1394" r:id="rId12"/>
    <p:sldId id="1377" r:id="rId13"/>
    <p:sldId id="1189" r:id="rId14"/>
    <p:sldId id="1190" r:id="rId15"/>
    <p:sldId id="1191" r:id="rId16"/>
    <p:sldId id="1033" r:id="rId17"/>
    <p:sldId id="1034" r:id="rId18"/>
    <p:sldId id="1374" r:id="rId19"/>
    <p:sldId id="1372" r:id="rId20"/>
    <p:sldId id="1036" r:id="rId21"/>
    <p:sldId id="1393" r:id="rId22"/>
    <p:sldId id="1040" r:id="rId23"/>
    <p:sldId id="1042" r:id="rId24"/>
    <p:sldId id="1044" r:id="rId25"/>
    <p:sldId id="1043" r:id="rId26"/>
    <p:sldId id="1041" r:id="rId27"/>
    <p:sldId id="1392" r:id="rId28"/>
    <p:sldId id="1047" r:id="rId29"/>
    <p:sldId id="1048" r:id="rId30"/>
    <p:sldId id="1050" r:id="rId31"/>
    <p:sldId id="1051" r:id="rId32"/>
    <p:sldId id="1052" r:id="rId33"/>
    <p:sldId id="1053" r:id="rId34"/>
    <p:sldId id="1066" r:id="rId35"/>
    <p:sldId id="1049" r:id="rId36"/>
    <p:sldId id="1054" r:id="rId37"/>
    <p:sldId id="1067" r:id="rId38"/>
    <p:sldId id="1068" r:id="rId39"/>
    <p:sldId id="1055" r:id="rId40"/>
    <p:sldId id="1056" r:id="rId41"/>
    <p:sldId id="1057" r:id="rId42"/>
    <p:sldId id="1373" r:id="rId43"/>
    <p:sldId id="1376" r:id="rId44"/>
    <p:sldId id="1380" r:id="rId45"/>
    <p:sldId id="1197" r:id="rId46"/>
    <p:sldId id="1390" r:id="rId47"/>
    <p:sldId id="1387" r:id="rId48"/>
    <p:sldId id="1388" r:id="rId49"/>
    <p:sldId id="1386" r:id="rId50"/>
    <p:sldId id="1389" r:id="rId51"/>
    <p:sldId id="1064" r:id="rId52"/>
    <p:sldId id="1065" r:id="rId53"/>
    <p:sldId id="1199" r:id="rId54"/>
    <p:sldId id="1395" r:id="rId55"/>
    <p:sldId id="1073" r:id="rId56"/>
    <p:sldId id="1206" r:id="rId57"/>
    <p:sldId id="1307" r:id="rId58"/>
    <p:sldId id="1205" r:id="rId59"/>
    <p:sldId id="1324" r:id="rId60"/>
    <p:sldId id="1385" r:id="rId61"/>
    <p:sldId id="1396" r:id="rId62"/>
    <p:sldId id="1271" r:id="rId63"/>
    <p:sldId id="1273" r:id="rId64"/>
    <p:sldId id="1274" r:id="rId65"/>
    <p:sldId id="1275" r:id="rId66"/>
    <p:sldId id="1276" r:id="rId67"/>
    <p:sldId id="1278" r:id="rId68"/>
    <p:sldId id="1288" r:id="rId69"/>
    <p:sldId id="1289" r:id="rId70"/>
    <p:sldId id="1384" r:id="rId7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6EA"/>
    <a:srgbClr val="FAE2F6"/>
    <a:srgbClr val="170981"/>
    <a:srgbClr val="121328"/>
    <a:srgbClr val="D7FDF9"/>
    <a:srgbClr val="003366"/>
    <a:srgbClr val="0066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2" autoAdjust="0"/>
    <p:restoredTop sz="94667" autoAdjust="0"/>
  </p:normalViewPr>
  <p:slideViewPr>
    <p:cSldViewPr>
      <p:cViewPr>
        <p:scale>
          <a:sx n="100" d="100"/>
          <a:sy n="100" d="100"/>
        </p:scale>
        <p:origin x="-624" y="456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812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2.xml"/><Relationship Id="rId13" Type="http://schemas.openxmlformats.org/officeDocument/2006/relationships/slide" Target="slides/slide61.xml"/><Relationship Id="rId3" Type="http://schemas.openxmlformats.org/officeDocument/2006/relationships/slide" Target="slides/slide11.xml"/><Relationship Id="rId7" Type="http://schemas.openxmlformats.org/officeDocument/2006/relationships/slide" Target="slides/slide51.xml"/><Relationship Id="rId12" Type="http://schemas.openxmlformats.org/officeDocument/2006/relationships/slide" Target="slides/slide58.xml"/><Relationship Id="rId2" Type="http://schemas.openxmlformats.org/officeDocument/2006/relationships/slide" Target="slides/slide5.xml"/><Relationship Id="rId1" Type="http://schemas.openxmlformats.org/officeDocument/2006/relationships/slide" Target="slides/slide3.xml"/><Relationship Id="rId6" Type="http://schemas.openxmlformats.org/officeDocument/2006/relationships/slide" Target="slides/slide19.xml"/><Relationship Id="rId11" Type="http://schemas.openxmlformats.org/officeDocument/2006/relationships/slide" Target="slides/slide56.xml"/><Relationship Id="rId5" Type="http://schemas.openxmlformats.org/officeDocument/2006/relationships/slide" Target="slides/slide16.xml"/><Relationship Id="rId10" Type="http://schemas.openxmlformats.org/officeDocument/2006/relationships/slide" Target="slides/slide55.xml"/><Relationship Id="rId4" Type="http://schemas.openxmlformats.org/officeDocument/2006/relationships/slide" Target="slides/slide15.xml"/><Relationship Id="rId9" Type="http://schemas.openxmlformats.org/officeDocument/2006/relationships/slide" Target="slides/slide54.xml"/><Relationship Id="rId14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4CDA28B-9255-454C-B7DA-D7964C6BFA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C3BC6208-3F49-4635-85A0-D722CC07F8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C5CBC6B2-FF16-40C2-8609-1757E505D4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201662A9-0326-4FA9-BE02-0CF8806398D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A89C1C30-0AA8-4ACC-9E8C-4FE2B0ED8E2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A26C6F0-C206-464D-AF31-AD2AD2DBE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776DECA-142D-4357-A1D6-7FAFF708A99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5BB1534D-2E37-4BAD-935E-DBDE410F71AD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204C0D58-00BE-40B6-AA37-6C46FFEFAB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23441738-F8CE-4393-A36E-32CE620673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2AA2C53B-0B09-441B-AC14-C99F856453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50722E5A-EC1C-4384-B675-67E7F89497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11E1BC7A-2BC0-4274-A873-F0A2F1BB4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065DFB4-845E-4596-8F6E-2976BA89B4C6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C1E58267-5AE8-44B1-A87F-F9925CC834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A14B3FF-341C-4AAA-BA2E-22A9AA4E38AA}" type="slidenum">
              <a:rPr lang="zh-CN" altLang="en-US" sz="1200">
                <a:latin typeface="Times New Roman" panose="02020603050405020304" pitchFamily="18" charset="0"/>
              </a:rPr>
              <a:pPr algn="r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4A1A722D-3256-4835-9501-93F3427CC8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EB9F4E60-A494-463E-BAF1-E5886E85B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15647E75-C960-463C-A696-2A3883F02E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98B675-D339-440C-B577-331CB1147537}" type="slidenum">
              <a:rPr lang="en-US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394C9BDA-6E82-437F-8B67-9A603BFD84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8DE204A-8B0E-4786-8DBE-220AC5BC0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8BBD2E2A-33E2-446B-9FB0-3071A357F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6AB1DDC-87B5-4B38-9BF3-1A0ECCA9B09C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38DC621-8527-43DE-8584-BBDAF015D4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36E0139-640C-4EEE-97AF-5F651992F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941ED24-3CFA-41BE-B6BB-CE9FE66011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991CEBC-61C0-4F5B-BB03-D5F064E3D208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34320E17-7A77-4EA8-828F-A4D62DECAE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BE32B04-28CE-4B62-8E93-9F72AF995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197DB47-BD7F-40D5-B841-566E2491E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C94DE5-B1FB-45FF-8219-DAB9E07B5806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5DD5CBA-0B60-451D-AEC9-71A38664F0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F100849F-5C89-4558-93DD-64AEF4B67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4CA71699-1426-4B49-A489-D724A5A51D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666B76-09B2-40F3-894E-A207DEB270B2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15CD7DE-DDCC-4A38-BA94-3E3BDEE0AA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91A123D-62D6-4138-8823-387BF691D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250F1BD-7C50-4BAB-BAE8-C227DD0DB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1738790-9945-43F8-9268-AB734971FB83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70443C00-3B06-46F4-A51A-B5C1EEB2BE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CD3AF840-64F1-4D29-A406-020125F06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19A8EF0-AE96-4536-9BA3-C942E7C69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A9B02C6-E9EE-43A2-8504-F00C1A9376BE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9EA0334D-EFAA-4B4E-A7CB-5215E7C277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1390E14-B103-40E9-BFE5-DE7151C37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A55D68C-B0C1-4C2F-ABC6-6548D94A9E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BCC9CDB-FB47-48DE-991E-5BFE7B9D1ED5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6B41B96-CE42-48EB-970A-7864A59F010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AA4FD05-900A-44D6-ABAB-489A6E13B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07D4E936-3C8C-4381-8379-2D3FC0F1F1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E42BB08-8CD1-469F-8A0B-BCA7BED232AA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BE0F2EC-07AE-486D-93C0-082C549758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96CBF94E-B84B-4C85-8F16-7AADD4EEF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AFFEB177-78E9-4F82-99DD-B9DBBE7124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0A09092-448E-47ED-9953-B4E3835ABED9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D5E3726-B6B2-42FD-AAD4-52F00D4CFD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44A78419-147A-4278-8241-99AEF9F1E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EEA1BFC-3C0A-43D5-AC9B-E7715F457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375947F-A082-47CF-9A64-155FDFA97905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BC14A1C-1105-445D-98F3-DE28222233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7E205E27-5843-404E-ABBB-DB1C3DD89E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5DEE9C1E-9E76-4B9C-B6B1-9B8CEA5AF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062AD6-4DEE-41F8-A77D-DEF04F2EC5CA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214A75C-C429-4F17-9C80-54A541633F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86EBDF5-C9F9-48A5-954D-45145BA9E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E6C089A-4C58-4F38-A904-228A2DB76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C3916C2-D9AA-4D78-A363-D25B50F43EBC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516C7BC5-ADC9-4734-8B57-D48ACA2081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23B3EBC8-8F91-4379-B3C6-9EE3DD58B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C94F237D-91A4-4410-B346-69D4C77D50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3D817D2-D8B9-4CDA-B420-C20D113A82AB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B08B33D-230A-4847-AA32-B4641B2CCA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DE237DBE-DF3E-4BD9-934F-AAC6F1C08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1EB58807-5C62-45D7-B3BF-AE2019964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42DC46-A40C-4714-AC0E-D4845E6F6144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7E59C552-C8A9-44ED-BC11-14D28C12CB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7F9E5FE-694C-4267-8FF8-E93800947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BF515C1-4CDB-4268-8C36-958D7E5C8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59FBB7-7ED8-427B-89E6-35F816D56C5E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1777C57-D282-4EE0-AD5A-721D5BF4AD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7A9BC91-4FF6-43A2-8F5A-C36D897C4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0905439-8A0B-4622-B706-B3CD843C25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D9A92BF-15D6-4608-A8BD-3A205BE59338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430667A-C50C-4269-955C-CF522048F03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69EF87A-B687-4A0E-91AE-110446B25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6614D25D-2A21-470E-B89A-4F3DDDADAB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F438661-F000-474C-95B8-21842581AC99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020A1825-A654-4500-9303-CBBE13C54D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90568E0-4DF1-4119-9968-D1E7EB7EF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5A317CE6-C8D4-4A20-B9AE-9484B3F2B7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305" tIns="46153" rIns="92305" bIns="46153" anchor="b"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FE817F8D-92F6-4030-9A54-5C7AFE88E68D}" type="slidenum">
              <a:rPr lang="en-US" altLang="en-US" sz="1200">
                <a:latin typeface="Times New Roman" panose="02020603050405020304" pitchFamily="18" charset="0"/>
              </a:rPr>
              <a:pPr algn="r"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A3827E2-9BDD-4966-9615-3B1E28765C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6C398B8-52D1-4FDE-984C-AD20FC785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B19AAA-C821-46D4-BB2C-FF42DA55BA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74EE8EA-FA92-4F46-9739-6FC0E27BA2B6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5E4C04BD-3665-4CE4-AC86-D99170770A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A648AE4-242E-4960-9731-308927AD7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2B53B0CC-DC62-4BC7-839D-254317113A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A7E6180-398F-4E7C-957F-CA03F3D46BEA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B03092DB-90CF-42AA-93EC-201980A1FB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1561CAA7-92A2-4206-99FD-571B31EE1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26BC3B91-D72E-4C2E-92B7-39238711E5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9BB6FF-E6D7-48EE-9175-ACAA0E2E49D2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65A7A737-EBAE-47A6-A6C7-DDAF4EDBF7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C09B224A-F169-45D6-81DE-61B64BD52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55F3B28-41FA-4777-A3E3-9A60F249EA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23F7CE0-D62F-4939-B437-916982A2A0C5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9CB73A32-5900-4358-8214-29986B4297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DF1F48FE-3CC5-4792-B83D-2A12F035E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D49AECE-E0E4-435C-8135-06E7F2A730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704D6F3-5B99-48D8-A05B-7B60031E63EF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EE123729-8C4E-42C6-92C5-DCD7C8F758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F2A634BF-157C-4161-82E8-076E7EF99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8AAF0513-2912-480A-AE33-CF00EDE186E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305" tIns="46153" rIns="92305" bIns="46153" anchor="b"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6BB53CC-D42C-4906-A765-C4A9C547154D}" type="slidenum">
              <a:rPr lang="en-US" altLang="en-US" sz="1200">
                <a:latin typeface="Times New Roman" panose="02020603050405020304" pitchFamily="18" charset="0"/>
              </a:rPr>
              <a:pPr algn="r"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FB62D376-AF72-444C-8AA6-3FB2E6BFE8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670564D-DF62-4449-A868-CFB5175259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61A73223-FAC3-4954-A84D-8977713FC6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C28A3F-F2DE-47C4-A5B7-AA8799B5FECF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CCF3A6BD-1D05-4565-A772-45A1338036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2900C7D4-4D5C-4737-89AC-BD053E5A0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20CD8986-AADC-4AD4-8282-B4344C293D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E6C5B5C-DDCB-49CC-A286-14964840D0DA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F6F4A4C3-44F9-453A-AC52-BB282B442C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D668DB3-AD12-442D-B7B1-B3DF728D4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BF628570-7A46-4ABA-9A23-7E375F58D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A2DEF34-61D1-4371-BD41-53583D8F1D19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8936951-715F-4D6E-B39B-36801B9080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AAF4DE3C-FB6A-415A-9230-88118885E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C85EC62-7F38-46B6-AAFE-6322F5593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FAD5A5F-BF57-4175-A58A-A9BA9860B243}" type="slidenum">
              <a:rPr lang="en-US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D5B73BC9-14CA-4232-A7A5-4119492277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29865654-A834-4533-AC79-C04F9BE19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58230ED8-8247-4997-BBB5-CE417FA31D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0344543-D16B-451A-8DAC-9D81F0014A31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1BAED33F-00CF-4052-B37B-003AFEA8D4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AB74CC-81D9-4603-B771-A432B5DB3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630F629-63E2-4C2D-BF42-1DD2D8F1C2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D9C73CF-1113-442B-BEBC-703F2CC7B241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E69BE7B3-6BC4-4C16-B600-8ADD232DC6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4FA90A2E-F008-45DF-AEBB-6AC6A7A556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252781A5-35F7-4170-8E95-0A28DABC0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1CBC2F-ED7D-4E6F-A3BA-7B8B0C0E65E2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0BD1EBBD-447A-4844-AE87-490C509A03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5783AADA-3846-4676-BD83-E90711BE1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C643AB90-583C-4011-8F5C-476034840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E6E974-49CB-467E-99F1-78B4DDA5E5C4}" type="slidenum">
              <a:rPr lang="en-US" altLang="en-US" sz="1200">
                <a:latin typeface="Times New Roman" panose="02020603050405020304" pitchFamily="18" charset="0"/>
              </a:rPr>
              <a:pPr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13D4726A-626C-4010-9465-9C76017FA2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96383CB-6CD5-4A0F-8053-B11C44FC2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2E2574DD-8A0F-42B0-A356-3B3A45F104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AE788BF-9190-4E69-B0A0-5CE3048D2235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559B7D4-9C51-4D25-9E8C-C9C3F57902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371F7014-A138-43D8-A8AD-576E8AC06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75B8B99-6F55-413D-8AFD-52BA3E509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254EB14-A8FD-4065-A33A-67BA66205D62}" type="slidenum">
              <a:rPr lang="en-US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B6C0CC8D-6872-4809-B7CB-23DFF3953E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76C64FFD-B59D-483F-803A-D69A0F50C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71BE99B1-E274-4711-A1A5-3AAA92F3CD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635DB4E-5A60-4C7C-8394-6B2688C51B28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CB5F0FF5-7681-4FC4-9C27-614D7D5D8A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E8D2BA34-9E81-4944-B677-152AA3099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4961AF0-3927-4957-84C9-EE02A8222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E4C7743-4496-4F83-8CA4-25F62755BCC5}" type="slidenum">
              <a:rPr lang="en-US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122C684-64C8-426F-9B6D-B85B0926DD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48A903D-F6A6-4A4C-A5EB-6AC512943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D02AC434-E7B2-4489-8905-55BAEAB77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5696FA-26A6-4B3A-8903-EBDAAEBBA7AA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B26C2C2A-CBBF-4527-88BA-A8765CFA4C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5DCA9FA-8D4D-4BCE-B4FA-DFBEDB8CE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2BD54E65-896B-4BC9-AE98-EC9A0A58E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8CFEFE7-94D5-4F7B-8778-7EEAFCD23757}" type="slidenum">
              <a:rPr lang="en-US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34C9A556-FF69-40DB-AF93-D56D015F62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7E43A3AC-D907-4790-9399-4643917D3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8A6FCBEA-1284-4718-9F3F-8334CDDEFE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32599D9-936D-45CA-B6B7-86B8A41A6240}" type="slidenum">
              <a:rPr lang="en-US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E739958C-CBCA-4DC3-A190-925B7889E3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0A87A361-D56A-4539-8DCF-7B8F947E6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504AAF3C-8C18-4A23-8D2E-3C7CA7556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D308C4-77EA-46D0-AC8D-1C4E34032901}" type="slidenum">
              <a:rPr lang="en-US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9518F36F-DD59-49AA-A127-7B04501E066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E7A0C799-29D9-4C69-9445-FCF2E040A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21D1E87-EB15-40EB-8203-F48AFAD75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1271031-D60B-4308-8FAE-1C1D0567EEC3}" type="slidenum">
              <a:rPr lang="en-US" altLang="en-US" sz="1200">
                <a:latin typeface="Times New Roman" panose="02020603050405020304" pitchFamily="18" charset="0"/>
              </a:rPr>
              <a:pPr/>
              <a:t>44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BAB4B2D4-0222-4B82-84CD-2D2B22E99D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9B1C920F-43B7-4024-8B93-8BC1EC6C4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966EEFB0-CA29-425E-8483-0D7213895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213FDD6-6DC2-49E9-B07E-1CFC08643957}" type="slidenum">
              <a:rPr lang="en-US" altLang="en-US" sz="1200">
                <a:latin typeface="Times New Roman" panose="02020603050405020304" pitchFamily="18" charset="0"/>
              </a:rPr>
              <a:pPr/>
              <a:t>45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F3566E19-B44E-4433-8BDA-00B41A76C6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93379795-E864-4C93-93CD-87C8B4095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5D24C476-1C5F-4BB7-B9D7-E692E1DAF96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305" tIns="46153" rIns="92305" bIns="46153" anchor="b"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240C7260-EF21-4113-A9F2-4EFE24D6A847}" type="slidenum">
              <a:rPr lang="en-US" altLang="en-US" sz="1200">
                <a:latin typeface="Times New Roman" panose="02020603050405020304" pitchFamily="18" charset="0"/>
              </a:rPr>
              <a:pPr algn="r"/>
              <a:t>46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0AC2366-30B7-485F-A308-61C0F3F0F1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B4CED19-E7D8-4719-BBF9-8E1B70B085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DBFB44E5-CD3D-42A4-8F14-55E9712375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D92E0F8-7B82-4418-B2A3-6BF8BCA23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5B862E32-271B-4458-B4F0-6E955D30EF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CFE6803-27E4-40E0-AF81-7239862B4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FC4A226-B442-4604-A7EA-6731293DCE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8CDAA73-15D0-45AD-8D93-51B66A2A1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58D180A4-F485-47FA-9751-36CC12D1D3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CB6998F8-7E91-4467-AA7A-F282E0CD7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59278393-5C21-4C85-BDDC-C648FA8D9B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8D0530E-837D-4D7A-98B0-7CBE094C9B39}" type="slidenum">
              <a:rPr lang="en-US" altLang="en-US" sz="1200">
                <a:latin typeface="Times New Roman" panose="02020603050405020304" pitchFamily="18" charset="0"/>
              </a:rPr>
              <a:pPr/>
              <a:t>51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A6480229-09A2-4748-8C86-3D2C1ACBAD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5372CBB-19E2-48E6-BE63-BCEBDE70F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E0B71060-76EB-4BE5-BB9D-56DD1B5FB1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4915520-B005-4D72-9D8D-C8DFA1B6B8BD}" type="slidenum">
              <a:rPr lang="en-US" altLang="en-US" sz="1200">
                <a:latin typeface="Times New Roman" panose="02020603050405020304" pitchFamily="18" charset="0"/>
              </a:rPr>
              <a:pPr/>
              <a:t>52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3FA6E7FA-22A0-4050-B7A7-B55F01A1DB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5ADA7543-145B-4044-81E7-945421ECA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DCC15B02-A129-4E30-9139-25A9BD7B57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B44632-343D-4181-8793-8262FCDA42F4}" type="slidenum">
              <a:rPr lang="en-US" altLang="en-US" sz="1200">
                <a:latin typeface="Times New Roman" panose="02020603050405020304" pitchFamily="18" charset="0"/>
              </a:rPr>
              <a:pPr/>
              <a:t>53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99C3B69E-1560-4C33-9EDE-9F4D928B37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7EF0176F-0031-4532-A538-C3144158B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E72954A1-70DD-4482-88F6-0C9C42D79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23404B0-8E64-4FC6-8D48-58F4A374C2F1}" type="slidenum">
              <a:rPr lang="en-US" altLang="en-US" sz="1200">
                <a:latin typeface="Times New Roman" panose="02020603050405020304" pitchFamily="18" charset="0"/>
              </a:rPr>
              <a:pPr/>
              <a:t>54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85D5A11-FCEB-43E9-97F8-F587574C97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25CFD615-0961-49C9-B5E1-2DDF6F948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E3E60E8D-36CD-4FFB-B740-BB5C6D3EC3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6C52748-88A2-41E6-8A42-B39F16C5FAE5}" type="slidenum">
              <a:rPr lang="en-US" altLang="en-US" sz="1200">
                <a:latin typeface="Times New Roman" panose="02020603050405020304" pitchFamily="18" charset="0"/>
              </a:rPr>
              <a:pPr/>
              <a:t>55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A80DFD09-0DF7-4CD9-94DA-1798317098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AD1C42F5-C932-49C8-8A9E-1C1C0749B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E4AE41E2-2A9E-4855-BF44-A2006BCD27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0241553-854A-428D-9F8F-FF92EC0220A9}" type="slidenum">
              <a:rPr lang="en-US" altLang="en-US" sz="1200">
                <a:latin typeface="Times New Roman" panose="02020603050405020304" pitchFamily="18" charset="0"/>
              </a:rPr>
              <a:pPr/>
              <a:t>56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162B4550-F0F3-4B6A-BE00-7CAD891B15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3BBA74E3-A06D-40B8-BAB6-31C2330A9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289F142B-7609-4593-A74C-6CC511B953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A81881F-3770-42E4-8377-2AFB715D338B}" type="slidenum">
              <a:rPr lang="en-US" altLang="en-US" sz="1200">
                <a:latin typeface="Times New Roman" panose="02020603050405020304" pitchFamily="18" charset="0"/>
              </a:rPr>
              <a:pPr/>
              <a:t>57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64097BDF-B2AD-4ACC-AD66-A7E9B04990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75174E8F-1901-4E1E-A466-862D47444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50DFCE52-9694-499E-92A6-819364CEFD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C25315E-0471-4A30-8AC6-6B9B5560646C}" type="slidenum">
              <a:rPr lang="en-US" altLang="en-US" sz="1200">
                <a:latin typeface="Times New Roman" panose="02020603050405020304" pitchFamily="18" charset="0"/>
              </a:rPr>
              <a:pPr/>
              <a:t>58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C8508BBF-87F1-4141-AFC8-56E817135A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3A57C83E-D14A-474E-8634-AC04B209B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CC55139A-39E1-4411-B81B-5CAAB774E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C48224-DC7C-42C5-8945-3A58F9C307C0}" type="slidenum">
              <a:rPr lang="en-US" altLang="en-US" sz="1200">
                <a:latin typeface="Times New Roman" panose="02020603050405020304" pitchFamily="18" charset="0"/>
              </a:rPr>
              <a:pPr/>
              <a:t>59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34FECA6B-C38A-4095-A10C-14441BFEF5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78A91C2-B788-4385-83DD-64BBA66D3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3ECFD8E6-3C81-40C1-AFEF-5177B52305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2A7FFB60-2AA5-4666-9DD0-3D76B5AF9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57CD5B53-A2AA-4D4D-B450-461923DEB0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BB3036D-E90C-4626-A051-85FD4B6FB438}" type="slidenum">
              <a:rPr lang="en-US" altLang="en-US" sz="1200">
                <a:latin typeface="Times New Roman" panose="02020603050405020304" pitchFamily="18" charset="0"/>
              </a:rPr>
              <a:pPr/>
              <a:t>61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77AAF93B-5947-4D98-B3F5-833800A996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03639A30-D4C5-43EA-B642-FF6CF4E84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80E984B2-A248-4625-A510-EF7B86436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286DC05-55F8-415F-8B16-21AF96D821D6}" type="slidenum">
              <a:rPr lang="en-US" altLang="en-US" sz="1200">
                <a:latin typeface="Times New Roman" panose="02020603050405020304" pitchFamily="18" charset="0"/>
              </a:rPr>
              <a:pPr/>
              <a:t>62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73D13530-6C2D-46FF-85DB-5AAA0B79DD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312AFEB2-91E8-4F19-8998-A63A19EB2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357AB250-2F6D-4715-870C-05AC884FE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6C4E2B0-8019-4D55-8DC7-1794683F0E4E}" type="slidenum">
              <a:rPr lang="en-US" altLang="en-US" sz="1200">
                <a:latin typeface="Times New Roman" panose="02020603050405020304" pitchFamily="18" charset="0"/>
              </a:rPr>
              <a:pPr/>
              <a:t>63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48BFAE49-5813-4900-A0D1-C0E237CFCD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83B69056-F3D8-4B12-BBD3-267C970C0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D91A7AEB-CD0C-4518-9C64-2D33DFCE2B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0DD46DF-3E61-42DF-9973-36E6CC385C21}" type="slidenum">
              <a:rPr lang="en-US" altLang="en-US" sz="1200">
                <a:latin typeface="Times New Roman" panose="02020603050405020304" pitchFamily="18" charset="0"/>
              </a:rPr>
              <a:pPr/>
              <a:t>64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91C34141-9C1D-4725-8105-7FECDDAD95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E91F3021-BB33-46E2-B0D5-45BFD07CE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3B867869-B65F-49C2-B156-A06B65B0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E97816A-7D2A-492A-A0C3-B1D76B309A75}" type="slidenum">
              <a:rPr lang="en-US" altLang="en-US" sz="1200">
                <a:latin typeface="Times New Roman" panose="02020603050405020304" pitchFamily="18" charset="0"/>
              </a:rPr>
              <a:pPr/>
              <a:t>65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BCE22B9D-49D5-44DC-A2BB-66722B04EA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4371A95A-5FDB-4168-BDFC-CA818695B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B60EEEC8-4B69-4DD5-A5E4-49125F6CD8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F63F55-B8C3-4FF4-B5B1-A945311BDB6D}" type="slidenum">
              <a:rPr lang="en-US" altLang="en-US" sz="1200">
                <a:latin typeface="Times New Roman" panose="02020603050405020304" pitchFamily="18" charset="0"/>
              </a:rPr>
              <a:pPr/>
              <a:t>66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61699755-0B1B-4533-978A-0819C636CD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6CCC742-947E-4F44-8D46-988DBC033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679FE8F1-257D-47B3-9327-452E7F8F5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751889A-6885-4764-BD82-69E6C89759A4}" type="slidenum">
              <a:rPr lang="en-US" altLang="en-US" sz="1200">
                <a:latin typeface="Times New Roman" panose="02020603050405020304" pitchFamily="18" charset="0"/>
              </a:rPr>
              <a:pPr/>
              <a:t>67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587B47AF-AD45-435D-AAF2-28A78AE7BE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335ED080-76CF-4E6F-856D-571557FA2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10D72C8D-8F90-4177-B28C-6FC780E5B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B7DC707-4DEB-4946-90F9-EE43EFE77A28}" type="slidenum">
              <a:rPr lang="en-US" altLang="en-US" sz="1200">
                <a:latin typeface="Times New Roman" panose="02020603050405020304" pitchFamily="18" charset="0"/>
              </a:rPr>
              <a:pPr/>
              <a:t>68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02B003E7-0D7F-4A70-96B6-9BB10519B8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1C8DC290-9B52-4EB2-A3E5-3AECEF7AF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AA284F29-A38D-448F-92D3-367AC7B894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E235E04-2618-4F2B-8E39-F0977FBE51A5}" type="slidenum">
              <a:rPr lang="en-US" altLang="en-US" sz="1200">
                <a:latin typeface="Times New Roman" panose="02020603050405020304" pitchFamily="18" charset="0"/>
              </a:rPr>
              <a:pPr/>
              <a:t>69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D7F965C-4E50-4AC6-B30A-4BECD015D7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5BA6E2FB-332A-45B0-8573-FDE3FA2CE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5E0C10DC-9136-4434-B5F7-4E1C3AB362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1AA219D-CBB4-47F6-B001-7C65FADD4EEB}" type="slidenum">
              <a:rPr lang="en-US" altLang="en-US" sz="1200">
                <a:latin typeface="Times New Roman" panose="02020603050405020304" pitchFamily="18" charset="0"/>
              </a:rPr>
              <a:pPr/>
              <a:t>70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D79D9461-E2C9-43F5-95CA-1073699A54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42AC4F39-A4F1-4BE3-985E-6FF84D951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778E497-CE5C-4EE5-8253-BD957E470A7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62F604D0-8771-451F-A409-FDB51CAE9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1CBAE1A5-E808-4932-9B20-0A1FBEFE0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535E001B-801D-4D45-9B7E-D2200098A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E255F05-0578-4CF9-ABE4-4275C0D13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7F5DE349-0935-4D46-BBAF-76DE5770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DD9FB2C1-E47F-4C5F-B8A5-37D2C02CD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5C79116-309F-41F4-83AB-DE930049E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717C52F-FD3D-4F24-BC04-2C81FF303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2C39845E-9088-4BBA-9A41-519C33392E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83EB7DF-574A-4133-86B0-8F7969DA29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F3C15F1-F6D3-4BE3-84D2-083D7771188B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F22D6332-FA37-4CB6-9F29-B797EC437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1316B7D-9908-40FD-94B2-22A038074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1D48EB41-5E88-490A-A248-4E3DBAEFE1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109457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D9C3447A-CA6C-49A4-ABAD-47D22EA0E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B23CF-0A57-49ED-8A98-CF26BA4C0BEE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776C8DC6-0D7C-473B-8589-2513AEF510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14BB081-BCAB-4A2F-8492-1A676469B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9C1AEF-06E8-486A-A242-971D5047EE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676328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B1B3B60A-4608-4F0B-8A70-4BF2835BCC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E2DBE-EA20-458D-9F2F-E176F651742F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9CB2EDA8-8F67-4E11-B23B-A13501870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47FB8605-A7AF-456F-8064-7272B3684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6B6DB6-2112-420F-90CF-3BC9046691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002279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3B84B0C6-74F1-49CE-832A-DE367B0C4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E7A5-C2A9-4F0E-975B-E29D4B0DC492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B2008FDC-52E0-4CFF-9AEE-56DDAFB2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8F85EC01-EBF2-4479-A918-8A9BE59078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B569A1-4B0D-4464-AF81-0B2E9B120C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636823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59">
            <a:extLst>
              <a:ext uri="{FF2B5EF4-FFF2-40B4-BE49-F238E27FC236}">
                <a16:creationId xmlns:a16="http://schemas.microsoft.com/office/drawing/2014/main" id="{2AF2DA55-E7EB-41D9-96C8-ADC042415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350E9-DC44-4940-8DC0-C0BFEB05BC02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8" name="Rectangle 2060">
            <a:extLst>
              <a:ext uri="{FF2B5EF4-FFF2-40B4-BE49-F238E27FC236}">
                <a16:creationId xmlns:a16="http://schemas.microsoft.com/office/drawing/2014/main" id="{9B9E8296-2BC5-4504-820C-BAD702064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Rectangle 2061">
            <a:extLst>
              <a:ext uri="{FF2B5EF4-FFF2-40B4-BE49-F238E27FC236}">
                <a16:creationId xmlns:a16="http://schemas.microsoft.com/office/drawing/2014/main" id="{EED2C10E-174A-4091-95E8-5D391886BA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A79E26-A70B-4FBB-AD61-A0F78E8DA5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290174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9">
            <a:extLst>
              <a:ext uri="{FF2B5EF4-FFF2-40B4-BE49-F238E27FC236}">
                <a16:creationId xmlns:a16="http://schemas.microsoft.com/office/drawing/2014/main" id="{925C7EEC-6EAA-44DA-9925-1DCEDA7C1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E1819-A13E-4448-B734-C99342F2ED05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4" name="Rectangle 2060">
            <a:extLst>
              <a:ext uri="{FF2B5EF4-FFF2-40B4-BE49-F238E27FC236}">
                <a16:creationId xmlns:a16="http://schemas.microsoft.com/office/drawing/2014/main" id="{30676C5E-0F0C-4FC7-B597-E379592302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BFB849FE-377E-4975-A82F-3B5EC78A73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506396-AE5B-4F06-A1EB-1A110BDAEB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603467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>
            <a:extLst>
              <a:ext uri="{FF2B5EF4-FFF2-40B4-BE49-F238E27FC236}">
                <a16:creationId xmlns:a16="http://schemas.microsoft.com/office/drawing/2014/main" id="{4C37953F-3AA3-43A4-A78B-EB0445D19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2339E-35D2-422F-A05B-5C3964918A7A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3" name="Rectangle 2060">
            <a:extLst>
              <a:ext uri="{FF2B5EF4-FFF2-40B4-BE49-F238E27FC236}">
                <a16:creationId xmlns:a16="http://schemas.microsoft.com/office/drawing/2014/main" id="{A7E55AA4-32B8-46C3-9244-2202A535E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11415698-72AB-4EE3-9FD6-5E199B6456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4E5EBF-7036-47EA-AAC3-8853495F73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9902428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AC450CCD-8D7A-4B4E-8C32-A61BB0BFDA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FA1E5-F867-44E0-89A7-8C15FAB10A7A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92FB669A-C8F6-450A-9870-BCBF301F41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D97BAE70-D466-4F63-8810-4D3310A67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E72DE-CA9E-4F9A-BE71-8CC8830DE4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585566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AE8742E6-F50A-4D50-BEAE-17AE299B7B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12385-874E-4F7E-8444-400AA76A2CE2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1FFAA8DA-5750-4878-852E-B5F58B3FB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5FA8D603-5DEB-4296-AAD0-BF2A20696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195834-CD9E-4C5A-854D-4B45538200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770811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F161BD4A-1B09-4996-8A81-9FA87A9018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307D1-1346-42BA-BE95-C80E6DDBC3A6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AF263C9F-CEA6-47BA-94E1-0278984F4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3C920C08-74A9-4C46-A7AF-F1FB7AC33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75043-03E7-4F91-A037-23BB0DC23C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954404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340C2811-89AF-4D4A-81D3-35E4F3E92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B4605-CD6D-469E-A65C-B57E856720AC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CE8C3B27-63A6-41FD-A5A9-D605640AF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3F4CAB0D-E4D7-4C9D-9A1D-CF88154ABD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F7C373-175A-4FE6-A4E4-FF3D097A96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561092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DD4C3F31-D9FA-4D75-942D-291AAF111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8AD8E-9A7C-43A5-939B-03C4F72246C5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20CBF296-2237-48C6-BFE9-087B518884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68C0C3D2-8FBD-4B8B-934F-68F4DF04D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50305-C5B5-4AC1-B92B-BA463A1A8D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534295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59">
            <a:extLst>
              <a:ext uri="{FF2B5EF4-FFF2-40B4-BE49-F238E27FC236}">
                <a16:creationId xmlns:a16="http://schemas.microsoft.com/office/drawing/2014/main" id="{D97D8557-DBED-4BFE-93E3-E2785C5E39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91081-B2B3-4037-BEB0-3DCD44AD20B6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7" name="Rectangle 2060">
            <a:extLst>
              <a:ext uri="{FF2B5EF4-FFF2-40B4-BE49-F238E27FC236}">
                <a16:creationId xmlns:a16="http://schemas.microsoft.com/office/drawing/2014/main" id="{D55BC1F6-A1E6-4E93-81AF-52395B060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>
            <a:extLst>
              <a:ext uri="{FF2B5EF4-FFF2-40B4-BE49-F238E27FC236}">
                <a16:creationId xmlns:a16="http://schemas.microsoft.com/office/drawing/2014/main" id="{89BDE4AE-6D4B-47B8-ACF9-55AD5AF34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24F8A-765D-4710-A4CF-4CB0F474C0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761630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>
            <a:extLst>
              <a:ext uri="{FF2B5EF4-FFF2-40B4-BE49-F238E27FC236}">
                <a16:creationId xmlns:a16="http://schemas.microsoft.com/office/drawing/2014/main" id="{027259F7-AFC1-4ECE-BA67-8F51653EC0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" y="1219200"/>
            <a:ext cx="8410575" cy="46038"/>
          </a:xfrm>
          <a:prstGeom prst="rect">
            <a:avLst/>
          </a:prstGeom>
          <a:gradFill rotWithShape="0">
            <a:gsLst>
              <a:gs pos="0">
                <a:schemeClr val="accent1">
                  <a:alpha val="50000"/>
                </a:schemeClr>
              </a:gs>
              <a:gs pos="100000">
                <a:schemeClr val="folHlink">
                  <a:alpha val="50000"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A36D8AFA-3B32-4C74-A023-DB93156D1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0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430D1CD4-7FC9-49FD-B4AA-081A5666D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8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79" name="Rectangle 2059">
            <a:extLst>
              <a:ext uri="{FF2B5EF4-FFF2-40B4-BE49-F238E27FC236}">
                <a16:creationId xmlns:a16="http://schemas.microsoft.com/office/drawing/2014/main" id="{7BE2878E-D076-441C-8887-E6023A2BF5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54B2977D-97A7-48E6-9B78-F0603B497067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928780" name="Rectangle 2060">
            <a:extLst>
              <a:ext uri="{FF2B5EF4-FFF2-40B4-BE49-F238E27FC236}">
                <a16:creationId xmlns:a16="http://schemas.microsoft.com/office/drawing/2014/main" id="{BE057C7B-F0F7-4C0E-BA81-DD1184B415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01873DEC-593E-4F7A-9353-7B017FBF9A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9056AA-DEF5-4A9A-897F-41355F76354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ransition spd="med"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54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uiuc.edu/~hanj/pdf/pkdd07_twu.pdf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>
            <a:extLst>
              <a:ext uri="{FF2B5EF4-FFF2-40B4-BE49-F238E27FC236}">
                <a16:creationId xmlns:a16="http://schemas.microsoft.com/office/drawing/2014/main" id="{6C84E843-E1BA-4EDB-AA84-C5A1AF0F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F6B719-E4AF-4233-ABB4-C578324FE11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834CEFE2-FF67-496E-A03C-82C127111C4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881E9E4-804F-44A1-A0E0-AB804CBEC8CC}" type="slidenum">
              <a:rPr lang="zh-CN" altLang="en-US" sz="1200">
                <a:ea typeface="SimSun" panose="02010600030101010101" pitchFamily="2" charset="-122"/>
              </a:rPr>
              <a:pPr algn="r" eaLnBrk="1" hangingPunct="1"/>
              <a:t>1</a:t>
            </a:fld>
            <a:endParaRPr lang="en-US" altLang="zh-CN" sz="1200">
              <a:ea typeface="SimSun" panose="02010600030101010101" pitchFamily="2" charset="-122"/>
            </a:endParaRPr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96A7750F-885A-43DC-9026-9F731D56D3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077200" cy="3886200"/>
          </a:xfrm>
        </p:spPr>
        <p:txBody>
          <a:bodyPr/>
          <a:lstStyle/>
          <a:p>
            <a:pPr eaLnBrk="1" hangingPunct="1"/>
            <a:r>
              <a:rPr lang="en-US" altLang="en-US" sz="6000"/>
              <a:t>Data Mining: </a:t>
            </a:r>
            <a:br>
              <a:rPr lang="en-US" altLang="en-US" sz="6000"/>
            </a:br>
            <a:r>
              <a:rPr lang="en-US" altLang="en-US" sz="6000"/>
              <a:t> </a:t>
            </a:r>
            <a:r>
              <a:rPr lang="en-US" altLang="en-US" sz="4800"/>
              <a:t>Concepts and Techniques</a:t>
            </a:r>
            <a:br>
              <a:rPr lang="en-US" altLang="en-US" sz="4800"/>
            </a:br>
            <a:r>
              <a:rPr lang="en-US" altLang="en-US" sz="4800"/>
              <a:t> </a:t>
            </a:r>
            <a:r>
              <a:rPr lang="en-US" altLang="en-US" sz="2800"/>
              <a:t>(3</a:t>
            </a:r>
            <a:r>
              <a:rPr lang="en-US" altLang="en-US" sz="2800" baseline="30000"/>
              <a:t>rd</a:t>
            </a:r>
            <a:r>
              <a:rPr lang="en-US" altLang="en-US" sz="2800"/>
              <a:t> ed.)</a:t>
            </a:r>
            <a:br>
              <a:rPr lang="en-US" altLang="en-US" sz="4800"/>
            </a:br>
            <a:br>
              <a:rPr lang="en-US" altLang="en-US" sz="4800"/>
            </a:br>
            <a:r>
              <a:rPr lang="en-US" altLang="en-US" sz="3200"/>
              <a:t>— Chapter 6</a:t>
            </a:r>
            <a:r>
              <a:rPr lang="en-US" altLang="en-US" sz="2800"/>
              <a:t> —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CBB8480E-3112-4B96-9E69-20AF787CB2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4419600"/>
            <a:ext cx="8610600" cy="1905000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Jiawei Han, Micheline Kamber, and Jian Pei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University of Illinois at Urbana-Champaign &amp;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Simon Fraser University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©2011 Han, Kamber &amp; Pei. 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1">
            <a:extLst>
              <a:ext uri="{FF2B5EF4-FFF2-40B4-BE49-F238E27FC236}">
                <a16:creationId xmlns:a16="http://schemas.microsoft.com/office/drawing/2014/main" id="{F1B545E0-08CF-443A-B8B3-747169D039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9977D6-7559-494F-BA7A-7B8ED5607C7D}" type="datetime4">
              <a:rPr lang="en-US" altLang="en-US" sz="1200" smtClean="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4099" name="Footer Placeholder 2">
            <a:extLst>
              <a:ext uri="{FF2B5EF4-FFF2-40B4-BE49-F238E27FC236}">
                <a16:creationId xmlns:a16="http://schemas.microsoft.com/office/drawing/2014/main" id="{8E06F5BC-66B9-4E95-A2B1-88CA0D1F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05EE71AE-3BD8-4034-80C0-11ABD46D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EF769F7-D7B0-432C-976E-3865277E5F5E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pic>
        <p:nvPicPr>
          <p:cNvPr id="4101" name="Picture 2" descr="C:\Users\Han\Pictures\2011\2011_09_Athens\2011_09_07_Athens\IMG_2676.JPG">
            <a:extLst>
              <a:ext uri="{FF2B5EF4-FFF2-40B4-BE49-F238E27FC236}">
                <a16:creationId xmlns:a16="http://schemas.microsoft.com/office/drawing/2014/main" id="{0E1FB01D-521A-4C2B-BD0E-6258DCAC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>
            <a:extLst>
              <a:ext uri="{FF2B5EF4-FFF2-40B4-BE49-F238E27FC236}">
                <a16:creationId xmlns:a16="http://schemas.microsoft.com/office/drawing/2014/main" id="{484E5CC5-36C2-4105-9306-AAF4E110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B3EF1D1-EEFA-46A8-9A78-0F49EFBE83A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4B220A3-81CF-4DA5-82A3-BC81671AD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5: Mining Frequent Patterns, Association and Correlations: Basic Concepts and Methods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3EC4DAF-9976-45C1-A448-983E9F4037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458200" cy="51054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Basic Concepts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Frequent Itemset Mining Methods 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Which Patterns Are Interesting?—Pattern Evaluation Methods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5125" name="AutoShape 4">
            <a:extLst>
              <a:ext uri="{FF2B5EF4-FFF2-40B4-BE49-F238E27FC236}">
                <a16:creationId xmlns:a16="http://schemas.microsoft.com/office/drawing/2014/main" id="{DFCAFC48-DC26-4787-9E71-9D2CB3D99532}"/>
              </a:ext>
            </a:extLst>
          </p:cNvPr>
          <p:cNvSpPr>
            <a:spLocks noChangeArrowheads="1"/>
          </p:cNvSpPr>
          <p:nvPr/>
        </p:nvSpPr>
        <p:spPr bwMode="auto">
          <a:xfrm rot="-1053010">
            <a:off x="3657600" y="1593850"/>
            <a:ext cx="522288" cy="381000"/>
          </a:xfrm>
          <a:prstGeom prst="leftArrow">
            <a:avLst>
              <a:gd name="adj1" fmla="val 50000"/>
              <a:gd name="adj2" fmla="val 34271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5859058B-2719-43F2-85A0-7500AB03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A9234AC-E9E7-44AB-9D4E-6AEDFA3B56F6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0153BAF-7AD2-400F-98EC-C83808768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620000" cy="762000"/>
          </a:xfrm>
        </p:spPr>
        <p:txBody>
          <a:bodyPr/>
          <a:lstStyle/>
          <a:p>
            <a:pPr eaLnBrk="1" hangingPunct="1"/>
            <a:r>
              <a:rPr lang="en-US" altLang="en-US"/>
              <a:t>What Is Frequent Pattern Analysis?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D155C18-6367-4BAB-87EE-AE6A1EC1E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1816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Frequent pattern</a:t>
            </a:r>
            <a:r>
              <a:rPr lang="en-US" altLang="en-US" sz="2000"/>
              <a:t>: a pattern (a set of items, subsequences, substructures, etc.) that occurs frequently in a data set 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2000"/>
              <a:t>First proposed by Agrawal, Imielinski, and Swami [AIS93] in the context of </a:t>
            </a:r>
            <a:r>
              <a:rPr lang="en-US" altLang="en-US" sz="2000">
                <a:solidFill>
                  <a:schemeClr val="hlink"/>
                </a:solidFill>
              </a:rPr>
              <a:t>frequent itemsets</a:t>
            </a:r>
            <a:r>
              <a:rPr lang="en-US" altLang="en-US" sz="2000"/>
              <a:t> and </a:t>
            </a:r>
            <a:r>
              <a:rPr lang="en-US" altLang="en-US" sz="2000">
                <a:solidFill>
                  <a:schemeClr val="hlink"/>
                </a:solidFill>
              </a:rPr>
              <a:t>association rule mining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Motivation: Finding inherent regularities in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What products were often purchased together?— Beer and diapers?!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What are the subsequent purchases after buying a PC?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What kinds of DNA are sensitive to this new drug?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Can we automatically classify web documents?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2000"/>
              <a:t>Applications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2000"/>
              <a:t>Basket data analysis, cross-marketing, catalog design, sale campaign analysis, Web log (click stream) analysis, and DNA sequence analysis.</a:t>
            </a:r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7D8E5621-7F9C-43A8-A60A-095FBC9A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8C4FB44-6285-43BD-AD84-D41CD9595720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3BAAAA4-F841-4F6A-BAA3-E0FCD8684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620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Why Is Freq. Pattern Mining Important?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16A3061-5C40-4707-B6AD-5FAA5715A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 eaLnBrk="1" hangingPunct="1"/>
            <a:r>
              <a:rPr lang="en-US" altLang="en-US" sz="2400"/>
              <a:t>Freq. pattern: An intrinsic and important property of datasets </a:t>
            </a:r>
          </a:p>
          <a:p>
            <a:pPr eaLnBrk="1" hangingPunct="1"/>
            <a:r>
              <a:rPr lang="en-US" altLang="en-US" sz="2400"/>
              <a:t>Foundation for many essential data mining tasks</a:t>
            </a:r>
          </a:p>
          <a:p>
            <a:pPr lvl="1" eaLnBrk="1" hangingPunct="1"/>
            <a:r>
              <a:rPr lang="en-US" altLang="en-US" sz="2400"/>
              <a:t>Association, correlation, and causality analysis</a:t>
            </a:r>
          </a:p>
          <a:p>
            <a:pPr lvl="1" eaLnBrk="1" hangingPunct="1"/>
            <a:r>
              <a:rPr lang="en-US" altLang="en-US" sz="2400"/>
              <a:t>Sequential, structural (e.g., sub-graph) patterns</a:t>
            </a:r>
          </a:p>
          <a:p>
            <a:pPr lvl="1" eaLnBrk="1" hangingPunct="1"/>
            <a:r>
              <a:rPr lang="en-US" altLang="en-US" sz="2400"/>
              <a:t>Pattern analysis in spatiotemporal, multimedia, time-series, and stream data </a:t>
            </a:r>
          </a:p>
          <a:p>
            <a:pPr lvl="1" eaLnBrk="1" hangingPunct="1"/>
            <a:r>
              <a:rPr lang="en-US" altLang="en-US" sz="2400"/>
              <a:t>Classification: discriminative, frequent pattern analysis</a:t>
            </a:r>
          </a:p>
          <a:p>
            <a:pPr lvl="1" eaLnBrk="1" hangingPunct="1"/>
            <a:r>
              <a:rPr lang="en-US" altLang="en-US" sz="2400"/>
              <a:t>Cluster analysis: frequent pattern-based clustering</a:t>
            </a:r>
          </a:p>
          <a:p>
            <a:pPr lvl="1" eaLnBrk="1" hangingPunct="1"/>
            <a:r>
              <a:rPr lang="en-US" altLang="en-US" sz="2400"/>
              <a:t>Data warehousing: iceberg cube and cube-gradient </a:t>
            </a:r>
          </a:p>
          <a:p>
            <a:pPr lvl="1" eaLnBrk="1" hangingPunct="1"/>
            <a:r>
              <a:rPr lang="en-US" altLang="en-US" sz="2400"/>
              <a:t>Semantic data compression: fascicles</a:t>
            </a:r>
          </a:p>
          <a:p>
            <a:pPr lvl="1" eaLnBrk="1" hangingPunct="1"/>
            <a:r>
              <a:rPr lang="en-US" altLang="en-US" sz="2400"/>
              <a:t>Broad applications</a:t>
            </a:r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F35F7D85-9789-41DC-B7F2-080C4415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D698FC-244B-47B9-BB3B-8BF790669EAE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A9274B9-CD2B-4210-A6D7-5D329200F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/>
              <a:t>Basic Concepts: Frequent Patterns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7C13425-5AD4-4350-B940-AFD57341C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8600" y="1524000"/>
            <a:ext cx="4953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itemset</a:t>
            </a:r>
            <a:r>
              <a:rPr lang="en-US" altLang="en-US" sz="2400"/>
              <a:t>: A set of one or more items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k-itemset</a:t>
            </a:r>
            <a:r>
              <a:rPr lang="en-US" altLang="en-US" sz="2400"/>
              <a:t> X = {x</a:t>
            </a:r>
            <a:r>
              <a:rPr lang="en-US" altLang="en-US" sz="2400" baseline="-25000"/>
              <a:t>1</a:t>
            </a:r>
            <a:r>
              <a:rPr lang="en-US" altLang="en-US" sz="2400"/>
              <a:t>, …, x</a:t>
            </a:r>
            <a:r>
              <a:rPr lang="en-US" altLang="en-US" sz="2400" baseline="-25000"/>
              <a:t>k</a:t>
            </a:r>
            <a:r>
              <a:rPr lang="en-US" altLang="en-US" sz="240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(absolute) support</a:t>
            </a:r>
            <a:r>
              <a:rPr lang="en-US" altLang="en-US" sz="2400"/>
              <a:t>, or, </a:t>
            </a:r>
            <a:r>
              <a:rPr lang="en-US" altLang="en-US" sz="2400" i="1">
                <a:solidFill>
                  <a:schemeClr val="hlink"/>
                </a:solidFill>
              </a:rPr>
              <a:t>support count</a:t>
            </a:r>
            <a:r>
              <a:rPr lang="en-US" altLang="en-US" sz="2400"/>
              <a:t> of X: Frequency or occurrence of an itemset 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(relative)</a:t>
            </a:r>
            <a:r>
              <a:rPr lang="en-US" altLang="en-US" sz="2400"/>
              <a:t> </a:t>
            </a:r>
            <a:r>
              <a:rPr lang="en-US" altLang="en-US" sz="2400" i="1">
                <a:solidFill>
                  <a:schemeClr val="hlink"/>
                </a:solidFill>
                <a:sym typeface="Symbol" panose="05050102010706020507" pitchFamily="18" charset="2"/>
              </a:rPr>
              <a:t>support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s</a:t>
            </a:r>
            <a:r>
              <a:rPr lang="en-US" altLang="en-US" sz="2400">
                <a:sym typeface="Symbol" panose="05050102010706020507" pitchFamily="18" charset="2"/>
              </a:rPr>
              <a:t>, is the fraction of transactions that contains X (i.e., the </a:t>
            </a:r>
            <a:r>
              <a:rPr lang="en-US" altLang="en-US" sz="2400">
                <a:solidFill>
                  <a:schemeClr val="tx2"/>
                </a:solidFill>
                <a:sym typeface="Symbol" panose="05050102010706020507" pitchFamily="18" charset="2"/>
              </a:rPr>
              <a:t>probability</a:t>
            </a:r>
            <a:r>
              <a:rPr lang="en-US" altLang="en-US" sz="2400">
                <a:sym typeface="Symbol" panose="05050102010706020507" pitchFamily="18" charset="2"/>
              </a:rPr>
              <a:t> that a transaction contains X)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An itemset X is </a:t>
            </a:r>
            <a:r>
              <a:rPr lang="en-US" altLang="en-US" sz="2400" i="1">
                <a:solidFill>
                  <a:schemeClr val="hlink"/>
                </a:solidFill>
                <a:sym typeface="Symbol" panose="05050102010706020507" pitchFamily="18" charset="2"/>
              </a:rPr>
              <a:t>frequent</a:t>
            </a:r>
            <a:r>
              <a:rPr lang="en-US" altLang="en-US" sz="2400">
                <a:sym typeface="Symbol" panose="05050102010706020507" pitchFamily="18" charset="2"/>
              </a:rPr>
              <a:t> if X’s support is no less than a </a:t>
            </a:r>
            <a:r>
              <a:rPr lang="en-US" altLang="en-US" sz="2400" i="1">
                <a:sym typeface="Symbol" panose="05050102010706020507" pitchFamily="18" charset="2"/>
              </a:rPr>
              <a:t>minsup</a:t>
            </a:r>
            <a:r>
              <a:rPr lang="en-US" altLang="en-US" sz="2400">
                <a:sym typeface="Symbol" panose="05050102010706020507" pitchFamily="18" charset="2"/>
              </a:rPr>
              <a:t> threshold</a:t>
            </a:r>
          </a:p>
        </p:txBody>
      </p:sp>
      <p:grpSp>
        <p:nvGrpSpPr>
          <p:cNvPr id="8197" name="Group 5">
            <a:extLst>
              <a:ext uri="{FF2B5EF4-FFF2-40B4-BE49-F238E27FC236}">
                <a16:creationId xmlns:a16="http://schemas.microsoft.com/office/drawing/2014/main" id="{BFC48C92-6663-4E88-B0BB-DDA23B5228FD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810000"/>
            <a:ext cx="3886200" cy="2630488"/>
            <a:chOff x="192" y="2400"/>
            <a:chExt cx="2448" cy="1657"/>
          </a:xfrm>
        </p:grpSpPr>
        <p:sp>
          <p:nvSpPr>
            <p:cNvPr id="8221" name="Oval 6">
              <a:extLst>
                <a:ext uri="{FF2B5EF4-FFF2-40B4-BE49-F238E27FC236}">
                  <a16:creationId xmlns:a16="http://schemas.microsoft.com/office/drawing/2014/main" id="{738638CE-CAEE-44AF-BE9A-94D2647C8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22" name="Oval 7">
              <a:extLst>
                <a:ext uri="{FF2B5EF4-FFF2-40B4-BE49-F238E27FC236}">
                  <a16:creationId xmlns:a16="http://schemas.microsoft.com/office/drawing/2014/main" id="{13CE7204-4A43-469B-B025-04729D448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195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23" name="Line 8">
              <a:extLst>
                <a:ext uri="{FF2B5EF4-FFF2-40B4-BE49-F238E27FC236}">
                  <a16:creationId xmlns:a16="http://schemas.microsoft.com/office/drawing/2014/main" id="{45DA54E7-A821-48DD-9D4B-8BC7CE9A8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4" name="Line 9">
              <a:extLst>
                <a:ext uri="{FF2B5EF4-FFF2-40B4-BE49-F238E27FC236}">
                  <a16:creationId xmlns:a16="http://schemas.microsoft.com/office/drawing/2014/main" id="{978550E4-1133-4BE2-BEBB-F38D854BC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5" name="Line 10">
              <a:extLst>
                <a:ext uri="{FF2B5EF4-FFF2-40B4-BE49-F238E27FC236}">
                  <a16:creationId xmlns:a16="http://schemas.microsoft.com/office/drawing/2014/main" id="{7AE6CD95-F0F0-4B4C-9C95-45EED10AB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6" name="Text Box 11">
              <a:extLst>
                <a:ext uri="{FF2B5EF4-FFF2-40B4-BE49-F238E27FC236}">
                  <a16:creationId xmlns:a16="http://schemas.microsoft.com/office/drawing/2014/main" id="{5D3BAF5A-0CB0-4886-B771-41596D429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buys diaper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8227" name="Text Box 12">
              <a:extLst>
                <a:ext uri="{FF2B5EF4-FFF2-40B4-BE49-F238E27FC236}">
                  <a16:creationId xmlns:a16="http://schemas.microsoft.com/office/drawing/2014/main" id="{7D72EB9B-4773-44C5-AB2F-EA62DEB4B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buys both</a:t>
              </a:r>
              <a:endParaRPr lang="en-US" altLang="en-US" sz="1800" b="1" u="sng">
                <a:solidFill>
                  <a:srgbClr val="5FA1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28" name="Text Box 13">
              <a:extLst>
                <a:ext uri="{FF2B5EF4-FFF2-40B4-BE49-F238E27FC236}">
                  <a16:creationId xmlns:a16="http://schemas.microsoft.com/office/drawing/2014/main" id="{F6A4F718-4CD6-4995-B121-F43580C6F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buys beer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8229" name="Rectangle 14">
              <a:extLst>
                <a:ext uri="{FF2B5EF4-FFF2-40B4-BE49-F238E27FC236}">
                  <a16:creationId xmlns:a16="http://schemas.microsoft.com/office/drawing/2014/main" id="{40F17711-5415-4715-9FE9-717FD4F6D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aphicFrame>
        <p:nvGraphicFramePr>
          <p:cNvPr id="1767468" name="Group 44">
            <a:extLst>
              <a:ext uri="{FF2B5EF4-FFF2-40B4-BE49-F238E27FC236}">
                <a16:creationId xmlns:a16="http://schemas.microsoft.com/office/drawing/2014/main" id="{7AA104F2-A0B5-4D51-80AE-49E9DCB50A3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524000"/>
          <a:ext cx="3886200" cy="213042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 bought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Nuts,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Coffee,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Diaper, Eggs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Coffee, Diaper,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8F715B28-5D4A-4D51-9DC9-66BAC4FC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0041655-15B8-46B7-886A-55B473F2E2DE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D43C116-B832-48BC-86B5-C7E9A19B0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/>
              <a:t>Basic Concepts: Association Rules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D62C038-B467-49AB-9E3C-9EFADCEE2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7600" y="1524000"/>
            <a:ext cx="5334000" cy="4953000"/>
          </a:xfrm>
        </p:spPr>
        <p:txBody>
          <a:bodyPr/>
          <a:lstStyle/>
          <a:p>
            <a:pPr marL="457200" indent="-457200" eaLnBrk="1" hangingPunct="1"/>
            <a:r>
              <a:rPr lang="en-US" altLang="en-US" sz="2400"/>
              <a:t>Find all the rules </a:t>
            </a:r>
            <a:r>
              <a:rPr lang="en-US" altLang="en-US" sz="2400" i="1"/>
              <a:t>X </a:t>
            </a: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 i="1">
                <a:sym typeface="Wingdings" panose="05000000000000000000" pitchFamily="2" charset="2"/>
              </a:rPr>
              <a:t>Y</a:t>
            </a:r>
            <a:r>
              <a:rPr lang="en-US" altLang="en-US" sz="2400" i="1">
                <a:sym typeface="Symbol" panose="05050102010706020507" pitchFamily="18" charset="2"/>
              </a:rPr>
              <a:t> </a:t>
            </a:r>
            <a:r>
              <a:rPr lang="en-US" altLang="en-US" sz="2400"/>
              <a:t>with minimum support and confidence</a:t>
            </a:r>
            <a:endParaRPr lang="en-US" altLang="en-US" sz="2400">
              <a:sym typeface="Symbol" panose="05050102010706020507" pitchFamily="18" charset="2"/>
            </a:endParaRPr>
          </a:p>
          <a:p>
            <a:pPr marL="914400" lvl="1" indent="-457200" eaLnBrk="1" hangingPunct="1"/>
            <a:r>
              <a:rPr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support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s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tx2"/>
                </a:solidFill>
                <a:sym typeface="Symbol" panose="05050102010706020507" pitchFamily="18" charset="2"/>
              </a:rPr>
              <a:t>probability</a:t>
            </a:r>
            <a:r>
              <a:rPr lang="en-US" altLang="en-US" sz="2400">
                <a:sym typeface="Symbol" panose="05050102010706020507" pitchFamily="18" charset="2"/>
              </a:rPr>
              <a:t> that a transaction contains X  Y</a:t>
            </a:r>
          </a:p>
          <a:p>
            <a:pPr marL="914400" lvl="1" indent="-457200" eaLnBrk="1" hangingPunct="1"/>
            <a:r>
              <a:rPr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confidence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c,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chemeClr val="tx2"/>
                </a:solidFill>
                <a:sym typeface="Symbol" panose="05050102010706020507" pitchFamily="18" charset="2"/>
              </a:rPr>
              <a:t>conditional probability</a:t>
            </a:r>
            <a:r>
              <a:rPr lang="en-US" altLang="en-US" sz="2400">
                <a:sym typeface="Symbol" panose="05050102010706020507" pitchFamily="18" charset="2"/>
              </a:rPr>
              <a:t> that a transaction having X also contains </a:t>
            </a:r>
            <a:r>
              <a:rPr lang="en-US" altLang="en-US" sz="2400" i="1">
                <a:sym typeface="Symbol" panose="05050102010706020507" pitchFamily="18" charset="2"/>
              </a:rPr>
              <a:t>Y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sz="2000" i="1"/>
              <a:t>Let  minsup = 50%, minconf = 50%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sz="2000" i="1"/>
              <a:t>Freq. Pat.: </a:t>
            </a:r>
            <a:r>
              <a:rPr lang="en-US" altLang="en-US" sz="2000"/>
              <a:t>Beer:3, Nuts:3, Diaper:4, Eggs:3, {Beer, Diaper}:3</a:t>
            </a:r>
          </a:p>
        </p:txBody>
      </p:sp>
      <p:sp>
        <p:nvSpPr>
          <p:cNvPr id="9221" name="Oval 5">
            <a:extLst>
              <a:ext uri="{FF2B5EF4-FFF2-40B4-BE49-F238E27FC236}">
                <a16:creationId xmlns:a16="http://schemas.microsoft.com/office/drawing/2014/main" id="{0CCA3D80-422D-4D16-BC60-B275AF915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3927475"/>
            <a:ext cx="1643063" cy="1168400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2" name="Oval 6">
            <a:extLst>
              <a:ext uri="{FF2B5EF4-FFF2-40B4-BE49-F238E27FC236}">
                <a16:creationId xmlns:a16="http://schemas.microsoft.com/office/drawing/2014/main" id="{46A16421-9903-486F-92C2-2A8A1BE89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3927475"/>
            <a:ext cx="1643063" cy="1298575"/>
          </a:xfrm>
          <a:prstGeom prst="ellipse">
            <a:avLst/>
          </a:prstGeom>
          <a:solidFill>
            <a:srgbClr val="99CCFF">
              <a:alpha val="50195"/>
            </a:srgbClr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8BBCD75B-09A4-4F8F-92B0-F8F3785790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063" y="4511675"/>
            <a:ext cx="198437" cy="6492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B2FD4058-5EE0-48EC-83C9-CB975F60B6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7325" y="4057650"/>
            <a:ext cx="196850" cy="584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0CF382D5-649C-4196-8C61-937123BC65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8338" y="3732213"/>
            <a:ext cx="0" cy="779462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5EF6EFB1-B8C1-446E-A01D-F6574ADF0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3536950"/>
            <a:ext cx="1052513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anose="02020603050405020304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anose="02020603050405020304" pitchFamily="18" charset="0"/>
              </a:rPr>
              <a:t>buys diaper</a:t>
            </a:r>
            <a:endParaRPr lang="en-US" altLang="en-US" sz="1800" b="1" u="sng">
              <a:latin typeface="Times New Roman" panose="02020603050405020304" pitchFamily="18" charset="0"/>
            </a:endParaRPr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C4A2F50F-D242-41CA-8610-8B14606BF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473450"/>
            <a:ext cx="1066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anose="02020603050405020304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anose="02020603050405020304" pitchFamily="18" charset="0"/>
              </a:rPr>
              <a:t>buys both</a:t>
            </a:r>
            <a:endParaRPr lang="en-US" altLang="en-US" sz="1600" b="1" u="sng">
              <a:solidFill>
                <a:srgbClr val="5FA1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46C27806-BADC-4389-9137-C724636CD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5095875"/>
            <a:ext cx="104298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anose="02020603050405020304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anose="02020603050405020304" pitchFamily="18" charset="0"/>
              </a:rPr>
              <a:t>buys beer</a:t>
            </a:r>
            <a:endParaRPr lang="en-US" altLang="en-US" sz="1800" b="1" u="sng">
              <a:latin typeface="Times New Roman" panose="02020603050405020304" pitchFamily="18" charset="0"/>
            </a:endParaRP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33BD88DA-2609-4F9E-920D-1D3EBAA3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73450"/>
            <a:ext cx="3352800" cy="224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30" name="Rectangle 15">
            <a:extLst>
              <a:ext uri="{FF2B5EF4-FFF2-40B4-BE49-F238E27FC236}">
                <a16:creationId xmlns:a16="http://schemas.microsoft.com/office/drawing/2014/main" id="{6A5C952B-FB5F-496D-8603-AB829436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76860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Nuts, Eggs, Milk</a:t>
            </a:r>
          </a:p>
        </p:txBody>
      </p:sp>
      <p:sp>
        <p:nvSpPr>
          <p:cNvPr id="9231" name="Rectangle 16">
            <a:extLst>
              <a:ext uri="{FF2B5EF4-FFF2-40B4-BE49-F238E27FC236}">
                <a16:creationId xmlns:a16="http://schemas.microsoft.com/office/drawing/2014/main" id="{504BC149-CB2F-421A-97A5-E179E5A2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6860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40</a:t>
            </a:r>
          </a:p>
        </p:txBody>
      </p:sp>
      <p:sp>
        <p:nvSpPr>
          <p:cNvPr id="9232" name="Rectangle 17">
            <a:extLst>
              <a:ext uri="{FF2B5EF4-FFF2-40B4-BE49-F238E27FC236}">
                <a16:creationId xmlns:a16="http://schemas.microsoft.com/office/drawing/2014/main" id="{C9AEA1B0-6808-4F62-A77C-129D75729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05435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400"/>
              <a:t>Nuts, Coffee, Diaper, Eggs, Milk</a:t>
            </a:r>
          </a:p>
        </p:txBody>
      </p:sp>
      <p:sp>
        <p:nvSpPr>
          <p:cNvPr id="9233" name="Rectangle 18">
            <a:extLst>
              <a:ext uri="{FF2B5EF4-FFF2-40B4-BE49-F238E27FC236}">
                <a16:creationId xmlns:a16="http://schemas.microsoft.com/office/drawing/2014/main" id="{471C8454-51B8-42C1-9C47-C16453CC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5435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50</a:t>
            </a:r>
          </a:p>
        </p:txBody>
      </p:sp>
      <p:sp>
        <p:nvSpPr>
          <p:cNvPr id="9234" name="Rectangle 19">
            <a:extLst>
              <a:ext uri="{FF2B5EF4-FFF2-40B4-BE49-F238E27FC236}">
                <a16:creationId xmlns:a16="http://schemas.microsoft.com/office/drawing/2014/main" id="{6234B66F-D575-42D0-A1AF-A733A017A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4574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Beer, Diaper, Eggs</a:t>
            </a:r>
          </a:p>
        </p:txBody>
      </p:sp>
      <p:sp>
        <p:nvSpPr>
          <p:cNvPr id="9235" name="Rectangle 20">
            <a:extLst>
              <a:ext uri="{FF2B5EF4-FFF2-40B4-BE49-F238E27FC236}">
                <a16:creationId xmlns:a16="http://schemas.microsoft.com/office/drawing/2014/main" id="{F24ECBEB-8748-42A7-8D4D-621AC84B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574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30</a:t>
            </a:r>
          </a:p>
        </p:txBody>
      </p:sp>
      <p:sp>
        <p:nvSpPr>
          <p:cNvPr id="9236" name="Rectangle 21">
            <a:extLst>
              <a:ext uri="{FF2B5EF4-FFF2-40B4-BE49-F238E27FC236}">
                <a16:creationId xmlns:a16="http://schemas.microsoft.com/office/drawing/2014/main" id="{091E6E5D-6C97-42B8-AEB5-DC2B5BF41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14630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Beer, Coffee, Diaper</a:t>
            </a:r>
          </a:p>
        </p:txBody>
      </p:sp>
      <p:sp>
        <p:nvSpPr>
          <p:cNvPr id="9237" name="Rectangle 22">
            <a:extLst>
              <a:ext uri="{FF2B5EF4-FFF2-40B4-BE49-F238E27FC236}">
                <a16:creationId xmlns:a16="http://schemas.microsoft.com/office/drawing/2014/main" id="{5F5C8379-2467-45C7-B08E-0EEDFDB0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4630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20</a:t>
            </a:r>
          </a:p>
        </p:txBody>
      </p:sp>
      <p:sp>
        <p:nvSpPr>
          <p:cNvPr id="9238" name="Rectangle 23">
            <a:extLst>
              <a:ext uri="{FF2B5EF4-FFF2-40B4-BE49-F238E27FC236}">
                <a16:creationId xmlns:a16="http://schemas.microsoft.com/office/drawing/2014/main" id="{FDC73781-D5CD-4C71-9AD4-BA0723BE0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8351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Beer, Nuts, Diaper</a:t>
            </a:r>
          </a:p>
        </p:txBody>
      </p:sp>
      <p:sp>
        <p:nvSpPr>
          <p:cNvPr id="9239" name="Rectangle 24">
            <a:extLst>
              <a:ext uri="{FF2B5EF4-FFF2-40B4-BE49-F238E27FC236}">
                <a16:creationId xmlns:a16="http://schemas.microsoft.com/office/drawing/2014/main" id="{4EF98314-1589-4E31-867F-16C3ACC8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351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/>
              <a:t>10</a:t>
            </a:r>
          </a:p>
        </p:txBody>
      </p:sp>
      <p:sp>
        <p:nvSpPr>
          <p:cNvPr id="9240" name="Rectangle 25">
            <a:extLst>
              <a:ext uri="{FF2B5EF4-FFF2-40B4-BE49-F238E27FC236}">
                <a16:creationId xmlns:a16="http://schemas.microsoft.com/office/drawing/2014/main" id="{ECEAB8C5-9EC5-4556-8925-1440A62E4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524000"/>
            <a:ext cx="289242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chemeClr val="hlink"/>
                </a:solidFill>
              </a:rPr>
              <a:t>Items bought</a:t>
            </a:r>
          </a:p>
        </p:txBody>
      </p:sp>
      <p:sp>
        <p:nvSpPr>
          <p:cNvPr id="9241" name="Rectangle 26">
            <a:extLst>
              <a:ext uri="{FF2B5EF4-FFF2-40B4-BE49-F238E27FC236}">
                <a16:creationId xmlns:a16="http://schemas.microsoft.com/office/drawing/2014/main" id="{34684A27-CDB4-423E-8675-72BBED296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0"/>
            <a:ext cx="46037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400" b="1">
                <a:solidFill>
                  <a:schemeClr val="hlink"/>
                </a:solidFill>
              </a:rPr>
              <a:t>Tid</a:t>
            </a:r>
          </a:p>
        </p:txBody>
      </p:sp>
      <p:sp>
        <p:nvSpPr>
          <p:cNvPr id="9242" name="Line 27">
            <a:extLst>
              <a:ext uri="{FF2B5EF4-FFF2-40B4-BE49-F238E27FC236}">
                <a16:creationId xmlns:a16="http://schemas.microsoft.com/office/drawing/2014/main" id="{BF7276C8-FA1C-40CB-A18B-9D45156DD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5240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3" name="Line 28">
            <a:extLst>
              <a:ext uri="{FF2B5EF4-FFF2-40B4-BE49-F238E27FC236}">
                <a16:creationId xmlns:a16="http://schemas.microsoft.com/office/drawing/2014/main" id="{A1485C10-DD64-4C8A-9430-8BA59483B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835150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4" name="Line 29">
            <a:extLst>
              <a:ext uri="{FF2B5EF4-FFF2-40B4-BE49-F238E27FC236}">
                <a16:creationId xmlns:a16="http://schemas.microsoft.com/office/drawing/2014/main" id="{24B896AE-8555-4CFD-B88A-22E22A49E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1463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5" name="Line 30">
            <a:extLst>
              <a:ext uri="{FF2B5EF4-FFF2-40B4-BE49-F238E27FC236}">
                <a16:creationId xmlns:a16="http://schemas.microsoft.com/office/drawing/2014/main" id="{F9FBD7B7-4A50-41BB-82AC-7D5BA4EEB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574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6" name="Line 31">
            <a:extLst>
              <a:ext uri="{FF2B5EF4-FFF2-40B4-BE49-F238E27FC236}">
                <a16:creationId xmlns:a16="http://schemas.microsoft.com/office/drawing/2014/main" id="{8750B44B-2424-43CE-AD89-EF9A0E940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7686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7" name="Line 32">
            <a:extLst>
              <a:ext uri="{FF2B5EF4-FFF2-40B4-BE49-F238E27FC236}">
                <a16:creationId xmlns:a16="http://schemas.microsoft.com/office/drawing/2014/main" id="{165F308E-8C86-4057-B810-F92148A15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3401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8" name="Line 33">
            <a:extLst>
              <a:ext uri="{FF2B5EF4-FFF2-40B4-BE49-F238E27FC236}">
                <a16:creationId xmlns:a16="http://schemas.microsoft.com/office/drawing/2014/main" id="{D2415844-4E2F-48A6-8CF8-697EF4193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5240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9" name="Line 34">
            <a:extLst>
              <a:ext uri="{FF2B5EF4-FFF2-40B4-BE49-F238E27FC236}">
                <a16:creationId xmlns:a16="http://schemas.microsoft.com/office/drawing/2014/main" id="{3D771E96-C923-41D2-8513-2C394457F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1524000"/>
            <a:ext cx="0" cy="18161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0" name="Line 35">
            <a:extLst>
              <a:ext uri="{FF2B5EF4-FFF2-40B4-BE49-F238E27FC236}">
                <a16:creationId xmlns:a16="http://schemas.microsoft.com/office/drawing/2014/main" id="{2C0100F3-B627-43EE-AF12-7E1949093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5240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1" name="Line 36">
            <a:extLst>
              <a:ext uri="{FF2B5EF4-FFF2-40B4-BE49-F238E27FC236}">
                <a16:creationId xmlns:a16="http://schemas.microsoft.com/office/drawing/2014/main" id="{B5A99A34-B386-4760-824A-6192F0F35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0543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2" name="Rectangle 38">
            <a:extLst>
              <a:ext uri="{FF2B5EF4-FFF2-40B4-BE49-F238E27FC236}">
                <a16:creationId xmlns:a16="http://schemas.microsoft.com/office/drawing/2014/main" id="{36C858E5-F502-46ED-A543-89881AFCA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410200"/>
            <a:ext cx="533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Association rules: (many more!)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i="1"/>
              <a:t>Beer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 i="1">
                <a:sym typeface="Symbol" panose="05050102010706020507" pitchFamily="18" charset="2"/>
              </a:rPr>
              <a:t> Diaper  </a:t>
            </a:r>
            <a:r>
              <a:rPr lang="en-US" altLang="en-US">
                <a:sym typeface="Symbol" panose="05050102010706020507" pitchFamily="18" charset="2"/>
              </a:rPr>
              <a:t>(60%, 100%)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i="1"/>
              <a:t>Diaper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 i="1">
                <a:sym typeface="Symbol" panose="05050102010706020507" pitchFamily="18" charset="2"/>
              </a:rPr>
              <a:t> Beer  </a:t>
            </a:r>
            <a:r>
              <a:rPr lang="en-US" altLang="en-US">
                <a:sym typeface="Symbol" panose="05050102010706020507" pitchFamily="18" charset="2"/>
              </a:rPr>
              <a:t>(60%, 75%)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AE937CBC-7342-4DAE-8E60-430C66A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179B665-C342-4252-B5BB-8FAE0B5C745B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41B354D-54F3-4269-BB6A-3DD10EBF8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/>
              <a:t>Closed Patterns and Max-Patterns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A40224F-7400-4E36-9651-C4CAB99BD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A long pattern contains a combinatorial number of sub-patterns, e.g., {a</a:t>
            </a:r>
            <a:r>
              <a:rPr lang="en-US" altLang="en-US" sz="2400" baseline="-25000"/>
              <a:t>1</a:t>
            </a:r>
            <a:r>
              <a:rPr lang="en-US" altLang="en-US" sz="2400"/>
              <a:t>, …, a</a:t>
            </a:r>
            <a:r>
              <a:rPr lang="en-US" altLang="en-US" sz="2400" baseline="-25000"/>
              <a:t>100</a:t>
            </a:r>
            <a:r>
              <a:rPr lang="en-US" altLang="en-US" sz="2400"/>
              <a:t>} </a:t>
            </a:r>
            <a:r>
              <a:rPr lang="en-US" altLang="en-US" sz="2400">
                <a:sym typeface="Wingdings" panose="05000000000000000000" pitchFamily="2" charset="2"/>
              </a:rPr>
              <a:t>contains</a:t>
            </a:r>
            <a:r>
              <a:rPr lang="en-US" altLang="en-US" sz="2400"/>
              <a:t> (</a:t>
            </a:r>
            <a:r>
              <a:rPr lang="en-US" altLang="en-US" sz="2400" baseline="-25000"/>
              <a:t>100</a:t>
            </a:r>
            <a:r>
              <a:rPr lang="en-US" altLang="en-US" sz="2400" baseline="30000"/>
              <a:t>1</a:t>
            </a:r>
            <a:r>
              <a:rPr lang="en-US" altLang="en-US" sz="2400"/>
              <a:t>) + (</a:t>
            </a:r>
            <a:r>
              <a:rPr lang="en-US" altLang="en-US" sz="2400" baseline="-25000"/>
              <a:t>100</a:t>
            </a:r>
            <a:r>
              <a:rPr lang="en-US" altLang="en-US" sz="2400" baseline="30000"/>
              <a:t>2</a:t>
            </a:r>
            <a:r>
              <a:rPr lang="en-US" altLang="en-US" sz="2400"/>
              <a:t>) + … + (</a:t>
            </a:r>
            <a:r>
              <a:rPr lang="en-US" altLang="en-US" sz="2400" baseline="-25000"/>
              <a:t>1</a:t>
            </a:r>
            <a:r>
              <a:rPr lang="en-US" altLang="en-US" sz="2400" baseline="30000"/>
              <a:t>1</a:t>
            </a:r>
            <a:r>
              <a:rPr lang="en-US" altLang="en-US" sz="2400" baseline="-25000"/>
              <a:t>0</a:t>
            </a:r>
            <a:r>
              <a:rPr lang="en-US" altLang="en-US" sz="2400" baseline="30000"/>
              <a:t>0</a:t>
            </a:r>
            <a:r>
              <a:rPr lang="en-US" altLang="en-US" sz="2400" baseline="-25000"/>
              <a:t>0</a:t>
            </a:r>
            <a:r>
              <a:rPr lang="en-US" altLang="en-US" sz="2400" baseline="30000"/>
              <a:t>0</a:t>
            </a:r>
            <a:r>
              <a:rPr lang="en-US" altLang="en-US" sz="2400"/>
              <a:t>) = 2</a:t>
            </a:r>
            <a:r>
              <a:rPr lang="en-US" altLang="en-US" sz="2400" baseline="30000"/>
              <a:t>100 </a:t>
            </a:r>
            <a:r>
              <a:rPr lang="en-US" altLang="en-US" sz="2400"/>
              <a:t>– 1 = 1.27*10</a:t>
            </a:r>
            <a:r>
              <a:rPr lang="en-US" altLang="en-US" sz="2400" baseline="30000"/>
              <a:t>30 </a:t>
            </a:r>
            <a:r>
              <a:rPr lang="en-US" altLang="en-US" sz="2400"/>
              <a:t>sub-patterns!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Solution: </a:t>
            </a:r>
            <a:r>
              <a:rPr lang="en-US" altLang="en-US" sz="2400" i="1"/>
              <a:t>Mine </a:t>
            </a:r>
            <a:r>
              <a:rPr lang="en-US" altLang="en-US" sz="2400" i="1">
                <a:solidFill>
                  <a:schemeClr val="hlink"/>
                </a:solidFill>
              </a:rPr>
              <a:t>closed patterns</a:t>
            </a:r>
            <a:r>
              <a:rPr lang="en-US" altLang="en-US" sz="2400" i="1"/>
              <a:t> and </a:t>
            </a:r>
            <a:r>
              <a:rPr lang="en-US" altLang="en-US" sz="2400" i="1">
                <a:solidFill>
                  <a:schemeClr val="hlink"/>
                </a:solidFill>
              </a:rPr>
              <a:t>max-patterns</a:t>
            </a:r>
            <a:r>
              <a:rPr lang="en-US" altLang="en-US" sz="2400" i="1"/>
              <a:t> instead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An itemset X</a:t>
            </a:r>
            <a:r>
              <a:rPr lang="en-US" altLang="en-US" sz="2400">
                <a:solidFill>
                  <a:schemeClr val="hlink"/>
                </a:solidFill>
              </a:rPr>
              <a:t> </a:t>
            </a:r>
            <a:r>
              <a:rPr lang="en-US" altLang="en-US" sz="2400"/>
              <a:t>is </a:t>
            </a:r>
            <a:r>
              <a:rPr lang="en-US" altLang="en-US" sz="2400">
                <a:solidFill>
                  <a:schemeClr val="hlink"/>
                </a:solidFill>
              </a:rPr>
              <a:t>closed </a:t>
            </a:r>
            <a:r>
              <a:rPr lang="en-US" altLang="en-US" sz="2400"/>
              <a:t>if X is </a:t>
            </a:r>
            <a:r>
              <a:rPr lang="en-US" altLang="en-US" sz="2400" i="1"/>
              <a:t>frequent</a:t>
            </a:r>
            <a:r>
              <a:rPr lang="en-US" altLang="en-US" sz="2400"/>
              <a:t> and there exists </a:t>
            </a:r>
            <a:r>
              <a:rPr lang="en-US" altLang="en-US" sz="2400" i="1"/>
              <a:t>no super-pattern</a:t>
            </a:r>
            <a:r>
              <a:rPr lang="en-US" altLang="en-US" sz="2400"/>
              <a:t> Y </a:t>
            </a:r>
            <a:r>
              <a:rPr lang="he-IL" altLang="en-US" sz="2400"/>
              <a:t>כ</a:t>
            </a:r>
            <a:r>
              <a:rPr lang="en-US" altLang="en-US" sz="2400"/>
              <a:t> X, </a:t>
            </a:r>
            <a:r>
              <a:rPr lang="en-US" altLang="en-US" sz="2400" i="1"/>
              <a:t>with the same support</a:t>
            </a:r>
            <a:r>
              <a:rPr lang="en-US" altLang="en-US" sz="2400"/>
              <a:t> as X (proposed by Pasquier, et al. @ ICDT’99)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An itemset X is a </a:t>
            </a:r>
            <a:r>
              <a:rPr lang="en-US" altLang="en-US" sz="2400">
                <a:solidFill>
                  <a:schemeClr val="hlink"/>
                </a:solidFill>
              </a:rPr>
              <a:t>max-pattern</a:t>
            </a:r>
            <a:r>
              <a:rPr lang="en-US" altLang="en-US" sz="2400"/>
              <a:t> if X is frequent and there exists no frequent super-pattern Y </a:t>
            </a:r>
            <a:r>
              <a:rPr lang="he-IL" altLang="en-US" sz="2400"/>
              <a:t>כ</a:t>
            </a:r>
            <a:r>
              <a:rPr lang="en-US" altLang="en-US" sz="2400"/>
              <a:t> X (proposed by Bayardo @ SIGMOD’98)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Closed pattern is a lossless compression of freq. patterns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Reducing the # of patterns and rules</a:t>
            </a:r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3C332897-24CD-4A60-8E2D-396C7746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7CD2DBC-AA77-4098-A719-63D6B653CC48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85347FB-1B60-4337-AD1F-FF1D977B5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/>
              <a:t>Closed Patterns and Max-Patterns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CFD362A-F51F-44C3-A049-0132D84E6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Exercise.  DB = {&lt;a</a:t>
            </a:r>
            <a:r>
              <a:rPr lang="en-US" altLang="en-US" baseline="-25000"/>
              <a:t>1</a:t>
            </a:r>
            <a:r>
              <a:rPr lang="en-US" altLang="en-US"/>
              <a:t>, …, a</a:t>
            </a:r>
            <a:r>
              <a:rPr lang="en-US" altLang="en-US" baseline="-25000"/>
              <a:t>100</a:t>
            </a:r>
            <a:r>
              <a:rPr lang="en-US" altLang="en-US"/>
              <a:t>&gt;, &lt; a</a:t>
            </a:r>
            <a:r>
              <a:rPr lang="en-US" altLang="en-US" baseline="-25000"/>
              <a:t>1</a:t>
            </a:r>
            <a:r>
              <a:rPr lang="en-US" altLang="en-US"/>
              <a:t>, …, a</a:t>
            </a:r>
            <a:r>
              <a:rPr lang="en-US" altLang="en-US" baseline="-25000"/>
              <a:t>50</a:t>
            </a:r>
            <a:r>
              <a:rPr lang="en-US" altLang="en-US"/>
              <a:t>&gt;} </a:t>
            </a:r>
            <a:endParaRPr lang="en-US" altLang="en-US">
              <a:sym typeface="Wingdings" panose="05000000000000000000" pitchFamily="2" charset="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Min_sup = 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What is the set of </a:t>
            </a:r>
            <a:r>
              <a:rPr lang="en-US" altLang="en-US">
                <a:solidFill>
                  <a:schemeClr val="hlink"/>
                </a:solidFill>
              </a:rPr>
              <a:t>closed itemset</a:t>
            </a:r>
            <a:r>
              <a:rPr lang="en-US" altLang="en-US"/>
              <a:t>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&lt;a</a:t>
            </a:r>
            <a:r>
              <a:rPr lang="en-US" altLang="en-US" baseline="-25000"/>
              <a:t>1</a:t>
            </a:r>
            <a:r>
              <a:rPr lang="en-US" altLang="en-US"/>
              <a:t>, …, a</a:t>
            </a:r>
            <a:r>
              <a:rPr lang="en-US" altLang="en-US" baseline="-25000"/>
              <a:t>100</a:t>
            </a:r>
            <a:r>
              <a:rPr lang="en-US" altLang="en-US"/>
              <a:t>&gt;: 1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&lt; a</a:t>
            </a:r>
            <a:r>
              <a:rPr lang="en-US" altLang="en-US" baseline="-25000"/>
              <a:t>1</a:t>
            </a:r>
            <a:r>
              <a:rPr lang="en-US" altLang="en-US"/>
              <a:t>, …, a</a:t>
            </a:r>
            <a:r>
              <a:rPr lang="en-US" altLang="en-US" baseline="-25000"/>
              <a:t>50</a:t>
            </a:r>
            <a:r>
              <a:rPr lang="en-US" altLang="en-US"/>
              <a:t>&gt;: 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What is the set of </a:t>
            </a:r>
            <a:r>
              <a:rPr lang="en-US" altLang="en-US">
                <a:solidFill>
                  <a:schemeClr val="hlink"/>
                </a:solidFill>
              </a:rPr>
              <a:t>max-pattern?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&lt;a</a:t>
            </a:r>
            <a:r>
              <a:rPr lang="en-US" altLang="en-US" baseline="-25000"/>
              <a:t>1</a:t>
            </a:r>
            <a:r>
              <a:rPr lang="en-US" altLang="en-US"/>
              <a:t>, …, a</a:t>
            </a:r>
            <a:r>
              <a:rPr lang="en-US" altLang="en-US" baseline="-25000"/>
              <a:t>100</a:t>
            </a:r>
            <a:r>
              <a:rPr lang="en-US" altLang="en-US"/>
              <a:t>&gt;: 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What is the set of </a:t>
            </a:r>
            <a:r>
              <a:rPr lang="en-US" altLang="en-US">
                <a:solidFill>
                  <a:schemeClr val="hlink"/>
                </a:solidFill>
              </a:rPr>
              <a:t>all patterns</a:t>
            </a:r>
            <a:r>
              <a:rPr lang="en-US" altLang="en-US"/>
              <a:t>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hlink"/>
                </a:solidFill>
              </a:rPr>
              <a:t>!!</a:t>
            </a:r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B93ECFEC-495B-4205-A045-D702E31E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133EB65-E43B-433E-A42B-AE07AA482795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34D12E3-3C13-4B02-B9E2-BC221CEB7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04800"/>
            <a:ext cx="9372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Computational Complexity of Frequent Itemset Mining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86DAC3F2-DED6-42E3-87F2-D76A90D43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How many itemsets are potentially to be generated in the worst case?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The number of frequent itemsets to be generated is senstive to the minsup threshold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When minsup is low, there exist potentially an exponential number of frequent itemsets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The worst case: M</a:t>
            </a:r>
            <a:r>
              <a:rPr lang="en-US" altLang="zh-CN" sz="1800" baseline="30000">
                <a:ea typeface="SimSun" panose="02010600030101010101" pitchFamily="2" charset="-122"/>
              </a:rPr>
              <a:t>N</a:t>
            </a:r>
            <a:r>
              <a:rPr lang="en-US" altLang="zh-CN" sz="1800">
                <a:ea typeface="SimSun" panose="02010600030101010101" pitchFamily="2" charset="-122"/>
              </a:rPr>
              <a:t> where M: # distinct items, and N: max length of transactions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The worst case complexty vs. the expected probability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Ex. Suppose Walmart has 10</a:t>
            </a:r>
            <a:r>
              <a:rPr lang="en-US" altLang="zh-CN" sz="1800" baseline="30000">
                <a:ea typeface="SimSun" panose="02010600030101010101" pitchFamily="2" charset="-122"/>
              </a:rPr>
              <a:t>4</a:t>
            </a:r>
            <a:r>
              <a:rPr lang="en-US" altLang="zh-CN" sz="1800">
                <a:ea typeface="SimSun" panose="02010600030101010101" pitchFamily="2" charset="-122"/>
              </a:rPr>
              <a:t> kinds of products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The chance to pick up one product 10</a:t>
            </a:r>
            <a:r>
              <a:rPr lang="en-US" altLang="zh-CN" sz="1800" baseline="30000">
                <a:ea typeface="SimSun" panose="02010600030101010101" pitchFamily="2" charset="-122"/>
              </a:rPr>
              <a:t>-4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The chance to pick up a particular set of 10 products: ~10</a:t>
            </a:r>
            <a:r>
              <a:rPr lang="en-US" altLang="zh-CN" sz="1800" baseline="30000">
                <a:ea typeface="SimSun" panose="02010600030101010101" pitchFamily="2" charset="-122"/>
              </a:rPr>
              <a:t>-40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1800">
                <a:ea typeface="SimSun" panose="02010600030101010101" pitchFamily="2" charset="-122"/>
              </a:rPr>
              <a:t>What is the chance this particular set of 10 products to be frequent 10</a:t>
            </a:r>
            <a:r>
              <a:rPr lang="en-US" altLang="zh-CN" sz="1800" baseline="30000">
                <a:ea typeface="SimSun" panose="02010600030101010101" pitchFamily="2" charset="-122"/>
              </a:rPr>
              <a:t>3</a:t>
            </a:r>
            <a:r>
              <a:rPr lang="en-US" altLang="zh-CN" sz="1800">
                <a:ea typeface="SimSun" panose="02010600030101010101" pitchFamily="2" charset="-122"/>
              </a:rPr>
              <a:t> times in 10</a:t>
            </a:r>
            <a:r>
              <a:rPr lang="en-US" altLang="zh-CN" sz="1800" baseline="30000">
                <a:ea typeface="SimSun" panose="02010600030101010101" pitchFamily="2" charset="-122"/>
              </a:rPr>
              <a:t>9</a:t>
            </a:r>
            <a:r>
              <a:rPr lang="en-US" altLang="zh-CN" sz="1800">
                <a:ea typeface="SimSun" panose="02010600030101010101" pitchFamily="2" charset="-122"/>
              </a:rPr>
              <a:t> transactions?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>
            <a:extLst>
              <a:ext uri="{FF2B5EF4-FFF2-40B4-BE49-F238E27FC236}">
                <a16:creationId xmlns:a16="http://schemas.microsoft.com/office/drawing/2014/main" id="{A9106756-51E9-4FDC-B05F-5C3F36C7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5C021FF-1098-4BCF-93F3-45ACEB8CFC86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6E990BE-EBC2-49E3-94E0-DE7558824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5: Mining Frequent Patterns, Association and Correlations: Basic Concepts and Methods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07FDF95-4B56-47AC-8330-764716E499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458200" cy="51054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Basic Concepts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Frequent Itemset Mining Methods 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Which Patterns Are Interesting?—Pattern Evaluation Methods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13317" name="AutoShape 4">
            <a:extLst>
              <a:ext uri="{FF2B5EF4-FFF2-40B4-BE49-F238E27FC236}">
                <a16:creationId xmlns:a16="http://schemas.microsoft.com/office/drawing/2014/main" id="{2326A00D-3A1B-4B1F-A5C7-5F8D2689BAD6}"/>
              </a:ext>
            </a:extLst>
          </p:cNvPr>
          <p:cNvSpPr>
            <a:spLocks noChangeArrowheads="1"/>
          </p:cNvSpPr>
          <p:nvPr/>
        </p:nvSpPr>
        <p:spPr bwMode="auto">
          <a:xfrm rot="-1053010">
            <a:off x="6599238" y="2432050"/>
            <a:ext cx="522287" cy="381000"/>
          </a:xfrm>
          <a:prstGeom prst="leftArrow">
            <a:avLst>
              <a:gd name="adj1" fmla="val 50000"/>
              <a:gd name="adj2" fmla="val 34271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1C244D83-B040-4A24-A5C5-410747F8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B5B08E2-A6A0-46CA-BBA1-F65970325670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F32402D-D2EA-4968-A48A-080DBD999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Scalable Frequent Itemset Mining Methods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94C2FB1-9D22-4EE3-9D56-093B86D27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en-US"/>
              <a:t>Apriori: A Candidate Generation-and-Test Approach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/>
              <a:t>Improving the Efficiency of Apriori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/>
              <a:t>FPGrowth:  A Frequent Pattern-Growth Approach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en-US"/>
              <a:t>ECLAT: Frequent Pattern Mining with Vertical Data Format</a:t>
            </a:r>
          </a:p>
        </p:txBody>
      </p:sp>
      <p:sp>
        <p:nvSpPr>
          <p:cNvPr id="14341" name="AutoShape 4">
            <a:extLst>
              <a:ext uri="{FF2B5EF4-FFF2-40B4-BE49-F238E27FC236}">
                <a16:creationId xmlns:a16="http://schemas.microsoft.com/office/drawing/2014/main" id="{B9CEE690-F64C-4E63-A9A2-21025738E8CD}"/>
              </a:ext>
            </a:extLst>
          </p:cNvPr>
          <p:cNvSpPr>
            <a:spLocks noChangeArrowheads="1"/>
          </p:cNvSpPr>
          <p:nvPr/>
        </p:nvSpPr>
        <p:spPr bwMode="auto">
          <a:xfrm rot="269203">
            <a:off x="7848600" y="2057400"/>
            <a:ext cx="533400" cy="485775"/>
          </a:xfrm>
          <a:prstGeom prst="leftArrow">
            <a:avLst>
              <a:gd name="adj1" fmla="val 50000"/>
              <a:gd name="adj2" fmla="val 2745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570FC7F0-9766-4D0E-9B9A-31ACD56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2DF6FEC-A0DC-41EA-BD3B-062D1D6D0959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A5E955B-D940-4F55-950B-FFCB79D42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1066800"/>
          </a:xfrm>
        </p:spPr>
        <p:txBody>
          <a:bodyPr/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3200"/>
              <a:t>The Downward Closure Property and Scalable Mining Methods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49B813C-9A59-464A-B5FC-6D0179093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610600" cy="5181600"/>
          </a:xfrm>
        </p:spPr>
        <p:txBody>
          <a:bodyPr/>
          <a:lstStyle/>
          <a:p>
            <a:pPr eaLnBrk="1" hangingPunct="1"/>
            <a:r>
              <a:rPr lang="en-US" altLang="en-US" sz="2400"/>
              <a:t>The </a:t>
            </a:r>
            <a:r>
              <a:rPr lang="en-US" altLang="en-US" sz="2400">
                <a:solidFill>
                  <a:schemeClr val="hlink"/>
                </a:solidFill>
              </a:rPr>
              <a:t>downward closure</a:t>
            </a:r>
            <a:r>
              <a:rPr lang="en-US" altLang="en-US" sz="2400"/>
              <a:t> property of frequent patterns</a:t>
            </a:r>
          </a:p>
          <a:p>
            <a:pPr lvl="1" eaLnBrk="1" hangingPunct="1"/>
            <a:r>
              <a:rPr lang="en-US" altLang="en-US" sz="2400" u="sng">
                <a:solidFill>
                  <a:schemeClr val="hlink"/>
                </a:solidFill>
              </a:rPr>
              <a:t>Any subset of a frequent itemset must be frequent</a:t>
            </a:r>
            <a:endParaRPr lang="en-US" altLang="en-US" sz="2400">
              <a:solidFill>
                <a:schemeClr val="hlink"/>
              </a:solidFill>
            </a:endParaRPr>
          </a:p>
          <a:p>
            <a:pPr lvl="1" eaLnBrk="1" hangingPunct="1"/>
            <a:r>
              <a:rPr lang="en-US" altLang="en-US" sz="2400">
                <a:solidFill>
                  <a:schemeClr val="bg2"/>
                </a:solidFill>
              </a:rPr>
              <a:t>If </a:t>
            </a:r>
            <a:r>
              <a:rPr lang="en-US" altLang="en-US" sz="2400" b="1">
                <a:solidFill>
                  <a:schemeClr val="bg2"/>
                </a:solidFill>
              </a:rPr>
              <a:t>{beer, diaper, nuts}</a:t>
            </a:r>
            <a:r>
              <a:rPr lang="en-US" altLang="en-US" sz="2400">
                <a:solidFill>
                  <a:schemeClr val="bg2"/>
                </a:solidFill>
              </a:rPr>
              <a:t> is frequent, so is </a:t>
            </a:r>
            <a:r>
              <a:rPr lang="en-US" altLang="en-US" sz="2400" b="1">
                <a:solidFill>
                  <a:schemeClr val="bg2"/>
                </a:solidFill>
              </a:rPr>
              <a:t>{beer, diaper}</a:t>
            </a:r>
            <a:endParaRPr lang="en-US" altLang="en-US" sz="2400">
              <a:solidFill>
                <a:schemeClr val="bg2"/>
              </a:solidFill>
            </a:endParaRPr>
          </a:p>
          <a:p>
            <a:pPr lvl="1" eaLnBrk="1" hangingPunct="1"/>
            <a:r>
              <a:rPr lang="en-US" altLang="en-US" sz="2400">
                <a:solidFill>
                  <a:schemeClr val="bg2"/>
                </a:solidFill>
              </a:rPr>
              <a:t>i.e., every transaction having {beer, diaper, nuts} also contains {beer, diaper} </a:t>
            </a:r>
          </a:p>
          <a:p>
            <a:pPr eaLnBrk="1" hangingPunct="1"/>
            <a:r>
              <a:rPr lang="en-US" altLang="en-US" sz="2400">
                <a:solidFill>
                  <a:schemeClr val="bg2"/>
                </a:solidFill>
              </a:rPr>
              <a:t>Scalable mining methods: Three major approaches</a:t>
            </a:r>
          </a:p>
          <a:p>
            <a:pPr lvl="1" eaLnBrk="1" hangingPunct="1"/>
            <a:r>
              <a:rPr lang="en-US" altLang="en-US" sz="2400">
                <a:solidFill>
                  <a:schemeClr val="bg2"/>
                </a:solidFill>
              </a:rPr>
              <a:t>Apriori (Agrawal &amp; Srikant@VLDB’94)</a:t>
            </a:r>
          </a:p>
          <a:p>
            <a:pPr lvl="1" eaLnBrk="1" hangingPunct="1"/>
            <a:r>
              <a:rPr lang="en-US" altLang="en-US" sz="2400">
                <a:solidFill>
                  <a:schemeClr val="bg2"/>
                </a:solidFill>
              </a:rPr>
              <a:t>Freq. pattern growth (FPgrowth—Han, Pei &amp; Yin @SIGMOD’00)</a:t>
            </a:r>
          </a:p>
          <a:p>
            <a:pPr lvl="1" eaLnBrk="1" hangingPunct="1"/>
            <a:r>
              <a:rPr lang="en-US" altLang="en-US" sz="2400">
                <a:solidFill>
                  <a:schemeClr val="bg2"/>
                </a:solidFill>
              </a:rPr>
              <a:t>Vertical data format approach (Charm—Zaki &amp; Hsiao @SDM’02)</a:t>
            </a:r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CA96A5BB-F07C-4976-B39F-7CABFEEC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DF06D18-F800-4E67-BF95-D6D9C4CBF637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3C063B7-511E-45B3-9784-E26EE05AF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228600"/>
            <a:ext cx="9448800" cy="762000"/>
          </a:xfrm>
        </p:spPr>
        <p:txBody>
          <a:bodyPr/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3200"/>
              <a:t>Apriori: A Candidate Generation &amp; Test Approach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4CBE0BF-7845-47FE-B2D6-207949201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u="sng">
                <a:solidFill>
                  <a:schemeClr val="hlink"/>
                </a:solidFill>
              </a:rPr>
              <a:t>Apriori pruning principle</a:t>
            </a:r>
            <a:r>
              <a:rPr lang="en-US" altLang="en-US" sz="2400">
                <a:solidFill>
                  <a:schemeClr val="hlink"/>
                </a:solidFill>
              </a:rPr>
              <a:t>: </a:t>
            </a:r>
            <a:r>
              <a:rPr lang="en-US" altLang="en-US" sz="2400">
                <a:solidFill>
                  <a:schemeClr val="tx2"/>
                </a:solidFill>
              </a:rPr>
              <a:t>If there is </a:t>
            </a:r>
            <a:r>
              <a:rPr lang="en-US" altLang="en-US" sz="2400">
                <a:solidFill>
                  <a:schemeClr val="hlink"/>
                </a:solidFill>
              </a:rPr>
              <a:t>any</a:t>
            </a:r>
            <a:r>
              <a:rPr lang="en-US" altLang="en-US" sz="2400">
                <a:solidFill>
                  <a:schemeClr val="tx2"/>
                </a:solidFill>
              </a:rPr>
              <a:t> itemset which is infrequent, its superset should not be generated/tested! (</a:t>
            </a:r>
            <a:r>
              <a:rPr lang="en-US" altLang="en-US" sz="2400">
                <a:solidFill>
                  <a:schemeClr val="bg2"/>
                </a:solidFill>
              </a:rPr>
              <a:t>Agrawal &amp; Srikant @VLDB’94, Mannila, et al. @ KDD’ 94)</a:t>
            </a:r>
            <a:endParaRPr lang="en-US" altLang="en-US" sz="240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bg2"/>
                </a:solidFill>
              </a:rPr>
              <a:t>Method: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Initially, scan DB once to get frequent 1-itemset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Generate</a:t>
            </a:r>
            <a:r>
              <a:rPr lang="en-US" altLang="en-US" sz="2400">
                <a:solidFill>
                  <a:schemeClr val="bg2"/>
                </a:solidFill>
              </a:rPr>
              <a:t> length (k+1) </a:t>
            </a:r>
            <a:r>
              <a:rPr lang="en-US" altLang="en-US" sz="2400">
                <a:solidFill>
                  <a:schemeClr val="hlink"/>
                </a:solidFill>
              </a:rPr>
              <a:t>candidate</a:t>
            </a:r>
            <a:r>
              <a:rPr lang="en-US" altLang="en-US" sz="2400">
                <a:solidFill>
                  <a:schemeClr val="bg2"/>
                </a:solidFill>
              </a:rPr>
              <a:t> itemsets from length k </a:t>
            </a:r>
            <a:r>
              <a:rPr lang="en-US" altLang="en-US" sz="2400">
                <a:solidFill>
                  <a:schemeClr val="hlink"/>
                </a:solidFill>
              </a:rPr>
              <a:t>frequent</a:t>
            </a:r>
            <a:r>
              <a:rPr lang="en-US" altLang="en-US" sz="2400">
                <a:solidFill>
                  <a:schemeClr val="bg2"/>
                </a:solidFill>
              </a:rPr>
              <a:t> itemsets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Test </a:t>
            </a:r>
            <a:r>
              <a:rPr lang="en-US" altLang="en-US" sz="2400">
                <a:solidFill>
                  <a:schemeClr val="bg2"/>
                </a:solidFill>
              </a:rPr>
              <a:t>the candidates against DB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bg2"/>
                </a:solidFill>
              </a:rPr>
              <a:t>Terminate when no frequent or candidate set can be generated</a:t>
            </a:r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62D1E794-FD62-40A0-BD8C-E47C0EB2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D68C13-AC23-4B3C-8679-4B729D0905D9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66DCA39-92D7-463F-BAFF-CFE965E4C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The Apriori Algorithm—An Example 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DCC72684-7E35-4AFD-8F04-8C7ADAF4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1600"/>
            <a:ext cx="1985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Database TDB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6041BFC6-4625-46AF-AF34-16D46DC0D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2273300"/>
            <a:ext cx="1090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1</a:t>
            </a:r>
            <a:r>
              <a:rPr lang="en-US" altLang="en-US" baseline="30000">
                <a:latin typeface="Times New Roman" panose="02020603050405020304" pitchFamily="18" charset="0"/>
              </a:rPr>
              <a:t>st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7414" name="Line 5">
            <a:extLst>
              <a:ext uri="{FF2B5EF4-FFF2-40B4-BE49-F238E27FC236}">
                <a16:creationId xmlns:a16="http://schemas.microsoft.com/office/drawing/2014/main" id="{228F963E-9808-43F8-AAB8-FD36BCA12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15" name="Text Box 6">
            <a:extLst>
              <a:ext uri="{FF2B5EF4-FFF2-40B4-BE49-F238E27FC236}">
                <a16:creationId xmlns:a16="http://schemas.microsoft.com/office/drawing/2014/main" id="{DD362B7D-7491-466F-9D6D-DD4F77257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16" name="Text Box 7">
            <a:extLst>
              <a:ext uri="{FF2B5EF4-FFF2-40B4-BE49-F238E27FC236}">
                <a16:creationId xmlns:a16="http://schemas.microsoft.com/office/drawing/2014/main" id="{C312F688-318D-404C-BAFF-C182D6498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17" name="Text Box 8">
            <a:extLst>
              <a:ext uri="{FF2B5EF4-FFF2-40B4-BE49-F238E27FC236}">
                <a16:creationId xmlns:a16="http://schemas.microsoft.com/office/drawing/2014/main" id="{7448F622-C1F9-471D-BBD4-F6782E9E7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18" name="Text Box 9">
            <a:extLst>
              <a:ext uri="{FF2B5EF4-FFF2-40B4-BE49-F238E27FC236}">
                <a16:creationId xmlns:a16="http://schemas.microsoft.com/office/drawing/2014/main" id="{49C3A685-FDA7-4720-9161-98DE2C0E1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19" name="Text Box 10">
            <a:extLst>
              <a:ext uri="{FF2B5EF4-FFF2-40B4-BE49-F238E27FC236}">
                <a16:creationId xmlns:a16="http://schemas.microsoft.com/office/drawing/2014/main" id="{B3EAC2D4-9DAA-48CC-AEE3-5B4728F6A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20" name="Line 11">
            <a:extLst>
              <a:ext uri="{FF2B5EF4-FFF2-40B4-BE49-F238E27FC236}">
                <a16:creationId xmlns:a16="http://schemas.microsoft.com/office/drawing/2014/main" id="{5590778B-1F5D-4530-9A0D-8B338FCD81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21" name="Text Box 12">
            <a:extLst>
              <a:ext uri="{FF2B5EF4-FFF2-40B4-BE49-F238E27FC236}">
                <a16:creationId xmlns:a16="http://schemas.microsoft.com/office/drawing/2014/main" id="{593F35DB-BD20-4CB3-BF9B-4C78ABB06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3751263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2</a:t>
            </a:r>
            <a:r>
              <a:rPr lang="en-US" altLang="en-US" baseline="30000">
                <a:latin typeface="Times New Roman" panose="02020603050405020304" pitchFamily="18" charset="0"/>
              </a:rPr>
              <a:t>nd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7422" name="AutoShape 13">
            <a:extLst>
              <a:ext uri="{FF2B5EF4-FFF2-40B4-BE49-F238E27FC236}">
                <a16:creationId xmlns:a16="http://schemas.microsoft.com/office/drawing/2014/main" id="{2EE8AF8C-B7FC-4D28-ADE8-0A1BADEE4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3" name="Line 14">
            <a:extLst>
              <a:ext uri="{FF2B5EF4-FFF2-40B4-BE49-F238E27FC236}">
                <a16:creationId xmlns:a16="http://schemas.microsoft.com/office/drawing/2014/main" id="{87BA4780-2E7A-4A72-8D93-A088DE854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24" name="Text Box 15">
            <a:extLst>
              <a:ext uri="{FF2B5EF4-FFF2-40B4-BE49-F238E27FC236}">
                <a16:creationId xmlns:a16="http://schemas.microsoft.com/office/drawing/2014/main" id="{9D19F665-D2D0-49F2-BEC8-777A280EC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25" name="Text Box 16">
            <a:extLst>
              <a:ext uri="{FF2B5EF4-FFF2-40B4-BE49-F238E27FC236}">
                <a16:creationId xmlns:a16="http://schemas.microsoft.com/office/drawing/2014/main" id="{B64A38AC-C2FD-4E1F-8AA3-A7182258D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26" name="Text Box 17">
            <a:extLst>
              <a:ext uri="{FF2B5EF4-FFF2-40B4-BE49-F238E27FC236}">
                <a16:creationId xmlns:a16="http://schemas.microsoft.com/office/drawing/2014/main" id="{83688253-8F92-43D1-95EA-2251B161B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275" y="5881688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3</a:t>
            </a:r>
            <a:r>
              <a:rPr lang="en-US" altLang="en-US" baseline="30000">
                <a:latin typeface="Times New Roman" panose="02020603050405020304" pitchFamily="18" charset="0"/>
              </a:rPr>
              <a:t>rd</a:t>
            </a:r>
            <a:r>
              <a:rPr lang="en-US" altLang="en-US">
                <a:latin typeface="Times New Roman" panose="02020603050405020304" pitchFamily="18" charset="0"/>
              </a:rPr>
              <a:t> scan</a:t>
            </a:r>
          </a:p>
        </p:txBody>
      </p:sp>
      <p:sp>
        <p:nvSpPr>
          <p:cNvPr id="17427" name="AutoShape 18">
            <a:extLst>
              <a:ext uri="{FF2B5EF4-FFF2-40B4-BE49-F238E27FC236}">
                <a16:creationId xmlns:a16="http://schemas.microsoft.com/office/drawing/2014/main" id="{8CD6558D-400E-4C85-9C9A-FFCD0A3B2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8" name="Line 19">
            <a:extLst>
              <a:ext uri="{FF2B5EF4-FFF2-40B4-BE49-F238E27FC236}">
                <a16:creationId xmlns:a16="http://schemas.microsoft.com/office/drawing/2014/main" id="{3ABF5252-F4AC-4C15-8256-3A7B78B12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9" name="Line 20">
            <a:extLst>
              <a:ext uri="{FF2B5EF4-FFF2-40B4-BE49-F238E27FC236}">
                <a16:creationId xmlns:a16="http://schemas.microsoft.com/office/drawing/2014/main" id="{7745C7ED-AEEB-4F11-8444-01AB7979CC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532949" name="Group 21">
            <a:extLst>
              <a:ext uri="{FF2B5EF4-FFF2-40B4-BE49-F238E27FC236}">
                <a16:creationId xmlns:a16="http://schemas.microsoft.com/office/drawing/2014/main" id="{08B7DEFF-BBA5-4A68-A3CC-294736B27576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1905000" cy="1554163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>
            <a:extLst>
              <a:ext uri="{FF2B5EF4-FFF2-40B4-BE49-F238E27FC236}">
                <a16:creationId xmlns:a16="http://schemas.microsoft.com/office/drawing/2014/main" id="{76447B0C-A49F-4958-BDB3-5A76485CDAF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219200"/>
          <a:ext cx="1752600" cy="186531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{D}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>
            <a:extLst>
              <a:ext uri="{FF2B5EF4-FFF2-40B4-BE49-F238E27FC236}">
                <a16:creationId xmlns:a16="http://schemas.microsoft.com/office/drawing/2014/main" id="{B7D18362-9070-4FC8-89A1-5CCA42FA3116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1371600"/>
          <a:ext cx="1752600" cy="155416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>
            <a:extLst>
              <a:ext uri="{FF2B5EF4-FFF2-40B4-BE49-F238E27FC236}">
                <a16:creationId xmlns:a16="http://schemas.microsoft.com/office/drawing/2014/main" id="{B0DBEA96-DC7E-4425-867E-08AFED94D2A1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581400"/>
          <a:ext cx="1143000" cy="217646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>
            <a:extLst>
              <a:ext uri="{FF2B5EF4-FFF2-40B4-BE49-F238E27FC236}">
                <a16:creationId xmlns:a16="http://schemas.microsoft.com/office/drawing/2014/main" id="{FB69C1F2-1DB4-4FD0-8228-76FEBA73EF45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3429000"/>
          <a:ext cx="1752600" cy="200501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>
            <a:extLst>
              <a:ext uri="{FF2B5EF4-FFF2-40B4-BE49-F238E27FC236}">
                <a16:creationId xmlns:a16="http://schemas.microsoft.com/office/drawing/2014/main" id="{8888664B-9FC5-4609-B8A0-ACD6D3A357A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62388"/>
          <a:ext cx="1752600" cy="14319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>
            <a:extLst>
              <a:ext uri="{FF2B5EF4-FFF2-40B4-BE49-F238E27FC236}">
                <a16:creationId xmlns:a16="http://schemas.microsoft.com/office/drawing/2014/main" id="{6857B585-E715-45B7-BB49-BCE9D3B46E1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5867400"/>
          <a:ext cx="1143000" cy="65881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>
            <a:extLst>
              <a:ext uri="{FF2B5EF4-FFF2-40B4-BE49-F238E27FC236}">
                <a16:creationId xmlns:a16="http://schemas.microsoft.com/office/drawing/2014/main" id="{A5B93B19-B599-4258-9621-84D633C97EF8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867400"/>
          <a:ext cx="1752600" cy="619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576" name="Text Box 167">
            <a:extLst>
              <a:ext uri="{FF2B5EF4-FFF2-40B4-BE49-F238E27FC236}">
                <a16:creationId xmlns:a16="http://schemas.microsoft.com/office/drawing/2014/main" id="{D3107A8D-6DE2-42DD-B89C-9F1BAF428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1430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Sup</a:t>
            </a:r>
            <a:r>
              <a:rPr lang="en-US" altLang="en-US" baseline="-25000"/>
              <a:t>min</a:t>
            </a:r>
            <a:r>
              <a:rPr lang="en-US" altLang="en-US"/>
              <a:t> = 2</a:t>
            </a:r>
          </a:p>
        </p:txBody>
      </p: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068438FF-885F-441D-8A47-9AAAC47A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1730E41-A8CE-420C-ABBD-5C6B18F9972F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24703FE-7962-4FE1-9670-348C47B846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543800" cy="762000"/>
          </a:xfrm>
        </p:spPr>
        <p:txBody>
          <a:bodyPr/>
          <a:lstStyle/>
          <a:p>
            <a:pPr eaLnBrk="1" hangingPunct="1"/>
            <a:r>
              <a:rPr lang="en-US" altLang="en-US"/>
              <a:t>The Apriori Algorithm (</a:t>
            </a:r>
            <a:r>
              <a:rPr lang="en-US" altLang="en-US" sz="3200"/>
              <a:t>Pseudo-Code</a:t>
            </a:r>
            <a:r>
              <a:rPr lang="en-US" altLang="en-US" sz="3200" u="sng"/>
              <a:t>)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E78B927-C310-4200-AF8D-790D9141D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 i="1"/>
              <a:t>C</a:t>
            </a:r>
            <a:r>
              <a:rPr lang="en-US" altLang="en-US" sz="2400" i="1" baseline="-25000"/>
              <a:t>k</a:t>
            </a:r>
            <a:r>
              <a:rPr lang="en-US" altLang="en-US" sz="2400"/>
              <a:t>: Candidate itemset of size 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i="1"/>
              <a:t>L</a:t>
            </a:r>
            <a:r>
              <a:rPr lang="en-US" altLang="en-US" sz="2400" i="1" baseline="-25000"/>
              <a:t>k</a:t>
            </a:r>
            <a:r>
              <a:rPr lang="en-US" altLang="en-US" sz="2400"/>
              <a:t> : frequent itemset of size 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i="1"/>
              <a:t>L</a:t>
            </a:r>
            <a:r>
              <a:rPr lang="en-US" altLang="en-US" sz="2400" i="1" baseline="-25000"/>
              <a:t>1</a:t>
            </a:r>
            <a:r>
              <a:rPr lang="en-US" altLang="en-US" sz="2400"/>
              <a:t> = {frequent items};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F83F24"/>
                </a:solidFill>
              </a:rPr>
              <a:t>for</a:t>
            </a:r>
            <a:r>
              <a:rPr lang="en-US" altLang="en-US" sz="2400" b="1"/>
              <a:t> </a:t>
            </a:r>
            <a:r>
              <a:rPr lang="en-US" altLang="en-US" sz="2400"/>
              <a:t>(</a:t>
            </a:r>
            <a:r>
              <a:rPr lang="en-US" altLang="en-US" sz="2400" i="1"/>
              <a:t>k</a:t>
            </a:r>
            <a:r>
              <a:rPr lang="en-US" altLang="en-US" sz="2400"/>
              <a:t> = 1;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</a:t>
            </a:r>
            <a:r>
              <a:rPr lang="en-US" altLang="en-US" sz="2400"/>
              <a:t> !=</a:t>
            </a:r>
            <a:r>
              <a:rPr lang="en-US" altLang="en-US" sz="2400">
                <a:sym typeface="Symbol" panose="05050102010706020507" pitchFamily="18" charset="2"/>
              </a:rPr>
              <a:t></a:t>
            </a:r>
            <a:r>
              <a:rPr lang="en-US" altLang="en-US" sz="2400"/>
              <a:t>; </a:t>
            </a:r>
            <a:r>
              <a:rPr lang="en-US" altLang="en-US" sz="2400" i="1"/>
              <a:t>k</a:t>
            </a:r>
            <a:r>
              <a:rPr lang="en-US" altLang="en-US" sz="2400"/>
              <a:t>++) </a:t>
            </a:r>
            <a:r>
              <a:rPr lang="en-US" altLang="en-US" sz="2400" b="1">
                <a:solidFill>
                  <a:srgbClr val="F83F24"/>
                </a:solidFill>
              </a:rPr>
              <a:t>do begin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 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k+1</a:t>
            </a:r>
            <a:r>
              <a:rPr lang="en-US" altLang="en-US" sz="2400"/>
              <a:t> = candidates generated from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</a:t>
            </a:r>
            <a:r>
              <a:rPr lang="en-US" altLang="en-US" sz="2400"/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  </a:t>
            </a:r>
            <a:r>
              <a:rPr lang="en-US" altLang="en-US" sz="2400" b="1">
                <a:solidFill>
                  <a:srgbClr val="F83F24"/>
                </a:solidFill>
              </a:rPr>
              <a:t>for each</a:t>
            </a:r>
            <a:r>
              <a:rPr lang="en-US" altLang="en-US" sz="2400"/>
              <a:t> transaction </a:t>
            </a:r>
            <a:r>
              <a:rPr lang="en-US" altLang="en-US" sz="2400" i="1"/>
              <a:t>t</a:t>
            </a:r>
            <a:r>
              <a:rPr lang="en-US" altLang="en-US" sz="2400"/>
              <a:t> in database do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increment the count of all candidates in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k+1</a:t>
            </a:r>
            <a:r>
              <a:rPr lang="en-US" altLang="en-US" sz="2400"/>
              <a:t> that are contained in </a:t>
            </a:r>
            <a:r>
              <a:rPr lang="en-US" altLang="en-US" sz="2400" i="1"/>
              <a:t>t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 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k+1</a:t>
            </a:r>
            <a:r>
              <a:rPr lang="en-US" altLang="en-US" sz="2400"/>
              <a:t>  = candidates in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k+1</a:t>
            </a:r>
            <a:r>
              <a:rPr lang="en-US" altLang="en-US" sz="2400"/>
              <a:t> with min_support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 </a:t>
            </a:r>
            <a:r>
              <a:rPr lang="en-US" altLang="en-US" sz="2400" b="1">
                <a:solidFill>
                  <a:srgbClr val="F83F24"/>
                </a:solidFill>
              </a:rPr>
              <a:t> end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F83F24"/>
                </a:solidFill>
              </a:rPr>
              <a:t>return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</a:t>
            </a:r>
            <a:r>
              <a:rPr lang="en-US" altLang="en-US" sz="2400" i="1" baseline="-25000"/>
              <a:t>k</a:t>
            </a:r>
            <a:r>
              <a:rPr lang="en-US" altLang="en-US" sz="2400"/>
              <a:t>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</a:t>
            </a:r>
            <a:r>
              <a:rPr lang="en-US" altLang="en-US" sz="2400"/>
              <a:t>;</a:t>
            </a: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0C26AC89-0C12-4C23-B7D6-11564A83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9F24E81-F6DD-4263-B774-D225BA099297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D4E972E-C790-4A57-ACE4-D34E17FB2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Implementation of Apriori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F17FD43-43E7-45DB-9638-7ABE1DCE8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How to generate candidates?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Step 1: self-joining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Step 2: pruning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Example of Candidate-generation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/>
              <a:t>L</a:t>
            </a:r>
            <a:r>
              <a:rPr lang="en-US" altLang="en-US" sz="2400" i="1" baseline="-25000"/>
              <a:t>3</a:t>
            </a:r>
            <a:r>
              <a:rPr lang="en-US" altLang="en-US" sz="2400" i="1"/>
              <a:t>=</a:t>
            </a:r>
            <a:r>
              <a:rPr lang="en-US" altLang="en-US" sz="2400"/>
              <a:t>{</a:t>
            </a:r>
            <a:r>
              <a:rPr lang="en-US" altLang="en-US" sz="2400" i="1"/>
              <a:t>abc, abd, acd, ace, bcd</a:t>
            </a:r>
            <a:r>
              <a:rPr lang="en-US" altLang="en-US" sz="2400"/>
              <a:t>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Self-joining: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3</a:t>
            </a:r>
            <a:r>
              <a:rPr lang="en-US" altLang="en-US" sz="2400" i="1"/>
              <a:t>*L</a:t>
            </a:r>
            <a:r>
              <a:rPr lang="en-US" altLang="en-US" sz="2400" i="1" baseline="-25000"/>
              <a:t>3</a:t>
            </a:r>
            <a:endParaRPr lang="en-US" altLang="en-US" sz="2400" i="1"/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/>
              <a:t>abcd </a:t>
            </a:r>
            <a:r>
              <a:rPr lang="en-US" altLang="en-US" sz="2000"/>
              <a:t>from </a:t>
            </a:r>
            <a:r>
              <a:rPr lang="en-US" altLang="en-US" sz="2000" i="1"/>
              <a:t>abc</a:t>
            </a:r>
            <a:r>
              <a:rPr lang="en-US" altLang="en-US" sz="2000"/>
              <a:t> and </a:t>
            </a:r>
            <a:r>
              <a:rPr lang="en-US" altLang="en-US" sz="2000" i="1"/>
              <a:t>abd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/>
              <a:t>acde</a:t>
            </a:r>
            <a:r>
              <a:rPr lang="en-US" altLang="en-US" sz="2000"/>
              <a:t> from </a:t>
            </a:r>
            <a:r>
              <a:rPr lang="en-US" altLang="en-US" sz="2000" i="1"/>
              <a:t>acd</a:t>
            </a:r>
            <a:r>
              <a:rPr lang="en-US" altLang="en-US" sz="2000"/>
              <a:t> and </a:t>
            </a:r>
            <a:r>
              <a:rPr lang="en-US" altLang="en-US" sz="2000" i="1"/>
              <a:t>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Pruning: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/>
              <a:t>acde</a:t>
            </a:r>
            <a:r>
              <a:rPr lang="en-US" altLang="en-US" sz="2000"/>
              <a:t> is removed because </a:t>
            </a:r>
            <a:r>
              <a:rPr lang="en-US" altLang="en-US" sz="2000" i="1"/>
              <a:t>ade</a:t>
            </a:r>
            <a:r>
              <a:rPr lang="en-US" altLang="en-US" sz="2000"/>
              <a:t> is not in </a:t>
            </a:r>
            <a:r>
              <a:rPr lang="en-US" altLang="en-US" sz="2000" i="1"/>
              <a:t>L</a:t>
            </a:r>
            <a:r>
              <a:rPr lang="en-US" altLang="en-US" sz="2000" i="1" baseline="-25000"/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/>
              <a:t>C</a:t>
            </a:r>
            <a:r>
              <a:rPr lang="en-US" altLang="en-US" sz="2400" i="1" baseline="-25000"/>
              <a:t>4 </a:t>
            </a:r>
            <a:r>
              <a:rPr lang="en-US" altLang="en-US" sz="2400"/>
              <a:t>= {</a:t>
            </a:r>
            <a:r>
              <a:rPr lang="en-US" altLang="en-US" sz="2400" i="1"/>
              <a:t>abcd</a:t>
            </a:r>
            <a:r>
              <a:rPr lang="en-US" altLang="en-US" sz="2400"/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en-US" sz="2000"/>
          </a:p>
        </p:txBody>
      </p:sp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8AFAF7D9-00C4-456F-9B66-3E7DFDD1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395DD4-E1AB-440B-9880-2D44DC67BE1C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D8DF1A9-DA75-4E66-8717-EA6D59235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534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How to Count Supports of Candidates?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564D22E-B8E4-4421-B039-962D5346B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Why counting supports of candidates a problem?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The total number of candidates can be very huge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 One transaction may contain many candidates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Method: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Candidate itemsets are stored in a </a:t>
            </a:r>
            <a:r>
              <a:rPr lang="en-US" altLang="en-US" sz="2400" i="1">
                <a:solidFill>
                  <a:schemeClr val="hlink"/>
                </a:solidFill>
              </a:rPr>
              <a:t>hash-tree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Leaf </a:t>
            </a:r>
            <a:r>
              <a:rPr lang="en-US" altLang="en-US" sz="2400">
                <a:solidFill>
                  <a:schemeClr val="hlink"/>
                </a:solidFill>
              </a:rPr>
              <a:t>node </a:t>
            </a:r>
            <a:r>
              <a:rPr lang="en-US" altLang="en-US" sz="2400"/>
              <a:t>of hash-tree contains a list of itemsets and counts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Interior </a:t>
            </a:r>
            <a:r>
              <a:rPr lang="en-US" altLang="en-US" sz="2400">
                <a:solidFill>
                  <a:schemeClr val="hlink"/>
                </a:solidFill>
              </a:rPr>
              <a:t>node</a:t>
            </a:r>
            <a:r>
              <a:rPr lang="en-US" altLang="en-US" sz="2400"/>
              <a:t> contains a hash table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>
                <a:solidFill>
                  <a:schemeClr val="hlink"/>
                </a:solidFill>
              </a:rPr>
              <a:t>Subset function</a:t>
            </a:r>
            <a:r>
              <a:rPr lang="en-US" altLang="en-US" sz="2400"/>
              <a:t>: finds all the candidates contained in a transaction</a:t>
            </a:r>
            <a:endParaRPr lang="en-US" altLang="en-US" sz="2400" i="1"/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727CB362-2B71-41BD-B839-AA3E9A70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7F97767-CF7C-4B9A-9B72-7033CD5DDEFE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D5005D5-88D2-4176-AC47-EB3E24E69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04800" y="381000"/>
            <a:ext cx="97536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Counting Supports of Candidates Using Hash Tree</a:t>
            </a:r>
          </a:p>
        </p:txBody>
      </p:sp>
      <p:grpSp>
        <p:nvGrpSpPr>
          <p:cNvPr id="21508" name="Group 3">
            <a:extLst>
              <a:ext uri="{FF2B5EF4-FFF2-40B4-BE49-F238E27FC236}">
                <a16:creationId xmlns:a16="http://schemas.microsoft.com/office/drawing/2014/main" id="{21E80B61-FE95-4C94-87FC-F5C6D6CB321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752600"/>
            <a:ext cx="2286000" cy="1249363"/>
            <a:chOff x="144" y="912"/>
            <a:chExt cx="1440" cy="787"/>
          </a:xfrm>
        </p:grpSpPr>
        <p:sp>
          <p:nvSpPr>
            <p:cNvPr id="21544" name="Line 4">
              <a:extLst>
                <a:ext uri="{FF2B5EF4-FFF2-40B4-BE49-F238E27FC236}">
                  <a16:creationId xmlns:a16="http://schemas.microsoft.com/office/drawing/2014/main" id="{5785395E-2583-4C86-BB38-38677E11E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Line 5">
              <a:extLst>
                <a:ext uri="{FF2B5EF4-FFF2-40B4-BE49-F238E27FC236}">
                  <a16:creationId xmlns:a16="http://schemas.microsoft.com/office/drawing/2014/main" id="{5E6E0415-C83C-4529-B1A9-E57B9E45E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Text Box 6">
              <a:extLst>
                <a:ext uri="{FF2B5EF4-FFF2-40B4-BE49-F238E27FC236}">
                  <a16:creationId xmlns:a16="http://schemas.microsoft.com/office/drawing/2014/main" id="{CFE415D6-085C-40C8-84B6-89C1C3A41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1,4,7</a:t>
              </a:r>
            </a:p>
          </p:txBody>
        </p:sp>
        <p:sp>
          <p:nvSpPr>
            <p:cNvPr id="21547" name="Text Box 7">
              <a:extLst>
                <a:ext uri="{FF2B5EF4-FFF2-40B4-BE49-F238E27FC236}">
                  <a16:creationId xmlns:a16="http://schemas.microsoft.com/office/drawing/2014/main" id="{868BE3D5-47A3-40A2-B3E8-E6FE2BE6E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2,5,8</a:t>
              </a:r>
            </a:p>
          </p:txBody>
        </p:sp>
        <p:sp>
          <p:nvSpPr>
            <p:cNvPr id="21548" name="Line 8">
              <a:extLst>
                <a:ext uri="{FF2B5EF4-FFF2-40B4-BE49-F238E27FC236}">
                  <a16:creationId xmlns:a16="http://schemas.microsoft.com/office/drawing/2014/main" id="{005078D3-67DB-4707-B05B-017F5C12C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Text Box 9">
              <a:extLst>
                <a:ext uri="{FF2B5EF4-FFF2-40B4-BE49-F238E27FC236}">
                  <a16:creationId xmlns:a16="http://schemas.microsoft.com/office/drawing/2014/main" id="{F008ABEA-779F-4982-B0F8-570E9785D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3,6,9</a:t>
              </a:r>
            </a:p>
          </p:txBody>
        </p:sp>
        <p:sp>
          <p:nvSpPr>
            <p:cNvPr id="21550" name="Text Box 10">
              <a:extLst>
                <a:ext uri="{FF2B5EF4-FFF2-40B4-BE49-F238E27FC236}">
                  <a16:creationId xmlns:a16="http://schemas.microsoft.com/office/drawing/2014/main" id="{8F4588F6-D7D8-4A95-99B2-515B5053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912"/>
              <a:ext cx="1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Subset function</a:t>
              </a:r>
            </a:p>
          </p:txBody>
        </p:sp>
        <p:sp>
          <p:nvSpPr>
            <p:cNvPr id="21551" name="Rectangle 11">
              <a:extLst>
                <a:ext uri="{FF2B5EF4-FFF2-40B4-BE49-F238E27FC236}">
                  <a16:creationId xmlns:a16="http://schemas.microsoft.com/office/drawing/2014/main" id="{9E0AB3CA-4365-4E7B-BABD-2158D830D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912"/>
              <a:ext cx="1440" cy="76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1509" name="Group 12">
            <a:extLst>
              <a:ext uri="{FF2B5EF4-FFF2-40B4-BE49-F238E27FC236}">
                <a16:creationId xmlns:a16="http://schemas.microsoft.com/office/drawing/2014/main" id="{D6FD9D31-D440-457E-BFC9-AFDBF737DCFF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352800"/>
            <a:ext cx="4943475" cy="2682875"/>
            <a:chOff x="1632" y="1536"/>
            <a:chExt cx="3114" cy="1690"/>
          </a:xfrm>
        </p:grpSpPr>
        <p:sp>
          <p:nvSpPr>
            <p:cNvPr id="21523" name="Line 13">
              <a:extLst>
                <a:ext uri="{FF2B5EF4-FFF2-40B4-BE49-F238E27FC236}">
                  <a16:creationId xmlns:a16="http://schemas.microsoft.com/office/drawing/2014/main" id="{61F22F26-8CD3-4692-8079-00EAAFA45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536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14">
              <a:extLst>
                <a:ext uri="{FF2B5EF4-FFF2-40B4-BE49-F238E27FC236}">
                  <a16:creationId xmlns:a16="http://schemas.microsoft.com/office/drawing/2014/main" id="{2481C494-7E20-4E53-99ED-AB6E2B732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536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15">
              <a:extLst>
                <a:ext uri="{FF2B5EF4-FFF2-40B4-BE49-F238E27FC236}">
                  <a16:creationId xmlns:a16="http://schemas.microsoft.com/office/drawing/2014/main" id="{75068F03-DE86-467C-A8B0-0CF57C3F9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Text Box 16">
              <a:extLst>
                <a:ext uri="{FF2B5EF4-FFF2-40B4-BE49-F238E27FC236}">
                  <a16:creationId xmlns:a16="http://schemas.microsoft.com/office/drawing/2014/main" id="{5F2B1CB5-00F0-40BC-A64C-04DB890F6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728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2 3 4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5 6 7</a:t>
              </a:r>
            </a:p>
          </p:txBody>
        </p:sp>
        <p:sp>
          <p:nvSpPr>
            <p:cNvPr id="21527" name="Line 17">
              <a:extLst>
                <a:ext uri="{FF2B5EF4-FFF2-40B4-BE49-F238E27FC236}">
                  <a16:creationId xmlns:a16="http://schemas.microsoft.com/office/drawing/2014/main" id="{2E6C811F-E172-484F-9D8E-548855A61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" y="1871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Text Box 18">
              <a:extLst>
                <a:ext uri="{FF2B5EF4-FFF2-40B4-BE49-F238E27FC236}">
                  <a16:creationId xmlns:a16="http://schemas.microsoft.com/office/drawing/2014/main" id="{C168B8F1-5A0C-409C-A45F-10C657063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16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1 4 5</a:t>
              </a:r>
            </a:p>
          </p:txBody>
        </p:sp>
        <p:sp>
          <p:nvSpPr>
            <p:cNvPr id="21529" name="Line 19">
              <a:extLst>
                <a:ext uri="{FF2B5EF4-FFF2-40B4-BE49-F238E27FC236}">
                  <a16:creationId xmlns:a16="http://schemas.microsoft.com/office/drawing/2014/main" id="{1A98C367-6C18-48D5-BDCB-9AFB9AEBE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3" y="1871"/>
              <a:ext cx="3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Line 20">
              <a:extLst>
                <a:ext uri="{FF2B5EF4-FFF2-40B4-BE49-F238E27FC236}">
                  <a16:creationId xmlns:a16="http://schemas.microsoft.com/office/drawing/2014/main" id="{57378192-509E-4751-971E-427DF6C36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3" y="1871"/>
              <a:ext cx="576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Text Box 21">
              <a:extLst>
                <a:ext uri="{FF2B5EF4-FFF2-40B4-BE49-F238E27FC236}">
                  <a16:creationId xmlns:a16="http://schemas.microsoft.com/office/drawing/2014/main" id="{2146AD52-96E7-482C-8E76-1DCE3891B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2265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1 3 6</a:t>
              </a:r>
            </a:p>
          </p:txBody>
        </p:sp>
        <p:sp>
          <p:nvSpPr>
            <p:cNvPr id="21532" name="Line 22">
              <a:extLst>
                <a:ext uri="{FF2B5EF4-FFF2-40B4-BE49-F238E27FC236}">
                  <a16:creationId xmlns:a16="http://schemas.microsoft.com/office/drawing/2014/main" id="{D2599A3B-77CA-4801-B05A-4E4A996FA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2352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Text Box 23">
              <a:extLst>
                <a:ext uri="{FF2B5EF4-FFF2-40B4-BE49-F238E27FC236}">
                  <a16:creationId xmlns:a16="http://schemas.microsoft.com/office/drawing/2014/main" id="{9C0BEB7D-2737-436F-9259-55DAB0155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640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1 2 4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4 5 7</a:t>
              </a:r>
            </a:p>
          </p:txBody>
        </p:sp>
        <p:sp>
          <p:nvSpPr>
            <p:cNvPr id="21534" name="Line 24">
              <a:extLst>
                <a:ext uri="{FF2B5EF4-FFF2-40B4-BE49-F238E27FC236}">
                  <a16:creationId xmlns:a16="http://schemas.microsoft.com/office/drawing/2014/main" id="{4DC5E26F-A5DB-4F69-A3E4-71A05600F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Text Box 25">
              <a:extLst>
                <a:ext uri="{FF2B5EF4-FFF2-40B4-BE49-F238E27FC236}">
                  <a16:creationId xmlns:a16="http://schemas.microsoft.com/office/drawing/2014/main" id="{730E86CA-03E1-468C-82AE-9B8F43723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784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1 2 5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4 5 8</a:t>
              </a:r>
            </a:p>
          </p:txBody>
        </p:sp>
        <p:sp>
          <p:nvSpPr>
            <p:cNvPr id="21536" name="Line 26">
              <a:extLst>
                <a:ext uri="{FF2B5EF4-FFF2-40B4-BE49-F238E27FC236}">
                  <a16:creationId xmlns:a16="http://schemas.microsoft.com/office/drawing/2014/main" id="{33D63788-4CF9-4327-806B-846D66D30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352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Text Box 27">
              <a:extLst>
                <a:ext uri="{FF2B5EF4-FFF2-40B4-BE49-F238E27FC236}">
                  <a16:creationId xmlns:a16="http://schemas.microsoft.com/office/drawing/2014/main" id="{97AB023E-E700-4C11-8D48-87FD8EA17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84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1 5 9</a:t>
              </a:r>
            </a:p>
          </p:txBody>
        </p:sp>
        <p:sp>
          <p:nvSpPr>
            <p:cNvPr id="21538" name="Line 28">
              <a:extLst>
                <a:ext uri="{FF2B5EF4-FFF2-40B4-BE49-F238E27FC236}">
                  <a16:creationId xmlns:a16="http://schemas.microsoft.com/office/drawing/2014/main" id="{71635DAC-2CDC-4CBF-B139-D97374B76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Text Box 29">
              <a:extLst>
                <a:ext uri="{FF2B5EF4-FFF2-40B4-BE49-F238E27FC236}">
                  <a16:creationId xmlns:a16="http://schemas.microsoft.com/office/drawing/2014/main" id="{E282E51C-C8C6-4ED1-B592-B53AD3958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216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3 4 5</a:t>
              </a:r>
            </a:p>
          </p:txBody>
        </p:sp>
        <p:sp>
          <p:nvSpPr>
            <p:cNvPr id="21540" name="Line 30">
              <a:extLst>
                <a:ext uri="{FF2B5EF4-FFF2-40B4-BE49-F238E27FC236}">
                  <a16:creationId xmlns:a16="http://schemas.microsoft.com/office/drawing/2014/main" id="{E858A4A5-8EAF-4DF1-91ED-981A80B68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Text Box 31">
              <a:extLst>
                <a:ext uri="{FF2B5EF4-FFF2-40B4-BE49-F238E27FC236}">
                  <a16:creationId xmlns:a16="http://schemas.microsoft.com/office/drawing/2014/main" id="{C28CFD4E-5025-47AA-9E2C-D8AEE4476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160"/>
              <a:ext cx="43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3 5 6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3 5 7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6 8 9</a:t>
              </a:r>
            </a:p>
          </p:txBody>
        </p:sp>
        <p:sp>
          <p:nvSpPr>
            <p:cNvPr id="21542" name="Line 32">
              <a:extLst>
                <a:ext uri="{FF2B5EF4-FFF2-40B4-BE49-F238E27FC236}">
                  <a16:creationId xmlns:a16="http://schemas.microsoft.com/office/drawing/2014/main" id="{37247D45-7460-4760-A7D2-C848F42C8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Text Box 33">
              <a:extLst>
                <a:ext uri="{FF2B5EF4-FFF2-40B4-BE49-F238E27FC236}">
                  <a16:creationId xmlns:a16="http://schemas.microsoft.com/office/drawing/2014/main" id="{605064C0-96BB-4758-AA36-8F419A52E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" y="2121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3 6 7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3 6 8</a:t>
              </a:r>
            </a:p>
          </p:txBody>
        </p:sp>
      </p:grpSp>
      <p:sp>
        <p:nvSpPr>
          <p:cNvPr id="21510" name="Text Box 34">
            <a:extLst>
              <a:ext uri="{FF2B5EF4-FFF2-40B4-BE49-F238E27FC236}">
                <a16:creationId xmlns:a16="http://schemas.microsoft.com/office/drawing/2014/main" id="{287D68F3-CE4D-46D8-8E0F-F338CFFFE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905000"/>
            <a:ext cx="2403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Transaction: 1 2 3 5 6</a:t>
            </a:r>
          </a:p>
        </p:txBody>
      </p:sp>
      <p:sp>
        <p:nvSpPr>
          <p:cNvPr id="21511" name="Line 35">
            <a:extLst>
              <a:ext uri="{FF2B5EF4-FFF2-40B4-BE49-F238E27FC236}">
                <a16:creationId xmlns:a16="http://schemas.microsoft.com/office/drawing/2014/main" id="{6EEAAA7F-4DAA-4040-89FE-C0F0D5DBB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286000"/>
            <a:ext cx="152400" cy="1066800"/>
          </a:xfrm>
          <a:prstGeom prst="line">
            <a:avLst/>
          </a:prstGeom>
          <a:noFill/>
          <a:ln w="19050">
            <a:solidFill>
              <a:schemeClr val="folHlink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Text Box 36">
            <a:extLst>
              <a:ext uri="{FF2B5EF4-FFF2-40B4-BE49-F238E27FC236}">
                <a16:creationId xmlns:a16="http://schemas.microsoft.com/office/drawing/2014/main" id="{5DFFA7C4-BACE-43B4-AA2F-6346E0AC0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3214688"/>
            <a:ext cx="1279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1 + 2 3 5 6</a:t>
            </a:r>
          </a:p>
        </p:txBody>
      </p:sp>
      <p:sp>
        <p:nvSpPr>
          <p:cNvPr id="21513" name="Line 37">
            <a:extLst>
              <a:ext uri="{FF2B5EF4-FFF2-40B4-BE49-F238E27FC236}">
                <a16:creationId xmlns:a16="http://schemas.microsoft.com/office/drawing/2014/main" id="{10ECAE83-1D8F-40E7-88BF-B08B97CDC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429000"/>
            <a:ext cx="1143000" cy="457200"/>
          </a:xfrm>
          <a:prstGeom prst="line">
            <a:avLst/>
          </a:prstGeom>
          <a:noFill/>
          <a:ln w="19050">
            <a:solidFill>
              <a:schemeClr val="folHlink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Text Box 38">
            <a:extLst>
              <a:ext uri="{FF2B5EF4-FFF2-40B4-BE49-F238E27FC236}">
                <a16:creationId xmlns:a16="http://schemas.microsoft.com/office/drawing/2014/main" id="{2516CF3F-71BC-44DF-9DA8-876FCA808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4814888"/>
            <a:ext cx="1279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1 2 + 3 5 6</a:t>
            </a:r>
          </a:p>
        </p:txBody>
      </p:sp>
      <p:sp>
        <p:nvSpPr>
          <p:cNvPr id="21515" name="Line 39">
            <a:extLst>
              <a:ext uri="{FF2B5EF4-FFF2-40B4-BE49-F238E27FC236}">
                <a16:creationId xmlns:a16="http://schemas.microsoft.com/office/drawing/2014/main" id="{A065D451-C768-4AB5-87C0-FC8593F4BB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648200"/>
            <a:ext cx="1524000" cy="381000"/>
          </a:xfrm>
          <a:prstGeom prst="line">
            <a:avLst/>
          </a:prstGeom>
          <a:noFill/>
          <a:ln w="19050">
            <a:solidFill>
              <a:schemeClr val="folHlink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Text Box 40">
            <a:extLst>
              <a:ext uri="{FF2B5EF4-FFF2-40B4-BE49-F238E27FC236}">
                <a16:creationId xmlns:a16="http://schemas.microsoft.com/office/drawing/2014/main" id="{FD921FED-24BB-468F-A73F-20B02578D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733800"/>
            <a:ext cx="1089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1 3 + 5 6</a:t>
            </a:r>
          </a:p>
        </p:txBody>
      </p:sp>
      <p:sp>
        <p:nvSpPr>
          <p:cNvPr id="21517" name="Line 41">
            <a:extLst>
              <a:ext uri="{FF2B5EF4-FFF2-40B4-BE49-F238E27FC236}">
                <a16:creationId xmlns:a16="http://schemas.microsoft.com/office/drawing/2014/main" id="{89F58592-2F14-42CF-9CAC-9CE873266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962400"/>
            <a:ext cx="2590800" cy="533400"/>
          </a:xfrm>
          <a:prstGeom prst="line">
            <a:avLst/>
          </a:prstGeom>
          <a:noFill/>
          <a:ln w="19050">
            <a:solidFill>
              <a:schemeClr val="folHlink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Line 42">
            <a:extLst>
              <a:ext uri="{FF2B5EF4-FFF2-40B4-BE49-F238E27FC236}">
                <a16:creationId xmlns:a16="http://schemas.microsoft.com/office/drawing/2014/main" id="{CB120A6D-9989-4AA4-98CE-81A606C7A6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3276600"/>
            <a:ext cx="91440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9" name="Line 43">
            <a:extLst>
              <a:ext uri="{FF2B5EF4-FFF2-40B4-BE49-F238E27FC236}">
                <a16:creationId xmlns:a16="http://schemas.microsoft.com/office/drawing/2014/main" id="{F93944AD-B553-438E-A132-9118A27D2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648200"/>
            <a:ext cx="685800" cy="533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0" name="Line 44">
            <a:extLst>
              <a:ext uri="{FF2B5EF4-FFF2-40B4-BE49-F238E27FC236}">
                <a16:creationId xmlns:a16="http://schemas.microsoft.com/office/drawing/2014/main" id="{8680BBE4-BA94-4061-9902-242F1693D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800600"/>
            <a:ext cx="685800" cy="533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1" name="Line 45">
            <a:extLst>
              <a:ext uri="{FF2B5EF4-FFF2-40B4-BE49-F238E27FC236}">
                <a16:creationId xmlns:a16="http://schemas.microsoft.com/office/drawing/2014/main" id="{F9E02E6F-CB5E-4EFF-A10F-240D5EDAF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038600"/>
            <a:ext cx="0" cy="533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2" name="Line 46">
            <a:extLst>
              <a:ext uri="{FF2B5EF4-FFF2-40B4-BE49-F238E27FC236}">
                <a16:creationId xmlns:a16="http://schemas.microsoft.com/office/drawing/2014/main" id="{F9443628-E337-46BD-A64E-7BE113178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800600"/>
            <a:ext cx="0" cy="533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B613FB4E-AEAF-43BE-94A4-6262CD66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C3C5FF9-E7E8-423F-B68C-AF9F7707B598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D79A20D-BCD7-4D94-93B1-54E2D82B0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81000"/>
            <a:ext cx="9448800" cy="639763"/>
          </a:xfrm>
        </p:spPr>
        <p:txBody>
          <a:bodyPr/>
          <a:lstStyle/>
          <a:p>
            <a:pPr eaLnBrk="1" hangingPunct="1"/>
            <a:r>
              <a:rPr lang="en-US" altLang="en-US" sz="3200"/>
              <a:t>Candidate Generation: An SQL Implementation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66D990E-F0BE-42B0-B3C3-98D0C0C9C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05400"/>
          </a:xfrm>
        </p:spPr>
        <p:txBody>
          <a:bodyPr/>
          <a:lstStyle/>
          <a:p>
            <a:pPr eaLnBrk="1" hangingPunct="1"/>
            <a:r>
              <a:rPr lang="en-US" altLang="en-US" sz="1800"/>
              <a:t>SQL Implementation of candidate generation</a:t>
            </a:r>
          </a:p>
          <a:p>
            <a:pPr lvl="1" eaLnBrk="1" hangingPunct="1"/>
            <a:r>
              <a:rPr lang="en-US" altLang="en-US" sz="1800"/>
              <a:t>Suppose the items in </a:t>
            </a:r>
            <a:r>
              <a:rPr lang="en-US" altLang="en-US" sz="1800" i="1"/>
              <a:t>L</a:t>
            </a:r>
            <a:r>
              <a:rPr lang="en-US" altLang="en-US" sz="1800" i="1" baseline="-25000"/>
              <a:t>k-1</a:t>
            </a:r>
            <a:r>
              <a:rPr lang="en-US" altLang="en-US" sz="1800"/>
              <a:t> are listed in an order</a:t>
            </a:r>
          </a:p>
          <a:p>
            <a:pPr lvl="1" eaLnBrk="1" hangingPunct="1"/>
            <a:r>
              <a:rPr lang="en-US" altLang="en-US" sz="1800"/>
              <a:t>Step 1: self-joining </a:t>
            </a:r>
            <a:r>
              <a:rPr lang="en-US" altLang="en-US" sz="1800" i="1"/>
              <a:t>L</a:t>
            </a:r>
            <a:r>
              <a:rPr lang="en-US" altLang="en-US" sz="1800" i="1" baseline="-25000"/>
              <a:t>k-1</a:t>
            </a:r>
            <a:r>
              <a:rPr lang="en-US" altLang="en-US" sz="1800"/>
              <a:t>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insert into</a:t>
            </a:r>
            <a:r>
              <a:rPr lang="en-US" altLang="en-US" sz="1800" b="1"/>
              <a:t> </a:t>
            </a:r>
            <a:r>
              <a:rPr lang="en-US" altLang="en-US" sz="1800" b="1" i="1"/>
              <a:t>C</a:t>
            </a:r>
            <a:r>
              <a:rPr lang="en-US" altLang="en-US" sz="1800" b="1" i="1" baseline="-25000"/>
              <a:t>k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select </a:t>
            </a:r>
            <a:r>
              <a:rPr lang="en-US" altLang="en-US" sz="1800" b="1" i="1"/>
              <a:t>p.item</a:t>
            </a:r>
            <a:r>
              <a:rPr lang="en-US" altLang="en-US" sz="1800" b="1" i="1" baseline="-25000"/>
              <a:t>1</a:t>
            </a:r>
            <a:r>
              <a:rPr lang="en-US" altLang="en-US" sz="1800" b="1" i="1"/>
              <a:t>, p.item</a:t>
            </a:r>
            <a:r>
              <a:rPr lang="en-US" altLang="en-US" sz="1800" b="1" i="1" baseline="-25000"/>
              <a:t>2</a:t>
            </a:r>
            <a:r>
              <a:rPr lang="en-US" altLang="en-US" sz="1800" b="1" i="1"/>
              <a:t>, …, p.item</a:t>
            </a:r>
            <a:r>
              <a:rPr lang="en-US" altLang="en-US" sz="1800" b="1" i="1" baseline="-25000"/>
              <a:t>k-1</a:t>
            </a:r>
            <a:r>
              <a:rPr lang="en-US" altLang="en-US" sz="1800" b="1" i="1"/>
              <a:t>, q.item</a:t>
            </a:r>
            <a:r>
              <a:rPr lang="en-US" altLang="en-US" sz="1800" b="1" i="1" baseline="-25000"/>
              <a:t>k-1</a:t>
            </a:r>
            <a:endParaRPr lang="en-US" altLang="en-US" sz="1800" b="1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from </a:t>
            </a:r>
            <a:r>
              <a:rPr lang="en-US" altLang="en-US" sz="1800" b="1" i="1"/>
              <a:t>L</a:t>
            </a:r>
            <a:r>
              <a:rPr lang="en-US" altLang="en-US" sz="1800" b="1" i="1" baseline="-25000"/>
              <a:t>k-1</a:t>
            </a:r>
            <a:r>
              <a:rPr lang="en-US" altLang="en-US" sz="1800" b="1" i="1"/>
              <a:t> p, L</a:t>
            </a:r>
            <a:r>
              <a:rPr lang="en-US" altLang="en-US" sz="1800" b="1" i="1" baseline="-25000"/>
              <a:t>k-1 </a:t>
            </a:r>
            <a:r>
              <a:rPr lang="en-US" altLang="en-US" sz="1800" b="1" i="1"/>
              <a:t>q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where </a:t>
            </a:r>
            <a:r>
              <a:rPr lang="en-US" altLang="en-US" sz="1800" b="1" i="1"/>
              <a:t>p.item</a:t>
            </a:r>
            <a:r>
              <a:rPr lang="en-US" altLang="en-US" sz="1800" b="1" i="1" baseline="-25000"/>
              <a:t>1</a:t>
            </a:r>
            <a:r>
              <a:rPr lang="en-US" altLang="en-US" sz="1800" b="1" i="1"/>
              <a:t>=q.item</a:t>
            </a:r>
            <a:r>
              <a:rPr lang="en-US" altLang="en-US" sz="1800" b="1" i="1" baseline="-25000"/>
              <a:t>1</a:t>
            </a:r>
            <a:r>
              <a:rPr lang="en-US" altLang="en-US" sz="1800" b="1" i="1"/>
              <a:t>, …, p.item</a:t>
            </a:r>
            <a:r>
              <a:rPr lang="en-US" altLang="en-US" sz="1800" b="1" i="1" baseline="-25000"/>
              <a:t>k-2</a:t>
            </a:r>
            <a:r>
              <a:rPr lang="en-US" altLang="en-US" sz="1800" b="1" i="1"/>
              <a:t>=q.item</a:t>
            </a:r>
            <a:r>
              <a:rPr lang="en-US" altLang="en-US" sz="1800" b="1" i="1" baseline="-25000"/>
              <a:t>k-2</a:t>
            </a:r>
            <a:r>
              <a:rPr lang="en-US" altLang="en-US" sz="1800" b="1" i="1"/>
              <a:t>, p.item</a:t>
            </a:r>
            <a:r>
              <a:rPr lang="en-US" altLang="en-US" sz="1800" b="1" i="1" baseline="-25000"/>
              <a:t>k-1 </a:t>
            </a:r>
            <a:r>
              <a:rPr lang="en-US" altLang="en-US" sz="1800" b="1" i="1"/>
              <a:t>&lt; q.item</a:t>
            </a:r>
            <a:r>
              <a:rPr lang="en-US" altLang="en-US" sz="1800" b="1" i="1" baseline="-25000"/>
              <a:t>k-1</a:t>
            </a:r>
          </a:p>
          <a:p>
            <a:pPr lvl="1" eaLnBrk="1" hangingPunct="1"/>
            <a:r>
              <a:rPr lang="en-US" altLang="en-US" sz="1800"/>
              <a:t>Step 2: pruning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forall </a:t>
            </a:r>
            <a:r>
              <a:rPr lang="en-US" altLang="en-US" sz="1800" b="1" i="1"/>
              <a:t>itemsets c in C</a:t>
            </a:r>
            <a:r>
              <a:rPr lang="en-US" altLang="en-US" sz="1800" b="1" i="1" baseline="-25000"/>
              <a:t>k</a:t>
            </a:r>
            <a:r>
              <a:rPr lang="en-US" altLang="en-US" sz="1800" b="1" i="1"/>
              <a:t> </a:t>
            </a:r>
            <a:r>
              <a:rPr lang="en-US" altLang="en-US" sz="1800"/>
              <a:t>do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forall </a:t>
            </a:r>
            <a:r>
              <a:rPr lang="en-US" altLang="en-US" sz="1800" b="1" i="1"/>
              <a:t>(k-1)-subsets s of c </a:t>
            </a:r>
            <a:r>
              <a:rPr lang="en-US" altLang="en-US" sz="1800"/>
              <a:t>do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sz="1800" b="1"/>
              <a:t>if </a:t>
            </a:r>
            <a:r>
              <a:rPr lang="en-US" altLang="en-US" sz="1800" i="1"/>
              <a:t>(s is not in L</a:t>
            </a:r>
            <a:r>
              <a:rPr lang="en-US" altLang="en-US" sz="1800" i="1" baseline="-25000"/>
              <a:t>k-1</a:t>
            </a:r>
            <a:r>
              <a:rPr lang="en-US" altLang="en-US" sz="1800" i="1"/>
              <a:t>) </a:t>
            </a:r>
            <a:r>
              <a:rPr lang="en-US" altLang="en-US" sz="1800" b="1"/>
              <a:t>then delete </a:t>
            </a:r>
            <a:r>
              <a:rPr lang="en-US" altLang="en-US" sz="1800" i="1"/>
              <a:t>c</a:t>
            </a:r>
            <a:r>
              <a:rPr lang="en-US" altLang="en-US" sz="1800" b="1"/>
              <a:t> from </a:t>
            </a:r>
            <a:r>
              <a:rPr lang="en-US" altLang="en-US" sz="1800" i="1"/>
              <a:t>C</a:t>
            </a:r>
            <a:r>
              <a:rPr lang="en-US" altLang="en-US" sz="1800" i="1" baseline="-25000"/>
              <a:t>k</a:t>
            </a:r>
          </a:p>
          <a:p>
            <a:pPr eaLnBrk="1" hangingPunct="1"/>
            <a:r>
              <a:rPr lang="en-US" altLang="en-US" sz="1800"/>
              <a:t>Use object-relational extensions like UDFs, BLOBs, and Table functions for efficient implementation [S. Sarawagi, S. Thomas, and R. Agrawal. </a:t>
            </a:r>
            <a:r>
              <a:rPr lang="en-US" altLang="en-US" sz="1800">
                <a:solidFill>
                  <a:schemeClr val="tx2"/>
                </a:solidFill>
              </a:rPr>
              <a:t>Integrating association rule mining with relational database systems: Alternatives and implications</a:t>
            </a:r>
            <a:r>
              <a:rPr lang="en-US" altLang="en-US" sz="1800"/>
              <a:t>. </a:t>
            </a:r>
            <a:r>
              <a:rPr lang="en-US" altLang="en-US" sz="1800">
                <a:solidFill>
                  <a:schemeClr val="tx2"/>
                </a:solidFill>
              </a:rPr>
              <a:t>SIGMOD’98]</a:t>
            </a:r>
          </a:p>
        </p:txBody>
      </p:sp>
    </p:spTree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98815888-FEAB-4121-918C-576593772AD6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E710926-4807-4DE5-9EB5-60147FAF4385}" type="slidenum">
              <a:rPr lang="en-US" altLang="en-US" sz="1200"/>
              <a:pPr algn="r" eaLnBrk="1" hangingPunct="1"/>
              <a:t>21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45A5AAB-35A2-4682-B374-232AD47222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Scalable Frequent Itemset Mining Methods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F8AB585-1391-453E-9A11-08CD822E81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240000"/>
              </a:lnSpc>
            </a:pPr>
            <a:r>
              <a:rPr lang="en-US" altLang="en-US" sz="2400"/>
              <a:t>Apriori: A Candidate Generation-and-Test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Improving the Efficiency of Apriori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FPGrowth:  A Frequent Pattern-Growth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ECLAT: Frequent Pattern Mining with Vertical Data Format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Mining Close Frequent Patterns and Maxpatterns</a:t>
            </a:r>
          </a:p>
        </p:txBody>
      </p:sp>
      <p:sp>
        <p:nvSpPr>
          <p:cNvPr id="23557" name="AutoShape 4">
            <a:extLst>
              <a:ext uri="{FF2B5EF4-FFF2-40B4-BE49-F238E27FC236}">
                <a16:creationId xmlns:a16="http://schemas.microsoft.com/office/drawing/2014/main" id="{37AABE3E-8A79-456A-947F-C09108064A99}"/>
              </a:ext>
            </a:extLst>
          </p:cNvPr>
          <p:cNvSpPr>
            <a:spLocks noChangeArrowheads="1"/>
          </p:cNvSpPr>
          <p:nvPr/>
        </p:nvSpPr>
        <p:spPr bwMode="auto">
          <a:xfrm rot="1206592">
            <a:off x="5791200" y="2971800"/>
            <a:ext cx="533400" cy="485775"/>
          </a:xfrm>
          <a:prstGeom prst="leftArrow">
            <a:avLst>
              <a:gd name="adj1" fmla="val 50000"/>
              <a:gd name="adj2" fmla="val 2745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EEC45447-4A5A-401D-A132-CD692456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3B9399-EDA0-427B-AB81-481BD501D607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086887B-7E7D-42C6-B33D-80248ED07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Further Improvement of the Apriori Method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D61EB2E-2633-4387-A585-CFA3B8CDE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97888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/>
              <a:t>Major computational challenges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Multiple scans of transaction database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Huge number of candidates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Tedious workload of support counting for candidates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Improving Apriori: general ideas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Reduce passes of transaction database scans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Shrink number of candidates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Facilitate support counting of candidates</a:t>
            </a:r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5E5BC6D-F1DF-4E69-B3CF-DE2355553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/>
              <a:t>Partition: Scan Database Only Twice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32FF3FD-F00C-4161-BE4D-8575AE84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2743200"/>
          </a:xfrm>
        </p:spPr>
        <p:txBody>
          <a:bodyPr/>
          <a:lstStyle/>
          <a:p>
            <a:pPr eaLnBrk="1" hangingPunct="1"/>
            <a:r>
              <a:rPr lang="en-US" altLang="en-US" sz="2400"/>
              <a:t>Any itemset that is potentially frequent in DB must be frequent in at least one of the partitions of DB</a:t>
            </a:r>
          </a:p>
          <a:p>
            <a:pPr lvl="1" eaLnBrk="1" hangingPunct="1"/>
            <a:r>
              <a:rPr lang="en-US" altLang="en-US" sz="2400"/>
              <a:t>Scan 1: partition database and find local frequent patterns</a:t>
            </a:r>
          </a:p>
          <a:p>
            <a:pPr lvl="1" eaLnBrk="1" hangingPunct="1"/>
            <a:r>
              <a:rPr lang="en-US" altLang="en-US" sz="2400"/>
              <a:t>Scan 2: consolidate global frequent patterns</a:t>
            </a:r>
          </a:p>
          <a:p>
            <a:pPr eaLnBrk="1" hangingPunct="1"/>
            <a:r>
              <a:rPr lang="en-US" altLang="en-US" sz="2400"/>
              <a:t>A. Savasere, E. Omiecinski and S. Navathe, </a:t>
            </a:r>
            <a:r>
              <a:rPr lang="en-US" altLang="en-US" sz="2400" i="1">
                <a:solidFill>
                  <a:schemeClr val="tx2"/>
                </a:solidFill>
              </a:rPr>
              <a:t>VLDB’95</a:t>
            </a: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B16C5C5A-13FD-49B4-A484-0DB226D82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495800"/>
            <a:ext cx="1066800" cy="1295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293B2BD7-7FB2-49EA-A80D-7AEE01D3D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3400"/>
            <a:ext cx="1066800" cy="1447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6" name="Rectangle 8">
            <a:extLst>
              <a:ext uri="{FF2B5EF4-FFF2-40B4-BE49-F238E27FC236}">
                <a16:creationId xmlns:a16="http://schemas.microsoft.com/office/drawing/2014/main" id="{7568AE35-19AB-48A5-9261-21C99AB6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95800"/>
            <a:ext cx="1066800" cy="1295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7" name="Oval 9">
            <a:extLst>
              <a:ext uri="{FF2B5EF4-FFF2-40B4-BE49-F238E27FC236}">
                <a16:creationId xmlns:a16="http://schemas.microsoft.com/office/drawing/2014/main" id="{1B4256B8-E154-437E-9351-D2BBE2770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05400"/>
            <a:ext cx="46038" cy="4603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8" name="Oval 11">
            <a:extLst>
              <a:ext uri="{FF2B5EF4-FFF2-40B4-BE49-F238E27FC236}">
                <a16:creationId xmlns:a16="http://schemas.microsoft.com/office/drawing/2014/main" id="{A29A8FE2-7BC1-4D39-96D4-463846C2E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5105400"/>
            <a:ext cx="46037" cy="4603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9" name="Oval 12">
            <a:extLst>
              <a:ext uri="{FF2B5EF4-FFF2-40B4-BE49-F238E27FC236}">
                <a16:creationId xmlns:a16="http://schemas.microsoft.com/office/drawing/2014/main" id="{D3A3150A-054A-40F1-AD32-9947E41A5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46038" cy="4603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0" name="TextBox 13">
            <a:extLst>
              <a:ext uri="{FF2B5EF4-FFF2-40B4-BE49-F238E27FC236}">
                <a16:creationId xmlns:a16="http://schemas.microsoft.com/office/drawing/2014/main" id="{2455B1E1-A945-46A8-908C-874390A2F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715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DB</a:t>
            </a:r>
            <a:r>
              <a:rPr lang="en-US" altLang="en-US" sz="1800" baseline="-25000"/>
              <a:t>1</a:t>
            </a:r>
          </a:p>
        </p:txBody>
      </p:sp>
      <p:sp>
        <p:nvSpPr>
          <p:cNvPr id="25611" name="TextBox 14">
            <a:extLst>
              <a:ext uri="{FF2B5EF4-FFF2-40B4-BE49-F238E27FC236}">
                <a16:creationId xmlns:a16="http://schemas.microsoft.com/office/drawing/2014/main" id="{569C995C-4C6F-4E82-B838-00B06E49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715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DB</a:t>
            </a:r>
            <a:r>
              <a:rPr lang="en-US" altLang="en-US" sz="1800" baseline="-25000"/>
              <a:t>2</a:t>
            </a:r>
          </a:p>
        </p:txBody>
      </p:sp>
      <p:sp>
        <p:nvSpPr>
          <p:cNvPr id="25612" name="TextBox 15">
            <a:extLst>
              <a:ext uri="{FF2B5EF4-FFF2-40B4-BE49-F238E27FC236}">
                <a16:creationId xmlns:a16="http://schemas.microsoft.com/office/drawing/2014/main" id="{BA351EF7-B0FD-4A99-9CAF-D9FCB6B2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715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DB</a:t>
            </a:r>
            <a:r>
              <a:rPr lang="en-US" altLang="en-US" sz="1800" baseline="-25000"/>
              <a:t>k</a:t>
            </a:r>
          </a:p>
        </p:txBody>
      </p:sp>
      <p:sp>
        <p:nvSpPr>
          <p:cNvPr id="25613" name="TextBox 16">
            <a:extLst>
              <a:ext uri="{FF2B5EF4-FFF2-40B4-BE49-F238E27FC236}">
                <a16:creationId xmlns:a16="http://schemas.microsoft.com/office/drawing/2014/main" id="{4ABD77CF-C8DA-4DC4-B5E1-6A8F06EA0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715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+</a:t>
            </a:r>
          </a:p>
        </p:txBody>
      </p:sp>
      <p:sp>
        <p:nvSpPr>
          <p:cNvPr id="25614" name="TextBox 18">
            <a:extLst>
              <a:ext uri="{FF2B5EF4-FFF2-40B4-BE49-F238E27FC236}">
                <a16:creationId xmlns:a16="http://schemas.microsoft.com/office/drawing/2014/main" id="{CBF3F769-BCAC-4A01-B718-A00736022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=       DB</a:t>
            </a:r>
          </a:p>
        </p:txBody>
      </p:sp>
      <p:sp>
        <p:nvSpPr>
          <p:cNvPr id="25615" name="TextBox 19">
            <a:extLst>
              <a:ext uri="{FF2B5EF4-FFF2-40B4-BE49-F238E27FC236}">
                <a16:creationId xmlns:a16="http://schemas.microsoft.com/office/drawing/2014/main" id="{85589842-EA7F-4BC7-AE02-90AD357B8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715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+</a:t>
            </a:r>
          </a:p>
        </p:txBody>
      </p:sp>
      <p:sp>
        <p:nvSpPr>
          <p:cNvPr id="25616" name="TextBox 20">
            <a:extLst>
              <a:ext uri="{FF2B5EF4-FFF2-40B4-BE49-F238E27FC236}">
                <a16:creationId xmlns:a16="http://schemas.microsoft.com/office/drawing/2014/main" id="{C522069C-07AF-4BD3-AEE8-77AFAA81F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15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+</a:t>
            </a:r>
          </a:p>
        </p:txBody>
      </p:sp>
      <p:sp>
        <p:nvSpPr>
          <p:cNvPr id="25617" name="TextBox 21">
            <a:extLst>
              <a:ext uri="{FF2B5EF4-FFF2-40B4-BE49-F238E27FC236}">
                <a16:creationId xmlns:a16="http://schemas.microsoft.com/office/drawing/2014/main" id="{B4E566E9-B569-4B77-A771-064BC1A92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sup</a:t>
            </a:r>
            <a:r>
              <a:rPr lang="en-US" altLang="en-US" sz="1800" baseline="-25000"/>
              <a:t>1</a:t>
            </a:r>
            <a:r>
              <a:rPr lang="en-US" altLang="en-US" sz="1800"/>
              <a:t>(i) &lt; </a:t>
            </a:r>
            <a:r>
              <a:rPr lang="el-GR" altLang="en-US" sz="1800"/>
              <a:t>σ</a:t>
            </a:r>
            <a:r>
              <a:rPr lang="en-US" altLang="en-US" sz="1800"/>
              <a:t>DB</a:t>
            </a:r>
            <a:r>
              <a:rPr lang="en-US" altLang="en-US" sz="1800" baseline="-25000"/>
              <a:t>1</a:t>
            </a:r>
          </a:p>
        </p:txBody>
      </p:sp>
      <p:sp>
        <p:nvSpPr>
          <p:cNvPr id="25618" name="TextBox 22">
            <a:extLst>
              <a:ext uri="{FF2B5EF4-FFF2-40B4-BE49-F238E27FC236}">
                <a16:creationId xmlns:a16="http://schemas.microsoft.com/office/drawing/2014/main" id="{DAB02B54-D122-4E63-8AAF-BA174771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0960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sup</a:t>
            </a:r>
            <a:r>
              <a:rPr lang="en-US" altLang="en-US" sz="1800" baseline="-25000"/>
              <a:t>2</a:t>
            </a:r>
            <a:r>
              <a:rPr lang="en-US" altLang="en-US" sz="1800"/>
              <a:t>(i) &lt; </a:t>
            </a:r>
            <a:r>
              <a:rPr lang="el-GR" altLang="en-US" sz="1800"/>
              <a:t>σ</a:t>
            </a:r>
            <a:r>
              <a:rPr lang="en-US" altLang="en-US" sz="1800"/>
              <a:t>DB</a:t>
            </a:r>
            <a:r>
              <a:rPr lang="en-US" altLang="en-US" sz="1800" baseline="-25000"/>
              <a:t>2</a:t>
            </a:r>
          </a:p>
        </p:txBody>
      </p:sp>
      <p:sp>
        <p:nvSpPr>
          <p:cNvPr id="25619" name="TextBox 23">
            <a:extLst>
              <a:ext uri="{FF2B5EF4-FFF2-40B4-BE49-F238E27FC236}">
                <a16:creationId xmlns:a16="http://schemas.microsoft.com/office/drawing/2014/main" id="{5BEFE734-95D4-4851-8F9C-35DAB8B78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07113"/>
            <a:ext cx="1676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sup</a:t>
            </a:r>
            <a:r>
              <a:rPr lang="en-US" altLang="en-US" sz="1800" baseline="-25000"/>
              <a:t>k</a:t>
            </a:r>
            <a:r>
              <a:rPr lang="en-US" altLang="en-US" sz="1800"/>
              <a:t>(i) &lt; </a:t>
            </a:r>
            <a:r>
              <a:rPr lang="el-GR" altLang="en-US" sz="1800"/>
              <a:t>σ</a:t>
            </a:r>
            <a:r>
              <a:rPr lang="en-US" altLang="en-US" sz="1800"/>
              <a:t>DB</a:t>
            </a:r>
            <a:r>
              <a:rPr lang="en-US" altLang="en-US" sz="1800" baseline="-25000"/>
              <a:t>k</a:t>
            </a:r>
          </a:p>
        </p:txBody>
      </p:sp>
      <p:sp>
        <p:nvSpPr>
          <p:cNvPr id="25620" name="TextBox 24">
            <a:extLst>
              <a:ext uri="{FF2B5EF4-FFF2-40B4-BE49-F238E27FC236}">
                <a16:creationId xmlns:a16="http://schemas.microsoft.com/office/drawing/2014/main" id="{C085D9FF-6E4A-4080-B19E-FFB619B9B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107113"/>
            <a:ext cx="1676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sup(i) &lt; </a:t>
            </a:r>
            <a:r>
              <a:rPr lang="el-GR" altLang="en-US" sz="1800"/>
              <a:t>σ</a:t>
            </a:r>
            <a:r>
              <a:rPr lang="en-US" altLang="en-US" sz="1800"/>
              <a:t>DB</a:t>
            </a:r>
            <a:endParaRPr lang="en-US" altLang="en-US" sz="1800" baseline="-25000"/>
          </a:p>
        </p:txBody>
      </p:sp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A8F02592-5BD1-4C1E-A9A6-7AA49257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4F2883-5BC5-4B8B-A902-954BEE5FDC92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D413909-F16E-4852-A94D-810E79236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DHP: Reduce the Number of Candidates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1621ECB-DCF2-4225-9F32-35E40C35D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371600"/>
            <a:ext cx="8497887" cy="5105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/>
              <a:t>A </a:t>
            </a:r>
            <a:r>
              <a:rPr lang="en-US" altLang="en-US" sz="2000" i="1"/>
              <a:t>k</a:t>
            </a:r>
            <a:r>
              <a:rPr lang="en-US" altLang="en-US" sz="2000"/>
              <a:t>-itemset whose corresponding hashing bucket count is below the threshold cannot be frequent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Candidates: a, b, c, d, 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Hash entries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{ab, ad, ae}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{bd, be, de} 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…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Frequent 1-itemset: a, b, d, 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ab is not a candidate 2-itemset if the sum of count of {ab, ad, ae} is below support threshold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J. Park, M. Chen, and P. Yu. </a:t>
            </a:r>
            <a:r>
              <a:rPr lang="en-US" altLang="en-US" sz="2000">
                <a:solidFill>
                  <a:schemeClr val="tx2"/>
                </a:solidFill>
              </a:rPr>
              <a:t>An effective hash-based algorithm for mining association rules</a:t>
            </a:r>
            <a:r>
              <a:rPr lang="en-US" altLang="en-US" sz="2000"/>
              <a:t>. </a:t>
            </a:r>
            <a:r>
              <a:rPr lang="en-US" altLang="en-US" sz="2000" i="1">
                <a:solidFill>
                  <a:schemeClr val="tx2"/>
                </a:solidFill>
              </a:rPr>
              <a:t>SIGMOD’95</a:t>
            </a:r>
          </a:p>
        </p:txBody>
      </p:sp>
      <p:grpSp>
        <p:nvGrpSpPr>
          <p:cNvPr id="26629" name="Group 25">
            <a:extLst>
              <a:ext uri="{FF2B5EF4-FFF2-40B4-BE49-F238E27FC236}">
                <a16:creationId xmlns:a16="http://schemas.microsoft.com/office/drawing/2014/main" id="{9F8987D2-BD3E-4060-8A4E-639CA227435E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981200"/>
            <a:ext cx="2133600" cy="2547938"/>
            <a:chOff x="5715000" y="1981200"/>
            <a:chExt cx="2133600" cy="2548354"/>
          </a:xfrm>
        </p:grpSpPr>
        <p:sp>
          <p:nvSpPr>
            <p:cNvPr id="26631" name="Rectangle 6">
              <a:extLst>
                <a:ext uri="{FF2B5EF4-FFF2-40B4-BE49-F238E27FC236}">
                  <a16:creationId xmlns:a16="http://schemas.microsoft.com/office/drawing/2014/main" id="{0567DC4B-EF2E-4D9D-8E5E-DDC6E781C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1981200"/>
              <a:ext cx="2133600" cy="2514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6632" name="Straight Connector 8">
              <a:extLst>
                <a:ext uri="{FF2B5EF4-FFF2-40B4-BE49-F238E27FC236}">
                  <a16:creationId xmlns:a16="http://schemas.microsoft.com/office/drawing/2014/main" id="{54FC40FE-75E5-4FAF-A8D1-9D2B798C59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2360612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3" name="Straight Connector 10">
              <a:extLst>
                <a:ext uri="{FF2B5EF4-FFF2-40B4-BE49-F238E27FC236}">
                  <a16:creationId xmlns:a16="http://schemas.microsoft.com/office/drawing/2014/main" id="{76D6A44E-A28A-4969-9D69-6FB9122600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2667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4" name="Straight Connector 11">
              <a:extLst>
                <a:ext uri="{FF2B5EF4-FFF2-40B4-BE49-F238E27FC236}">
                  <a16:creationId xmlns:a16="http://schemas.microsoft.com/office/drawing/2014/main" id="{7C730B39-8DEA-4A24-B1B7-C0831B9299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048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5" name="Straight Connector 12">
              <a:extLst>
                <a:ext uri="{FF2B5EF4-FFF2-40B4-BE49-F238E27FC236}">
                  <a16:creationId xmlns:a16="http://schemas.microsoft.com/office/drawing/2014/main" id="{23AEF35A-FB14-4347-9BFC-E0EFBA7692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4191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6" name="Straight Connector 14">
              <a:extLst>
                <a:ext uri="{FF2B5EF4-FFF2-40B4-BE49-F238E27FC236}">
                  <a16:creationId xmlns:a16="http://schemas.microsoft.com/office/drawing/2014/main" id="{311D1E90-D614-4244-A2D9-EE624906BD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143500" y="3238500"/>
              <a:ext cx="2514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37" name="TextBox 15">
              <a:extLst>
                <a:ext uri="{FF2B5EF4-FFF2-40B4-BE49-F238E27FC236}">
                  <a16:creationId xmlns:a16="http://schemas.microsoft.com/office/drawing/2014/main" id="{4589FBBE-EBF9-4055-9441-573DF20F5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7489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count</a:t>
              </a:r>
            </a:p>
          </p:txBody>
        </p:sp>
        <p:sp>
          <p:nvSpPr>
            <p:cNvPr id="26638" name="TextBox 16">
              <a:extLst>
                <a:ext uri="{FF2B5EF4-FFF2-40B4-BE49-F238E27FC236}">
                  <a16:creationId xmlns:a16="http://schemas.microsoft.com/office/drawing/2014/main" id="{B6E0047F-7A6E-401A-9BD3-9DC91A0CF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19812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itemsets</a:t>
              </a:r>
            </a:p>
          </p:txBody>
        </p:sp>
        <p:sp>
          <p:nvSpPr>
            <p:cNvPr id="26639" name="TextBox 17">
              <a:extLst>
                <a:ext uri="{FF2B5EF4-FFF2-40B4-BE49-F238E27FC236}">
                  <a16:creationId xmlns:a16="http://schemas.microsoft.com/office/drawing/2014/main" id="{19605452-16B6-4F83-AEFB-4563ED739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404646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35</a:t>
              </a:r>
            </a:p>
          </p:txBody>
        </p:sp>
        <p:sp>
          <p:nvSpPr>
            <p:cNvPr id="26640" name="TextBox 18">
              <a:extLst>
                <a:ext uri="{FF2B5EF4-FFF2-40B4-BE49-F238E27FC236}">
                  <a16:creationId xmlns:a16="http://schemas.microsoft.com/office/drawing/2014/main" id="{B22EB3B2-6D68-4F05-B942-251750B7E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3622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{ab, ad, ae}</a:t>
              </a:r>
            </a:p>
          </p:txBody>
        </p:sp>
        <p:sp>
          <p:nvSpPr>
            <p:cNvPr id="26641" name="TextBox 19">
              <a:extLst>
                <a:ext uri="{FF2B5EF4-FFF2-40B4-BE49-F238E27FC236}">
                  <a16:creationId xmlns:a16="http://schemas.microsoft.com/office/drawing/2014/main" id="{CEE08BAB-BB42-4C18-8E42-56FB4C351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4191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{yz, qs, wt}</a:t>
              </a:r>
            </a:p>
          </p:txBody>
        </p:sp>
        <p:sp>
          <p:nvSpPr>
            <p:cNvPr id="26642" name="TextBox 20">
              <a:extLst>
                <a:ext uri="{FF2B5EF4-FFF2-40B4-BE49-F238E27FC236}">
                  <a16:creationId xmlns:a16="http://schemas.microsoft.com/office/drawing/2014/main" id="{D122E87E-29D0-4415-A3F0-16B0327FD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667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88</a:t>
              </a:r>
            </a:p>
          </p:txBody>
        </p:sp>
        <p:sp>
          <p:nvSpPr>
            <p:cNvPr id="26643" name="TextBox 21">
              <a:extLst>
                <a:ext uri="{FF2B5EF4-FFF2-40B4-BE49-F238E27FC236}">
                  <a16:creationId xmlns:a16="http://schemas.microsoft.com/office/drawing/2014/main" id="{BDCBD2D5-7F8F-425C-B9F6-2B6A7D8E0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191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102</a:t>
              </a:r>
            </a:p>
          </p:txBody>
        </p:sp>
        <p:sp>
          <p:nvSpPr>
            <p:cNvPr id="26644" name="TextBox 22">
              <a:extLst>
                <a:ext uri="{FF2B5EF4-FFF2-40B4-BE49-F238E27FC236}">
                  <a16:creationId xmlns:a16="http://schemas.microsoft.com/office/drawing/2014/main" id="{5228B910-1936-4F83-8B1F-037C12C0B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5943600" y="32004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  <p:sp>
          <p:nvSpPr>
            <p:cNvPr id="26645" name="TextBox 23">
              <a:extLst>
                <a:ext uri="{FF2B5EF4-FFF2-40B4-BE49-F238E27FC236}">
                  <a16:creationId xmlns:a16="http://schemas.microsoft.com/office/drawing/2014/main" id="{AEC7C039-AC68-4EF2-8D87-CFA5EE732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{bd, be, de}</a:t>
              </a:r>
            </a:p>
          </p:txBody>
        </p:sp>
        <p:sp>
          <p:nvSpPr>
            <p:cNvPr id="26646" name="TextBox 24">
              <a:extLst>
                <a:ext uri="{FF2B5EF4-FFF2-40B4-BE49-F238E27FC236}">
                  <a16:creationId xmlns:a16="http://schemas.microsoft.com/office/drawing/2014/main" id="{F33DD0A1-2A8A-4933-A970-D09049ADE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7010400" y="32766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</p:grpSp>
      <p:sp>
        <p:nvSpPr>
          <p:cNvPr id="26630" name="Rectangle 26">
            <a:extLst>
              <a:ext uri="{FF2B5EF4-FFF2-40B4-BE49-F238E27FC236}">
                <a16:creationId xmlns:a16="http://schemas.microsoft.com/office/drawing/2014/main" id="{FA2525A8-C6A1-4617-8BF6-0B88D8B5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95800"/>
            <a:ext cx="1463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b="1"/>
              <a:t>Hash Table</a:t>
            </a:r>
          </a:p>
        </p:txBody>
      </p:sp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932A935F-DFFA-4D15-B736-7B187E4D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10B6AD2-B96C-485C-9493-E5239A639A4F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654171D-A195-4A21-8151-094068E7A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487363"/>
          </a:xfrm>
        </p:spPr>
        <p:txBody>
          <a:bodyPr/>
          <a:lstStyle/>
          <a:p>
            <a:pPr eaLnBrk="1" hangingPunct="1"/>
            <a:r>
              <a:rPr lang="en-US" altLang="en-US" sz="3200"/>
              <a:t>Sampling for Frequent Patterns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9839A8A-66F8-43B7-B7FC-DF2539BBA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/>
              <a:t>Select a sample of original database, mine frequent patterns within sample using Apriori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Scan database once to verify frequent itemsets found in sample, only </a:t>
            </a:r>
            <a:r>
              <a:rPr lang="en-US" altLang="en-US" sz="2400" i="1">
                <a:solidFill>
                  <a:schemeClr val="hlink"/>
                </a:solidFill>
              </a:rPr>
              <a:t>borders</a:t>
            </a:r>
            <a:r>
              <a:rPr lang="en-US" altLang="en-US" sz="2400" i="1"/>
              <a:t> </a:t>
            </a:r>
            <a:r>
              <a:rPr lang="en-US" altLang="en-US" sz="2400"/>
              <a:t>of closure of frequent patterns are checked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Example: check </a:t>
            </a:r>
            <a:r>
              <a:rPr lang="en-US" altLang="en-US" sz="2400" i="1"/>
              <a:t>abcd</a:t>
            </a:r>
            <a:r>
              <a:rPr lang="en-US" altLang="en-US" sz="2400"/>
              <a:t> instead of </a:t>
            </a:r>
            <a:r>
              <a:rPr lang="en-US" altLang="en-US" sz="2400" i="1"/>
              <a:t>ab, ac, …, etc.</a:t>
            </a:r>
            <a:endParaRPr lang="en-US" altLang="en-US" sz="2400"/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Scan database again to find missed frequent patterns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H. Toivonen. </a:t>
            </a:r>
            <a:r>
              <a:rPr lang="en-US" altLang="en-US" sz="2400">
                <a:solidFill>
                  <a:schemeClr val="tx2"/>
                </a:solidFill>
              </a:rPr>
              <a:t>Sampling large databases for association rules</a:t>
            </a:r>
            <a:r>
              <a:rPr lang="en-US" altLang="en-US" sz="2400"/>
              <a:t>. In </a:t>
            </a:r>
            <a:r>
              <a:rPr lang="en-US" altLang="en-US" sz="2400" i="1">
                <a:solidFill>
                  <a:schemeClr val="tx2"/>
                </a:solidFill>
              </a:rPr>
              <a:t>VLDB’96</a:t>
            </a:r>
          </a:p>
        </p:txBody>
      </p:sp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278C7E3E-FE7A-40E4-9C3E-D2750CD4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9DEA17-405F-4194-AFFB-C1528C909EC0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1631CF7-DA90-40EE-96E4-A2D9834F4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406400"/>
          </a:xfrm>
        </p:spPr>
        <p:txBody>
          <a:bodyPr/>
          <a:lstStyle/>
          <a:p>
            <a:pPr eaLnBrk="1" hangingPunct="1"/>
            <a:r>
              <a:rPr lang="en-US" altLang="en-US" sz="3200"/>
              <a:t>DIC: Reduce Number of Scans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08F92E7E-9F0B-4213-9159-07B35CA7E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0"/>
            <a:ext cx="892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326B2C33-AB67-4410-A0F0-1D764D8F8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0"/>
            <a:ext cx="71755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ABC</a:t>
            </a:r>
          </a:p>
        </p:txBody>
      </p:sp>
      <p:sp>
        <p:nvSpPr>
          <p:cNvPr id="28678" name="Text Box 5">
            <a:extLst>
              <a:ext uri="{FF2B5EF4-FFF2-40B4-BE49-F238E27FC236}">
                <a16:creationId xmlns:a16="http://schemas.microsoft.com/office/drawing/2014/main" id="{A65EFBC8-A5B1-4A73-A13F-A077E03D6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86000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ABD</a:t>
            </a:r>
          </a:p>
        </p:txBody>
      </p:sp>
      <p:sp>
        <p:nvSpPr>
          <p:cNvPr id="28679" name="Text Box 6">
            <a:extLst>
              <a:ext uri="{FF2B5EF4-FFF2-40B4-BE49-F238E27FC236}">
                <a16:creationId xmlns:a16="http://schemas.microsoft.com/office/drawing/2014/main" id="{98D05A63-E30F-4F5B-832C-770874EA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00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ACD</a:t>
            </a:r>
          </a:p>
        </p:txBody>
      </p:sp>
      <p:sp>
        <p:nvSpPr>
          <p:cNvPr id="28680" name="Text Box 7">
            <a:extLst>
              <a:ext uri="{FF2B5EF4-FFF2-40B4-BE49-F238E27FC236}">
                <a16:creationId xmlns:a16="http://schemas.microsoft.com/office/drawing/2014/main" id="{02CB2D98-0C30-4F68-99CA-E2CE62C4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286000"/>
            <a:ext cx="736600" cy="425450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BCD</a:t>
            </a:r>
          </a:p>
        </p:txBody>
      </p:sp>
      <p:sp>
        <p:nvSpPr>
          <p:cNvPr id="28681" name="Text Box 8">
            <a:extLst>
              <a:ext uri="{FF2B5EF4-FFF2-40B4-BE49-F238E27FC236}">
                <a16:creationId xmlns:a16="http://schemas.microsoft.com/office/drawing/2014/main" id="{1337427C-349B-4A39-AA7C-7B726DB0D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AB</a:t>
            </a:r>
          </a:p>
        </p:txBody>
      </p:sp>
      <p:sp>
        <p:nvSpPr>
          <p:cNvPr id="28682" name="Text Box 9">
            <a:extLst>
              <a:ext uri="{FF2B5EF4-FFF2-40B4-BE49-F238E27FC236}">
                <a16:creationId xmlns:a16="http://schemas.microsoft.com/office/drawing/2014/main" id="{E4718D18-E8F5-456D-8BFC-818611CFD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AC</a:t>
            </a:r>
          </a:p>
        </p:txBody>
      </p:sp>
      <p:sp>
        <p:nvSpPr>
          <p:cNvPr id="28683" name="Text Box 10">
            <a:extLst>
              <a:ext uri="{FF2B5EF4-FFF2-40B4-BE49-F238E27FC236}">
                <a16:creationId xmlns:a16="http://schemas.microsoft.com/office/drawing/2014/main" id="{776F71A3-6EB2-4C40-9C4B-D27C4917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48000"/>
            <a:ext cx="5334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BC</a:t>
            </a:r>
          </a:p>
        </p:txBody>
      </p:sp>
      <p:sp>
        <p:nvSpPr>
          <p:cNvPr id="28684" name="Text Box 11">
            <a:extLst>
              <a:ext uri="{FF2B5EF4-FFF2-40B4-BE49-F238E27FC236}">
                <a16:creationId xmlns:a16="http://schemas.microsoft.com/office/drawing/2014/main" id="{F8BB6693-13BF-480E-91E0-C0F21E198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0"/>
            <a:ext cx="581025" cy="425450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AD</a:t>
            </a:r>
          </a:p>
        </p:txBody>
      </p:sp>
      <p:sp>
        <p:nvSpPr>
          <p:cNvPr id="28685" name="Text Box 12">
            <a:extLst>
              <a:ext uri="{FF2B5EF4-FFF2-40B4-BE49-F238E27FC236}">
                <a16:creationId xmlns:a16="http://schemas.microsoft.com/office/drawing/2014/main" id="{D7010ADC-57E1-4EC1-8B36-5824F45A9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BD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60B48DE9-F06B-476D-BB2F-02CF616C8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048000"/>
            <a:ext cx="5476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CD</a:t>
            </a:r>
          </a:p>
        </p:txBody>
      </p:sp>
      <p:sp>
        <p:nvSpPr>
          <p:cNvPr id="28687" name="Text Box 14">
            <a:extLst>
              <a:ext uri="{FF2B5EF4-FFF2-40B4-BE49-F238E27FC236}">
                <a16:creationId xmlns:a16="http://schemas.microsoft.com/office/drawing/2014/main" id="{4007FA1F-D6C4-4518-9F32-71125F59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900488"/>
            <a:ext cx="377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688" name="Text Box 15">
            <a:extLst>
              <a:ext uri="{FF2B5EF4-FFF2-40B4-BE49-F238E27FC236}">
                <a16:creationId xmlns:a16="http://schemas.microsoft.com/office/drawing/2014/main" id="{10BCCBE8-D972-4101-9CF3-7920B1A8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886200"/>
            <a:ext cx="3635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689" name="Text Box 16">
            <a:extLst>
              <a:ext uri="{FF2B5EF4-FFF2-40B4-BE49-F238E27FC236}">
                <a16:creationId xmlns:a16="http://schemas.microsoft.com/office/drawing/2014/main" id="{FB41C95C-D1F5-41EB-AB1E-B1CA78A75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86200"/>
            <a:ext cx="36353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8690" name="Text Box 17">
            <a:extLst>
              <a:ext uri="{FF2B5EF4-FFF2-40B4-BE49-F238E27FC236}">
                <a16:creationId xmlns:a16="http://schemas.microsoft.com/office/drawing/2014/main" id="{2AF83AEE-3AFE-4A21-AAE1-A7590BE2B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86200"/>
            <a:ext cx="377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8691" name="Text Box 18">
            <a:extLst>
              <a:ext uri="{FF2B5EF4-FFF2-40B4-BE49-F238E27FC236}">
                <a16:creationId xmlns:a16="http://schemas.microsoft.com/office/drawing/2014/main" id="{3BD06EA9-AA71-4708-8E29-385FD78F7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4586288"/>
            <a:ext cx="43815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cxnSp>
        <p:nvCxnSpPr>
          <p:cNvPr id="28692" name="AutoShape 19">
            <a:extLst>
              <a:ext uri="{FF2B5EF4-FFF2-40B4-BE49-F238E27FC236}">
                <a16:creationId xmlns:a16="http://schemas.microsoft.com/office/drawing/2014/main" id="{60B601C6-A17F-4F02-A7E1-C07B60D24375}"/>
              </a:ext>
            </a:extLst>
          </p:cNvPr>
          <p:cNvCxnSpPr>
            <a:cxnSpLocks noChangeShapeType="1"/>
            <a:stCxn id="28691" idx="0"/>
            <a:endCxn id="28687" idx="2"/>
          </p:cNvCxnSpPr>
          <p:nvPr/>
        </p:nvCxnSpPr>
        <p:spPr bwMode="auto">
          <a:xfrm flipH="1" flipV="1">
            <a:off x="1011238" y="4306888"/>
            <a:ext cx="944562" cy="279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0">
            <a:extLst>
              <a:ext uri="{FF2B5EF4-FFF2-40B4-BE49-F238E27FC236}">
                <a16:creationId xmlns:a16="http://schemas.microsoft.com/office/drawing/2014/main" id="{3D16A1CB-8BA3-4728-85F6-FD0476D054A1}"/>
              </a:ext>
            </a:extLst>
          </p:cNvPr>
          <p:cNvCxnSpPr>
            <a:cxnSpLocks noChangeShapeType="1"/>
            <a:stCxn id="28691" idx="0"/>
            <a:endCxn id="28688" idx="2"/>
          </p:cNvCxnSpPr>
          <p:nvPr/>
        </p:nvCxnSpPr>
        <p:spPr bwMode="auto">
          <a:xfrm flipH="1" flipV="1">
            <a:off x="1554163" y="4292600"/>
            <a:ext cx="401637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1">
            <a:extLst>
              <a:ext uri="{FF2B5EF4-FFF2-40B4-BE49-F238E27FC236}">
                <a16:creationId xmlns:a16="http://schemas.microsoft.com/office/drawing/2014/main" id="{1F06FAA0-4C8F-4F75-BDE7-5202397176D2}"/>
              </a:ext>
            </a:extLst>
          </p:cNvPr>
          <p:cNvCxnSpPr>
            <a:cxnSpLocks noChangeShapeType="1"/>
            <a:stCxn id="28691" idx="0"/>
            <a:endCxn id="28689" idx="2"/>
          </p:cNvCxnSpPr>
          <p:nvPr/>
        </p:nvCxnSpPr>
        <p:spPr bwMode="auto">
          <a:xfrm flipV="1">
            <a:off x="1955800" y="4292600"/>
            <a:ext cx="131763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2">
            <a:extLst>
              <a:ext uri="{FF2B5EF4-FFF2-40B4-BE49-F238E27FC236}">
                <a16:creationId xmlns:a16="http://schemas.microsoft.com/office/drawing/2014/main" id="{4EAB560D-52A8-4EA8-A983-3DCDEA57BB97}"/>
              </a:ext>
            </a:extLst>
          </p:cNvPr>
          <p:cNvCxnSpPr>
            <a:cxnSpLocks noChangeShapeType="1"/>
            <a:stCxn id="28691" idx="0"/>
            <a:endCxn id="28690" idx="2"/>
          </p:cNvCxnSpPr>
          <p:nvPr/>
        </p:nvCxnSpPr>
        <p:spPr bwMode="auto">
          <a:xfrm flipV="1">
            <a:off x="1955800" y="4292600"/>
            <a:ext cx="671513" cy="293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3">
            <a:extLst>
              <a:ext uri="{FF2B5EF4-FFF2-40B4-BE49-F238E27FC236}">
                <a16:creationId xmlns:a16="http://schemas.microsoft.com/office/drawing/2014/main" id="{095DDF51-BF0D-4963-BCC3-C33400C659CD}"/>
              </a:ext>
            </a:extLst>
          </p:cNvPr>
          <p:cNvCxnSpPr>
            <a:cxnSpLocks noChangeShapeType="1"/>
            <a:stCxn id="28687" idx="0"/>
            <a:endCxn id="28681" idx="2"/>
          </p:cNvCxnSpPr>
          <p:nvPr/>
        </p:nvCxnSpPr>
        <p:spPr bwMode="auto">
          <a:xfrm flipH="1" flipV="1">
            <a:off x="579438" y="3454400"/>
            <a:ext cx="431800" cy="446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4">
            <a:extLst>
              <a:ext uri="{FF2B5EF4-FFF2-40B4-BE49-F238E27FC236}">
                <a16:creationId xmlns:a16="http://schemas.microsoft.com/office/drawing/2014/main" id="{C2ADD095-D66E-4B07-BB2E-9503D3BFC219}"/>
              </a:ext>
            </a:extLst>
          </p:cNvPr>
          <p:cNvCxnSpPr>
            <a:cxnSpLocks noChangeShapeType="1"/>
            <a:stCxn id="28687" idx="0"/>
            <a:endCxn id="28682" idx="2"/>
          </p:cNvCxnSpPr>
          <p:nvPr/>
        </p:nvCxnSpPr>
        <p:spPr bwMode="auto">
          <a:xfrm flipV="1">
            <a:off x="1011238" y="3454400"/>
            <a:ext cx="177800" cy="446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8" name="AutoShape 25">
            <a:extLst>
              <a:ext uri="{FF2B5EF4-FFF2-40B4-BE49-F238E27FC236}">
                <a16:creationId xmlns:a16="http://schemas.microsoft.com/office/drawing/2014/main" id="{F36E2925-C71B-439E-872B-3D54B634AE25}"/>
              </a:ext>
            </a:extLst>
          </p:cNvPr>
          <p:cNvCxnSpPr>
            <a:cxnSpLocks noChangeShapeType="1"/>
            <a:stCxn id="28687" idx="0"/>
            <a:endCxn id="28684" idx="2"/>
          </p:cNvCxnSpPr>
          <p:nvPr/>
        </p:nvCxnSpPr>
        <p:spPr bwMode="auto">
          <a:xfrm flipV="1">
            <a:off x="1011238" y="3487738"/>
            <a:ext cx="141287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9" name="AutoShape 26">
            <a:extLst>
              <a:ext uri="{FF2B5EF4-FFF2-40B4-BE49-F238E27FC236}">
                <a16:creationId xmlns:a16="http://schemas.microsoft.com/office/drawing/2014/main" id="{4EDE7137-DD08-40E7-BF21-3E34048C0000}"/>
              </a:ext>
            </a:extLst>
          </p:cNvPr>
          <p:cNvCxnSpPr>
            <a:cxnSpLocks noChangeShapeType="1"/>
            <a:stCxn id="28688" idx="0"/>
            <a:endCxn id="28683" idx="2"/>
          </p:cNvCxnSpPr>
          <p:nvPr/>
        </p:nvCxnSpPr>
        <p:spPr bwMode="auto">
          <a:xfrm flipV="1">
            <a:off x="1554163" y="3454400"/>
            <a:ext cx="236537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0" name="AutoShape 27">
            <a:extLst>
              <a:ext uri="{FF2B5EF4-FFF2-40B4-BE49-F238E27FC236}">
                <a16:creationId xmlns:a16="http://schemas.microsoft.com/office/drawing/2014/main" id="{B4E2158F-1329-4386-A1E2-6996723701FD}"/>
              </a:ext>
            </a:extLst>
          </p:cNvPr>
          <p:cNvCxnSpPr>
            <a:cxnSpLocks noChangeShapeType="1"/>
            <a:stCxn id="28688" idx="0"/>
            <a:endCxn id="28681" idx="2"/>
          </p:cNvCxnSpPr>
          <p:nvPr/>
        </p:nvCxnSpPr>
        <p:spPr bwMode="auto">
          <a:xfrm flipH="1" flipV="1">
            <a:off x="579438" y="3454400"/>
            <a:ext cx="9747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1" name="AutoShape 28">
            <a:extLst>
              <a:ext uri="{FF2B5EF4-FFF2-40B4-BE49-F238E27FC236}">
                <a16:creationId xmlns:a16="http://schemas.microsoft.com/office/drawing/2014/main" id="{51265A29-A543-4FA8-AF34-B93EF50368F1}"/>
              </a:ext>
            </a:extLst>
          </p:cNvPr>
          <p:cNvCxnSpPr>
            <a:cxnSpLocks noChangeShapeType="1"/>
            <a:stCxn id="28688" idx="0"/>
            <a:endCxn id="28685" idx="2"/>
          </p:cNvCxnSpPr>
          <p:nvPr/>
        </p:nvCxnSpPr>
        <p:spPr bwMode="auto">
          <a:xfrm flipV="1">
            <a:off x="1554163" y="3454400"/>
            <a:ext cx="15398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2" name="AutoShape 29">
            <a:extLst>
              <a:ext uri="{FF2B5EF4-FFF2-40B4-BE49-F238E27FC236}">
                <a16:creationId xmlns:a16="http://schemas.microsoft.com/office/drawing/2014/main" id="{A700F539-A115-4A7C-8C0F-B15CD003E726}"/>
              </a:ext>
            </a:extLst>
          </p:cNvPr>
          <p:cNvCxnSpPr>
            <a:cxnSpLocks noChangeShapeType="1"/>
            <a:stCxn id="28689" idx="0"/>
            <a:endCxn id="28682" idx="2"/>
          </p:cNvCxnSpPr>
          <p:nvPr/>
        </p:nvCxnSpPr>
        <p:spPr bwMode="auto">
          <a:xfrm flipH="1" flipV="1">
            <a:off x="1189038" y="3454400"/>
            <a:ext cx="8985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3" name="AutoShape 30">
            <a:extLst>
              <a:ext uri="{FF2B5EF4-FFF2-40B4-BE49-F238E27FC236}">
                <a16:creationId xmlns:a16="http://schemas.microsoft.com/office/drawing/2014/main" id="{813B1920-F184-435F-81C3-53A47342F943}"/>
              </a:ext>
            </a:extLst>
          </p:cNvPr>
          <p:cNvCxnSpPr>
            <a:cxnSpLocks noChangeShapeType="1"/>
            <a:stCxn id="28689" idx="0"/>
            <a:endCxn id="28683" idx="2"/>
          </p:cNvCxnSpPr>
          <p:nvPr/>
        </p:nvCxnSpPr>
        <p:spPr bwMode="auto">
          <a:xfrm flipH="1" flipV="1">
            <a:off x="1790700" y="3454400"/>
            <a:ext cx="296863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4" name="AutoShape 31">
            <a:extLst>
              <a:ext uri="{FF2B5EF4-FFF2-40B4-BE49-F238E27FC236}">
                <a16:creationId xmlns:a16="http://schemas.microsoft.com/office/drawing/2014/main" id="{854492BC-F48C-483C-9C5A-461138375994}"/>
              </a:ext>
            </a:extLst>
          </p:cNvPr>
          <p:cNvCxnSpPr>
            <a:cxnSpLocks noChangeShapeType="1"/>
            <a:stCxn id="28689" idx="0"/>
            <a:endCxn id="28686" idx="2"/>
          </p:cNvCxnSpPr>
          <p:nvPr/>
        </p:nvCxnSpPr>
        <p:spPr bwMode="auto">
          <a:xfrm flipV="1">
            <a:off x="2087563" y="3454400"/>
            <a:ext cx="16922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5" name="AutoShape 32">
            <a:extLst>
              <a:ext uri="{FF2B5EF4-FFF2-40B4-BE49-F238E27FC236}">
                <a16:creationId xmlns:a16="http://schemas.microsoft.com/office/drawing/2014/main" id="{5D876645-290C-411D-B598-8D26C6F28A49}"/>
              </a:ext>
            </a:extLst>
          </p:cNvPr>
          <p:cNvCxnSpPr>
            <a:cxnSpLocks noChangeShapeType="1"/>
            <a:stCxn id="28690" idx="0"/>
            <a:endCxn id="28684" idx="2"/>
          </p:cNvCxnSpPr>
          <p:nvPr/>
        </p:nvCxnSpPr>
        <p:spPr bwMode="auto">
          <a:xfrm flipH="1" flipV="1">
            <a:off x="2424113" y="3487738"/>
            <a:ext cx="203200" cy="398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6" name="AutoShape 33">
            <a:extLst>
              <a:ext uri="{FF2B5EF4-FFF2-40B4-BE49-F238E27FC236}">
                <a16:creationId xmlns:a16="http://schemas.microsoft.com/office/drawing/2014/main" id="{4D70607F-3BE2-4EA5-BE14-565902A67E36}"/>
              </a:ext>
            </a:extLst>
          </p:cNvPr>
          <p:cNvCxnSpPr>
            <a:cxnSpLocks noChangeShapeType="1"/>
            <a:stCxn id="28690" idx="0"/>
            <a:endCxn id="28685" idx="2"/>
          </p:cNvCxnSpPr>
          <p:nvPr/>
        </p:nvCxnSpPr>
        <p:spPr bwMode="auto">
          <a:xfrm flipV="1">
            <a:off x="2627313" y="3454400"/>
            <a:ext cx="4667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7" name="AutoShape 34">
            <a:extLst>
              <a:ext uri="{FF2B5EF4-FFF2-40B4-BE49-F238E27FC236}">
                <a16:creationId xmlns:a16="http://schemas.microsoft.com/office/drawing/2014/main" id="{7A3D8D9C-EBD2-4620-A165-70E22C3CE36D}"/>
              </a:ext>
            </a:extLst>
          </p:cNvPr>
          <p:cNvCxnSpPr>
            <a:cxnSpLocks noChangeShapeType="1"/>
            <a:stCxn id="28690" idx="0"/>
            <a:endCxn id="28686" idx="2"/>
          </p:cNvCxnSpPr>
          <p:nvPr/>
        </p:nvCxnSpPr>
        <p:spPr bwMode="auto">
          <a:xfrm flipV="1">
            <a:off x="2627313" y="3454400"/>
            <a:ext cx="115252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8" name="AutoShape 35">
            <a:extLst>
              <a:ext uri="{FF2B5EF4-FFF2-40B4-BE49-F238E27FC236}">
                <a16:creationId xmlns:a16="http://schemas.microsoft.com/office/drawing/2014/main" id="{305CA3CA-7D87-4B01-B6DF-90BDE293610E}"/>
              </a:ext>
            </a:extLst>
          </p:cNvPr>
          <p:cNvCxnSpPr>
            <a:cxnSpLocks noChangeShapeType="1"/>
            <a:stCxn id="28681" idx="0"/>
            <a:endCxn id="28677" idx="2"/>
          </p:cNvCxnSpPr>
          <p:nvPr/>
        </p:nvCxnSpPr>
        <p:spPr bwMode="auto">
          <a:xfrm flipV="1">
            <a:off x="579438" y="2692400"/>
            <a:ext cx="236537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9" name="AutoShape 36">
            <a:extLst>
              <a:ext uri="{FF2B5EF4-FFF2-40B4-BE49-F238E27FC236}">
                <a16:creationId xmlns:a16="http://schemas.microsoft.com/office/drawing/2014/main" id="{8F26FA30-753F-430A-9B0D-72538A539DF7}"/>
              </a:ext>
            </a:extLst>
          </p:cNvPr>
          <p:cNvCxnSpPr>
            <a:cxnSpLocks noChangeShapeType="1"/>
            <a:stCxn id="28681" idx="0"/>
            <a:endCxn id="28678" idx="2"/>
          </p:cNvCxnSpPr>
          <p:nvPr/>
        </p:nvCxnSpPr>
        <p:spPr bwMode="auto">
          <a:xfrm flipV="1">
            <a:off x="579438" y="2682875"/>
            <a:ext cx="100171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0" name="AutoShape 37">
            <a:extLst>
              <a:ext uri="{FF2B5EF4-FFF2-40B4-BE49-F238E27FC236}">
                <a16:creationId xmlns:a16="http://schemas.microsoft.com/office/drawing/2014/main" id="{07DFD603-59FD-46E1-8A58-9F519F77F34F}"/>
              </a:ext>
            </a:extLst>
          </p:cNvPr>
          <p:cNvCxnSpPr>
            <a:cxnSpLocks noChangeShapeType="1"/>
            <a:stCxn id="28682" idx="0"/>
            <a:endCxn id="28677" idx="2"/>
          </p:cNvCxnSpPr>
          <p:nvPr/>
        </p:nvCxnSpPr>
        <p:spPr bwMode="auto">
          <a:xfrm flipH="1" flipV="1">
            <a:off x="815975" y="2692400"/>
            <a:ext cx="373063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1" name="AutoShape 38">
            <a:extLst>
              <a:ext uri="{FF2B5EF4-FFF2-40B4-BE49-F238E27FC236}">
                <a16:creationId xmlns:a16="http://schemas.microsoft.com/office/drawing/2014/main" id="{FEC7049C-BAE7-40CD-A8F4-2E681727B7E7}"/>
              </a:ext>
            </a:extLst>
          </p:cNvPr>
          <p:cNvCxnSpPr>
            <a:cxnSpLocks noChangeShapeType="1"/>
            <a:stCxn id="28682" idx="0"/>
            <a:endCxn id="28679" idx="2"/>
          </p:cNvCxnSpPr>
          <p:nvPr/>
        </p:nvCxnSpPr>
        <p:spPr bwMode="auto">
          <a:xfrm flipV="1">
            <a:off x="1189038" y="2682875"/>
            <a:ext cx="115411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2" name="AutoShape 39">
            <a:extLst>
              <a:ext uri="{FF2B5EF4-FFF2-40B4-BE49-F238E27FC236}">
                <a16:creationId xmlns:a16="http://schemas.microsoft.com/office/drawing/2014/main" id="{B762E493-E5B4-4AD1-8A8D-7477235BB46E}"/>
              </a:ext>
            </a:extLst>
          </p:cNvPr>
          <p:cNvCxnSpPr>
            <a:cxnSpLocks noChangeShapeType="1"/>
            <a:stCxn id="28683" idx="0"/>
            <a:endCxn id="28677" idx="2"/>
          </p:cNvCxnSpPr>
          <p:nvPr/>
        </p:nvCxnSpPr>
        <p:spPr bwMode="auto">
          <a:xfrm flipH="1" flipV="1">
            <a:off x="815975" y="2692400"/>
            <a:ext cx="974725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3" name="AutoShape 40">
            <a:extLst>
              <a:ext uri="{FF2B5EF4-FFF2-40B4-BE49-F238E27FC236}">
                <a16:creationId xmlns:a16="http://schemas.microsoft.com/office/drawing/2014/main" id="{C16BE99D-93C0-44D4-BE2B-F950E2530614}"/>
              </a:ext>
            </a:extLst>
          </p:cNvPr>
          <p:cNvCxnSpPr>
            <a:cxnSpLocks noChangeShapeType="1"/>
            <a:stCxn id="28683" idx="0"/>
            <a:endCxn id="28680" idx="2"/>
          </p:cNvCxnSpPr>
          <p:nvPr/>
        </p:nvCxnSpPr>
        <p:spPr bwMode="auto">
          <a:xfrm flipV="1">
            <a:off x="1790700" y="2725738"/>
            <a:ext cx="1244600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4" name="AutoShape 41">
            <a:extLst>
              <a:ext uri="{FF2B5EF4-FFF2-40B4-BE49-F238E27FC236}">
                <a16:creationId xmlns:a16="http://schemas.microsoft.com/office/drawing/2014/main" id="{1764AF46-F3BE-40D5-A5C2-D5BFF6DA6695}"/>
              </a:ext>
            </a:extLst>
          </p:cNvPr>
          <p:cNvCxnSpPr>
            <a:cxnSpLocks noChangeShapeType="1"/>
            <a:stCxn id="28685" idx="0"/>
            <a:endCxn id="28678" idx="2"/>
          </p:cNvCxnSpPr>
          <p:nvPr/>
        </p:nvCxnSpPr>
        <p:spPr bwMode="auto">
          <a:xfrm flipH="1" flipV="1">
            <a:off x="1581150" y="2682875"/>
            <a:ext cx="151288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5" name="AutoShape 42">
            <a:extLst>
              <a:ext uri="{FF2B5EF4-FFF2-40B4-BE49-F238E27FC236}">
                <a16:creationId xmlns:a16="http://schemas.microsoft.com/office/drawing/2014/main" id="{81638714-A894-4C61-AF5A-FB99A2787B70}"/>
              </a:ext>
            </a:extLst>
          </p:cNvPr>
          <p:cNvCxnSpPr>
            <a:cxnSpLocks noChangeShapeType="1"/>
            <a:stCxn id="28683" idx="0"/>
            <a:endCxn id="28680" idx="2"/>
          </p:cNvCxnSpPr>
          <p:nvPr/>
        </p:nvCxnSpPr>
        <p:spPr bwMode="auto">
          <a:xfrm flipV="1">
            <a:off x="1790700" y="2725738"/>
            <a:ext cx="1244600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6" name="AutoShape 43">
            <a:extLst>
              <a:ext uri="{FF2B5EF4-FFF2-40B4-BE49-F238E27FC236}">
                <a16:creationId xmlns:a16="http://schemas.microsoft.com/office/drawing/2014/main" id="{B98C01B6-A539-4B6C-8BB2-E6345E8AFE32}"/>
              </a:ext>
            </a:extLst>
          </p:cNvPr>
          <p:cNvCxnSpPr>
            <a:cxnSpLocks noChangeShapeType="1"/>
            <a:stCxn id="28685" idx="0"/>
            <a:endCxn id="28680" idx="2"/>
          </p:cNvCxnSpPr>
          <p:nvPr/>
        </p:nvCxnSpPr>
        <p:spPr bwMode="auto">
          <a:xfrm flipH="1" flipV="1">
            <a:off x="3035300" y="2725738"/>
            <a:ext cx="58738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7" name="AutoShape 44">
            <a:extLst>
              <a:ext uri="{FF2B5EF4-FFF2-40B4-BE49-F238E27FC236}">
                <a16:creationId xmlns:a16="http://schemas.microsoft.com/office/drawing/2014/main" id="{A25F55F6-0585-4DAA-BFD1-711F66CAD659}"/>
              </a:ext>
            </a:extLst>
          </p:cNvPr>
          <p:cNvCxnSpPr>
            <a:cxnSpLocks noChangeShapeType="1"/>
            <a:stCxn id="28686" idx="0"/>
            <a:endCxn id="28679" idx="2"/>
          </p:cNvCxnSpPr>
          <p:nvPr/>
        </p:nvCxnSpPr>
        <p:spPr bwMode="auto">
          <a:xfrm flipH="1" flipV="1">
            <a:off x="2343150" y="2682875"/>
            <a:ext cx="143668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8" name="AutoShape 45">
            <a:extLst>
              <a:ext uri="{FF2B5EF4-FFF2-40B4-BE49-F238E27FC236}">
                <a16:creationId xmlns:a16="http://schemas.microsoft.com/office/drawing/2014/main" id="{1411E868-C8EA-4132-BE8A-EC3CD7611517}"/>
              </a:ext>
            </a:extLst>
          </p:cNvPr>
          <p:cNvCxnSpPr>
            <a:cxnSpLocks noChangeShapeType="1"/>
            <a:stCxn id="28686" idx="0"/>
            <a:endCxn id="28680" idx="2"/>
          </p:cNvCxnSpPr>
          <p:nvPr/>
        </p:nvCxnSpPr>
        <p:spPr bwMode="auto">
          <a:xfrm flipH="1" flipV="1">
            <a:off x="3035300" y="2725738"/>
            <a:ext cx="744538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9" name="AutoShape 46">
            <a:extLst>
              <a:ext uri="{FF2B5EF4-FFF2-40B4-BE49-F238E27FC236}">
                <a16:creationId xmlns:a16="http://schemas.microsoft.com/office/drawing/2014/main" id="{7773E6D9-0EB3-4855-909D-DE69B3DE146E}"/>
              </a:ext>
            </a:extLst>
          </p:cNvPr>
          <p:cNvCxnSpPr>
            <a:cxnSpLocks noChangeShapeType="1"/>
            <a:stCxn id="28677" idx="0"/>
            <a:endCxn id="28676" idx="2"/>
          </p:cNvCxnSpPr>
          <p:nvPr/>
        </p:nvCxnSpPr>
        <p:spPr bwMode="auto">
          <a:xfrm flipV="1">
            <a:off x="815975" y="1920875"/>
            <a:ext cx="1154113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0" name="AutoShape 47">
            <a:extLst>
              <a:ext uri="{FF2B5EF4-FFF2-40B4-BE49-F238E27FC236}">
                <a16:creationId xmlns:a16="http://schemas.microsoft.com/office/drawing/2014/main" id="{849D42DB-BFE8-4941-9A22-5E9B6B1C7457}"/>
              </a:ext>
            </a:extLst>
          </p:cNvPr>
          <p:cNvCxnSpPr>
            <a:cxnSpLocks noChangeShapeType="1"/>
            <a:stCxn id="28678" idx="0"/>
            <a:endCxn id="28676" idx="2"/>
          </p:cNvCxnSpPr>
          <p:nvPr/>
        </p:nvCxnSpPr>
        <p:spPr bwMode="auto">
          <a:xfrm flipV="1">
            <a:off x="1581150" y="1920875"/>
            <a:ext cx="388938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1" name="AutoShape 48">
            <a:extLst>
              <a:ext uri="{FF2B5EF4-FFF2-40B4-BE49-F238E27FC236}">
                <a16:creationId xmlns:a16="http://schemas.microsoft.com/office/drawing/2014/main" id="{1D2A0BBB-4566-4FDC-B095-CD736CC981DF}"/>
              </a:ext>
            </a:extLst>
          </p:cNvPr>
          <p:cNvCxnSpPr>
            <a:cxnSpLocks noChangeShapeType="1"/>
            <a:stCxn id="28679" idx="0"/>
            <a:endCxn id="28676" idx="2"/>
          </p:cNvCxnSpPr>
          <p:nvPr/>
        </p:nvCxnSpPr>
        <p:spPr bwMode="auto">
          <a:xfrm flipH="1" flipV="1">
            <a:off x="1970088" y="1920875"/>
            <a:ext cx="373062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2" name="AutoShape 49">
            <a:extLst>
              <a:ext uri="{FF2B5EF4-FFF2-40B4-BE49-F238E27FC236}">
                <a16:creationId xmlns:a16="http://schemas.microsoft.com/office/drawing/2014/main" id="{7A24B00B-DA01-49F7-B923-7DFBB09AC463}"/>
              </a:ext>
            </a:extLst>
          </p:cNvPr>
          <p:cNvCxnSpPr>
            <a:cxnSpLocks noChangeShapeType="1"/>
            <a:stCxn id="28680" idx="0"/>
            <a:endCxn id="28676" idx="2"/>
          </p:cNvCxnSpPr>
          <p:nvPr/>
        </p:nvCxnSpPr>
        <p:spPr bwMode="auto">
          <a:xfrm flipH="1" flipV="1">
            <a:off x="1970088" y="1920875"/>
            <a:ext cx="1065212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3" name="AutoShape 50">
            <a:extLst>
              <a:ext uri="{FF2B5EF4-FFF2-40B4-BE49-F238E27FC236}">
                <a16:creationId xmlns:a16="http://schemas.microsoft.com/office/drawing/2014/main" id="{C7CB2F24-ACFA-414F-A9EF-95FBDEDEC8DD}"/>
              </a:ext>
            </a:extLst>
          </p:cNvPr>
          <p:cNvCxnSpPr>
            <a:cxnSpLocks noChangeShapeType="1"/>
            <a:stCxn id="28684" idx="0"/>
            <a:endCxn id="28679" idx="2"/>
          </p:cNvCxnSpPr>
          <p:nvPr/>
        </p:nvCxnSpPr>
        <p:spPr bwMode="auto">
          <a:xfrm flipH="1" flipV="1">
            <a:off x="2343150" y="2682875"/>
            <a:ext cx="80963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4" name="AutoShape 51">
            <a:extLst>
              <a:ext uri="{FF2B5EF4-FFF2-40B4-BE49-F238E27FC236}">
                <a16:creationId xmlns:a16="http://schemas.microsoft.com/office/drawing/2014/main" id="{650BE9A1-AA20-4B0F-B2D9-FA8328BB982B}"/>
              </a:ext>
            </a:extLst>
          </p:cNvPr>
          <p:cNvCxnSpPr>
            <a:cxnSpLocks noChangeShapeType="1"/>
            <a:stCxn id="28684" idx="0"/>
            <a:endCxn id="28678" idx="2"/>
          </p:cNvCxnSpPr>
          <p:nvPr/>
        </p:nvCxnSpPr>
        <p:spPr bwMode="auto">
          <a:xfrm flipH="1" flipV="1">
            <a:off x="1581150" y="2682875"/>
            <a:ext cx="842963" cy="350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5" name="Text Box 52">
            <a:extLst>
              <a:ext uri="{FF2B5EF4-FFF2-40B4-BE49-F238E27FC236}">
                <a16:creationId xmlns:a16="http://schemas.microsoft.com/office/drawing/2014/main" id="{36BE35F8-2889-426B-A8DE-9FABF4D34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53000"/>
            <a:ext cx="160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Itemset lattice</a:t>
            </a:r>
          </a:p>
        </p:txBody>
      </p:sp>
      <p:sp>
        <p:nvSpPr>
          <p:cNvPr id="28726" name="Rectangle 53">
            <a:extLst>
              <a:ext uri="{FF2B5EF4-FFF2-40B4-BE49-F238E27FC236}">
                <a16:creationId xmlns:a16="http://schemas.microsoft.com/office/drawing/2014/main" id="{76960B04-9724-4F30-9E8B-366D97AEC8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91000" y="1828800"/>
            <a:ext cx="4800600" cy="1447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Once both A and D are determined frequent, the counting of AD begins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Once all length-2 subsets of BCD are determined frequent, the counting of BCD begins</a:t>
            </a:r>
          </a:p>
        </p:txBody>
      </p:sp>
      <p:sp>
        <p:nvSpPr>
          <p:cNvPr id="28727" name="Rectangle 54">
            <a:extLst>
              <a:ext uri="{FF2B5EF4-FFF2-40B4-BE49-F238E27FC236}">
                <a16:creationId xmlns:a16="http://schemas.microsoft.com/office/drawing/2014/main" id="{3FDAC8D7-58C0-4661-817F-F30F72BF5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352800"/>
            <a:ext cx="4495800" cy="3810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bg1"/>
                </a:solidFill>
                <a:latin typeface="Times New Roman" panose="02020603050405020304" pitchFamily="18" charset="0"/>
              </a:rPr>
              <a:t>Transactions</a:t>
            </a:r>
          </a:p>
        </p:txBody>
      </p:sp>
      <p:sp>
        <p:nvSpPr>
          <p:cNvPr id="28728" name="Line 55">
            <a:extLst>
              <a:ext uri="{FF2B5EF4-FFF2-40B4-BE49-F238E27FC236}">
                <a16:creationId xmlns:a16="http://schemas.microsoft.com/office/drawing/2014/main" id="{1BC8BA8D-D82A-4EA1-B3AC-420BCD851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132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9" name="Text Box 56">
            <a:extLst>
              <a:ext uri="{FF2B5EF4-FFF2-40B4-BE49-F238E27FC236}">
                <a16:creationId xmlns:a16="http://schemas.microsoft.com/office/drawing/2014/main" id="{C5C26202-8A24-4071-85A6-833553577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3733800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1-itemsets</a:t>
            </a:r>
          </a:p>
        </p:txBody>
      </p:sp>
      <p:sp>
        <p:nvSpPr>
          <p:cNvPr id="28730" name="Line 57">
            <a:extLst>
              <a:ext uri="{FF2B5EF4-FFF2-40B4-BE49-F238E27FC236}">
                <a16:creationId xmlns:a16="http://schemas.microsoft.com/office/drawing/2014/main" id="{6064E6EA-D563-4FA1-9277-5A143BE24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4180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1" name="Text Box 58">
            <a:extLst>
              <a:ext uri="{FF2B5EF4-FFF2-40B4-BE49-F238E27FC236}">
                <a16:creationId xmlns:a16="http://schemas.microsoft.com/office/drawing/2014/main" id="{E12AB399-AB58-4C0F-A6ED-70D89F76E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4038600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2-itemsets</a:t>
            </a:r>
          </a:p>
        </p:txBody>
      </p:sp>
      <p:sp>
        <p:nvSpPr>
          <p:cNvPr id="28732" name="Line 59">
            <a:extLst>
              <a:ext uri="{FF2B5EF4-FFF2-40B4-BE49-F238E27FC236}">
                <a16:creationId xmlns:a16="http://schemas.microsoft.com/office/drawing/2014/main" id="{1114783E-BD0A-41EE-9F17-518D31D85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7228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3" name="Text Box 60">
            <a:extLst>
              <a:ext uri="{FF2B5EF4-FFF2-40B4-BE49-F238E27FC236}">
                <a16:creationId xmlns:a16="http://schemas.microsoft.com/office/drawing/2014/main" id="{E349B3C0-A1E0-457C-9722-0C2CBEF22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613" y="43434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8734" name="Text Box 61">
            <a:extLst>
              <a:ext uri="{FF2B5EF4-FFF2-40B4-BE49-F238E27FC236}">
                <a16:creationId xmlns:a16="http://schemas.microsoft.com/office/drawing/2014/main" id="{2AFF64F6-7CDB-47F1-A549-0CBD88FAC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14800"/>
            <a:ext cx="930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Apriori</a:t>
            </a:r>
          </a:p>
        </p:txBody>
      </p:sp>
      <p:sp>
        <p:nvSpPr>
          <p:cNvPr id="28735" name="Line 62">
            <a:extLst>
              <a:ext uri="{FF2B5EF4-FFF2-40B4-BE49-F238E27FC236}">
                <a16:creationId xmlns:a16="http://schemas.microsoft.com/office/drawing/2014/main" id="{FB0EF699-16CC-4712-96AE-A483AA54E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32413"/>
            <a:ext cx="4414838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6" name="Text Box 63">
            <a:extLst>
              <a:ext uri="{FF2B5EF4-FFF2-40B4-BE49-F238E27FC236}">
                <a16:creationId xmlns:a16="http://schemas.microsoft.com/office/drawing/2014/main" id="{E7ACFCA4-D54C-428E-A86C-600779C7A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4953000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1-itemsets</a:t>
            </a:r>
          </a:p>
        </p:txBody>
      </p:sp>
      <p:sp>
        <p:nvSpPr>
          <p:cNvPr id="28737" name="Line 64">
            <a:extLst>
              <a:ext uri="{FF2B5EF4-FFF2-40B4-BE49-F238E27FC236}">
                <a16:creationId xmlns:a16="http://schemas.microsoft.com/office/drawing/2014/main" id="{6CED696C-1AA7-4311-841E-B419381AB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638800"/>
            <a:ext cx="3581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8" name="Line 65">
            <a:extLst>
              <a:ext uri="{FF2B5EF4-FFF2-40B4-BE49-F238E27FC236}">
                <a16:creationId xmlns:a16="http://schemas.microsoft.com/office/drawing/2014/main" id="{F9B90985-FE45-4169-8FC2-697A652CA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172200"/>
            <a:ext cx="838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8739" name="AutoShape 66">
            <a:extLst>
              <a:ext uri="{FF2B5EF4-FFF2-40B4-BE49-F238E27FC236}">
                <a16:creationId xmlns:a16="http://schemas.microsoft.com/office/drawing/2014/main" id="{FBAE46EB-A654-4F90-95C6-3C82CEBFE285}"/>
              </a:ext>
            </a:extLst>
          </p:cNvPr>
          <p:cNvCxnSpPr>
            <a:cxnSpLocks noChangeShapeType="1"/>
            <a:stCxn id="28737" idx="1"/>
            <a:endCxn id="28738" idx="0"/>
          </p:cNvCxnSpPr>
          <p:nvPr/>
        </p:nvCxnSpPr>
        <p:spPr bwMode="auto">
          <a:xfrm flipH="1">
            <a:off x="4343400" y="56388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40" name="Text Box 67">
            <a:extLst>
              <a:ext uri="{FF2B5EF4-FFF2-40B4-BE49-F238E27FC236}">
                <a16:creationId xmlns:a16="http://schemas.microsoft.com/office/drawing/2014/main" id="{F8F528EB-DA60-48DF-A0E0-6E52FD7BC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257800"/>
            <a:ext cx="942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2-items</a:t>
            </a:r>
          </a:p>
        </p:txBody>
      </p:sp>
      <p:sp>
        <p:nvSpPr>
          <p:cNvPr id="28741" name="Line 68">
            <a:extLst>
              <a:ext uri="{FF2B5EF4-FFF2-40B4-BE49-F238E27FC236}">
                <a16:creationId xmlns:a16="http://schemas.microsoft.com/office/drawing/2014/main" id="{F7D81781-2CCB-4070-BA29-6B7FB99D6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943600"/>
            <a:ext cx="1676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2" name="Line 69">
            <a:extLst>
              <a:ext uri="{FF2B5EF4-FFF2-40B4-BE49-F238E27FC236}">
                <a16:creationId xmlns:a16="http://schemas.microsoft.com/office/drawing/2014/main" id="{2D1AAE76-4FF6-4555-A5A5-FA9C56249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477000"/>
            <a:ext cx="2743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3" name="Text Box 70">
            <a:extLst>
              <a:ext uri="{FF2B5EF4-FFF2-40B4-BE49-F238E27FC236}">
                <a16:creationId xmlns:a16="http://schemas.microsoft.com/office/drawing/2014/main" id="{D6D836D8-22BF-4A07-9FEC-681CA37CB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5576888"/>
            <a:ext cx="942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3-items</a:t>
            </a:r>
          </a:p>
        </p:txBody>
      </p:sp>
      <p:cxnSp>
        <p:nvCxnSpPr>
          <p:cNvPr id="28744" name="AutoShape 71">
            <a:extLst>
              <a:ext uri="{FF2B5EF4-FFF2-40B4-BE49-F238E27FC236}">
                <a16:creationId xmlns:a16="http://schemas.microsoft.com/office/drawing/2014/main" id="{379DC78B-63FD-4E26-B8F0-AE71870CF96A}"/>
              </a:ext>
            </a:extLst>
          </p:cNvPr>
          <p:cNvCxnSpPr>
            <a:cxnSpLocks noChangeShapeType="1"/>
            <a:stCxn id="28741" idx="1"/>
            <a:endCxn id="28742" idx="0"/>
          </p:cNvCxnSpPr>
          <p:nvPr/>
        </p:nvCxnSpPr>
        <p:spPr bwMode="auto">
          <a:xfrm flipH="1">
            <a:off x="4343400" y="59436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45" name="Text Box 72">
            <a:extLst>
              <a:ext uri="{FF2B5EF4-FFF2-40B4-BE49-F238E27FC236}">
                <a16:creationId xmlns:a16="http://schemas.microsoft.com/office/drawing/2014/main" id="{CC3C94F5-65C7-417D-94D4-A917BFB2B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5576888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DIC</a:t>
            </a:r>
          </a:p>
        </p:txBody>
      </p:sp>
      <p:sp>
        <p:nvSpPr>
          <p:cNvPr id="28746" name="Rectangle 73">
            <a:extLst>
              <a:ext uri="{FF2B5EF4-FFF2-40B4-BE49-F238E27FC236}">
                <a16:creationId xmlns:a16="http://schemas.microsoft.com/office/drawing/2014/main" id="{E50205A9-CA17-4D50-B197-76ABBE741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257800"/>
            <a:ext cx="35814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S. Brin R. Motwani, J. Ullman, and S. Tsur. </a:t>
            </a:r>
            <a:r>
              <a:rPr lang="en-US" altLang="en-US" sz="1800">
                <a:solidFill>
                  <a:schemeClr val="tx2"/>
                </a:solidFill>
              </a:rPr>
              <a:t>Dynamic itemset counting and implication rules for market basket data</a:t>
            </a:r>
            <a:r>
              <a:rPr lang="en-US" altLang="en-US" sz="1800"/>
              <a:t>. In </a:t>
            </a:r>
            <a:r>
              <a:rPr lang="en-US" altLang="en-US" sz="1800" i="1">
                <a:solidFill>
                  <a:schemeClr val="tx2"/>
                </a:solidFill>
              </a:rPr>
              <a:t>SIGMOD’97</a:t>
            </a:r>
          </a:p>
        </p:txBody>
      </p:sp>
    </p:spTree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19241F08-E812-415B-9E2F-B6E8A816DA84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FB4097F-728E-4E87-B9AC-2FD8ADB6A902}" type="slidenum">
              <a:rPr lang="en-US" altLang="en-US" sz="1200"/>
              <a:pPr algn="r" eaLnBrk="1" hangingPunct="1"/>
              <a:t>27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FEA084E-DBB3-476E-B80F-FD4068BA08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Scalable Frequent Itemset Mining Methods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01B0DE2-949F-4BD9-AF85-0825A9136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240000"/>
              </a:lnSpc>
            </a:pPr>
            <a:r>
              <a:rPr lang="en-US" altLang="en-US" sz="2400"/>
              <a:t>Apriori: A Candidate Generation-and-Test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Improving the Efficiency of Apriori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FPGrowth:  A Frequent Pattern-Growth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ECLAT: Frequent Pattern Mining with Vertical Data Format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Mining Close Frequent Patterns and Maxpatterns</a:t>
            </a:r>
          </a:p>
        </p:txBody>
      </p:sp>
      <p:sp>
        <p:nvSpPr>
          <p:cNvPr id="29701" name="AutoShape 4">
            <a:extLst>
              <a:ext uri="{FF2B5EF4-FFF2-40B4-BE49-F238E27FC236}">
                <a16:creationId xmlns:a16="http://schemas.microsoft.com/office/drawing/2014/main" id="{287A0ACE-14AE-4B9D-8295-D3145E3CC831}"/>
              </a:ext>
            </a:extLst>
          </p:cNvPr>
          <p:cNvSpPr>
            <a:spLocks noChangeArrowheads="1"/>
          </p:cNvSpPr>
          <p:nvPr/>
        </p:nvSpPr>
        <p:spPr bwMode="auto">
          <a:xfrm rot="1206592">
            <a:off x="7848600" y="2133600"/>
            <a:ext cx="533400" cy="485775"/>
          </a:xfrm>
          <a:prstGeom prst="leftArrow">
            <a:avLst>
              <a:gd name="adj1" fmla="val 50000"/>
              <a:gd name="adj2" fmla="val 2745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140050BC-DEB2-4FD7-952A-491701EB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4BF65AE-44C8-4FDA-A82E-36F044CBCEF8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A2BBF9A-FB98-40E2-95A1-598B6B0D3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</p:spPr>
        <p:txBody>
          <a:bodyPr/>
          <a:lstStyle/>
          <a:p>
            <a:pPr eaLnBrk="1" hangingPunct="1"/>
            <a:r>
              <a:rPr lang="en-US" altLang="en-US" sz="3200"/>
              <a:t>Pattern-Growth Approach: Mining Frequent Patterns Without Candidate Generation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F78A896-1FB5-4554-8E88-8EF94CE7B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97900" cy="5054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Bottlenecks of the Apriori approach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Breadth-first (i.e., level-wise) search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Candidate generation and test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000"/>
              <a:t>Often generates a huge number of candidates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The FPGrowth Approach (J. Han, J. Pei, and Y. Yin, SIGMOD’ 00)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Depth-first search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Avoid explicit candidate generation</a:t>
            </a:r>
            <a:endParaRPr lang="en-US" altLang="en-US" sz="2000">
              <a:solidFill>
                <a:schemeClr val="hlink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Major philosophy: Grow long patterns from short ones using local frequent items only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“abc” is a frequent pattern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Get all transactions having “abc”, i.e., project DB on abc: DB|abc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“d” is a local frequent item in DB|abc </a:t>
            </a:r>
            <a:r>
              <a:rPr lang="en-US" altLang="en-US" sz="2000">
                <a:sym typeface="Wingdings" panose="05000000000000000000" pitchFamily="2" charset="2"/>
              </a:rPr>
              <a:t> abcd is a frequent pattern</a:t>
            </a: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3F628564-4D41-49D0-8E6D-48EDBD03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6D1B6B4-1AED-41BA-BCF4-5EB37971921C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236B529-0BCC-4FA9-BC9C-46F631639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Construct FP-tree from a Transaction Database</a:t>
            </a:r>
          </a:p>
        </p:txBody>
      </p:sp>
      <p:grpSp>
        <p:nvGrpSpPr>
          <p:cNvPr id="31748" name="Group 3">
            <a:extLst>
              <a:ext uri="{FF2B5EF4-FFF2-40B4-BE49-F238E27FC236}">
                <a16:creationId xmlns:a16="http://schemas.microsoft.com/office/drawing/2014/main" id="{8851B2E8-BACD-4BEC-BD43-683F1A028F92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971800"/>
            <a:ext cx="4579938" cy="3624263"/>
            <a:chOff x="2496" y="1772"/>
            <a:chExt cx="2926" cy="2218"/>
          </a:xfrm>
        </p:grpSpPr>
        <p:sp>
          <p:nvSpPr>
            <p:cNvPr id="31753" name="Text Box 4">
              <a:extLst>
                <a:ext uri="{FF2B5EF4-FFF2-40B4-BE49-F238E27FC236}">
                  <a16:creationId xmlns:a16="http://schemas.microsoft.com/office/drawing/2014/main" id="{94DF3652-8F2F-4956-AA4B-BDDBB2A99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1772"/>
              <a:ext cx="28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31754" name="Text Box 5">
              <a:extLst>
                <a:ext uri="{FF2B5EF4-FFF2-40B4-BE49-F238E27FC236}">
                  <a16:creationId xmlns:a16="http://schemas.microsoft.com/office/drawing/2014/main" id="{E7A45E1A-0ADF-4E42-870B-161E65D43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2205"/>
              <a:ext cx="305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31755" name="Text Box 6">
              <a:extLst>
                <a:ext uri="{FF2B5EF4-FFF2-40B4-BE49-F238E27FC236}">
                  <a16:creationId xmlns:a16="http://schemas.microsoft.com/office/drawing/2014/main" id="{BA6210FA-9399-4CD0-A0B1-E45115D0D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205"/>
              <a:ext cx="333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31756" name="Text Box 7">
              <a:extLst>
                <a:ext uri="{FF2B5EF4-FFF2-40B4-BE49-F238E27FC236}">
                  <a16:creationId xmlns:a16="http://schemas.microsoft.com/office/drawing/2014/main" id="{CFB70F55-1EF9-40AA-AE96-B8239B47E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1757" name="Text Box 8">
              <a:extLst>
                <a:ext uri="{FF2B5EF4-FFF2-40B4-BE49-F238E27FC236}">
                  <a16:creationId xmlns:a16="http://schemas.microsoft.com/office/drawing/2014/main" id="{52BC00F8-4DB8-44E6-9E8E-5BE9FD610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31758" name="AutoShape 9">
              <a:extLst>
                <a:ext uri="{FF2B5EF4-FFF2-40B4-BE49-F238E27FC236}">
                  <a16:creationId xmlns:a16="http://schemas.microsoft.com/office/drawing/2014/main" id="{0262EDA7-360C-4447-A48E-C275C3A35586}"/>
                </a:ext>
              </a:extLst>
            </p:cNvPr>
            <p:cNvCxnSpPr>
              <a:cxnSpLocks noChangeShapeType="1"/>
              <a:stCxn id="31755" idx="2"/>
              <a:endCxn id="31756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9" name="AutoShape 10">
              <a:extLst>
                <a:ext uri="{FF2B5EF4-FFF2-40B4-BE49-F238E27FC236}">
                  <a16:creationId xmlns:a16="http://schemas.microsoft.com/office/drawing/2014/main" id="{C6829BD7-99DF-4DD2-8937-E292E6FF60E7}"/>
                </a:ext>
              </a:extLst>
            </p:cNvPr>
            <p:cNvCxnSpPr>
              <a:cxnSpLocks noChangeShapeType="1"/>
              <a:stCxn id="31756" idx="2"/>
              <a:endCxn id="31757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11">
              <a:extLst>
                <a:ext uri="{FF2B5EF4-FFF2-40B4-BE49-F238E27FC236}">
                  <a16:creationId xmlns:a16="http://schemas.microsoft.com/office/drawing/2014/main" id="{65288D98-7E9A-441D-8053-EF4A43E2F787}"/>
                </a:ext>
              </a:extLst>
            </p:cNvPr>
            <p:cNvCxnSpPr>
              <a:cxnSpLocks noChangeShapeType="1"/>
              <a:stCxn id="31753" idx="2"/>
              <a:endCxn id="31755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12">
              <a:extLst>
                <a:ext uri="{FF2B5EF4-FFF2-40B4-BE49-F238E27FC236}">
                  <a16:creationId xmlns:a16="http://schemas.microsoft.com/office/drawing/2014/main" id="{C62E2CDB-905C-4B19-8F88-55B773F424A3}"/>
                </a:ext>
              </a:extLst>
            </p:cNvPr>
            <p:cNvCxnSpPr>
              <a:cxnSpLocks noChangeShapeType="1"/>
              <a:stCxn id="31753" idx="2"/>
              <a:endCxn id="31754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2" name="Text Box 13">
              <a:extLst>
                <a:ext uri="{FF2B5EF4-FFF2-40B4-BE49-F238E27FC236}">
                  <a16:creationId xmlns:a16="http://schemas.microsoft.com/office/drawing/2014/main" id="{A3AB335D-A445-49B2-8B23-B884137FF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588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1763" name="Text Box 14">
              <a:extLst>
                <a:ext uri="{FF2B5EF4-FFF2-40B4-BE49-F238E27FC236}">
                  <a16:creationId xmlns:a16="http://schemas.microsoft.com/office/drawing/2014/main" id="{8006F1F2-5147-4556-9278-775C29C8B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2588"/>
              <a:ext cx="33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31764" name="AutoShape 15">
              <a:extLst>
                <a:ext uri="{FF2B5EF4-FFF2-40B4-BE49-F238E27FC236}">
                  <a16:creationId xmlns:a16="http://schemas.microsoft.com/office/drawing/2014/main" id="{1C2773AC-8AAE-4A11-8A8B-53B4DC9D8F41}"/>
                </a:ext>
              </a:extLst>
            </p:cNvPr>
            <p:cNvCxnSpPr>
              <a:cxnSpLocks noChangeShapeType="1"/>
              <a:stCxn id="31754" idx="2"/>
              <a:endCxn id="31763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5" name="AutoShape 16">
              <a:extLst>
                <a:ext uri="{FF2B5EF4-FFF2-40B4-BE49-F238E27FC236}">
                  <a16:creationId xmlns:a16="http://schemas.microsoft.com/office/drawing/2014/main" id="{233AD9F4-7B49-42B4-9DAD-0CFB78A3F0CE}"/>
                </a:ext>
              </a:extLst>
            </p:cNvPr>
            <p:cNvCxnSpPr>
              <a:cxnSpLocks noChangeShapeType="1"/>
              <a:stCxn id="31754" idx="2"/>
              <a:endCxn id="31762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6" name="Text Box 17">
              <a:extLst>
                <a:ext uri="{FF2B5EF4-FFF2-40B4-BE49-F238E27FC236}">
                  <a16:creationId xmlns:a16="http://schemas.microsoft.com/office/drawing/2014/main" id="{E5AB27D9-0A2E-4684-A3F9-58BB4D86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5" y="2971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31767" name="Text Box 18">
              <a:extLst>
                <a:ext uri="{FF2B5EF4-FFF2-40B4-BE49-F238E27FC236}">
                  <a16:creationId xmlns:a16="http://schemas.microsoft.com/office/drawing/2014/main" id="{85F0BABD-F05A-4F78-AF1B-D61A1A8AA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3356"/>
              <a:ext cx="342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1768" name="Text Box 19">
              <a:extLst>
                <a:ext uri="{FF2B5EF4-FFF2-40B4-BE49-F238E27FC236}">
                  <a16:creationId xmlns:a16="http://schemas.microsoft.com/office/drawing/2014/main" id="{029347A2-10BB-41E6-8F16-380247317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" y="3356"/>
              <a:ext cx="378" cy="2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31769" name="Text Box 20">
              <a:extLst>
                <a:ext uri="{FF2B5EF4-FFF2-40B4-BE49-F238E27FC236}">
                  <a16:creationId xmlns:a16="http://schemas.microsoft.com/office/drawing/2014/main" id="{D55F7434-80F6-4702-97C5-92537C5D8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739"/>
              <a:ext cx="342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31770" name="AutoShape 21">
              <a:extLst>
                <a:ext uri="{FF2B5EF4-FFF2-40B4-BE49-F238E27FC236}">
                  <a16:creationId xmlns:a16="http://schemas.microsoft.com/office/drawing/2014/main" id="{A08B3922-63E2-44DF-940A-158C027A7C83}"/>
                </a:ext>
              </a:extLst>
            </p:cNvPr>
            <p:cNvCxnSpPr>
              <a:cxnSpLocks noChangeShapeType="1"/>
              <a:stCxn id="31763" idx="2"/>
              <a:endCxn id="31766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1" name="AutoShape 22">
              <a:extLst>
                <a:ext uri="{FF2B5EF4-FFF2-40B4-BE49-F238E27FC236}">
                  <a16:creationId xmlns:a16="http://schemas.microsoft.com/office/drawing/2014/main" id="{1AAD9795-C863-4A62-B823-EA19B463669F}"/>
                </a:ext>
              </a:extLst>
            </p:cNvPr>
            <p:cNvCxnSpPr>
              <a:cxnSpLocks noChangeShapeType="1"/>
              <a:stCxn id="31766" idx="2"/>
              <a:endCxn id="31768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2" name="AutoShape 23">
              <a:extLst>
                <a:ext uri="{FF2B5EF4-FFF2-40B4-BE49-F238E27FC236}">
                  <a16:creationId xmlns:a16="http://schemas.microsoft.com/office/drawing/2014/main" id="{ECCDAD32-34D8-4796-9E4C-9BB16B74204D}"/>
                </a:ext>
              </a:extLst>
            </p:cNvPr>
            <p:cNvCxnSpPr>
              <a:cxnSpLocks noChangeShapeType="1"/>
              <a:stCxn id="31766" idx="2"/>
              <a:endCxn id="31767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AutoShape 24">
              <a:extLst>
                <a:ext uri="{FF2B5EF4-FFF2-40B4-BE49-F238E27FC236}">
                  <a16:creationId xmlns:a16="http://schemas.microsoft.com/office/drawing/2014/main" id="{44A0BD11-C447-4190-BE48-90751A3D5AEB}"/>
                </a:ext>
              </a:extLst>
            </p:cNvPr>
            <p:cNvCxnSpPr>
              <a:cxnSpLocks noChangeShapeType="1"/>
              <a:stCxn id="31768" idx="2"/>
              <a:endCxn id="31769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74" name="Text Box 25">
              <a:extLst>
                <a:ext uri="{FF2B5EF4-FFF2-40B4-BE49-F238E27FC236}">
                  <a16:creationId xmlns:a16="http://schemas.microsoft.com/office/drawing/2014/main" id="{A70A055A-10B9-426C-AAFF-C6AEBBC84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739"/>
              <a:ext cx="378" cy="25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31775" name="AutoShape 26">
              <a:extLst>
                <a:ext uri="{FF2B5EF4-FFF2-40B4-BE49-F238E27FC236}">
                  <a16:creationId xmlns:a16="http://schemas.microsoft.com/office/drawing/2014/main" id="{2819CD59-79BE-4D33-868D-1099A4AF8C14}"/>
                </a:ext>
              </a:extLst>
            </p:cNvPr>
            <p:cNvCxnSpPr>
              <a:cxnSpLocks noChangeShapeType="1"/>
              <a:stCxn id="31767" idx="2"/>
              <a:endCxn id="31774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76" name="Text Box 27">
              <a:extLst>
                <a:ext uri="{FF2B5EF4-FFF2-40B4-BE49-F238E27FC236}">
                  <a16:creationId xmlns:a16="http://schemas.microsoft.com/office/drawing/2014/main" id="{F277F718-D9F8-4A07-AD64-913114132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35"/>
              <a:ext cx="1625" cy="157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000" b="1">
                  <a:latin typeface="Times New Roman" panose="02020603050405020304" pitchFamily="18" charset="0"/>
                </a:rPr>
                <a:t>Header Table</a:t>
              </a:r>
            </a:p>
            <a:p>
              <a:pPr>
                <a:lnSpc>
                  <a:spcPct val="90000"/>
                </a:lnSpc>
              </a:pPr>
              <a:endParaRPr lang="en-US" altLang="en-US" sz="2000" b="1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en-US" sz="2000" b="1" i="1" u="sng">
                  <a:latin typeface="Times New Roman" panose="02020603050405020304" pitchFamily="18" charset="0"/>
                </a:rPr>
                <a:t>Item  frequency  head 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 f	4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p	3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1777" name="Freeform 28">
              <a:extLst>
                <a:ext uri="{FF2B5EF4-FFF2-40B4-BE49-F238E27FC236}">
                  <a16:creationId xmlns:a16="http://schemas.microsoft.com/office/drawing/2014/main" id="{5AF9D16A-33C3-4A4A-B6C5-18A382F0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8" name="Freeform 29">
              <a:extLst>
                <a:ext uri="{FF2B5EF4-FFF2-40B4-BE49-F238E27FC236}">
                  <a16:creationId xmlns:a16="http://schemas.microsoft.com/office/drawing/2014/main" id="{55AD9D23-D1D1-41AB-8D49-AD0388D8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9" name="Freeform 30">
              <a:extLst>
                <a:ext uri="{FF2B5EF4-FFF2-40B4-BE49-F238E27FC236}">
                  <a16:creationId xmlns:a16="http://schemas.microsoft.com/office/drawing/2014/main" id="{D6CA0B86-CFE3-4A3E-A7B5-0FA857E90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0" name="Freeform 31">
              <a:extLst>
                <a:ext uri="{FF2B5EF4-FFF2-40B4-BE49-F238E27FC236}">
                  <a16:creationId xmlns:a16="http://schemas.microsoft.com/office/drawing/2014/main" id="{207B0B1D-C1C5-4B8E-A4FB-DAF1B4CCF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1" name="Freeform 32">
              <a:extLst>
                <a:ext uri="{FF2B5EF4-FFF2-40B4-BE49-F238E27FC236}">
                  <a16:creationId xmlns:a16="http://schemas.microsoft.com/office/drawing/2014/main" id="{28A421F1-A99F-4E54-A96C-CD788CCD9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2" name="Freeform 33">
              <a:extLst>
                <a:ext uri="{FF2B5EF4-FFF2-40B4-BE49-F238E27FC236}">
                  <a16:creationId xmlns:a16="http://schemas.microsoft.com/office/drawing/2014/main" id="{B3739212-8C69-4634-B59A-AF455C1E9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Line 34">
              <a:extLst>
                <a:ext uri="{FF2B5EF4-FFF2-40B4-BE49-F238E27FC236}">
                  <a16:creationId xmlns:a16="http://schemas.microsoft.com/office/drawing/2014/main" id="{8F53C77D-180A-46BA-928D-72B767285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4" name="Freeform 35">
              <a:extLst>
                <a:ext uri="{FF2B5EF4-FFF2-40B4-BE49-F238E27FC236}">
                  <a16:creationId xmlns:a16="http://schemas.microsoft.com/office/drawing/2014/main" id="{416CE0BE-C864-4726-AF87-DD2E35D79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Freeform 36">
              <a:extLst>
                <a:ext uri="{FF2B5EF4-FFF2-40B4-BE49-F238E27FC236}">
                  <a16:creationId xmlns:a16="http://schemas.microsoft.com/office/drawing/2014/main" id="{F875A1D7-DBFC-4F5B-B427-942FBC9EE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6" name="Freeform 37">
              <a:extLst>
                <a:ext uri="{FF2B5EF4-FFF2-40B4-BE49-F238E27FC236}">
                  <a16:creationId xmlns:a16="http://schemas.microsoft.com/office/drawing/2014/main" id="{FCF68B79-86F5-4E98-ABD8-AE0F9152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7" name="Freeform 38">
              <a:extLst>
                <a:ext uri="{FF2B5EF4-FFF2-40B4-BE49-F238E27FC236}">
                  <a16:creationId xmlns:a16="http://schemas.microsoft.com/office/drawing/2014/main" id="{AEA8B530-AA57-489B-B129-405BA5D9B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49" name="Text Box 39">
            <a:extLst>
              <a:ext uri="{FF2B5EF4-FFF2-40B4-BE49-F238E27FC236}">
                <a16:creationId xmlns:a16="http://schemas.microsoft.com/office/drawing/2014/main" id="{33E7CB8E-441C-46B1-BC10-5698361B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97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min_support = 3</a:t>
            </a:r>
            <a:endParaRPr lang="en-US" altLang="en-US" b="1" u="sng">
              <a:latin typeface="Times New Roman" panose="02020603050405020304" pitchFamily="18" charset="0"/>
            </a:endParaRPr>
          </a:p>
        </p:txBody>
      </p:sp>
      <p:sp>
        <p:nvSpPr>
          <p:cNvPr id="31750" name="Rectangle 40">
            <a:extLst>
              <a:ext uri="{FF2B5EF4-FFF2-40B4-BE49-F238E27FC236}">
                <a16:creationId xmlns:a16="http://schemas.microsoft.com/office/drawing/2014/main" id="{CD687F20-6B86-4EFC-BDE0-A0A6E028A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76400"/>
            <a:ext cx="59563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 i="1" u="sng">
                <a:latin typeface="Times New Roman" panose="02020603050405020304" pitchFamily="18" charset="0"/>
              </a:rPr>
              <a:t>TID		Items bought	  (ordered) frequent items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100		{</a:t>
            </a:r>
            <a:r>
              <a:rPr lang="en-US" altLang="en-US" sz="2000" b="1" i="1">
                <a:latin typeface="Times New Roman" panose="02020603050405020304" pitchFamily="18" charset="0"/>
              </a:rPr>
              <a:t>f, a, c, d, g, i, m, p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  <a:r>
              <a:rPr lang="en-US" altLang="en-US" sz="2000" b="1" i="1"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f, c, a, m, p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200		{</a:t>
            </a:r>
            <a:r>
              <a:rPr lang="en-US" altLang="en-US" sz="2000" b="1" i="1">
                <a:latin typeface="Times New Roman" panose="02020603050405020304" pitchFamily="18" charset="0"/>
              </a:rPr>
              <a:t>a, b, c, f, l, m, o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  <a:r>
              <a:rPr lang="en-US" altLang="en-US" sz="2000" b="1" i="1">
                <a:latin typeface="Times New Roman" panose="02020603050405020304" pitchFamily="18" charset="0"/>
              </a:rPr>
              <a:t>	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f, c, a, b, m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300	</a:t>
            </a:r>
            <a:r>
              <a:rPr lang="en-US" altLang="en-US" sz="2000" b="1" i="1">
                <a:latin typeface="Times New Roman" panose="02020603050405020304" pitchFamily="18" charset="0"/>
              </a:rPr>
              <a:t> 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b, f, h, j, o, w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  <a:r>
              <a:rPr lang="en-US" altLang="en-US" sz="2000" b="1" i="1">
                <a:latin typeface="Times New Roman" panose="02020603050405020304" pitchFamily="18" charset="0"/>
              </a:rPr>
              <a:t>	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f, b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400	</a:t>
            </a:r>
            <a:r>
              <a:rPr lang="en-US" altLang="en-US" sz="2000" b="1" i="1">
                <a:latin typeface="Times New Roman" panose="02020603050405020304" pitchFamily="18" charset="0"/>
              </a:rPr>
              <a:t> 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b, c, k, s, p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  <a:r>
              <a:rPr lang="en-US" altLang="en-US" sz="2000" b="1" i="1">
                <a:latin typeface="Times New Roman" panose="02020603050405020304" pitchFamily="18" charset="0"/>
              </a:rPr>
              <a:t>	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c, b, p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500</a:t>
            </a:r>
            <a:r>
              <a:rPr lang="en-US" altLang="en-US" sz="2000" b="1" i="1">
                <a:latin typeface="Times New Roman" panose="02020603050405020304" pitchFamily="18" charset="0"/>
              </a:rPr>
              <a:t>	 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a, f, c, e, l, p, m, n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  <a:r>
              <a:rPr lang="en-US" altLang="en-US" sz="2000" b="1" i="1"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  <a:r>
              <a:rPr lang="en-US" altLang="en-US" sz="2000" b="1" i="1">
                <a:latin typeface="Times New Roman" panose="02020603050405020304" pitchFamily="18" charset="0"/>
              </a:rPr>
              <a:t>f, c, a, m, p</a:t>
            </a: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1751" name="Text Box 41">
            <a:extLst>
              <a:ext uri="{FF2B5EF4-FFF2-40B4-BE49-F238E27FC236}">
                <a16:creationId xmlns:a16="http://schemas.microsoft.com/office/drawing/2014/main" id="{EFC41C24-308A-418A-B5B6-B2CA2FF10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89325"/>
            <a:ext cx="35814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000"/>
              <a:t>Scan DB once, find frequent 1-itemset (single item pattern)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000"/>
              <a:t>Sort frequent items in frequency descending order, f-list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000"/>
              <a:t>Scan DB again, construct FP-tree</a:t>
            </a:r>
          </a:p>
        </p:txBody>
      </p:sp>
      <p:sp>
        <p:nvSpPr>
          <p:cNvPr id="31752" name="Text Box 42">
            <a:extLst>
              <a:ext uri="{FF2B5EF4-FFF2-40B4-BE49-F238E27FC236}">
                <a16:creationId xmlns:a16="http://schemas.microsoft.com/office/drawing/2014/main" id="{A845B2DB-2EED-491E-90C4-E75A3B73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6129338"/>
            <a:ext cx="279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F-list </a:t>
            </a:r>
            <a:r>
              <a:rPr lang="en-US" altLang="en-US"/>
              <a:t>= f-c-a-b-m-p</a:t>
            </a:r>
          </a:p>
        </p:txBody>
      </p:sp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E273F001-E5A9-4D2F-915C-50B4B282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EEF1F0E-8CFA-4FB3-9237-5D5CA65D5FEB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05E97CC-91EC-4BEE-9B5D-6D2303758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 Patterns and Databases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B44B89D-49FD-4166-A989-454444AB6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/>
              <a:t>Frequent patterns can be partitioned into subsets according to f-list</a:t>
            </a:r>
          </a:p>
          <a:p>
            <a:pPr lvl="1" eaLnBrk="1" hangingPunct="1"/>
            <a:r>
              <a:rPr lang="en-US" altLang="en-US"/>
              <a:t>F-list = f-c-a-b-m-p</a:t>
            </a:r>
          </a:p>
          <a:p>
            <a:pPr lvl="1" eaLnBrk="1" hangingPunct="1"/>
            <a:r>
              <a:rPr lang="en-US" altLang="en-US"/>
              <a:t>Patterns containing p</a:t>
            </a:r>
          </a:p>
          <a:p>
            <a:pPr lvl="1" eaLnBrk="1" hangingPunct="1"/>
            <a:r>
              <a:rPr lang="en-US" altLang="en-US"/>
              <a:t>Patterns having m but no p</a:t>
            </a:r>
          </a:p>
          <a:p>
            <a:pPr lvl="1" eaLnBrk="1" hangingPunct="1"/>
            <a:r>
              <a:rPr lang="en-US" altLang="en-US"/>
              <a:t>…</a:t>
            </a:r>
          </a:p>
          <a:p>
            <a:pPr lvl="1" eaLnBrk="1" hangingPunct="1"/>
            <a:r>
              <a:rPr lang="en-US" altLang="en-US"/>
              <a:t>Patterns having c but no a nor b, m, p</a:t>
            </a:r>
          </a:p>
          <a:p>
            <a:pPr lvl="1" eaLnBrk="1" hangingPunct="1"/>
            <a:r>
              <a:rPr lang="en-US" altLang="en-US"/>
              <a:t>Pattern f</a:t>
            </a:r>
          </a:p>
          <a:p>
            <a:pPr eaLnBrk="1" hangingPunct="1"/>
            <a:r>
              <a:rPr lang="en-US" altLang="en-US"/>
              <a:t>Completeness and non-redundency</a:t>
            </a:r>
          </a:p>
        </p:txBody>
      </p:sp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7C95B454-B040-4798-B9D8-2891FBF5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6F220AC-B10A-4E95-B510-4A4CFB127455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F9B614F-B44C-4AE1-BE54-43385EA11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Find Patterns Having P From P-conditional Database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33ADEB32-C420-4A2A-BB1C-8AE07436D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1524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/>
              <a:t>Starting at the frequent item header table in the FP-tree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/>
              <a:t>Traverse the FP-tree by following the link of each frequent item </a:t>
            </a:r>
            <a:r>
              <a:rPr lang="en-US" altLang="en-US" sz="2100" i="1"/>
              <a:t>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/>
              <a:t>Accumulate all of </a:t>
            </a:r>
            <a:r>
              <a:rPr lang="en-US" altLang="en-US" sz="2100" i="1">
                <a:solidFill>
                  <a:schemeClr val="hlink"/>
                </a:solidFill>
              </a:rPr>
              <a:t>transformed prefix paths</a:t>
            </a:r>
            <a:r>
              <a:rPr lang="en-US" altLang="en-US" sz="2100"/>
              <a:t> of item </a:t>
            </a:r>
            <a:r>
              <a:rPr lang="en-US" altLang="en-US" sz="2100" i="1"/>
              <a:t>p </a:t>
            </a:r>
            <a:r>
              <a:rPr lang="en-US" altLang="en-US" sz="2100"/>
              <a:t>to form </a:t>
            </a:r>
            <a:r>
              <a:rPr lang="en-US" altLang="en-US" sz="2100" i="1"/>
              <a:t>p’</a:t>
            </a:r>
            <a:r>
              <a:rPr lang="en-US" altLang="en-US" sz="2100"/>
              <a:t>s conditional pattern base</a:t>
            </a: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767BFD54-4C0E-44D1-9188-83E4AAD1C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3667125"/>
            <a:ext cx="3327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Conditional </a:t>
            </a:r>
            <a:r>
              <a:rPr lang="en-US" altLang="en-US" sz="2000" b="1">
                <a:latin typeface="Times New Roman" panose="02020603050405020304" pitchFamily="18" charset="0"/>
              </a:rPr>
              <a:t>pattern bases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 u="sng">
                <a:latin typeface="Times New Roman" panose="02020603050405020304" pitchFamily="18" charset="0"/>
              </a:rPr>
              <a:t>item	cond. pattern base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c	f:3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a	fc:3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b	fca:1, f:1, c:1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m	fca:2, fcab:1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 b="1" i="1">
                <a:latin typeface="Times New Roman" panose="02020603050405020304" pitchFamily="18" charset="0"/>
              </a:rPr>
              <a:t>p	fcam:2, cb:1</a:t>
            </a:r>
          </a:p>
        </p:txBody>
      </p:sp>
      <p:grpSp>
        <p:nvGrpSpPr>
          <p:cNvPr id="33798" name="Group 5">
            <a:extLst>
              <a:ext uri="{FF2B5EF4-FFF2-40B4-BE49-F238E27FC236}">
                <a16:creationId xmlns:a16="http://schemas.microsoft.com/office/drawing/2014/main" id="{22C2A03A-2351-44B1-9951-C9E31582864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48000"/>
            <a:ext cx="4637088" cy="3525838"/>
            <a:chOff x="2496" y="1772"/>
            <a:chExt cx="2921" cy="2226"/>
          </a:xfrm>
        </p:grpSpPr>
        <p:sp>
          <p:nvSpPr>
            <p:cNvPr id="33799" name="Text Box 6">
              <a:extLst>
                <a:ext uri="{FF2B5EF4-FFF2-40B4-BE49-F238E27FC236}">
                  <a16:creationId xmlns:a16="http://schemas.microsoft.com/office/drawing/2014/main" id="{BB306F00-B490-4D16-AC4F-112EF6A28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1772"/>
              <a:ext cx="27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33800" name="Text Box 7">
              <a:extLst>
                <a:ext uri="{FF2B5EF4-FFF2-40B4-BE49-F238E27FC236}">
                  <a16:creationId xmlns:a16="http://schemas.microsoft.com/office/drawing/2014/main" id="{604841BE-8E3B-40B0-85E1-00FE5FF72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2205"/>
              <a:ext cx="301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33801" name="Text Box 8">
              <a:extLst>
                <a:ext uri="{FF2B5EF4-FFF2-40B4-BE49-F238E27FC236}">
                  <a16:creationId xmlns:a16="http://schemas.microsoft.com/office/drawing/2014/main" id="{C914B477-14AE-4897-82D3-99EEB51CD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33802" name="Text Box 9">
              <a:extLst>
                <a:ext uri="{FF2B5EF4-FFF2-40B4-BE49-F238E27FC236}">
                  <a16:creationId xmlns:a16="http://schemas.microsoft.com/office/drawing/2014/main" id="{74ED9FE5-6D94-4E48-AFD1-A76A0A482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3803" name="Text Box 10">
              <a:extLst>
                <a:ext uri="{FF2B5EF4-FFF2-40B4-BE49-F238E27FC236}">
                  <a16:creationId xmlns:a16="http://schemas.microsoft.com/office/drawing/2014/main" id="{DAB130D2-0CD1-4D25-A78F-8472ECC4E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33804" name="AutoShape 11">
              <a:extLst>
                <a:ext uri="{FF2B5EF4-FFF2-40B4-BE49-F238E27FC236}">
                  <a16:creationId xmlns:a16="http://schemas.microsoft.com/office/drawing/2014/main" id="{0F8E7378-38DA-4200-BB0D-F8FF2DC979D1}"/>
                </a:ext>
              </a:extLst>
            </p:cNvPr>
            <p:cNvCxnSpPr>
              <a:cxnSpLocks noChangeShapeType="1"/>
              <a:stCxn id="33801" idx="2"/>
              <a:endCxn id="33802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5" name="AutoShape 12">
              <a:extLst>
                <a:ext uri="{FF2B5EF4-FFF2-40B4-BE49-F238E27FC236}">
                  <a16:creationId xmlns:a16="http://schemas.microsoft.com/office/drawing/2014/main" id="{3A950DF7-6E5A-4CB7-B9B7-AA060474688E}"/>
                </a:ext>
              </a:extLst>
            </p:cNvPr>
            <p:cNvCxnSpPr>
              <a:cxnSpLocks noChangeShapeType="1"/>
              <a:stCxn id="33802" idx="2"/>
              <a:endCxn id="33803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6" name="AutoShape 13">
              <a:extLst>
                <a:ext uri="{FF2B5EF4-FFF2-40B4-BE49-F238E27FC236}">
                  <a16:creationId xmlns:a16="http://schemas.microsoft.com/office/drawing/2014/main" id="{6592B5A7-CDEF-4173-BCAF-59F519CEBD1F}"/>
                </a:ext>
              </a:extLst>
            </p:cNvPr>
            <p:cNvCxnSpPr>
              <a:cxnSpLocks noChangeShapeType="1"/>
              <a:stCxn id="33799" idx="2"/>
              <a:endCxn id="33801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7" name="AutoShape 14">
              <a:extLst>
                <a:ext uri="{FF2B5EF4-FFF2-40B4-BE49-F238E27FC236}">
                  <a16:creationId xmlns:a16="http://schemas.microsoft.com/office/drawing/2014/main" id="{9E6F834B-AC94-4EA1-BDDD-1BE464743AAE}"/>
                </a:ext>
              </a:extLst>
            </p:cNvPr>
            <p:cNvCxnSpPr>
              <a:cxnSpLocks noChangeShapeType="1"/>
              <a:stCxn id="33799" idx="2"/>
              <a:endCxn id="33800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08" name="Text Box 15">
              <a:extLst>
                <a:ext uri="{FF2B5EF4-FFF2-40B4-BE49-F238E27FC236}">
                  <a16:creationId xmlns:a16="http://schemas.microsoft.com/office/drawing/2014/main" id="{D1F442D4-D656-46CA-B471-C96009B4A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3809" name="Text Box 16">
              <a:extLst>
                <a:ext uri="{FF2B5EF4-FFF2-40B4-BE49-F238E27FC236}">
                  <a16:creationId xmlns:a16="http://schemas.microsoft.com/office/drawing/2014/main" id="{32A61724-D371-4321-A7B8-77ACA1E9D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33810" name="AutoShape 17">
              <a:extLst>
                <a:ext uri="{FF2B5EF4-FFF2-40B4-BE49-F238E27FC236}">
                  <a16:creationId xmlns:a16="http://schemas.microsoft.com/office/drawing/2014/main" id="{FD5EECF3-51D6-4367-BDA6-2D70095AECFD}"/>
                </a:ext>
              </a:extLst>
            </p:cNvPr>
            <p:cNvCxnSpPr>
              <a:cxnSpLocks noChangeShapeType="1"/>
              <a:stCxn id="33800" idx="2"/>
              <a:endCxn id="33809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1" name="AutoShape 18">
              <a:extLst>
                <a:ext uri="{FF2B5EF4-FFF2-40B4-BE49-F238E27FC236}">
                  <a16:creationId xmlns:a16="http://schemas.microsoft.com/office/drawing/2014/main" id="{1FE3B9D8-9994-49EA-ACAA-EA9744211BD6}"/>
                </a:ext>
              </a:extLst>
            </p:cNvPr>
            <p:cNvCxnSpPr>
              <a:cxnSpLocks noChangeShapeType="1"/>
              <a:stCxn id="33800" idx="2"/>
              <a:endCxn id="33808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12" name="Text Box 19">
              <a:extLst>
                <a:ext uri="{FF2B5EF4-FFF2-40B4-BE49-F238E27FC236}">
                  <a16:creationId xmlns:a16="http://schemas.microsoft.com/office/drawing/2014/main" id="{4E6AE00D-753E-4E9E-9F29-FC54F68BE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33813" name="Text Box 20">
              <a:extLst>
                <a:ext uri="{FF2B5EF4-FFF2-40B4-BE49-F238E27FC236}">
                  <a16:creationId xmlns:a16="http://schemas.microsoft.com/office/drawing/2014/main" id="{EEBAD1B2-FEC8-4DDD-98E6-5D2A93532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3356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3814" name="Text Box 21">
              <a:extLst>
                <a:ext uri="{FF2B5EF4-FFF2-40B4-BE49-F238E27FC236}">
                  <a16:creationId xmlns:a16="http://schemas.microsoft.com/office/drawing/2014/main" id="{B5DDF904-09C1-4D6C-8327-37209BC4B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" y="3356"/>
              <a:ext cx="373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33815" name="Text Box 22">
              <a:extLst>
                <a:ext uri="{FF2B5EF4-FFF2-40B4-BE49-F238E27FC236}">
                  <a16:creationId xmlns:a16="http://schemas.microsoft.com/office/drawing/2014/main" id="{5865EDDA-1A34-46CC-A117-3DB17DC32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739"/>
              <a:ext cx="337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33816" name="AutoShape 23">
              <a:extLst>
                <a:ext uri="{FF2B5EF4-FFF2-40B4-BE49-F238E27FC236}">
                  <a16:creationId xmlns:a16="http://schemas.microsoft.com/office/drawing/2014/main" id="{0028F80B-2FD3-44A1-8360-10140D83DB6E}"/>
                </a:ext>
              </a:extLst>
            </p:cNvPr>
            <p:cNvCxnSpPr>
              <a:cxnSpLocks noChangeShapeType="1"/>
              <a:stCxn id="33809" idx="2"/>
              <a:endCxn id="33812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7" name="AutoShape 24">
              <a:extLst>
                <a:ext uri="{FF2B5EF4-FFF2-40B4-BE49-F238E27FC236}">
                  <a16:creationId xmlns:a16="http://schemas.microsoft.com/office/drawing/2014/main" id="{067B2D2B-77EE-4F1D-A9FB-854E4C973505}"/>
                </a:ext>
              </a:extLst>
            </p:cNvPr>
            <p:cNvCxnSpPr>
              <a:cxnSpLocks noChangeShapeType="1"/>
              <a:stCxn id="33812" idx="2"/>
              <a:endCxn id="33814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AutoShape 25">
              <a:extLst>
                <a:ext uri="{FF2B5EF4-FFF2-40B4-BE49-F238E27FC236}">
                  <a16:creationId xmlns:a16="http://schemas.microsoft.com/office/drawing/2014/main" id="{DB554099-DC90-47BE-A573-D1CBA78635A4}"/>
                </a:ext>
              </a:extLst>
            </p:cNvPr>
            <p:cNvCxnSpPr>
              <a:cxnSpLocks noChangeShapeType="1"/>
              <a:stCxn id="33812" idx="2"/>
              <a:endCxn id="33813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9" name="AutoShape 26">
              <a:extLst>
                <a:ext uri="{FF2B5EF4-FFF2-40B4-BE49-F238E27FC236}">
                  <a16:creationId xmlns:a16="http://schemas.microsoft.com/office/drawing/2014/main" id="{0EDA3976-B1C3-4C48-99CF-1879D38E1868}"/>
                </a:ext>
              </a:extLst>
            </p:cNvPr>
            <p:cNvCxnSpPr>
              <a:cxnSpLocks noChangeShapeType="1"/>
              <a:stCxn id="33814" idx="2"/>
              <a:endCxn id="33815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0" name="Text Box 27">
              <a:extLst>
                <a:ext uri="{FF2B5EF4-FFF2-40B4-BE49-F238E27FC236}">
                  <a16:creationId xmlns:a16="http://schemas.microsoft.com/office/drawing/2014/main" id="{9EF5FBC7-165D-4E9E-800C-A8D3B20EF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739"/>
              <a:ext cx="373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33821" name="AutoShape 28">
              <a:extLst>
                <a:ext uri="{FF2B5EF4-FFF2-40B4-BE49-F238E27FC236}">
                  <a16:creationId xmlns:a16="http://schemas.microsoft.com/office/drawing/2014/main" id="{93CD696C-EE33-4EF4-82B6-84181B08CE0D}"/>
                </a:ext>
              </a:extLst>
            </p:cNvPr>
            <p:cNvCxnSpPr>
              <a:cxnSpLocks noChangeShapeType="1"/>
              <a:stCxn id="33813" idx="2"/>
              <a:endCxn id="33820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2" name="Text Box 29">
              <a:extLst>
                <a:ext uri="{FF2B5EF4-FFF2-40B4-BE49-F238E27FC236}">
                  <a16:creationId xmlns:a16="http://schemas.microsoft.com/office/drawing/2014/main" id="{2BB107A3-DB32-4707-ADA6-930570F98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35"/>
              <a:ext cx="1602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000" b="1">
                  <a:latin typeface="Times New Roman" panose="02020603050405020304" pitchFamily="18" charset="0"/>
                </a:rPr>
                <a:t>Header Table</a:t>
              </a:r>
            </a:p>
            <a:p>
              <a:pPr>
                <a:lnSpc>
                  <a:spcPct val="90000"/>
                </a:lnSpc>
              </a:pPr>
              <a:endParaRPr lang="en-US" altLang="en-US" sz="2000" b="1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en-US" sz="2000" b="1" i="1" u="sng">
                  <a:latin typeface="Times New Roman" panose="02020603050405020304" pitchFamily="18" charset="0"/>
                </a:rPr>
                <a:t>Item  frequency  head 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 f	4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2000" i="1">
                  <a:latin typeface="Times New Roman" panose="02020603050405020304" pitchFamily="18" charset="0"/>
                </a:rPr>
                <a:t>p	3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3823" name="Freeform 30">
              <a:extLst>
                <a:ext uri="{FF2B5EF4-FFF2-40B4-BE49-F238E27FC236}">
                  <a16:creationId xmlns:a16="http://schemas.microsoft.com/office/drawing/2014/main" id="{E3BD3CE1-DFC6-498E-9693-61A97D7E2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4" name="Freeform 31">
              <a:extLst>
                <a:ext uri="{FF2B5EF4-FFF2-40B4-BE49-F238E27FC236}">
                  <a16:creationId xmlns:a16="http://schemas.microsoft.com/office/drawing/2014/main" id="{7219E3FB-BD84-4459-9F4A-358EEB8C7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5" name="Freeform 32">
              <a:extLst>
                <a:ext uri="{FF2B5EF4-FFF2-40B4-BE49-F238E27FC236}">
                  <a16:creationId xmlns:a16="http://schemas.microsoft.com/office/drawing/2014/main" id="{92B1C54F-92DC-4BDA-A400-7F3277D86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6" name="Freeform 33">
              <a:extLst>
                <a:ext uri="{FF2B5EF4-FFF2-40B4-BE49-F238E27FC236}">
                  <a16:creationId xmlns:a16="http://schemas.microsoft.com/office/drawing/2014/main" id="{E324925B-ED54-43A0-AB13-28F5C88D4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7" name="Freeform 34">
              <a:extLst>
                <a:ext uri="{FF2B5EF4-FFF2-40B4-BE49-F238E27FC236}">
                  <a16:creationId xmlns:a16="http://schemas.microsoft.com/office/drawing/2014/main" id="{7407A07B-280D-4E9D-8C31-7E8744F33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8" name="Freeform 35">
              <a:extLst>
                <a:ext uri="{FF2B5EF4-FFF2-40B4-BE49-F238E27FC236}">
                  <a16:creationId xmlns:a16="http://schemas.microsoft.com/office/drawing/2014/main" id="{B0005D7B-9B5B-43CF-87A9-4309E2EDD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9" name="Line 36">
              <a:extLst>
                <a:ext uri="{FF2B5EF4-FFF2-40B4-BE49-F238E27FC236}">
                  <a16:creationId xmlns:a16="http://schemas.microsoft.com/office/drawing/2014/main" id="{5C6BF6A8-6C96-4007-A282-8281B15F4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0" name="Freeform 37">
              <a:extLst>
                <a:ext uri="{FF2B5EF4-FFF2-40B4-BE49-F238E27FC236}">
                  <a16:creationId xmlns:a16="http://schemas.microsoft.com/office/drawing/2014/main" id="{2909911A-CDBA-4FF2-A605-E8890D52B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1" name="Freeform 38">
              <a:extLst>
                <a:ext uri="{FF2B5EF4-FFF2-40B4-BE49-F238E27FC236}">
                  <a16:creationId xmlns:a16="http://schemas.microsoft.com/office/drawing/2014/main" id="{257E9D5D-C594-4AEE-97F8-90B63F61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2" name="Freeform 39">
              <a:extLst>
                <a:ext uri="{FF2B5EF4-FFF2-40B4-BE49-F238E27FC236}">
                  <a16:creationId xmlns:a16="http://schemas.microsoft.com/office/drawing/2014/main" id="{5622AE3D-F15D-4E6F-80B6-821E8377E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Freeform 40">
              <a:extLst>
                <a:ext uri="{FF2B5EF4-FFF2-40B4-BE49-F238E27FC236}">
                  <a16:creationId xmlns:a16="http://schemas.microsoft.com/office/drawing/2014/main" id="{E0CFD423-6E5B-452B-AD0D-1EDCF644C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8E96B706-3DDF-4500-9101-BD5BE1A5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1DA8E17-53BE-47DF-AAE1-849E7D36C5A9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715E393-2400-4A87-8E31-AD7522101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From Conditional Pattern-bases to Conditional FP-trees</a:t>
            </a:r>
            <a:r>
              <a:rPr lang="en-US" altLang="en-US"/>
              <a:t> 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F5A3B46-6F4B-42F1-AD7D-99455FD6C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371600"/>
            <a:ext cx="8048625" cy="1957388"/>
          </a:xfrm>
        </p:spPr>
        <p:txBody>
          <a:bodyPr/>
          <a:lstStyle/>
          <a:p>
            <a:pPr eaLnBrk="1" hangingPunct="1"/>
            <a:r>
              <a:rPr lang="en-US" altLang="en-US" sz="2400"/>
              <a:t>For each pattern-base</a:t>
            </a:r>
          </a:p>
          <a:p>
            <a:pPr lvl="1" eaLnBrk="1" hangingPunct="1"/>
            <a:r>
              <a:rPr lang="en-US" altLang="en-US" sz="2400"/>
              <a:t>Accumulate the count for each item in the base</a:t>
            </a:r>
          </a:p>
          <a:p>
            <a:pPr lvl="1" eaLnBrk="1" hangingPunct="1"/>
            <a:r>
              <a:rPr lang="en-US" altLang="en-US" sz="2400"/>
              <a:t>Construct the FP-tree for the frequent items of the pattern base</a:t>
            </a: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77B71C88-5923-41FF-A89B-1C0238DD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pattern base:</a:t>
            </a:r>
          </a:p>
          <a:p>
            <a:pPr lvl="1"/>
            <a:r>
              <a:rPr lang="en-US" altLang="en-US" sz="1800" b="1" i="1">
                <a:latin typeface="Times New Roman" panose="02020603050405020304" pitchFamily="18" charset="0"/>
              </a:rPr>
              <a:t>fca:2, fcab:1</a:t>
            </a:r>
          </a:p>
        </p:txBody>
      </p:sp>
      <p:grpSp>
        <p:nvGrpSpPr>
          <p:cNvPr id="34822" name="Group 5">
            <a:extLst>
              <a:ext uri="{FF2B5EF4-FFF2-40B4-BE49-F238E27FC236}">
                <a16:creationId xmlns:a16="http://schemas.microsoft.com/office/drawing/2014/main" id="{6BC0C7E6-4CDA-44BD-8845-2678E0E66447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343400"/>
            <a:ext cx="2298700" cy="2324100"/>
            <a:chOff x="3312" y="2736"/>
            <a:chExt cx="1448" cy="1464"/>
          </a:xfrm>
        </p:grpSpPr>
        <p:grpSp>
          <p:nvGrpSpPr>
            <p:cNvPr id="34861" name="Group 6">
              <a:extLst>
                <a:ext uri="{FF2B5EF4-FFF2-40B4-BE49-F238E27FC236}">
                  <a16:creationId xmlns:a16="http://schemas.microsoft.com/office/drawing/2014/main" id="{E4B7D7EC-D189-43A7-935E-BABBD33E9F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34863" name="Text Box 7">
                <a:extLst>
                  <a:ext uri="{FF2B5EF4-FFF2-40B4-BE49-F238E27FC236}">
                    <a16:creationId xmlns:a16="http://schemas.microsoft.com/office/drawing/2014/main" id="{C13B3A53-2C41-4824-87BE-D07BB56A27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34864" name="Text Box 8">
                <a:extLst>
                  <a:ext uri="{FF2B5EF4-FFF2-40B4-BE49-F238E27FC236}">
                    <a16:creationId xmlns:a16="http://schemas.microsoft.com/office/drawing/2014/main" id="{C10D2B34-FB5E-47C1-B39E-D30A51C4F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f:3</a:t>
                </a:r>
              </a:p>
            </p:txBody>
          </p:sp>
          <p:sp>
            <p:nvSpPr>
              <p:cNvPr id="34865" name="Text Box 9">
                <a:extLst>
                  <a:ext uri="{FF2B5EF4-FFF2-40B4-BE49-F238E27FC236}">
                    <a16:creationId xmlns:a16="http://schemas.microsoft.com/office/drawing/2014/main" id="{20360D0C-A395-4A2A-A28E-9A600B486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c:3</a:t>
                </a:r>
              </a:p>
            </p:txBody>
          </p:sp>
          <p:sp>
            <p:nvSpPr>
              <p:cNvPr id="34866" name="Text Box 10">
                <a:extLst>
                  <a:ext uri="{FF2B5EF4-FFF2-40B4-BE49-F238E27FC236}">
                    <a16:creationId xmlns:a16="http://schemas.microsoft.com/office/drawing/2014/main" id="{87D2B5CD-BD32-4717-A291-CBDE41179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a:3</a:t>
                </a:r>
              </a:p>
            </p:txBody>
          </p:sp>
          <p:cxnSp>
            <p:nvCxnSpPr>
              <p:cNvPr id="34867" name="AutoShape 11">
                <a:extLst>
                  <a:ext uri="{FF2B5EF4-FFF2-40B4-BE49-F238E27FC236}">
                    <a16:creationId xmlns:a16="http://schemas.microsoft.com/office/drawing/2014/main" id="{EC36B4E3-E024-4EA1-BA31-A2B749FD30D3}"/>
                  </a:ext>
                </a:extLst>
              </p:cNvPr>
              <p:cNvCxnSpPr>
                <a:cxnSpLocks noChangeShapeType="1"/>
                <a:stCxn id="34863" idx="2"/>
                <a:endCxn id="34864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868" name="AutoShape 12">
                <a:extLst>
                  <a:ext uri="{FF2B5EF4-FFF2-40B4-BE49-F238E27FC236}">
                    <a16:creationId xmlns:a16="http://schemas.microsoft.com/office/drawing/2014/main" id="{E44C9D57-9D5D-4F7C-B4E1-C3EEF6318C54}"/>
                  </a:ext>
                </a:extLst>
              </p:cNvPr>
              <p:cNvCxnSpPr>
                <a:cxnSpLocks noChangeShapeType="1"/>
                <a:stCxn id="34864" idx="2"/>
                <a:endCxn id="34865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869" name="AutoShape 13">
                <a:extLst>
                  <a:ext uri="{FF2B5EF4-FFF2-40B4-BE49-F238E27FC236}">
                    <a16:creationId xmlns:a16="http://schemas.microsoft.com/office/drawing/2014/main" id="{A564AB29-A2D3-45CC-8B74-216E739CD403}"/>
                  </a:ext>
                </a:extLst>
              </p:cNvPr>
              <p:cNvCxnSpPr>
                <a:cxnSpLocks noChangeShapeType="1"/>
                <a:stCxn id="34865" idx="2"/>
                <a:endCxn id="34866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4862" name="Text Box 14">
              <a:extLst>
                <a:ext uri="{FF2B5EF4-FFF2-40B4-BE49-F238E27FC236}">
                  <a16:creationId xmlns:a16="http://schemas.microsoft.com/office/drawing/2014/main" id="{2E212B5A-FB78-45C0-A711-B67961D13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800" b="1" i="1">
                  <a:latin typeface="Times New Roman" panose="02020603050405020304" pitchFamily="18" charset="0"/>
                </a:rPr>
                <a:t>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4823" name="Rectangle 15">
            <a:extLst>
              <a:ext uri="{FF2B5EF4-FFF2-40B4-BE49-F238E27FC236}">
                <a16:creationId xmlns:a16="http://schemas.microsoft.com/office/drawing/2014/main" id="{71E030C7-3361-42C3-AB9F-3ED92F06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22098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>
                <a:latin typeface="Times New Roman" panose="02020603050405020304" pitchFamily="18" charset="0"/>
              </a:rPr>
              <a:t>All frequent patterns relate to</a:t>
            </a:r>
            <a:r>
              <a:rPr lang="en-US" altLang="en-US" sz="1800" b="1" i="1">
                <a:latin typeface="Times New Roman" panose="02020603050405020304" pitchFamily="18" charset="0"/>
              </a:rPr>
              <a:t> m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 i="1">
                <a:latin typeface="Times New Roman" panose="02020603050405020304" pitchFamily="18" charset="0"/>
              </a:rPr>
              <a:t>fcam</a:t>
            </a:r>
          </a:p>
        </p:txBody>
      </p:sp>
      <p:sp>
        <p:nvSpPr>
          <p:cNvPr id="34824" name="Text Box 16">
            <a:extLst>
              <a:ext uri="{FF2B5EF4-FFF2-40B4-BE49-F238E27FC236}">
                <a16:creationId xmlns:a16="http://schemas.microsoft.com/office/drawing/2014/main" id="{E94090C0-B560-40D9-A86A-A8E3AA23B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anose="05040102010807070707" pitchFamily="18" charset="2"/>
              </a:rPr>
              <a:t>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34825" name="Rectangle 17">
            <a:extLst>
              <a:ext uri="{FF2B5EF4-FFF2-40B4-BE49-F238E27FC236}">
                <a16:creationId xmlns:a16="http://schemas.microsoft.com/office/drawing/2014/main" id="{EC8BF554-1F20-4032-8493-6C4F4FFF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768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anose="05040102010807070707" pitchFamily="18" charset="2"/>
              </a:rPr>
              <a:t></a:t>
            </a:r>
          </a:p>
        </p:txBody>
      </p:sp>
      <p:sp>
        <p:nvSpPr>
          <p:cNvPr id="34826" name="Text Box 18">
            <a:extLst>
              <a:ext uri="{FF2B5EF4-FFF2-40B4-BE49-F238E27FC236}">
                <a16:creationId xmlns:a16="http://schemas.microsoft.com/office/drawing/2014/main" id="{BCCA9C7C-5560-4581-A2BD-3034EDEE1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34827" name="Text Box 19">
            <a:extLst>
              <a:ext uri="{FF2B5EF4-FFF2-40B4-BE49-F238E27FC236}">
                <a16:creationId xmlns:a16="http://schemas.microsoft.com/office/drawing/2014/main" id="{A65ACF7F-7C84-42FE-B28B-6477C67FD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f:4</a:t>
            </a:r>
          </a:p>
        </p:txBody>
      </p:sp>
      <p:sp>
        <p:nvSpPr>
          <p:cNvPr id="34828" name="Text Box 20">
            <a:extLst>
              <a:ext uri="{FF2B5EF4-FFF2-40B4-BE49-F238E27FC236}">
                <a16:creationId xmlns:a16="http://schemas.microsoft.com/office/drawing/2014/main" id="{4E34E01C-5EC4-4F29-B3F1-1B742AF7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34829" name="Text Box 21">
            <a:extLst>
              <a:ext uri="{FF2B5EF4-FFF2-40B4-BE49-F238E27FC236}">
                <a16:creationId xmlns:a16="http://schemas.microsoft.com/office/drawing/2014/main" id="{D71E66DD-F00C-4F83-A400-CAE6BB7E4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34830" name="Text Box 22">
            <a:extLst>
              <a:ext uri="{FF2B5EF4-FFF2-40B4-BE49-F238E27FC236}">
                <a16:creationId xmlns:a16="http://schemas.microsoft.com/office/drawing/2014/main" id="{46761CF8-CC63-43A4-872A-32432F593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p:1</a:t>
            </a:r>
          </a:p>
        </p:txBody>
      </p:sp>
      <p:cxnSp>
        <p:nvCxnSpPr>
          <p:cNvPr id="34831" name="AutoShape 23">
            <a:extLst>
              <a:ext uri="{FF2B5EF4-FFF2-40B4-BE49-F238E27FC236}">
                <a16:creationId xmlns:a16="http://schemas.microsoft.com/office/drawing/2014/main" id="{2BD325D6-AE03-4EFE-B176-E09EBE254ADB}"/>
              </a:ext>
            </a:extLst>
          </p:cNvPr>
          <p:cNvCxnSpPr>
            <a:cxnSpLocks noChangeShapeType="1"/>
            <a:stCxn id="34828" idx="2"/>
            <a:endCxn id="34829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2" name="AutoShape 24">
            <a:extLst>
              <a:ext uri="{FF2B5EF4-FFF2-40B4-BE49-F238E27FC236}">
                <a16:creationId xmlns:a16="http://schemas.microsoft.com/office/drawing/2014/main" id="{8865EC06-960A-4CBD-A70D-ADE05BC019DE}"/>
              </a:ext>
            </a:extLst>
          </p:cNvPr>
          <p:cNvCxnSpPr>
            <a:cxnSpLocks noChangeShapeType="1"/>
            <a:stCxn id="34829" idx="2"/>
            <a:endCxn id="34830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3" name="AutoShape 25">
            <a:extLst>
              <a:ext uri="{FF2B5EF4-FFF2-40B4-BE49-F238E27FC236}">
                <a16:creationId xmlns:a16="http://schemas.microsoft.com/office/drawing/2014/main" id="{A4D9AEB4-4B52-4FA2-83E3-0F543240C608}"/>
              </a:ext>
            </a:extLst>
          </p:cNvPr>
          <p:cNvCxnSpPr>
            <a:cxnSpLocks noChangeShapeType="1"/>
            <a:stCxn id="34826" idx="2"/>
            <a:endCxn id="34828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4" name="AutoShape 26">
            <a:extLst>
              <a:ext uri="{FF2B5EF4-FFF2-40B4-BE49-F238E27FC236}">
                <a16:creationId xmlns:a16="http://schemas.microsoft.com/office/drawing/2014/main" id="{9696A5D2-A22F-4866-90A4-1D90E6C9D453}"/>
              </a:ext>
            </a:extLst>
          </p:cNvPr>
          <p:cNvCxnSpPr>
            <a:cxnSpLocks noChangeShapeType="1"/>
            <a:stCxn id="34826" idx="2"/>
            <a:endCxn id="34827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5" name="Text Box 27">
            <a:extLst>
              <a:ext uri="{FF2B5EF4-FFF2-40B4-BE49-F238E27FC236}">
                <a16:creationId xmlns:a16="http://schemas.microsoft.com/office/drawing/2014/main" id="{7DA8782A-6C75-4A6F-AEBF-1B3164098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34836" name="Text Box 28">
            <a:extLst>
              <a:ext uri="{FF2B5EF4-FFF2-40B4-BE49-F238E27FC236}">
                <a16:creationId xmlns:a16="http://schemas.microsoft.com/office/drawing/2014/main" id="{491C6695-D407-4434-B0CB-00487922B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c:3</a:t>
            </a:r>
          </a:p>
        </p:txBody>
      </p:sp>
      <p:cxnSp>
        <p:nvCxnSpPr>
          <p:cNvPr id="34837" name="AutoShape 29">
            <a:extLst>
              <a:ext uri="{FF2B5EF4-FFF2-40B4-BE49-F238E27FC236}">
                <a16:creationId xmlns:a16="http://schemas.microsoft.com/office/drawing/2014/main" id="{D318F697-79A1-43C8-97B4-20F15D9A83D5}"/>
              </a:ext>
            </a:extLst>
          </p:cNvPr>
          <p:cNvCxnSpPr>
            <a:cxnSpLocks noChangeShapeType="1"/>
            <a:stCxn id="34827" idx="2"/>
            <a:endCxn id="34836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8" name="AutoShape 30">
            <a:extLst>
              <a:ext uri="{FF2B5EF4-FFF2-40B4-BE49-F238E27FC236}">
                <a16:creationId xmlns:a16="http://schemas.microsoft.com/office/drawing/2014/main" id="{4D4B6397-12BE-4876-9CDE-13BF642EDE55}"/>
              </a:ext>
            </a:extLst>
          </p:cNvPr>
          <p:cNvCxnSpPr>
            <a:cxnSpLocks noChangeShapeType="1"/>
            <a:stCxn id="34827" idx="2"/>
            <a:endCxn id="34835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9" name="Text Box 31">
            <a:extLst>
              <a:ext uri="{FF2B5EF4-FFF2-40B4-BE49-F238E27FC236}">
                <a16:creationId xmlns:a16="http://schemas.microsoft.com/office/drawing/2014/main" id="{460EB2C7-3535-40E6-9D85-7DF27A613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a:3</a:t>
            </a:r>
          </a:p>
        </p:txBody>
      </p:sp>
      <p:sp>
        <p:nvSpPr>
          <p:cNvPr id="34840" name="Text Box 32">
            <a:extLst>
              <a:ext uri="{FF2B5EF4-FFF2-40B4-BE49-F238E27FC236}">
                <a16:creationId xmlns:a16="http://schemas.microsoft.com/office/drawing/2014/main" id="{B3D1CCDD-9756-4093-9BA3-C24860E3B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34841" name="Text Box 33">
            <a:extLst>
              <a:ext uri="{FF2B5EF4-FFF2-40B4-BE49-F238E27FC236}">
                <a16:creationId xmlns:a16="http://schemas.microsoft.com/office/drawing/2014/main" id="{88D54EA0-6DCF-4EA6-9A62-3F1407E92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m:2</a:t>
            </a:r>
          </a:p>
        </p:txBody>
      </p:sp>
      <p:sp>
        <p:nvSpPr>
          <p:cNvPr id="34842" name="Text Box 34">
            <a:extLst>
              <a:ext uri="{FF2B5EF4-FFF2-40B4-BE49-F238E27FC236}">
                <a16:creationId xmlns:a16="http://schemas.microsoft.com/office/drawing/2014/main" id="{01E4945F-4977-4267-B1EF-5813BC47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p:2</a:t>
            </a:r>
          </a:p>
        </p:txBody>
      </p:sp>
      <p:cxnSp>
        <p:nvCxnSpPr>
          <p:cNvPr id="34843" name="AutoShape 35">
            <a:extLst>
              <a:ext uri="{FF2B5EF4-FFF2-40B4-BE49-F238E27FC236}">
                <a16:creationId xmlns:a16="http://schemas.microsoft.com/office/drawing/2014/main" id="{2EA3A69A-06BA-43E4-AC8B-32B598A50DA0}"/>
              </a:ext>
            </a:extLst>
          </p:cNvPr>
          <p:cNvCxnSpPr>
            <a:cxnSpLocks noChangeShapeType="1"/>
            <a:stCxn id="34836" idx="2"/>
            <a:endCxn id="34839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44" name="AutoShape 36">
            <a:extLst>
              <a:ext uri="{FF2B5EF4-FFF2-40B4-BE49-F238E27FC236}">
                <a16:creationId xmlns:a16="http://schemas.microsoft.com/office/drawing/2014/main" id="{92181485-4ECC-4909-AE03-371E71BF3F09}"/>
              </a:ext>
            </a:extLst>
          </p:cNvPr>
          <p:cNvCxnSpPr>
            <a:cxnSpLocks noChangeShapeType="1"/>
            <a:stCxn id="34839" idx="2"/>
            <a:endCxn id="34841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45" name="AutoShape 37">
            <a:extLst>
              <a:ext uri="{FF2B5EF4-FFF2-40B4-BE49-F238E27FC236}">
                <a16:creationId xmlns:a16="http://schemas.microsoft.com/office/drawing/2014/main" id="{5B830573-70C9-4758-B85F-D8549A7B21FA}"/>
              </a:ext>
            </a:extLst>
          </p:cNvPr>
          <p:cNvCxnSpPr>
            <a:cxnSpLocks noChangeShapeType="1"/>
            <a:stCxn id="34839" idx="2"/>
            <a:endCxn id="34840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46" name="AutoShape 38">
            <a:extLst>
              <a:ext uri="{FF2B5EF4-FFF2-40B4-BE49-F238E27FC236}">
                <a16:creationId xmlns:a16="http://schemas.microsoft.com/office/drawing/2014/main" id="{0ACDDA7F-22D3-496C-A098-649DC3B11EFD}"/>
              </a:ext>
            </a:extLst>
          </p:cNvPr>
          <p:cNvCxnSpPr>
            <a:cxnSpLocks noChangeShapeType="1"/>
            <a:stCxn id="34841" idx="2"/>
            <a:endCxn id="34842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7" name="Text Box 39">
            <a:extLst>
              <a:ext uri="{FF2B5EF4-FFF2-40B4-BE49-F238E27FC236}">
                <a16:creationId xmlns:a16="http://schemas.microsoft.com/office/drawing/2014/main" id="{1E011C06-41BA-4981-A585-4C7F1386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m:1</a:t>
            </a:r>
          </a:p>
        </p:txBody>
      </p:sp>
      <p:cxnSp>
        <p:nvCxnSpPr>
          <p:cNvPr id="34848" name="AutoShape 40">
            <a:extLst>
              <a:ext uri="{FF2B5EF4-FFF2-40B4-BE49-F238E27FC236}">
                <a16:creationId xmlns:a16="http://schemas.microsoft.com/office/drawing/2014/main" id="{ED89C87C-B121-4C6D-8DCB-E5C532112C6B}"/>
              </a:ext>
            </a:extLst>
          </p:cNvPr>
          <p:cNvCxnSpPr>
            <a:cxnSpLocks noChangeShapeType="1"/>
            <a:stCxn id="34840" idx="2"/>
            <a:endCxn id="34847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9" name="Text Box 41">
            <a:extLst>
              <a:ext uri="{FF2B5EF4-FFF2-40B4-BE49-F238E27FC236}">
                <a16:creationId xmlns:a16="http://schemas.microsoft.com/office/drawing/2014/main" id="{03EC92E4-725C-4D50-8AC2-B8DD3BBA7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</a:rPr>
              <a:t>Header Table</a:t>
            </a:r>
          </a:p>
          <a:p>
            <a:pPr>
              <a:lnSpc>
                <a:spcPct val="90000"/>
              </a:lnSpc>
            </a:pPr>
            <a:r>
              <a:rPr lang="en-US" altLang="en-US" sz="2000" b="1" i="1" u="sng">
                <a:latin typeface="Times New Roman" panose="02020603050405020304" pitchFamily="18" charset="0"/>
              </a:rPr>
              <a:t>Item  frequency  head 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 f	4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c	4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a	3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b	3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m	3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latin typeface="Times New Roman" panose="02020603050405020304" pitchFamily="18" charset="0"/>
              </a:rPr>
              <a:t>p	3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4850" name="Freeform 42">
            <a:extLst>
              <a:ext uri="{FF2B5EF4-FFF2-40B4-BE49-F238E27FC236}">
                <a16:creationId xmlns:a16="http://schemas.microsoft.com/office/drawing/2014/main" id="{C639CBB4-524C-4D80-BF59-7FE1DACC9066}"/>
              </a:ext>
            </a:extLst>
          </p:cNvPr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2147483647 h 240"/>
              <a:gd name="T2" fmla="*/ 2147483647 w 672"/>
              <a:gd name="T3" fmla="*/ 2147483647 h 240"/>
              <a:gd name="T4" fmla="*/ 2147483647 w 672"/>
              <a:gd name="T5" fmla="*/ 2147483647 h 240"/>
              <a:gd name="T6" fmla="*/ 2147483647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Freeform 43">
            <a:extLst>
              <a:ext uri="{FF2B5EF4-FFF2-40B4-BE49-F238E27FC236}">
                <a16:creationId xmlns:a16="http://schemas.microsoft.com/office/drawing/2014/main" id="{2744C0D6-D5E5-4BC5-82D5-6659513020E5}"/>
              </a:ext>
            </a:extLst>
          </p:cNvPr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2147483647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Freeform 44">
            <a:extLst>
              <a:ext uri="{FF2B5EF4-FFF2-40B4-BE49-F238E27FC236}">
                <a16:creationId xmlns:a16="http://schemas.microsoft.com/office/drawing/2014/main" id="{AEAEC1E6-6B9C-4C06-9FD0-24421B2CD0B8}"/>
              </a:ext>
            </a:extLst>
          </p:cNvPr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2147483647 h 384"/>
              <a:gd name="T2" fmla="*/ 2147483647 w 480"/>
              <a:gd name="T3" fmla="*/ 2147483647 h 384"/>
              <a:gd name="T4" fmla="*/ 2147483647 w 480"/>
              <a:gd name="T5" fmla="*/ 2147483647 h 384"/>
              <a:gd name="T6" fmla="*/ 2147483647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3" name="Freeform 45">
            <a:extLst>
              <a:ext uri="{FF2B5EF4-FFF2-40B4-BE49-F238E27FC236}">
                <a16:creationId xmlns:a16="http://schemas.microsoft.com/office/drawing/2014/main" id="{8C5C66CC-54F4-47C7-ABD7-EE83EAA9C1BE}"/>
              </a:ext>
            </a:extLst>
          </p:cNvPr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Freeform 46">
            <a:extLst>
              <a:ext uri="{FF2B5EF4-FFF2-40B4-BE49-F238E27FC236}">
                <a16:creationId xmlns:a16="http://schemas.microsoft.com/office/drawing/2014/main" id="{BD4088AC-B0E8-4596-92EE-020664F1CFAB}"/>
              </a:ext>
            </a:extLst>
          </p:cNvPr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2147483647 w 720"/>
              <a:gd name="T3" fmla="*/ 2147483647 h 384"/>
              <a:gd name="T4" fmla="*/ 2147483647 w 720"/>
              <a:gd name="T5" fmla="*/ 2147483647 h 384"/>
              <a:gd name="T6" fmla="*/ 2147483647 w 720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5" name="Freeform 47">
            <a:extLst>
              <a:ext uri="{FF2B5EF4-FFF2-40B4-BE49-F238E27FC236}">
                <a16:creationId xmlns:a16="http://schemas.microsoft.com/office/drawing/2014/main" id="{DB341147-7F19-4003-AD52-7D6FC5924616}"/>
              </a:ext>
            </a:extLst>
          </p:cNvPr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2147483647 h 672"/>
              <a:gd name="T2" fmla="*/ 2147483647 w 56"/>
              <a:gd name="T3" fmla="*/ 2147483647 h 672"/>
              <a:gd name="T4" fmla="*/ 2147483647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6" name="Line 48">
            <a:extLst>
              <a:ext uri="{FF2B5EF4-FFF2-40B4-BE49-F238E27FC236}">
                <a16:creationId xmlns:a16="http://schemas.microsoft.com/office/drawing/2014/main" id="{16566F42-8F29-40E3-8F43-1C3FA02AA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7" name="Freeform 49">
            <a:extLst>
              <a:ext uri="{FF2B5EF4-FFF2-40B4-BE49-F238E27FC236}">
                <a16:creationId xmlns:a16="http://schemas.microsoft.com/office/drawing/2014/main" id="{747DCA82-FBD5-4021-902D-8BB5305AF0D4}"/>
              </a:ext>
            </a:extLst>
          </p:cNvPr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2147483647 w 288"/>
              <a:gd name="T3" fmla="*/ 2147483647 h 240"/>
              <a:gd name="T4" fmla="*/ 2147483647 w 288"/>
              <a:gd name="T5" fmla="*/ 2147483647 h 240"/>
              <a:gd name="T6" fmla="*/ 2147483647 w 288"/>
              <a:gd name="T7" fmla="*/ 2147483647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8" name="Freeform 50">
            <a:extLst>
              <a:ext uri="{FF2B5EF4-FFF2-40B4-BE49-F238E27FC236}">
                <a16:creationId xmlns:a16="http://schemas.microsoft.com/office/drawing/2014/main" id="{E61EE2E9-B5BE-4B02-8BC1-4C2F026FD2C5}"/>
              </a:ext>
            </a:extLst>
          </p:cNvPr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2147483647 w 96"/>
              <a:gd name="T3" fmla="*/ 2147483647 h 384"/>
              <a:gd name="T4" fmla="*/ 2147483647 w 96"/>
              <a:gd name="T5" fmla="*/ 2147483647 h 384"/>
              <a:gd name="T6" fmla="*/ 2147483647 w 96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9" name="Freeform 51">
            <a:extLst>
              <a:ext uri="{FF2B5EF4-FFF2-40B4-BE49-F238E27FC236}">
                <a16:creationId xmlns:a16="http://schemas.microsoft.com/office/drawing/2014/main" id="{D9F1A21F-4007-4066-9F19-1B5312F01FC6}"/>
              </a:ext>
            </a:extLst>
          </p:cNvPr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147483647 w 288"/>
              <a:gd name="T3" fmla="*/ 2147483647 h 432"/>
              <a:gd name="T4" fmla="*/ 2147483647 w 288"/>
              <a:gd name="T5" fmla="*/ 2147483647 h 432"/>
              <a:gd name="T6" fmla="*/ 2147483647 w 288"/>
              <a:gd name="T7" fmla="*/ 214748364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60" name="Freeform 52">
            <a:extLst>
              <a:ext uri="{FF2B5EF4-FFF2-40B4-BE49-F238E27FC236}">
                <a16:creationId xmlns:a16="http://schemas.microsoft.com/office/drawing/2014/main" id="{88AE20B7-5897-4949-822A-7EC2C43E5543}"/>
              </a:ext>
            </a:extLst>
          </p:cNvPr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2147483647 h 672"/>
              <a:gd name="T2" fmla="*/ 2147483647 w 768"/>
              <a:gd name="T3" fmla="*/ 2147483647 h 672"/>
              <a:gd name="T4" fmla="*/ 2147483647 w 768"/>
              <a:gd name="T5" fmla="*/ 2147483647 h 672"/>
              <a:gd name="T6" fmla="*/ 2147483647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E66192F7-1AE6-4D1C-9744-4A43570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2C657B4-1F71-48AD-A6BE-469754D884F8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3C04CB1-592D-4E56-9FD5-9972480B0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42338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Recursion: Mining Each Conditional FP-tree</a:t>
            </a:r>
          </a:p>
        </p:txBody>
      </p:sp>
      <p:grpSp>
        <p:nvGrpSpPr>
          <p:cNvPr id="35844" name="Group 3">
            <a:extLst>
              <a:ext uri="{FF2B5EF4-FFF2-40B4-BE49-F238E27FC236}">
                <a16:creationId xmlns:a16="http://schemas.microsoft.com/office/drawing/2014/main" id="{34A8964F-E42D-4913-8EC2-18EEAE69F40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57400"/>
            <a:ext cx="2298700" cy="2324100"/>
            <a:chOff x="3312" y="2736"/>
            <a:chExt cx="1448" cy="1464"/>
          </a:xfrm>
        </p:grpSpPr>
        <p:grpSp>
          <p:nvGrpSpPr>
            <p:cNvPr id="35863" name="Group 4">
              <a:extLst>
                <a:ext uri="{FF2B5EF4-FFF2-40B4-BE49-F238E27FC236}">
                  <a16:creationId xmlns:a16="http://schemas.microsoft.com/office/drawing/2014/main" id="{8C3FEA4C-093E-4766-8B58-2EA885033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35865" name="Text Box 5">
                <a:extLst>
                  <a:ext uri="{FF2B5EF4-FFF2-40B4-BE49-F238E27FC236}">
                    <a16:creationId xmlns:a16="http://schemas.microsoft.com/office/drawing/2014/main" id="{173A5393-9F4D-4099-B3F8-70012B7158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35866" name="Text Box 6">
                <a:extLst>
                  <a:ext uri="{FF2B5EF4-FFF2-40B4-BE49-F238E27FC236}">
                    <a16:creationId xmlns:a16="http://schemas.microsoft.com/office/drawing/2014/main" id="{1807B8AC-A3A4-4385-9497-2EEDB0674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f:3</a:t>
                </a:r>
              </a:p>
            </p:txBody>
          </p:sp>
          <p:sp>
            <p:nvSpPr>
              <p:cNvPr id="35867" name="Text Box 7">
                <a:extLst>
                  <a:ext uri="{FF2B5EF4-FFF2-40B4-BE49-F238E27FC236}">
                    <a16:creationId xmlns:a16="http://schemas.microsoft.com/office/drawing/2014/main" id="{C861B97B-7951-4C13-9B5F-459FA96FA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c:3</a:t>
                </a:r>
              </a:p>
            </p:txBody>
          </p:sp>
          <p:sp>
            <p:nvSpPr>
              <p:cNvPr id="35868" name="Text Box 8">
                <a:extLst>
                  <a:ext uri="{FF2B5EF4-FFF2-40B4-BE49-F238E27FC236}">
                    <a16:creationId xmlns:a16="http://schemas.microsoft.com/office/drawing/2014/main" id="{A86F2978-9AAC-4272-A64E-A37B18200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a:3</a:t>
                </a:r>
              </a:p>
            </p:txBody>
          </p:sp>
          <p:cxnSp>
            <p:nvCxnSpPr>
              <p:cNvPr id="35869" name="AutoShape 9">
                <a:extLst>
                  <a:ext uri="{FF2B5EF4-FFF2-40B4-BE49-F238E27FC236}">
                    <a16:creationId xmlns:a16="http://schemas.microsoft.com/office/drawing/2014/main" id="{544D9C3B-D723-4D80-8AD6-E53C895EFFE8}"/>
                  </a:ext>
                </a:extLst>
              </p:cNvPr>
              <p:cNvCxnSpPr>
                <a:cxnSpLocks noChangeShapeType="1"/>
                <a:stCxn id="35865" idx="2"/>
                <a:endCxn id="35866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870" name="AutoShape 10">
                <a:extLst>
                  <a:ext uri="{FF2B5EF4-FFF2-40B4-BE49-F238E27FC236}">
                    <a16:creationId xmlns:a16="http://schemas.microsoft.com/office/drawing/2014/main" id="{E8A18569-060B-4C30-B809-2C801DDF7A04}"/>
                  </a:ext>
                </a:extLst>
              </p:cNvPr>
              <p:cNvCxnSpPr>
                <a:cxnSpLocks noChangeShapeType="1"/>
                <a:stCxn id="35866" idx="2"/>
                <a:endCxn id="35867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871" name="AutoShape 11">
                <a:extLst>
                  <a:ext uri="{FF2B5EF4-FFF2-40B4-BE49-F238E27FC236}">
                    <a16:creationId xmlns:a16="http://schemas.microsoft.com/office/drawing/2014/main" id="{3F19FDAE-CFF2-4463-8AD6-1806079D972E}"/>
                  </a:ext>
                </a:extLst>
              </p:cNvPr>
              <p:cNvCxnSpPr>
                <a:cxnSpLocks noChangeShapeType="1"/>
                <a:stCxn id="35867" idx="2"/>
                <a:endCxn id="35868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864" name="Text Box 12">
              <a:extLst>
                <a:ext uri="{FF2B5EF4-FFF2-40B4-BE49-F238E27FC236}">
                  <a16:creationId xmlns:a16="http://schemas.microsoft.com/office/drawing/2014/main" id="{6A684A5F-B746-4A37-9817-CF1AB2011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800" b="1" i="1">
                  <a:latin typeface="Times New Roman" panose="02020603050405020304" pitchFamily="18" charset="0"/>
                </a:rPr>
                <a:t>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5845" name="Text Box 13">
            <a:extLst>
              <a:ext uri="{FF2B5EF4-FFF2-40B4-BE49-F238E27FC236}">
                <a16:creationId xmlns:a16="http://schemas.microsoft.com/office/drawing/2014/main" id="{A6C34716-3737-4530-B5BD-7B91D90A9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81200"/>
            <a:ext cx="481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Cond. pattern base of “am”: (fc:3)</a:t>
            </a:r>
          </a:p>
        </p:txBody>
      </p:sp>
      <p:grpSp>
        <p:nvGrpSpPr>
          <p:cNvPr id="35846" name="Group 14">
            <a:extLst>
              <a:ext uri="{FF2B5EF4-FFF2-40B4-BE49-F238E27FC236}">
                <a16:creationId xmlns:a16="http://schemas.microsoft.com/office/drawing/2014/main" id="{1A6B28EE-7DCE-4732-91D4-B228E42AD1A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371600"/>
            <a:ext cx="2413000" cy="1866900"/>
            <a:chOff x="4393" y="1248"/>
            <a:chExt cx="1520" cy="1176"/>
          </a:xfrm>
        </p:grpSpPr>
        <p:sp>
          <p:nvSpPr>
            <p:cNvPr id="35857" name="Text Box 15">
              <a:extLst>
                <a:ext uri="{FF2B5EF4-FFF2-40B4-BE49-F238E27FC236}">
                  <a16:creationId xmlns:a16="http://schemas.microsoft.com/office/drawing/2014/main" id="{803F7493-51BA-461E-B43D-BCD4111FE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248"/>
              <a:ext cx="2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35858" name="Text Box 16">
              <a:extLst>
                <a:ext uri="{FF2B5EF4-FFF2-40B4-BE49-F238E27FC236}">
                  <a16:creationId xmlns:a16="http://schemas.microsoft.com/office/drawing/2014/main" id="{F52B3C21-17EC-4287-98B5-7D9234F3C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" y="1632"/>
              <a:ext cx="2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f:3</a:t>
              </a:r>
            </a:p>
          </p:txBody>
        </p:sp>
        <p:sp>
          <p:nvSpPr>
            <p:cNvPr id="35859" name="Text Box 17">
              <a:extLst>
                <a:ext uri="{FF2B5EF4-FFF2-40B4-BE49-F238E27FC236}">
                  <a16:creationId xmlns:a16="http://schemas.microsoft.com/office/drawing/2014/main" id="{49DD5C41-0DF7-4599-A88E-476E4167E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1959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 i="1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35860" name="AutoShape 18">
              <a:extLst>
                <a:ext uri="{FF2B5EF4-FFF2-40B4-BE49-F238E27FC236}">
                  <a16:creationId xmlns:a16="http://schemas.microsoft.com/office/drawing/2014/main" id="{79DE7316-F4E7-4DEE-8591-10235C82E1BD}"/>
                </a:ext>
              </a:extLst>
            </p:cNvPr>
            <p:cNvCxnSpPr>
              <a:cxnSpLocks noChangeShapeType="1"/>
              <a:stCxn id="35857" idx="2"/>
              <a:endCxn id="35858" idx="0"/>
            </p:cNvCxnSpPr>
            <p:nvPr/>
          </p:nvCxnSpPr>
          <p:spPr bwMode="auto">
            <a:xfrm>
              <a:off x="5013" y="1498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1" name="AutoShape 19">
              <a:extLst>
                <a:ext uri="{FF2B5EF4-FFF2-40B4-BE49-F238E27FC236}">
                  <a16:creationId xmlns:a16="http://schemas.microsoft.com/office/drawing/2014/main" id="{86152CC6-39F5-48AE-9417-5902D13809A5}"/>
                </a:ext>
              </a:extLst>
            </p:cNvPr>
            <p:cNvCxnSpPr>
              <a:cxnSpLocks noChangeShapeType="1"/>
              <a:stCxn id="35858" idx="2"/>
              <a:endCxn id="35859" idx="0"/>
            </p:cNvCxnSpPr>
            <p:nvPr/>
          </p:nvCxnSpPr>
          <p:spPr bwMode="auto">
            <a:xfrm>
              <a:off x="5013" y="1882"/>
              <a:ext cx="0" cy="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2" name="Text Box 20">
              <a:extLst>
                <a:ext uri="{FF2B5EF4-FFF2-40B4-BE49-F238E27FC236}">
                  <a16:creationId xmlns:a16="http://schemas.microsoft.com/office/drawing/2014/main" id="{29F665B5-BF9C-4506-89C9-D358833BA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3" y="2193"/>
              <a:ext cx="15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800" b="1" i="1">
                  <a:latin typeface="Times New Roman" panose="02020603050405020304" pitchFamily="18" charset="0"/>
                </a:rPr>
                <a:t>am-conditional </a:t>
              </a:r>
              <a:r>
                <a:rPr lang="en-US" altLang="en-US" sz="1800" b="1">
                  <a:latin typeface="Times New Roman" panose="02020603050405020304" pitchFamily="18" charset="0"/>
                </a:rPr>
                <a:t>FP-tree</a:t>
              </a:r>
              <a:endParaRPr lang="en-US" altLang="en-US" sz="18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5847" name="Text Box 21">
            <a:extLst>
              <a:ext uri="{FF2B5EF4-FFF2-40B4-BE49-F238E27FC236}">
                <a16:creationId xmlns:a16="http://schemas.microsoft.com/office/drawing/2014/main" id="{E2241C83-4860-4621-A839-F7782A5CC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429000"/>
            <a:ext cx="4652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Cond. pattern base of “cm”: (f:3)</a:t>
            </a:r>
          </a:p>
        </p:txBody>
      </p:sp>
      <p:sp>
        <p:nvSpPr>
          <p:cNvPr id="35848" name="Text Box 22">
            <a:extLst>
              <a:ext uri="{FF2B5EF4-FFF2-40B4-BE49-F238E27FC236}">
                <a16:creationId xmlns:a16="http://schemas.microsoft.com/office/drawing/2014/main" id="{9716B387-6884-4B1C-A7F9-D082433C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738" y="3200400"/>
            <a:ext cx="428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35849" name="Text Box 23">
            <a:extLst>
              <a:ext uri="{FF2B5EF4-FFF2-40B4-BE49-F238E27FC236}">
                <a16:creationId xmlns:a16="http://schemas.microsoft.com/office/drawing/2014/main" id="{C06CAA2D-B3F2-4CCE-B658-66CA6CEDC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688" y="38100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f:3</a:t>
            </a:r>
          </a:p>
        </p:txBody>
      </p:sp>
      <p:cxnSp>
        <p:nvCxnSpPr>
          <p:cNvPr id="35850" name="AutoShape 24">
            <a:extLst>
              <a:ext uri="{FF2B5EF4-FFF2-40B4-BE49-F238E27FC236}">
                <a16:creationId xmlns:a16="http://schemas.microsoft.com/office/drawing/2014/main" id="{3716655C-CBC3-4C3E-9CBA-EC72623FB3E8}"/>
              </a:ext>
            </a:extLst>
          </p:cNvPr>
          <p:cNvCxnSpPr>
            <a:cxnSpLocks noChangeShapeType="1"/>
            <a:stCxn id="35848" idx="2"/>
            <a:endCxn id="35849" idx="0"/>
          </p:cNvCxnSpPr>
          <p:nvPr/>
        </p:nvCxnSpPr>
        <p:spPr bwMode="auto">
          <a:xfrm>
            <a:off x="7766050" y="35972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1" name="Text Box 25">
            <a:extLst>
              <a:ext uri="{FF2B5EF4-FFF2-40B4-BE49-F238E27FC236}">
                <a16:creationId xmlns:a16="http://schemas.microsoft.com/office/drawing/2014/main" id="{1A80F9CE-FB8B-4474-85B3-2B4550934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243388"/>
            <a:ext cx="240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cm-conditional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FP-tree</a:t>
            </a: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35852" name="Text Box 26">
            <a:extLst>
              <a:ext uri="{FF2B5EF4-FFF2-40B4-BE49-F238E27FC236}">
                <a16:creationId xmlns:a16="http://schemas.microsoft.com/office/drawing/2014/main" id="{83946702-724D-4707-B2A6-8BBA179C8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0"/>
            <a:ext cx="481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Cond. pattern base of “cam”: (f:3)</a:t>
            </a:r>
          </a:p>
        </p:txBody>
      </p:sp>
      <p:sp>
        <p:nvSpPr>
          <p:cNvPr id="35853" name="Text Box 27">
            <a:extLst>
              <a:ext uri="{FF2B5EF4-FFF2-40B4-BE49-F238E27FC236}">
                <a16:creationId xmlns:a16="http://schemas.microsoft.com/office/drawing/2014/main" id="{E678D315-B18F-4F16-996F-CC485055A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876800"/>
            <a:ext cx="428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35854" name="Text Box 28">
            <a:extLst>
              <a:ext uri="{FF2B5EF4-FFF2-40B4-BE49-F238E27FC236}">
                <a16:creationId xmlns:a16="http://schemas.microsoft.com/office/drawing/2014/main" id="{061B83A6-A541-4198-92AC-A6B7E0555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688" y="54864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i="1">
                <a:latin typeface="Times New Roman" panose="02020603050405020304" pitchFamily="18" charset="0"/>
              </a:rPr>
              <a:t>f:3</a:t>
            </a:r>
          </a:p>
        </p:txBody>
      </p:sp>
      <p:cxnSp>
        <p:nvCxnSpPr>
          <p:cNvPr id="35855" name="AutoShape 29">
            <a:extLst>
              <a:ext uri="{FF2B5EF4-FFF2-40B4-BE49-F238E27FC236}">
                <a16:creationId xmlns:a16="http://schemas.microsoft.com/office/drawing/2014/main" id="{ABAB93A4-1F51-4207-8DB5-6326814BA4EF}"/>
              </a:ext>
            </a:extLst>
          </p:cNvPr>
          <p:cNvCxnSpPr>
            <a:cxnSpLocks noChangeShapeType="1"/>
            <a:stCxn id="35853" idx="2"/>
            <a:endCxn id="35854" idx="0"/>
          </p:cNvCxnSpPr>
          <p:nvPr/>
        </p:nvCxnSpPr>
        <p:spPr bwMode="auto">
          <a:xfrm>
            <a:off x="5861050" y="52736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6" name="Text Box 30">
            <a:extLst>
              <a:ext uri="{FF2B5EF4-FFF2-40B4-BE49-F238E27FC236}">
                <a16:creationId xmlns:a16="http://schemas.microsoft.com/office/drawing/2014/main" id="{C3493A1A-2FB7-4DC0-A946-2EB661739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9197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cam-conditional </a:t>
            </a:r>
            <a:r>
              <a:rPr lang="en-US" altLang="en-US" sz="1800" b="1">
                <a:latin typeface="Times New Roman" panose="02020603050405020304" pitchFamily="18" charset="0"/>
              </a:rPr>
              <a:t>FP-tree</a:t>
            </a:r>
            <a:endParaRPr lang="en-US" altLang="en-US" sz="18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47639F70-DBD0-47A2-AED6-DEAB4722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F0C4929-DE18-440D-BFE9-762C158367C8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3C20361-1140-4C72-A6EB-D36A565B5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458200" cy="5286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/>
              <a:t>A Special Case: Single Prefix Path in FP-tree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4D5D12F-9C57-4306-BF08-C86A868EB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696200" cy="2743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Suppose a (conditional) FP-tree T has a shared single prefix-path 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Mining can be decomposed into two parts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Reduction of the single prefix path into one node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Concatenation of the mining results of the two parts</a:t>
            </a: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F5AD0A84-D461-452F-970E-CD89E95D3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864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sym typeface="Wingdings 3" panose="05040102010807070707" pitchFamily="18" charset="2"/>
              </a:rPr>
              <a:t></a:t>
            </a:r>
          </a:p>
        </p:txBody>
      </p:sp>
      <p:grpSp>
        <p:nvGrpSpPr>
          <p:cNvPr id="36870" name="Group 5">
            <a:extLst>
              <a:ext uri="{FF2B5EF4-FFF2-40B4-BE49-F238E27FC236}">
                <a16:creationId xmlns:a16="http://schemas.microsoft.com/office/drawing/2014/main" id="{C376ECCD-213F-4812-803E-91A9B1BE03C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819400"/>
            <a:ext cx="2128838" cy="3643313"/>
            <a:chOff x="0" y="1824"/>
            <a:chExt cx="1341" cy="2295"/>
          </a:xfrm>
        </p:grpSpPr>
        <p:grpSp>
          <p:nvGrpSpPr>
            <p:cNvPr id="36895" name="Group 6">
              <a:extLst>
                <a:ext uri="{FF2B5EF4-FFF2-40B4-BE49-F238E27FC236}">
                  <a16:creationId xmlns:a16="http://schemas.microsoft.com/office/drawing/2014/main" id="{DF1713AE-F770-4AA4-B6B2-CEC7FD4D2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824"/>
              <a:ext cx="438" cy="1251"/>
              <a:chOff x="144" y="1824"/>
              <a:chExt cx="438" cy="1251"/>
            </a:xfrm>
          </p:grpSpPr>
          <p:sp>
            <p:nvSpPr>
              <p:cNvPr id="36905" name="Text Box 7">
                <a:extLst>
                  <a:ext uri="{FF2B5EF4-FFF2-40B4-BE49-F238E27FC236}">
                    <a16:creationId xmlns:a16="http://schemas.microsoft.com/office/drawing/2014/main" id="{7D20C980-4508-4A66-B7B6-DC00CCF3A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6906" name="Text Box 8">
                <a:extLst>
                  <a:ext uri="{FF2B5EF4-FFF2-40B4-BE49-F238E27FC236}">
                    <a16:creationId xmlns:a16="http://schemas.microsoft.com/office/drawing/2014/main" id="{245AD31C-511D-481C-9E55-99675A6CD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6907" name="Text Box 9">
                <a:extLst>
                  <a:ext uri="{FF2B5EF4-FFF2-40B4-BE49-F238E27FC236}">
                    <a16:creationId xmlns:a16="http://schemas.microsoft.com/office/drawing/2014/main" id="{E2CE0A1F-92C6-42EA-9046-22908A1977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6908" name="Group 10">
                <a:extLst>
                  <a:ext uri="{FF2B5EF4-FFF2-40B4-BE49-F238E27FC236}">
                    <a16:creationId xmlns:a16="http://schemas.microsoft.com/office/drawing/2014/main" id="{67441BB4-6BDD-4B7B-B116-BDA1DD4A2C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" y="1824"/>
                <a:ext cx="270" cy="1001"/>
                <a:chOff x="2312" y="2456"/>
                <a:chExt cx="290" cy="1047"/>
              </a:xfrm>
            </p:grpSpPr>
            <p:sp>
              <p:nvSpPr>
                <p:cNvPr id="36909" name="Text Box 11">
                  <a:extLst>
                    <a:ext uri="{FF2B5EF4-FFF2-40B4-BE49-F238E27FC236}">
                      <a16:creationId xmlns:a16="http://schemas.microsoft.com/office/drawing/2014/main" id="{53FCC64B-1F94-49B5-9D7B-41E3D69F27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90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cxnSp>
              <p:nvCxnSpPr>
                <p:cNvPr id="36910" name="AutoShape 12">
                  <a:extLst>
                    <a:ext uri="{FF2B5EF4-FFF2-40B4-BE49-F238E27FC236}">
                      <a16:creationId xmlns:a16="http://schemas.microsoft.com/office/drawing/2014/main" id="{0AADE8AE-B7B5-425F-9F88-03F93B457AE2}"/>
                    </a:ext>
                  </a:extLst>
                </p:cNvPr>
                <p:cNvCxnSpPr>
                  <a:cxnSpLocks noChangeShapeType="1"/>
                  <a:stCxn id="36909" idx="2"/>
                  <a:endCxn id="36907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911" name="AutoShape 13">
                  <a:extLst>
                    <a:ext uri="{FF2B5EF4-FFF2-40B4-BE49-F238E27FC236}">
                      <a16:creationId xmlns:a16="http://schemas.microsoft.com/office/drawing/2014/main" id="{A3DEFE5E-E9D4-4924-A688-1E739A18C539}"/>
                    </a:ext>
                  </a:extLst>
                </p:cNvPr>
                <p:cNvCxnSpPr>
                  <a:cxnSpLocks noChangeShapeType="1"/>
                  <a:stCxn id="36907" idx="2"/>
                  <a:endCxn id="36905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912" name="AutoShape 14">
                  <a:extLst>
                    <a:ext uri="{FF2B5EF4-FFF2-40B4-BE49-F238E27FC236}">
                      <a16:creationId xmlns:a16="http://schemas.microsoft.com/office/drawing/2014/main" id="{A48CDA01-C51C-4F14-8E6A-BA6EB6A1BA85}"/>
                    </a:ext>
                  </a:extLst>
                </p:cNvPr>
                <p:cNvCxnSpPr>
                  <a:cxnSpLocks noChangeShapeType="1"/>
                  <a:stCxn id="36905" idx="2"/>
                  <a:endCxn id="36906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6896" name="Group 15">
              <a:extLst>
                <a:ext uri="{FF2B5EF4-FFF2-40B4-BE49-F238E27FC236}">
                  <a16:creationId xmlns:a16="http://schemas.microsoft.com/office/drawing/2014/main" id="{CA52F54C-7563-45FD-899E-DF8E4FF40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20"/>
              <a:ext cx="1341" cy="999"/>
              <a:chOff x="0" y="3120"/>
              <a:chExt cx="1341" cy="999"/>
            </a:xfrm>
          </p:grpSpPr>
          <p:sp>
            <p:nvSpPr>
              <p:cNvPr id="36897" name="Line 16">
                <a:extLst>
                  <a:ext uri="{FF2B5EF4-FFF2-40B4-BE49-F238E27FC236}">
                    <a16:creationId xmlns:a16="http://schemas.microsoft.com/office/drawing/2014/main" id="{5D0BFCD2-5584-4AC7-8FDD-833C06027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98" name="Line 17">
                <a:extLst>
                  <a:ext uri="{FF2B5EF4-FFF2-40B4-BE49-F238E27FC236}">
                    <a16:creationId xmlns:a16="http://schemas.microsoft.com/office/drawing/2014/main" id="{828E035A-2327-41DB-BE52-573F07FF4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99" name="Text Box 18">
                <a:extLst>
                  <a:ext uri="{FF2B5EF4-FFF2-40B4-BE49-F238E27FC236}">
                    <a16:creationId xmlns:a16="http://schemas.microsoft.com/office/drawing/2014/main" id="{8795FA5F-4BC3-48B6-A573-DFA709689B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4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b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:m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36900" name="Text Box 19">
                <a:extLst>
                  <a:ext uri="{FF2B5EF4-FFF2-40B4-BE49-F238E27FC236}">
                    <a16:creationId xmlns:a16="http://schemas.microsoft.com/office/drawing/2014/main" id="{8AA20B1F-D53B-4170-AE49-1F7F0073C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36901" name="Line 20">
                <a:extLst>
                  <a:ext uri="{FF2B5EF4-FFF2-40B4-BE49-F238E27FC236}">
                    <a16:creationId xmlns:a16="http://schemas.microsoft.com/office/drawing/2014/main" id="{4F6AC82F-2CF2-4A23-90BA-C2E26D540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902" name="Line 21">
                <a:extLst>
                  <a:ext uri="{FF2B5EF4-FFF2-40B4-BE49-F238E27FC236}">
                    <a16:creationId xmlns:a16="http://schemas.microsoft.com/office/drawing/2014/main" id="{6A1C2ADA-E946-4A13-9931-0D5E5A53D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903" name="Rectangle 22">
                <a:extLst>
                  <a:ext uri="{FF2B5EF4-FFF2-40B4-BE49-F238E27FC236}">
                    <a16:creationId xmlns:a16="http://schemas.microsoft.com/office/drawing/2014/main" id="{168A7CFD-5112-4B05-8598-9D891ED36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2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2</a:t>
                </a:r>
              </a:p>
            </p:txBody>
          </p:sp>
          <p:sp>
            <p:nvSpPr>
              <p:cNvPr id="36904" name="Rectangle 23">
                <a:extLst>
                  <a:ext uri="{FF2B5EF4-FFF2-40B4-BE49-F238E27FC236}">
                    <a16:creationId xmlns:a16="http://schemas.microsoft.com/office/drawing/2014/main" id="{3C9E819C-F79D-4083-958E-5E01F2569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3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3</a:t>
                </a:r>
              </a:p>
            </p:txBody>
          </p:sp>
        </p:grpSp>
      </p:grpSp>
      <p:grpSp>
        <p:nvGrpSpPr>
          <p:cNvPr id="36871" name="Group 24">
            <a:extLst>
              <a:ext uri="{FF2B5EF4-FFF2-40B4-BE49-F238E27FC236}">
                <a16:creationId xmlns:a16="http://schemas.microsoft.com/office/drawing/2014/main" id="{979BC1E8-C8AF-4049-B6BD-9D35B149CB5C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572000"/>
            <a:ext cx="2128838" cy="2043113"/>
            <a:chOff x="2304" y="2880"/>
            <a:chExt cx="1341" cy="1287"/>
          </a:xfrm>
        </p:grpSpPr>
        <p:grpSp>
          <p:nvGrpSpPr>
            <p:cNvPr id="36885" name="Group 25">
              <a:extLst>
                <a:ext uri="{FF2B5EF4-FFF2-40B4-BE49-F238E27FC236}">
                  <a16:creationId xmlns:a16="http://schemas.microsoft.com/office/drawing/2014/main" id="{5C2758F8-AD5E-446F-B898-E429D93531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168"/>
              <a:ext cx="1341" cy="999"/>
              <a:chOff x="0" y="3120"/>
              <a:chExt cx="1341" cy="999"/>
            </a:xfrm>
          </p:grpSpPr>
          <p:sp>
            <p:nvSpPr>
              <p:cNvPr id="36887" name="Line 26">
                <a:extLst>
                  <a:ext uri="{FF2B5EF4-FFF2-40B4-BE49-F238E27FC236}">
                    <a16:creationId xmlns:a16="http://schemas.microsoft.com/office/drawing/2014/main" id="{B37A9CE3-A0DC-4D5F-B76E-6E55C0437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88" name="Line 27">
                <a:extLst>
                  <a:ext uri="{FF2B5EF4-FFF2-40B4-BE49-F238E27FC236}">
                    <a16:creationId xmlns:a16="http://schemas.microsoft.com/office/drawing/2014/main" id="{43F1703E-0DD4-4F44-AB33-DB77A4B84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89" name="Text Box 28">
                <a:extLst>
                  <a:ext uri="{FF2B5EF4-FFF2-40B4-BE49-F238E27FC236}">
                    <a16:creationId xmlns:a16="http://schemas.microsoft.com/office/drawing/2014/main" id="{91E5F6D8-05E3-4C2C-B8EC-847381965D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4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b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:m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36890" name="Text Box 29">
                <a:extLst>
                  <a:ext uri="{FF2B5EF4-FFF2-40B4-BE49-F238E27FC236}">
                    <a16:creationId xmlns:a16="http://schemas.microsoft.com/office/drawing/2014/main" id="{BB32F08C-ADAC-4C94-B0B6-78BFEED54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1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1</a:t>
                </a:r>
              </a:p>
            </p:txBody>
          </p:sp>
          <p:sp>
            <p:nvSpPr>
              <p:cNvPr id="36891" name="Line 30">
                <a:extLst>
                  <a:ext uri="{FF2B5EF4-FFF2-40B4-BE49-F238E27FC236}">
                    <a16:creationId xmlns:a16="http://schemas.microsoft.com/office/drawing/2014/main" id="{8F79D74A-D7E0-4694-B097-D93A6638D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92" name="Line 31">
                <a:extLst>
                  <a:ext uri="{FF2B5EF4-FFF2-40B4-BE49-F238E27FC236}">
                    <a16:creationId xmlns:a16="http://schemas.microsoft.com/office/drawing/2014/main" id="{1705ED97-43E8-4EAC-8E27-BCAD08D72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893" name="Rectangle 32">
                <a:extLst>
                  <a:ext uri="{FF2B5EF4-FFF2-40B4-BE49-F238E27FC236}">
                    <a16:creationId xmlns:a16="http://schemas.microsoft.com/office/drawing/2014/main" id="{E8E5C264-35E5-4483-B135-4CE46C1D5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2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2</a:t>
                </a:r>
              </a:p>
            </p:txBody>
          </p:sp>
          <p:sp>
            <p:nvSpPr>
              <p:cNvPr id="36894" name="Rectangle 33">
                <a:extLst>
                  <a:ext uri="{FF2B5EF4-FFF2-40B4-BE49-F238E27FC236}">
                    <a16:creationId xmlns:a16="http://schemas.microsoft.com/office/drawing/2014/main" id="{B86F82ED-5DB5-40BB-888E-E3838D778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42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i="1" baseline="-25000"/>
                  <a:t>3</a:t>
                </a:r>
                <a:r>
                  <a:rPr lang="en-US" altLang="en-US" sz="1800" i="1"/>
                  <a:t>:k</a:t>
                </a:r>
                <a:r>
                  <a:rPr lang="en-US" altLang="en-US" sz="1800" i="1" baseline="-25000"/>
                  <a:t>3</a:t>
                </a:r>
              </a:p>
            </p:txBody>
          </p:sp>
        </p:grpSp>
        <p:sp>
          <p:nvSpPr>
            <p:cNvPr id="36886" name="Text Box 34">
              <a:extLst>
                <a:ext uri="{FF2B5EF4-FFF2-40B4-BE49-F238E27FC236}">
                  <a16:creationId xmlns:a16="http://schemas.microsoft.com/office/drawing/2014/main" id="{D4B9E4B6-BE25-495B-A37B-7756C5D34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88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i="1"/>
                <a:t>r</a:t>
              </a:r>
              <a:r>
                <a:rPr lang="en-US" altLang="en-US" sz="1800" i="1" baseline="-25000"/>
                <a:t>1</a:t>
              </a:r>
            </a:p>
          </p:txBody>
        </p:sp>
      </p:grpSp>
      <p:sp>
        <p:nvSpPr>
          <p:cNvPr id="36872" name="Rectangle 35">
            <a:extLst>
              <a:ext uri="{FF2B5EF4-FFF2-40B4-BE49-F238E27FC236}">
                <a16:creationId xmlns:a16="http://schemas.microsoft.com/office/drawing/2014/main" id="{7941EE75-3A49-471C-8B86-7A414F146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334000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 b="1">
                <a:latin typeface="Times New Roman" panose="02020603050405020304" pitchFamily="18" charset="0"/>
                <a:sym typeface="Wingdings 3" panose="05040102010807070707" pitchFamily="18" charset="2"/>
              </a:rPr>
              <a:t>+</a:t>
            </a:r>
          </a:p>
        </p:txBody>
      </p:sp>
      <p:grpSp>
        <p:nvGrpSpPr>
          <p:cNvPr id="36873" name="Group 36">
            <a:extLst>
              <a:ext uri="{FF2B5EF4-FFF2-40B4-BE49-F238E27FC236}">
                <a16:creationId xmlns:a16="http://schemas.microsoft.com/office/drawing/2014/main" id="{7F2B4293-79BC-49A5-A154-0E673DD4B956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648200"/>
            <a:ext cx="1609725" cy="1985963"/>
            <a:chOff x="2112" y="2928"/>
            <a:chExt cx="1014" cy="1251"/>
          </a:xfrm>
        </p:grpSpPr>
        <p:grpSp>
          <p:nvGrpSpPr>
            <p:cNvPr id="36874" name="Group 37">
              <a:extLst>
                <a:ext uri="{FF2B5EF4-FFF2-40B4-BE49-F238E27FC236}">
                  <a16:creationId xmlns:a16="http://schemas.microsoft.com/office/drawing/2014/main" id="{D4A215C3-171C-4141-8C1D-3046A3878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2928"/>
              <a:ext cx="438" cy="1251"/>
              <a:chOff x="144" y="1824"/>
              <a:chExt cx="438" cy="1251"/>
            </a:xfrm>
          </p:grpSpPr>
          <p:sp>
            <p:nvSpPr>
              <p:cNvPr id="36877" name="Text Box 38">
                <a:extLst>
                  <a:ext uri="{FF2B5EF4-FFF2-40B4-BE49-F238E27FC236}">
                    <a16:creationId xmlns:a16="http://schemas.microsoft.com/office/drawing/2014/main" id="{48025BDB-05AE-4F5D-A268-5577A78C65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6878" name="Text Box 39">
                <a:extLst>
                  <a:ext uri="{FF2B5EF4-FFF2-40B4-BE49-F238E27FC236}">
                    <a16:creationId xmlns:a16="http://schemas.microsoft.com/office/drawing/2014/main" id="{D0AF700E-CDDA-4CF5-B7CC-5E1F83E72F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6879" name="Text Box 40">
                <a:extLst>
                  <a:ext uri="{FF2B5EF4-FFF2-40B4-BE49-F238E27FC236}">
                    <a16:creationId xmlns:a16="http://schemas.microsoft.com/office/drawing/2014/main" id="{10A7DBAF-1416-4172-A568-90F65A21DF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4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altLang="en-US" sz="2000" i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i="1">
                    <a:latin typeface="Times New Roman" panose="02020603050405020304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6880" name="Group 41">
                <a:extLst>
                  <a:ext uri="{FF2B5EF4-FFF2-40B4-BE49-F238E27FC236}">
                    <a16:creationId xmlns:a16="http://schemas.microsoft.com/office/drawing/2014/main" id="{8CF6DF4E-C6CE-4296-961E-8AE1048B5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" y="1824"/>
                <a:ext cx="270" cy="1001"/>
                <a:chOff x="2312" y="2456"/>
                <a:chExt cx="290" cy="1047"/>
              </a:xfrm>
            </p:grpSpPr>
            <p:sp>
              <p:nvSpPr>
                <p:cNvPr id="36881" name="Text Box 42">
                  <a:extLst>
                    <a:ext uri="{FF2B5EF4-FFF2-40B4-BE49-F238E27FC236}">
                      <a16:creationId xmlns:a16="http://schemas.microsoft.com/office/drawing/2014/main" id="{4E6FE7CD-2079-43D5-92EF-2F99E62FFB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90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cxnSp>
              <p:nvCxnSpPr>
                <p:cNvPr id="36882" name="AutoShape 43">
                  <a:extLst>
                    <a:ext uri="{FF2B5EF4-FFF2-40B4-BE49-F238E27FC236}">
                      <a16:creationId xmlns:a16="http://schemas.microsoft.com/office/drawing/2014/main" id="{59F64FDF-5E0F-46F2-9315-3DE1B03102C9}"/>
                    </a:ext>
                  </a:extLst>
                </p:cNvPr>
                <p:cNvCxnSpPr>
                  <a:cxnSpLocks noChangeShapeType="1"/>
                  <a:stCxn id="36881" idx="2"/>
                  <a:endCxn id="36879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883" name="AutoShape 44">
                  <a:extLst>
                    <a:ext uri="{FF2B5EF4-FFF2-40B4-BE49-F238E27FC236}">
                      <a16:creationId xmlns:a16="http://schemas.microsoft.com/office/drawing/2014/main" id="{144D31C8-507A-432F-9D2D-6A5883451465}"/>
                    </a:ext>
                  </a:extLst>
                </p:cNvPr>
                <p:cNvCxnSpPr>
                  <a:cxnSpLocks noChangeShapeType="1"/>
                  <a:stCxn id="36879" idx="2"/>
                  <a:endCxn id="36877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884" name="AutoShape 45">
                  <a:extLst>
                    <a:ext uri="{FF2B5EF4-FFF2-40B4-BE49-F238E27FC236}">
                      <a16:creationId xmlns:a16="http://schemas.microsoft.com/office/drawing/2014/main" id="{4F921368-9EA0-4E57-8EF7-FBBEE2A182EA}"/>
                    </a:ext>
                  </a:extLst>
                </p:cNvPr>
                <p:cNvCxnSpPr>
                  <a:cxnSpLocks noChangeShapeType="1"/>
                  <a:stCxn id="36877" idx="2"/>
                  <a:endCxn id="36878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6875" name="Text Box 46">
              <a:extLst>
                <a:ext uri="{FF2B5EF4-FFF2-40B4-BE49-F238E27FC236}">
                  <a16:creationId xmlns:a16="http://schemas.microsoft.com/office/drawing/2014/main" id="{DF702062-3DF8-4A07-9BC1-C41AD8A31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408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2000" i="1"/>
                <a:t>r</a:t>
              </a:r>
              <a:r>
                <a:rPr lang="en-US" altLang="en-US" sz="2000" i="1" baseline="-25000"/>
                <a:t>1</a:t>
              </a:r>
            </a:p>
          </p:txBody>
        </p:sp>
        <p:sp>
          <p:nvSpPr>
            <p:cNvPr id="36876" name="Rectangle 47">
              <a:extLst>
                <a:ext uri="{FF2B5EF4-FFF2-40B4-BE49-F238E27FC236}">
                  <a16:creationId xmlns:a16="http://schemas.microsoft.com/office/drawing/2014/main" id="{42C5D39A-04E0-41E0-9512-91B5A73D3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408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 b="1">
                  <a:latin typeface="Times New Roman" panose="02020603050405020304" pitchFamily="18" charset="0"/>
                  <a:sym typeface="Wingdings 3" panose="05040102010807070707" pitchFamily="18" charset="2"/>
                </a:rPr>
                <a:t>=</a:t>
              </a:r>
            </a:p>
          </p:txBody>
        </p:sp>
      </p:grpSp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979A726E-852B-4E16-A1E3-F84AABFF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5A7AB09-4C3D-4D1A-89BC-212E8C2B9FAA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D7892DA-E77A-4258-A658-C9D855750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422275"/>
            <a:ext cx="7989887" cy="568325"/>
          </a:xfrm>
        </p:spPr>
        <p:txBody>
          <a:bodyPr/>
          <a:lstStyle/>
          <a:p>
            <a:pPr eaLnBrk="1" hangingPunct="1"/>
            <a:r>
              <a:rPr lang="en-US" altLang="en-US" sz="3200"/>
              <a:t>Benefits of the FP-tree Structure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E1CA799-DEEA-4EDA-B13B-348E30F9B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Completeness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Preserve complete information for frequent pattern mining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Never break a long pattern of any transaction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Compactness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Reduce irrelevant info—infrequent items are gone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Items in frequency descending order: the more frequently occurring, the more likely to be shared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Never be larger than the original database (not count node-links and the </a:t>
            </a:r>
            <a:r>
              <a:rPr lang="en-US" altLang="en-US" sz="2400" i="1"/>
              <a:t>count</a:t>
            </a:r>
            <a:r>
              <a:rPr lang="en-US" altLang="en-US" sz="2400"/>
              <a:t> field)</a:t>
            </a:r>
          </a:p>
        </p:txBody>
      </p:sp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2A00F123-01B0-40B2-8BB6-0B0E5BD5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B5648C7-0DA8-4346-9131-CB4BD752E0B4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AE06AA7-5115-4EEA-BA47-FB980899B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62000"/>
          </a:xfrm>
        </p:spPr>
        <p:txBody>
          <a:bodyPr/>
          <a:lstStyle/>
          <a:p>
            <a:pPr eaLnBrk="1" hangingPunct="1"/>
            <a:r>
              <a:rPr lang="en-US" altLang="en-US" sz="3200"/>
              <a:t>The Frequent Pattern Growth Mining Method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68B3466-C3B1-4BFD-B885-FD6CD54D4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283200"/>
          </a:xfrm>
        </p:spPr>
        <p:txBody>
          <a:bodyPr/>
          <a:lstStyle/>
          <a:p>
            <a:pPr eaLnBrk="1" hangingPunct="1"/>
            <a:r>
              <a:rPr lang="en-US" altLang="en-US" sz="2400"/>
              <a:t>Idea: Frequent pattern growth</a:t>
            </a:r>
          </a:p>
          <a:p>
            <a:pPr lvl="1" eaLnBrk="1" hangingPunct="1"/>
            <a:r>
              <a:rPr lang="en-US" altLang="en-US" sz="2400"/>
              <a:t>Recursively grow frequent patterns by pattern and database partition</a:t>
            </a:r>
          </a:p>
          <a:p>
            <a:pPr eaLnBrk="1" hangingPunct="1"/>
            <a:r>
              <a:rPr lang="en-US" altLang="en-US" sz="2400"/>
              <a:t>Method </a:t>
            </a:r>
          </a:p>
          <a:p>
            <a:pPr lvl="1" eaLnBrk="1" hangingPunct="1"/>
            <a:r>
              <a:rPr lang="en-US" altLang="en-US" sz="2400"/>
              <a:t>For each frequent item, construct its conditional pattern-base, and then its conditional FP-tree</a:t>
            </a:r>
          </a:p>
          <a:p>
            <a:pPr lvl="1" eaLnBrk="1" hangingPunct="1"/>
            <a:r>
              <a:rPr lang="en-US" altLang="en-US" sz="2400"/>
              <a:t>Repeat the process on each newly created conditional FP-tree </a:t>
            </a:r>
          </a:p>
          <a:p>
            <a:pPr lvl="1" eaLnBrk="1" hangingPunct="1"/>
            <a:r>
              <a:rPr lang="en-US" altLang="en-US" sz="2400"/>
              <a:t>Until the resulting FP-tree is empty, or it contains only one path—single path will generate all the combinations of its sub-paths, each of which is a frequent pattern</a:t>
            </a:r>
          </a:p>
        </p:txBody>
      </p:sp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D842AC54-290E-4424-B707-B6C2D1C8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4425A10-8029-4F76-B1D4-59B748769202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579B87A-0D2D-4970-8889-918013D87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01663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Scaling FP-growth by Database Projection</a:t>
            </a:r>
            <a:endParaRPr lang="en-US" altLang="en-US" sz="3200" b="1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DE6836F-DCD9-435C-9F3F-B7715847F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What about if FP-tree cannot fit in memory?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DB projection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First partition a database into a set of projected DBs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Then construct and mine FP-tree for each projected DB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Parallel projection</a:t>
            </a:r>
            <a:r>
              <a:rPr lang="en-US" altLang="en-US" sz="2000"/>
              <a:t> vs. </a:t>
            </a:r>
            <a:r>
              <a:rPr lang="en-US" altLang="en-US" sz="2000">
                <a:solidFill>
                  <a:schemeClr val="hlink"/>
                </a:solidFill>
              </a:rPr>
              <a:t>partition projection</a:t>
            </a:r>
            <a:r>
              <a:rPr lang="en-US" altLang="en-US" sz="2000"/>
              <a:t>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Parallel projection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Project the DB in parallel for each frequent item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Parallel projection is space costly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All the partitions can be processed in parallel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Partition projection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Partition the DB based on the ordered frequent items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Passing the unprocessed parts to the subsequent partitions</a:t>
            </a:r>
          </a:p>
        </p:txBody>
      </p:sp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0A92DC83-34F9-4C0B-ACFB-63727909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E291BB5-C45A-49A6-840B-7F15F35C7932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3933B03-6E8A-4F2A-9317-7F107F51D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856538" cy="6096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Partition-Based Projection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A468697-D2EA-40F4-A4B2-33A689DEA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4114800" cy="137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Parallel projection </a:t>
            </a:r>
            <a:r>
              <a:rPr lang="en-US" altLang="en-US" sz="2000"/>
              <a:t>needs a lot of disk space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Partition projection </a:t>
            </a:r>
            <a:r>
              <a:rPr lang="en-US" altLang="en-US" sz="2000"/>
              <a:t>saves it</a:t>
            </a:r>
          </a:p>
        </p:txBody>
      </p:sp>
      <p:grpSp>
        <p:nvGrpSpPr>
          <p:cNvPr id="40965" name="Group 4">
            <a:extLst>
              <a:ext uri="{FF2B5EF4-FFF2-40B4-BE49-F238E27FC236}">
                <a16:creationId xmlns:a16="http://schemas.microsoft.com/office/drawing/2014/main" id="{80577CE9-ADF0-4A50-991F-7C3FB739A92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905000"/>
            <a:ext cx="8134350" cy="4641850"/>
            <a:chOff x="480" y="1200"/>
            <a:chExt cx="5124" cy="2924"/>
          </a:xfrm>
        </p:grpSpPr>
        <p:sp>
          <p:nvSpPr>
            <p:cNvPr id="40966" name="Text Box 5">
              <a:extLst>
                <a:ext uri="{FF2B5EF4-FFF2-40B4-BE49-F238E27FC236}">
                  <a16:creationId xmlns:a16="http://schemas.microsoft.com/office/drawing/2014/main" id="{5377C554-FEDD-437C-A3C5-37D90CFEF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" y="1200"/>
              <a:ext cx="716" cy="9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600" b="1" i="1" u="sng"/>
                <a:t>Tran. DB </a:t>
              </a:r>
            </a:p>
            <a:p>
              <a:pPr eaLnBrk="1" hangingPunct="1"/>
              <a:r>
                <a:rPr lang="en-US" altLang="en-US" sz="1600"/>
                <a:t>fcamp</a:t>
              </a:r>
            </a:p>
            <a:p>
              <a:pPr eaLnBrk="1" hangingPunct="1"/>
              <a:r>
                <a:rPr lang="en-US" altLang="en-US" sz="1600"/>
                <a:t>fcabm</a:t>
              </a:r>
            </a:p>
            <a:p>
              <a:pPr eaLnBrk="1" hangingPunct="1"/>
              <a:r>
                <a:rPr lang="en-US" altLang="en-US" sz="1600"/>
                <a:t>fb</a:t>
              </a:r>
            </a:p>
            <a:p>
              <a:pPr eaLnBrk="1" hangingPunct="1"/>
              <a:r>
                <a:rPr lang="en-US" altLang="en-US" sz="1600"/>
                <a:t>cbp</a:t>
              </a:r>
            </a:p>
            <a:p>
              <a:pPr eaLnBrk="1" hangingPunct="1"/>
              <a:r>
                <a:rPr lang="en-US" altLang="en-US" sz="1600"/>
                <a:t>fcamp</a:t>
              </a:r>
            </a:p>
          </p:txBody>
        </p:sp>
        <p:sp>
          <p:nvSpPr>
            <p:cNvPr id="40967" name="Text Box 6">
              <a:extLst>
                <a:ext uri="{FF2B5EF4-FFF2-40B4-BE49-F238E27FC236}">
                  <a16:creationId xmlns:a16="http://schemas.microsoft.com/office/drawing/2014/main" id="{E99EA53E-E7E8-4EF7-9C6D-C6CDB7873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374"/>
              <a:ext cx="861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p-proj DB </a:t>
              </a:r>
            </a:p>
            <a:p>
              <a:pPr eaLnBrk="1" hangingPunct="1"/>
              <a:r>
                <a:rPr lang="en-US" altLang="en-US" sz="1800"/>
                <a:t>fcam</a:t>
              </a:r>
            </a:p>
            <a:p>
              <a:pPr eaLnBrk="1" hangingPunct="1"/>
              <a:r>
                <a:rPr lang="en-US" altLang="en-US" sz="1800"/>
                <a:t>cb</a:t>
              </a:r>
            </a:p>
            <a:p>
              <a:pPr eaLnBrk="1" hangingPunct="1"/>
              <a:r>
                <a:rPr lang="en-US" altLang="en-US" sz="1800"/>
                <a:t>fcam</a:t>
              </a:r>
            </a:p>
          </p:txBody>
        </p:sp>
        <p:sp>
          <p:nvSpPr>
            <p:cNvPr id="40968" name="Text Box 7">
              <a:extLst>
                <a:ext uri="{FF2B5EF4-FFF2-40B4-BE49-F238E27FC236}">
                  <a16:creationId xmlns:a16="http://schemas.microsoft.com/office/drawing/2014/main" id="{65CA1ED7-5CEE-4373-AD06-8EA51E8DE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" y="2374"/>
              <a:ext cx="906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m-proj DB </a:t>
              </a:r>
            </a:p>
            <a:p>
              <a:pPr eaLnBrk="1" hangingPunct="1"/>
              <a:r>
                <a:rPr lang="en-US" altLang="en-US" sz="1800"/>
                <a:t>fcab</a:t>
              </a:r>
            </a:p>
            <a:p>
              <a:pPr eaLnBrk="1" hangingPunct="1"/>
              <a:r>
                <a:rPr lang="en-US" altLang="en-US" sz="1800">
                  <a:solidFill>
                    <a:schemeClr val="hlink"/>
                  </a:solidFill>
                </a:rPr>
                <a:t>fca</a:t>
              </a:r>
            </a:p>
            <a:p>
              <a:pPr eaLnBrk="1" hangingPunct="1"/>
              <a:r>
                <a:rPr lang="en-US" altLang="en-US" sz="1800">
                  <a:solidFill>
                    <a:schemeClr val="hlink"/>
                  </a:solidFill>
                </a:rPr>
                <a:t>fca</a:t>
              </a:r>
            </a:p>
          </p:txBody>
        </p:sp>
        <p:sp>
          <p:nvSpPr>
            <p:cNvPr id="40969" name="Text Box 8">
              <a:extLst>
                <a:ext uri="{FF2B5EF4-FFF2-40B4-BE49-F238E27FC236}">
                  <a16:creationId xmlns:a16="http://schemas.microsoft.com/office/drawing/2014/main" id="{4B961135-3D1C-4258-9F73-552AB522A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374"/>
              <a:ext cx="861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b-proj DB </a:t>
              </a:r>
            </a:p>
            <a:p>
              <a:pPr eaLnBrk="1" hangingPunct="1"/>
              <a:r>
                <a:rPr lang="en-US" altLang="en-US" sz="1800"/>
                <a:t>f</a:t>
              </a:r>
            </a:p>
            <a:p>
              <a:pPr eaLnBrk="1" hangingPunct="1"/>
              <a:r>
                <a:rPr lang="en-US" altLang="en-US" sz="1800">
                  <a:solidFill>
                    <a:schemeClr val="hlink"/>
                  </a:solidFill>
                </a:rPr>
                <a:t>cb</a:t>
              </a:r>
            </a:p>
            <a:p>
              <a:pPr eaLnBrk="1" hangingPunct="1"/>
              <a:r>
                <a:rPr lang="en-US" altLang="en-US" sz="1800"/>
                <a:t>…</a:t>
              </a:r>
            </a:p>
          </p:txBody>
        </p:sp>
        <p:sp>
          <p:nvSpPr>
            <p:cNvPr id="40970" name="Text Box 9">
              <a:extLst>
                <a:ext uri="{FF2B5EF4-FFF2-40B4-BE49-F238E27FC236}">
                  <a16:creationId xmlns:a16="http://schemas.microsoft.com/office/drawing/2014/main" id="{5493592C-5073-44EF-B464-21FAF6448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2374"/>
              <a:ext cx="813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a-proj DB</a:t>
              </a:r>
            </a:p>
            <a:p>
              <a:pPr eaLnBrk="1" hangingPunct="1"/>
              <a:r>
                <a:rPr lang="en-US" altLang="en-US" sz="1800">
                  <a:solidFill>
                    <a:schemeClr val="hlink"/>
                  </a:solidFill>
                </a:rPr>
                <a:t>fc</a:t>
              </a:r>
            </a:p>
            <a:p>
              <a:pPr eaLnBrk="1" hangingPunct="1"/>
              <a:r>
                <a:rPr lang="en-US" altLang="en-US" sz="1800"/>
                <a:t>…</a:t>
              </a:r>
            </a:p>
          </p:txBody>
        </p:sp>
        <p:sp>
          <p:nvSpPr>
            <p:cNvPr id="40971" name="Text Box 10">
              <a:extLst>
                <a:ext uri="{FF2B5EF4-FFF2-40B4-BE49-F238E27FC236}">
                  <a16:creationId xmlns:a16="http://schemas.microsoft.com/office/drawing/2014/main" id="{9E4034DC-A31C-461A-A0DF-EA6531970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2374"/>
              <a:ext cx="804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c-proj DB</a:t>
              </a:r>
            </a:p>
            <a:p>
              <a:pPr eaLnBrk="1" hangingPunct="1"/>
              <a:r>
                <a:rPr lang="en-US" altLang="en-US" sz="1800">
                  <a:solidFill>
                    <a:schemeClr val="hlink"/>
                  </a:solidFill>
                </a:rPr>
                <a:t>f</a:t>
              </a:r>
            </a:p>
            <a:p>
              <a:pPr eaLnBrk="1" hangingPunct="1"/>
              <a:r>
                <a:rPr lang="en-US" altLang="en-US" sz="1800"/>
                <a:t>…</a:t>
              </a:r>
            </a:p>
          </p:txBody>
        </p:sp>
        <p:sp>
          <p:nvSpPr>
            <p:cNvPr id="40972" name="Text Box 11">
              <a:extLst>
                <a:ext uri="{FF2B5EF4-FFF2-40B4-BE49-F238E27FC236}">
                  <a16:creationId xmlns:a16="http://schemas.microsoft.com/office/drawing/2014/main" id="{645AB1CD-823B-4BEC-9E59-814D34FD9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9" y="2374"/>
              <a:ext cx="825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f-proj DB </a:t>
              </a:r>
            </a:p>
            <a:p>
              <a:pPr eaLnBrk="1" hangingPunct="1"/>
              <a:r>
                <a:rPr lang="en-US" altLang="en-US" sz="1800"/>
                <a:t>…</a:t>
              </a:r>
            </a:p>
          </p:txBody>
        </p:sp>
        <p:sp>
          <p:nvSpPr>
            <p:cNvPr id="40973" name="Freeform 12">
              <a:extLst>
                <a:ext uri="{FF2B5EF4-FFF2-40B4-BE49-F238E27FC236}">
                  <a16:creationId xmlns:a16="http://schemas.microsoft.com/office/drawing/2014/main" id="{1BC12BE3-AF56-4E62-849F-CDBAAB878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2646"/>
              <a:ext cx="538" cy="180"/>
            </a:xfrm>
            <a:custGeom>
              <a:avLst/>
              <a:gdLst>
                <a:gd name="T0" fmla="*/ 0 w 576"/>
                <a:gd name="T1" fmla="*/ 0 h 240"/>
                <a:gd name="T2" fmla="*/ 146 w 576"/>
                <a:gd name="T3" fmla="*/ 61 h 240"/>
                <a:gd name="T4" fmla="*/ 439 w 576"/>
                <a:gd name="T5" fmla="*/ 76 h 240"/>
                <a:gd name="T6" fmla="*/ 0 60000 65536"/>
                <a:gd name="T7" fmla="*/ 0 60000 65536"/>
                <a:gd name="T8" fmla="*/ 0 60000 65536"/>
                <a:gd name="T9" fmla="*/ 0 w 576"/>
                <a:gd name="T10" fmla="*/ 0 h 240"/>
                <a:gd name="T11" fmla="*/ 576 w 57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40">
                  <a:moveTo>
                    <a:pt x="0" y="0"/>
                  </a:moveTo>
                  <a:cubicBezTo>
                    <a:pt x="48" y="76"/>
                    <a:pt x="96" y="152"/>
                    <a:pt x="192" y="192"/>
                  </a:cubicBezTo>
                  <a:cubicBezTo>
                    <a:pt x="288" y="232"/>
                    <a:pt x="432" y="236"/>
                    <a:pt x="576" y="240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4" name="Freeform 13">
              <a:extLst>
                <a:ext uri="{FF2B5EF4-FFF2-40B4-BE49-F238E27FC236}">
                  <a16:creationId xmlns:a16="http://schemas.microsoft.com/office/drawing/2014/main" id="{2595B516-0527-495E-90D1-ACC545FC0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2691"/>
              <a:ext cx="1523" cy="414"/>
            </a:xfrm>
            <a:custGeom>
              <a:avLst/>
              <a:gdLst>
                <a:gd name="T0" fmla="*/ 0 w 1632"/>
                <a:gd name="T1" fmla="*/ 112 h 440"/>
                <a:gd name="T2" fmla="*/ 291 w 1632"/>
                <a:gd name="T3" fmla="*/ 263 h 440"/>
                <a:gd name="T4" fmla="*/ 837 w 1632"/>
                <a:gd name="T5" fmla="*/ 301 h 440"/>
                <a:gd name="T6" fmla="*/ 1237 w 1632"/>
                <a:gd name="T7" fmla="*/ 0 h 4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2"/>
                <a:gd name="T13" fmla="*/ 0 h 440"/>
                <a:gd name="T14" fmla="*/ 1632 w 1632"/>
                <a:gd name="T15" fmla="*/ 440 h 4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2" h="440">
                  <a:moveTo>
                    <a:pt x="0" y="144"/>
                  </a:moveTo>
                  <a:cubicBezTo>
                    <a:pt x="100" y="220"/>
                    <a:pt x="200" y="296"/>
                    <a:pt x="384" y="336"/>
                  </a:cubicBezTo>
                  <a:cubicBezTo>
                    <a:pt x="568" y="376"/>
                    <a:pt x="896" y="440"/>
                    <a:pt x="1104" y="384"/>
                  </a:cubicBezTo>
                  <a:cubicBezTo>
                    <a:pt x="1312" y="328"/>
                    <a:pt x="1472" y="164"/>
                    <a:pt x="1632" y="0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5" name="Freeform 14">
              <a:extLst>
                <a:ext uri="{FF2B5EF4-FFF2-40B4-BE49-F238E27FC236}">
                  <a16:creationId xmlns:a16="http://schemas.microsoft.com/office/drawing/2014/main" id="{324039FF-59C5-44D3-9A1F-50916A950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646"/>
              <a:ext cx="716" cy="52"/>
            </a:xfrm>
            <a:custGeom>
              <a:avLst/>
              <a:gdLst>
                <a:gd name="T0" fmla="*/ 0 w 672"/>
                <a:gd name="T1" fmla="*/ 0 h 104"/>
                <a:gd name="T2" fmla="*/ 495 w 672"/>
                <a:gd name="T3" fmla="*/ 6 h 104"/>
                <a:gd name="T4" fmla="*/ 866 w 672"/>
                <a:gd name="T5" fmla="*/ 3 h 104"/>
                <a:gd name="T6" fmla="*/ 0 60000 65536"/>
                <a:gd name="T7" fmla="*/ 0 60000 65536"/>
                <a:gd name="T8" fmla="*/ 0 60000 65536"/>
                <a:gd name="T9" fmla="*/ 0 w 672"/>
                <a:gd name="T10" fmla="*/ 0 h 104"/>
                <a:gd name="T11" fmla="*/ 672 w 672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04">
                  <a:moveTo>
                    <a:pt x="0" y="0"/>
                  </a:moveTo>
                  <a:cubicBezTo>
                    <a:pt x="136" y="44"/>
                    <a:pt x="272" y="88"/>
                    <a:pt x="384" y="96"/>
                  </a:cubicBezTo>
                  <a:cubicBezTo>
                    <a:pt x="496" y="104"/>
                    <a:pt x="584" y="76"/>
                    <a:pt x="672" y="48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6" name="Line 15">
              <a:extLst>
                <a:ext uri="{FF2B5EF4-FFF2-40B4-BE49-F238E27FC236}">
                  <a16:creationId xmlns:a16="http://schemas.microsoft.com/office/drawing/2014/main" id="{09A1A886-7788-4BDE-B27E-957732F4B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3" y="2149"/>
              <a:ext cx="2149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7" name="Line 16">
              <a:extLst>
                <a:ext uri="{FF2B5EF4-FFF2-40B4-BE49-F238E27FC236}">
                  <a16:creationId xmlns:a16="http://schemas.microsoft.com/office/drawing/2014/main" id="{E687C6B7-1C42-4A65-B45A-AD7557ABA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4" y="2149"/>
              <a:ext cx="1298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8" name="Line 17">
              <a:extLst>
                <a:ext uri="{FF2B5EF4-FFF2-40B4-BE49-F238E27FC236}">
                  <a16:creationId xmlns:a16="http://schemas.microsoft.com/office/drawing/2014/main" id="{A96E8C10-49FC-4E89-929F-2521E1773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9" y="2149"/>
              <a:ext cx="403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9" name="Line 18">
              <a:extLst>
                <a:ext uri="{FF2B5EF4-FFF2-40B4-BE49-F238E27FC236}">
                  <a16:creationId xmlns:a16="http://schemas.microsoft.com/office/drawing/2014/main" id="{7847F40C-E1A1-4709-8253-8E4EBEC2B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448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0" name="Line 19">
              <a:extLst>
                <a:ext uri="{FF2B5EF4-FFF2-40B4-BE49-F238E27FC236}">
                  <a16:creationId xmlns:a16="http://schemas.microsoft.com/office/drawing/2014/main" id="{8D57D715-E39F-407B-9727-6F9A8A69C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1299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1" name="Line 20">
              <a:extLst>
                <a:ext uri="{FF2B5EF4-FFF2-40B4-BE49-F238E27FC236}">
                  <a16:creationId xmlns:a16="http://schemas.microsoft.com/office/drawing/2014/main" id="{138F0B15-54B6-4FC8-8D16-F3F3747F6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2149"/>
              <a:ext cx="2194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2" name="Text Box 21">
              <a:extLst>
                <a:ext uri="{FF2B5EF4-FFF2-40B4-BE49-F238E27FC236}">
                  <a16:creationId xmlns:a16="http://schemas.microsoft.com/office/drawing/2014/main" id="{B648DA83-0B66-46AE-98A6-7E80097C6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3368"/>
              <a:ext cx="992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am-proj DB </a:t>
              </a:r>
            </a:p>
            <a:p>
              <a:pPr eaLnBrk="1" hangingPunct="1"/>
              <a:r>
                <a:rPr lang="en-US" altLang="en-US" sz="1800"/>
                <a:t>fc</a:t>
              </a:r>
            </a:p>
            <a:p>
              <a:pPr eaLnBrk="1" hangingPunct="1"/>
              <a:r>
                <a:rPr lang="en-US" altLang="en-US" sz="1800"/>
                <a:t>fc</a:t>
              </a:r>
            </a:p>
            <a:p>
              <a:pPr eaLnBrk="1" hangingPunct="1"/>
              <a:r>
                <a:rPr lang="en-US" altLang="en-US" sz="1800"/>
                <a:t>fc</a:t>
              </a:r>
            </a:p>
          </p:txBody>
        </p:sp>
        <p:sp>
          <p:nvSpPr>
            <p:cNvPr id="40983" name="Freeform 22">
              <a:extLst>
                <a:ext uri="{FF2B5EF4-FFF2-40B4-BE49-F238E27FC236}">
                  <a16:creationId xmlns:a16="http://schemas.microsoft.com/office/drawing/2014/main" id="{0B80AEE9-CCB9-4213-B927-D1B20BAFF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3007"/>
              <a:ext cx="538" cy="53"/>
            </a:xfrm>
            <a:custGeom>
              <a:avLst/>
              <a:gdLst>
                <a:gd name="T0" fmla="*/ 0 w 576"/>
                <a:gd name="T1" fmla="*/ 0 h 56"/>
                <a:gd name="T2" fmla="*/ 146 w 576"/>
                <a:gd name="T3" fmla="*/ 39 h 56"/>
                <a:gd name="T4" fmla="*/ 328 w 576"/>
                <a:gd name="T5" fmla="*/ 39 h 56"/>
                <a:gd name="T6" fmla="*/ 439 w 576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56"/>
                <a:gd name="T14" fmla="*/ 576 w 576"/>
                <a:gd name="T15" fmla="*/ 56 h 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56">
                  <a:moveTo>
                    <a:pt x="0" y="0"/>
                  </a:moveTo>
                  <a:cubicBezTo>
                    <a:pt x="60" y="20"/>
                    <a:pt x="120" y="40"/>
                    <a:pt x="192" y="48"/>
                  </a:cubicBezTo>
                  <a:cubicBezTo>
                    <a:pt x="264" y="56"/>
                    <a:pt x="368" y="56"/>
                    <a:pt x="432" y="48"/>
                  </a:cubicBezTo>
                  <a:cubicBezTo>
                    <a:pt x="496" y="40"/>
                    <a:pt x="536" y="20"/>
                    <a:pt x="576" y="0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4" name="Line 23">
              <a:extLst>
                <a:ext uri="{FF2B5EF4-FFF2-40B4-BE49-F238E27FC236}">
                  <a16:creationId xmlns:a16="http://schemas.microsoft.com/office/drawing/2014/main" id="{4FD7C27E-907C-4D5D-88C4-00FDB46EA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3097"/>
              <a:ext cx="0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5" name="Freeform 24">
              <a:extLst>
                <a:ext uri="{FF2B5EF4-FFF2-40B4-BE49-F238E27FC236}">
                  <a16:creationId xmlns:a16="http://schemas.microsoft.com/office/drawing/2014/main" id="{CFFEA7D2-7B55-4CE6-B333-C13C2C279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3007"/>
              <a:ext cx="761" cy="632"/>
            </a:xfrm>
            <a:custGeom>
              <a:avLst/>
              <a:gdLst>
                <a:gd name="T0" fmla="*/ 548 w 776"/>
                <a:gd name="T1" fmla="*/ 0 h 672"/>
                <a:gd name="T2" fmla="*/ 636 w 776"/>
                <a:gd name="T3" fmla="*/ 150 h 672"/>
                <a:gd name="T4" fmla="*/ 60 w 776"/>
                <a:gd name="T5" fmla="*/ 338 h 672"/>
                <a:gd name="T6" fmla="*/ 280 w 776"/>
                <a:gd name="T7" fmla="*/ 526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6"/>
                <a:gd name="T13" fmla="*/ 0 h 672"/>
                <a:gd name="T14" fmla="*/ 776 w 776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6" name="Freeform 25">
              <a:extLst>
                <a:ext uri="{FF2B5EF4-FFF2-40B4-BE49-F238E27FC236}">
                  <a16:creationId xmlns:a16="http://schemas.microsoft.com/office/drawing/2014/main" id="{05C9E349-DA3D-404A-BFB3-42C09239A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826"/>
              <a:ext cx="761" cy="994"/>
            </a:xfrm>
            <a:custGeom>
              <a:avLst/>
              <a:gdLst>
                <a:gd name="T0" fmla="*/ 548 w 776"/>
                <a:gd name="T1" fmla="*/ 0 h 672"/>
                <a:gd name="T2" fmla="*/ 636 w 776"/>
                <a:gd name="T3" fmla="*/ 919 h 672"/>
                <a:gd name="T4" fmla="*/ 60 w 776"/>
                <a:gd name="T5" fmla="*/ 2068 h 672"/>
                <a:gd name="T6" fmla="*/ 280 w 776"/>
                <a:gd name="T7" fmla="*/ 3216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6"/>
                <a:gd name="T13" fmla="*/ 0 h 672"/>
                <a:gd name="T14" fmla="*/ 776 w 776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7" name="Freeform 26">
              <a:extLst>
                <a:ext uri="{FF2B5EF4-FFF2-40B4-BE49-F238E27FC236}">
                  <a16:creationId xmlns:a16="http://schemas.microsoft.com/office/drawing/2014/main" id="{A80011CE-DA48-49B8-AC3C-1677E2BA9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2646"/>
              <a:ext cx="850" cy="1355"/>
            </a:xfrm>
            <a:custGeom>
              <a:avLst/>
              <a:gdLst>
                <a:gd name="T0" fmla="*/ 852 w 776"/>
                <a:gd name="T1" fmla="*/ 0 h 672"/>
                <a:gd name="T2" fmla="*/ 991 w 776"/>
                <a:gd name="T3" fmla="*/ 3172 h 672"/>
                <a:gd name="T4" fmla="*/ 92 w 776"/>
                <a:gd name="T5" fmla="*/ 7140 h 672"/>
                <a:gd name="T6" fmla="*/ 438 w 776"/>
                <a:gd name="T7" fmla="*/ 11108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6"/>
                <a:gd name="T13" fmla="*/ 0 h 672"/>
                <a:gd name="T14" fmla="*/ 776 w 776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6" h="672">
                  <a:moveTo>
                    <a:pt x="592" y="0"/>
                  </a:moveTo>
                  <a:cubicBezTo>
                    <a:pt x="684" y="60"/>
                    <a:pt x="776" y="120"/>
                    <a:pt x="688" y="192"/>
                  </a:cubicBezTo>
                  <a:cubicBezTo>
                    <a:pt x="600" y="264"/>
                    <a:pt x="128" y="352"/>
                    <a:pt x="64" y="432"/>
                  </a:cubicBezTo>
                  <a:cubicBezTo>
                    <a:pt x="0" y="512"/>
                    <a:pt x="152" y="592"/>
                    <a:pt x="304" y="672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8" name="Text Box 27">
              <a:extLst>
                <a:ext uri="{FF2B5EF4-FFF2-40B4-BE49-F238E27FC236}">
                  <a16:creationId xmlns:a16="http://schemas.microsoft.com/office/drawing/2014/main" id="{726E4711-FE11-4A7E-92B2-D07872A66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6" y="3368"/>
              <a:ext cx="983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800" b="1" i="1" u="sng"/>
                <a:t>cm-proj DB </a:t>
              </a:r>
            </a:p>
            <a:p>
              <a:pPr eaLnBrk="1" hangingPunct="1"/>
              <a:r>
                <a:rPr lang="en-US" altLang="en-US" sz="1800"/>
                <a:t>f</a:t>
              </a:r>
            </a:p>
            <a:p>
              <a:pPr eaLnBrk="1" hangingPunct="1"/>
              <a:r>
                <a:rPr lang="en-US" altLang="en-US" sz="1800"/>
                <a:t>f</a:t>
              </a:r>
            </a:p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0989" name="Line 28">
              <a:extLst>
                <a:ext uri="{FF2B5EF4-FFF2-40B4-BE49-F238E27FC236}">
                  <a16:creationId xmlns:a16="http://schemas.microsoft.com/office/drawing/2014/main" id="{652B1FE6-D259-4BFA-894C-7AF2C11AA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639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90" name="Line 29">
              <a:extLst>
                <a:ext uri="{FF2B5EF4-FFF2-40B4-BE49-F238E27FC236}">
                  <a16:creationId xmlns:a16="http://schemas.microsoft.com/office/drawing/2014/main" id="{D7318D25-1873-474D-A499-08AFEE255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820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91" name="Line 30">
              <a:extLst>
                <a:ext uri="{FF2B5EF4-FFF2-40B4-BE49-F238E27FC236}">
                  <a16:creationId xmlns:a16="http://schemas.microsoft.com/office/drawing/2014/main" id="{5AA7351C-A28C-4756-9508-975E7F1A7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956"/>
              <a:ext cx="89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92" name="Line 31">
              <a:extLst>
                <a:ext uri="{FF2B5EF4-FFF2-40B4-BE49-F238E27FC236}">
                  <a16:creationId xmlns:a16="http://schemas.microsoft.com/office/drawing/2014/main" id="{B011996A-5377-4009-A2E2-47A069784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" y="3097"/>
              <a:ext cx="1030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93" name="Text Box 32">
              <a:extLst>
                <a:ext uri="{FF2B5EF4-FFF2-40B4-BE49-F238E27FC236}">
                  <a16:creationId xmlns:a16="http://schemas.microsoft.com/office/drawing/2014/main" id="{9FA8DD38-F1E8-4240-926F-9631F7F7D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3448"/>
              <a:ext cx="2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2800"/>
                <a:t>…</a:t>
              </a:r>
            </a:p>
          </p:txBody>
        </p:sp>
        <p:sp>
          <p:nvSpPr>
            <p:cNvPr id="40994" name="Freeform 33">
              <a:extLst>
                <a:ext uri="{FF2B5EF4-FFF2-40B4-BE49-F238E27FC236}">
                  <a16:creationId xmlns:a16="http://schemas.microsoft.com/office/drawing/2014/main" id="{7EB70B8A-CD83-40A6-9766-61AF8EB4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832"/>
              <a:ext cx="1440" cy="101"/>
            </a:xfrm>
            <a:custGeom>
              <a:avLst/>
              <a:gdLst>
                <a:gd name="T0" fmla="*/ 0 w 576"/>
                <a:gd name="T1" fmla="*/ 0 h 56"/>
                <a:gd name="T2" fmla="*/ 7500 w 576"/>
                <a:gd name="T3" fmla="*/ 510 h 56"/>
                <a:gd name="T4" fmla="*/ 16875 w 576"/>
                <a:gd name="T5" fmla="*/ 510 h 56"/>
                <a:gd name="T6" fmla="*/ 22500 w 576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56"/>
                <a:gd name="T14" fmla="*/ 576 w 576"/>
                <a:gd name="T15" fmla="*/ 56 h 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56">
                  <a:moveTo>
                    <a:pt x="0" y="0"/>
                  </a:moveTo>
                  <a:cubicBezTo>
                    <a:pt x="60" y="20"/>
                    <a:pt x="120" y="40"/>
                    <a:pt x="192" y="48"/>
                  </a:cubicBezTo>
                  <a:cubicBezTo>
                    <a:pt x="264" y="56"/>
                    <a:pt x="368" y="56"/>
                    <a:pt x="432" y="48"/>
                  </a:cubicBezTo>
                  <a:cubicBezTo>
                    <a:pt x="496" y="40"/>
                    <a:pt x="536" y="20"/>
                    <a:pt x="576" y="0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061B0F24-3001-4FC2-8918-1EFE37A6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50F509A-FB0D-4CF4-8888-4D2582C06388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69A1D70-4F17-4370-8BF4-925B16522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8163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FP-Growth vs. Apriori: Scalability With the Support Threshold</a:t>
            </a:r>
          </a:p>
        </p:txBody>
      </p:sp>
      <p:graphicFrame>
        <p:nvGraphicFramePr>
          <p:cNvPr id="41988" name="Object 3">
            <a:extLst>
              <a:ext uri="{FF2B5EF4-FFF2-40B4-BE49-F238E27FC236}">
                <a16:creationId xmlns:a16="http://schemas.microsoft.com/office/drawing/2014/main" id="{AA35DA7C-3F5F-4853-8104-693FD1E8B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981200"/>
          <a:ext cx="7620000" cy="455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Chart" r:id="rId4" imgW="4600996" imgH="3286426" progId="Excel.Chart.8">
                  <p:embed/>
                </p:oleObj>
              </mc:Choice>
              <mc:Fallback>
                <p:oleObj name="Chart" r:id="rId4" imgW="4600996" imgH="3286426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620000" cy="455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Text Box 4">
            <a:extLst>
              <a:ext uri="{FF2B5EF4-FFF2-40B4-BE49-F238E27FC236}">
                <a16:creationId xmlns:a16="http://schemas.microsoft.com/office/drawing/2014/main" id="{AAD9EE0C-FAE4-4F9C-A3E8-BD9E8C1F7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81200"/>
            <a:ext cx="289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Data set T25I20D10K</a:t>
            </a:r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>
            <a:extLst>
              <a:ext uri="{FF2B5EF4-FFF2-40B4-BE49-F238E27FC236}">
                <a16:creationId xmlns:a16="http://schemas.microsoft.com/office/drawing/2014/main" id="{0AC5DFA3-BFBD-42B4-9882-A7915FE7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6742D90F-DDC2-4B01-89FB-A2BF9827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1B6C08-E8FC-4A82-8CA8-24C7E9240868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BD65EA2E-15AA-471E-8E2E-40E1662E1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935038"/>
          </a:xfrm>
        </p:spPr>
        <p:txBody>
          <a:bodyPr/>
          <a:lstStyle/>
          <a:p>
            <a:pPr eaLnBrk="1" hangingPunct="1"/>
            <a:r>
              <a:rPr lang="en-US" altLang="en-US" sz="2800"/>
              <a:t>FP-Growth vs. Tree-Projection: Scalability with the Support Threshold</a:t>
            </a:r>
          </a:p>
        </p:txBody>
      </p:sp>
      <p:graphicFrame>
        <p:nvGraphicFramePr>
          <p:cNvPr id="43013" name="Object 3">
            <a:extLst>
              <a:ext uri="{FF2B5EF4-FFF2-40B4-BE49-F238E27FC236}">
                <a16:creationId xmlns:a16="http://schemas.microsoft.com/office/drawing/2014/main" id="{1B6012E9-0F54-47D4-85BC-043F873E4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905000"/>
          <a:ext cx="8382000" cy="504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Chart" r:id="rId4" imgW="4858207" imgH="2791054" progId="Excel.Chart.8">
                  <p:embed/>
                </p:oleObj>
              </mc:Choice>
              <mc:Fallback>
                <p:oleObj name="Chart" r:id="rId4" imgW="4858207" imgH="2791054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8382000" cy="504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Text Box 4">
            <a:extLst>
              <a:ext uri="{FF2B5EF4-FFF2-40B4-BE49-F238E27FC236}">
                <a16:creationId xmlns:a16="http://schemas.microsoft.com/office/drawing/2014/main" id="{4146425A-9F3A-4749-A1E5-7539243D1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Data set T25I20D100K</a:t>
            </a:r>
          </a:p>
        </p:txBody>
      </p:sp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CEF3E5E9-B582-48EF-9FC7-91060DC0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1F1D172-736E-4727-9F9B-F9CDADB8630F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BF150C0-559A-4C50-89B6-E649240B3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22275"/>
            <a:ext cx="9144000" cy="492125"/>
          </a:xfrm>
        </p:spPr>
        <p:txBody>
          <a:bodyPr/>
          <a:lstStyle/>
          <a:p>
            <a:pPr eaLnBrk="1" hangingPunct="1"/>
            <a:r>
              <a:rPr lang="en-US" altLang="en-US" sz="3200"/>
              <a:t>Advantages of the Pattern Growth Approach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5D8009D-1294-4919-B9E6-3C1929184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Divide-and-conquer: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Decompose both the mining task and DB according to the frequent patterns obtained so far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Lead to focused search of smaller databases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Other factors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No candidate generation, no candidate test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Compressed database: FP-tree structure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No repeated scan of entire database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Basic ops: counting local freq items and building sub FP-tree, no pattern search and matching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A good open-source implementation and refinement of FPGrowth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FPGrowth+ (Grahne and J. Zhu, FIMI'03)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2000"/>
          </a:p>
        </p:txBody>
      </p:sp>
    </p:spTree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FB8B33C8-3CE1-4235-BA31-C8CF8AEB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798EF9-E6B2-4C0F-8BA9-AC4895B8F2AA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E025E8E-7EC4-435B-B7FC-ECB505F30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381000"/>
            <a:ext cx="7845425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Further Improvements of Mining Methods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D25BF14-2015-46CA-B609-A8B857A1F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05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/>
              <a:t>AFOPT (Liu, et al. @ KDD’03)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A “push-right” method for mining condensed frequent pattern (CFP) tree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Carpenter (Pan, et al. @ KDD’03)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Mine data sets with small rows but numerous columns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Construct a row-enumeration tree for efficient mining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FPgrowth+ (Grahne and Zhu, FIMI’03)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Efficiently Using Prefix-Trees in Mining Frequent Itemsets, Proc. ICDM'03 Int. Workshop on Frequent Itemset Mining Implementations (FIMI'03),  Melbourne, FL, Nov. 2003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TD-Close (Liu, et al, SDM’06)</a:t>
            </a:r>
          </a:p>
        </p:txBody>
      </p:sp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D8A9D513-2087-42C1-B5E1-54CF77EB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3F7B648-EA2E-4A31-A546-CCB603E15921}" type="slidenum">
              <a:rPr lang="en-US" altLang="en-US" sz="1200"/>
              <a:pPr eaLnBrk="1" hangingPunct="1"/>
              <a:t>43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C1A0A33-67D3-4254-96B1-2661E7F23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83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Extension of Pattern Growth Mining Methodology 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15CEF85-945B-4736-B39E-C09A7D608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334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000"/>
              <a:t>Mining closed frequent itemsets and max-patterns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CLOSET (DMKD’00), FPclose, and FPMax (Grahne &amp; Zhu, Fimi’03)</a:t>
            </a:r>
          </a:p>
          <a:p>
            <a:pPr eaLnBrk="1" hangingPunct="1"/>
            <a:r>
              <a:rPr lang="en-US" altLang="en-US" sz="2000"/>
              <a:t>Mining sequential patterns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PrefixSpan (ICDE’01), CloSpan (SDM’03), BIDE (ICDE’04)</a:t>
            </a:r>
          </a:p>
          <a:p>
            <a:pPr eaLnBrk="1" hangingPunct="1"/>
            <a:r>
              <a:rPr lang="en-US" altLang="en-US" sz="2000"/>
              <a:t>Mining graph patterns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gSpan (ICDM’02), CloseGraph (KDD’03)</a:t>
            </a:r>
          </a:p>
          <a:p>
            <a:pPr eaLnBrk="1" hangingPunct="1"/>
            <a:r>
              <a:rPr lang="en-US" altLang="en-US" sz="2000"/>
              <a:t>Constraint-based mining of frequent patterns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Convertible constraints (ICDE’01), gPrune (PAKDD’03)</a:t>
            </a:r>
          </a:p>
          <a:p>
            <a:pPr eaLnBrk="1" hangingPunct="1"/>
            <a:r>
              <a:rPr lang="en-US" altLang="en-US" sz="2000"/>
              <a:t>Computing iceberg data cubes with complex measures 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H-tree, H-cubing, and Star-cubing (SIGMOD’01, VLDB’03)</a:t>
            </a:r>
          </a:p>
          <a:p>
            <a:pPr eaLnBrk="1" hangingPunct="1"/>
            <a:r>
              <a:rPr lang="en-US" altLang="en-US" sz="2000"/>
              <a:t>Pattern-growth-based Clustering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MaPle (Pei, et al., ICDM’03) </a:t>
            </a:r>
          </a:p>
          <a:p>
            <a:pPr eaLnBrk="1" hangingPunct="1"/>
            <a:r>
              <a:rPr lang="en-US" altLang="en-US" sz="2000"/>
              <a:t>Pattern-Growth-Based Classification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Mining frequent and discriminative patterns (Cheng, et al, ICDE’07)</a:t>
            </a:r>
          </a:p>
        </p:txBody>
      </p:sp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ED2FB96B-FEDF-4A04-B1F5-11A2BFEF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883E26-6279-450A-B294-7EA5F5A7E11A}" type="slidenum">
              <a:rPr lang="en-US" altLang="en-US" sz="1200"/>
              <a:pPr eaLnBrk="1" hangingPunct="1"/>
              <a:t>44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0B3E30C-3CCA-42C0-8DDC-DEF8AECAE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Scalable Frequent Itemset Mining Methods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C0C8DD7-FBCA-4940-9783-08DF15949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240000"/>
              </a:lnSpc>
            </a:pPr>
            <a:r>
              <a:rPr lang="en-US" altLang="en-US" sz="2400"/>
              <a:t>Apriori: A Candidate Generation-and-Test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Improving the Efficiency of Apriori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FPGrowth:  A Frequent Pattern-Growth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ECLAT: Frequent Pattern Mining with Vertical Data Format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Mining Close Frequent Patterns and Maxpatterns</a:t>
            </a:r>
          </a:p>
        </p:txBody>
      </p:sp>
      <p:sp>
        <p:nvSpPr>
          <p:cNvPr id="47109" name="AutoShape 4">
            <a:extLst>
              <a:ext uri="{FF2B5EF4-FFF2-40B4-BE49-F238E27FC236}">
                <a16:creationId xmlns:a16="http://schemas.microsoft.com/office/drawing/2014/main" id="{D5A931CF-8DA2-46B9-970C-983A9FA00E86}"/>
              </a:ext>
            </a:extLst>
          </p:cNvPr>
          <p:cNvSpPr>
            <a:spLocks noChangeArrowheads="1"/>
          </p:cNvSpPr>
          <p:nvPr/>
        </p:nvSpPr>
        <p:spPr bwMode="auto">
          <a:xfrm rot="1206592">
            <a:off x="8001000" y="5105400"/>
            <a:ext cx="533400" cy="485775"/>
          </a:xfrm>
          <a:prstGeom prst="leftArrow">
            <a:avLst>
              <a:gd name="adj1" fmla="val 50000"/>
              <a:gd name="adj2" fmla="val 2745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D29D579E-340A-4EA9-AEAB-F066A148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DA879B2-B9EF-450E-85B0-782021DDC65E}" type="slidenum">
              <a:rPr lang="en-US" altLang="en-US" sz="1200"/>
              <a:pPr eaLnBrk="1" hangingPunct="1"/>
              <a:t>45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B1A61B6-26F6-4264-9DE2-4DED3BE26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</p:spPr>
        <p:txBody>
          <a:bodyPr/>
          <a:lstStyle/>
          <a:p>
            <a:pPr eaLnBrk="1" hangingPunct="1"/>
            <a:r>
              <a:rPr lang="en-US" altLang="en-US" sz="3200"/>
              <a:t>ECLAT: Mining by Exploring Vertical Data Format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8B9DBB1-4DD0-4219-B9BF-010905D1F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Vertical format: t(AB) = {T</a:t>
            </a:r>
            <a:r>
              <a:rPr lang="en-US" altLang="en-US" sz="2000" baseline="-25000"/>
              <a:t>11</a:t>
            </a:r>
            <a:r>
              <a:rPr lang="en-US" altLang="en-US" sz="2000"/>
              <a:t>, T</a:t>
            </a:r>
            <a:r>
              <a:rPr lang="en-US" altLang="en-US" sz="2000" baseline="-25000"/>
              <a:t>25</a:t>
            </a:r>
            <a:r>
              <a:rPr lang="en-US" altLang="en-US" sz="2000"/>
              <a:t>, …}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tid-list: list of trans.-ids containing an itemset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Deriving frequent patterns based on vertical intersections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t(X) = t(Y): X and Y always happen together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t(X) </a:t>
            </a:r>
            <a:r>
              <a:rPr lang="en-US" altLang="en-US" sz="2000">
                <a:sym typeface="Symbol" panose="05050102010706020507" pitchFamily="18" charset="2"/>
              </a:rPr>
              <a:t> t(Y): transaction having X always has 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>
                <a:sym typeface="Symbol" panose="05050102010706020507" pitchFamily="18" charset="2"/>
              </a:rPr>
              <a:t>Using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diffset</a:t>
            </a:r>
            <a:r>
              <a:rPr lang="en-US" altLang="en-US" sz="2000">
                <a:sym typeface="Symbol" panose="05050102010706020507" pitchFamily="18" charset="2"/>
              </a:rPr>
              <a:t> to accelerate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>
                <a:sym typeface="Symbol" panose="05050102010706020507" pitchFamily="18" charset="2"/>
              </a:rPr>
              <a:t>Only keep track of differences of tids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>
                <a:sym typeface="Symbol" panose="05050102010706020507" pitchFamily="18" charset="2"/>
              </a:rPr>
              <a:t>t(X) = {T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, T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, T</a:t>
            </a:r>
            <a:r>
              <a:rPr lang="en-US" altLang="en-US" sz="2000" baseline="-25000">
                <a:sym typeface="Symbol" panose="05050102010706020507" pitchFamily="18" charset="2"/>
              </a:rPr>
              <a:t>3</a:t>
            </a:r>
            <a:r>
              <a:rPr lang="en-US" altLang="en-US" sz="2000">
                <a:sym typeface="Symbol" panose="05050102010706020507" pitchFamily="18" charset="2"/>
              </a:rPr>
              <a:t>},  t(XY) = {T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, T</a:t>
            </a:r>
            <a:r>
              <a:rPr lang="en-US" altLang="en-US" sz="2000" baseline="-25000">
                <a:sym typeface="Symbol" panose="05050102010706020507" pitchFamily="18" charset="2"/>
              </a:rPr>
              <a:t>3</a:t>
            </a:r>
            <a:r>
              <a:rPr lang="en-US" altLang="en-US" sz="2000">
                <a:sym typeface="Symbol" panose="05050102010706020507" pitchFamily="18" charset="2"/>
              </a:rPr>
              <a:t>}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>
                <a:sym typeface="Symbol" panose="05050102010706020507" pitchFamily="18" charset="2"/>
              </a:rPr>
              <a:t>Diffset (XY, X) = {T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Eclat  (Zaki et al. @KDD’97)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Mining Closed patterns using vertical format:  CHARM (Zaki &amp; Hsiao@SDM’02)</a:t>
            </a:r>
          </a:p>
        </p:txBody>
      </p:sp>
    </p:spTree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7264E69F-2756-489A-910E-563165A3DF33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C9640A0-96E1-4613-8578-14EB74DE7C1E}" type="slidenum">
              <a:rPr lang="en-US" altLang="en-US" sz="1200"/>
              <a:pPr algn="r" eaLnBrk="1" hangingPunct="1"/>
              <a:t>46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1B47F64-C68F-439D-B012-4FAB255EB8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Scalable Frequent Itemset Mining Methods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8EEDCAF-941E-4DAE-8432-A36BA0F422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240000"/>
              </a:lnSpc>
            </a:pPr>
            <a:r>
              <a:rPr lang="en-US" altLang="en-US" sz="2400"/>
              <a:t>Apriori: A Candidate Generation-and-Test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Improving the Efficiency of Apriori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FPGrowth:  A Frequent Pattern-Growth Approach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ECLAT: Frequent Pattern Mining with Vertical Data Format</a:t>
            </a:r>
          </a:p>
          <a:p>
            <a:pPr eaLnBrk="1" hangingPunct="1">
              <a:lnSpc>
                <a:spcPct val="240000"/>
              </a:lnSpc>
            </a:pPr>
            <a:r>
              <a:rPr lang="en-US" altLang="en-US" sz="2400"/>
              <a:t>Mining Close Frequent Patterns and Maxpatterns</a:t>
            </a:r>
          </a:p>
        </p:txBody>
      </p:sp>
      <p:sp>
        <p:nvSpPr>
          <p:cNvPr id="49157" name="AutoShape 4">
            <a:extLst>
              <a:ext uri="{FF2B5EF4-FFF2-40B4-BE49-F238E27FC236}">
                <a16:creationId xmlns:a16="http://schemas.microsoft.com/office/drawing/2014/main" id="{CCC5432C-5E81-4400-A59A-10068FFC51ED}"/>
              </a:ext>
            </a:extLst>
          </p:cNvPr>
          <p:cNvSpPr>
            <a:spLocks noChangeArrowheads="1"/>
          </p:cNvSpPr>
          <p:nvPr/>
        </p:nvSpPr>
        <p:spPr bwMode="auto">
          <a:xfrm rot="1206592">
            <a:off x="7772400" y="6096000"/>
            <a:ext cx="533400" cy="485775"/>
          </a:xfrm>
          <a:prstGeom prst="leftArrow">
            <a:avLst>
              <a:gd name="adj1" fmla="val 50000"/>
              <a:gd name="adj2" fmla="val 2745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6455B24-9248-4ADC-92EC-8A923215D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58200" cy="685800"/>
          </a:xfrm>
        </p:spPr>
        <p:txBody>
          <a:bodyPr/>
          <a:lstStyle/>
          <a:p>
            <a:r>
              <a:rPr lang="en-US" altLang="en-US" sz="3200"/>
              <a:t>Mining Frequent Closed Patterns: CLOSET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01E7B27-0455-4DAC-9491-29CDCE594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726488" cy="5105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Flist: list of all frequent items in support ascending order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Flist: d-a-f-e-c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Divide search space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Patterns having d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Patterns having d but no a, etc.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Find frequent closed pattern recursively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Every transaction having d also has </a:t>
            </a:r>
            <a:r>
              <a:rPr lang="en-US" altLang="en-US" sz="2400" i="1"/>
              <a:t>cfa</a:t>
            </a:r>
            <a:r>
              <a:rPr lang="en-US" altLang="en-US" sz="2400"/>
              <a:t> </a:t>
            </a: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 i="1">
                <a:sym typeface="Wingdings" panose="05000000000000000000" pitchFamily="2" charset="2"/>
              </a:rPr>
              <a:t>cfad</a:t>
            </a:r>
            <a:r>
              <a:rPr lang="en-US" altLang="en-US" sz="2400">
                <a:sym typeface="Wingdings" panose="05000000000000000000" pitchFamily="2" charset="2"/>
              </a:rPr>
              <a:t> is a frequent closed pattern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J. Pei, J. Han &amp; R. Mao. “CLOSET: An Efficient Algorithm for Mining Frequent Closed Itemsets", DMKD'00.</a:t>
            </a:r>
          </a:p>
        </p:txBody>
      </p:sp>
      <p:graphicFrame>
        <p:nvGraphicFramePr>
          <p:cNvPr id="157700" name="Group 4">
            <a:extLst>
              <a:ext uri="{FF2B5EF4-FFF2-40B4-BE49-F238E27FC236}">
                <a16:creationId xmlns:a16="http://schemas.microsoft.com/office/drawing/2014/main" id="{10835CFB-EBAE-4BE3-824C-315955B3254F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2438400"/>
          <a:ext cx="1905000" cy="171926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03" name="Text Box 27">
            <a:extLst>
              <a:ext uri="{FF2B5EF4-FFF2-40B4-BE49-F238E27FC236}">
                <a16:creationId xmlns:a16="http://schemas.microsoft.com/office/drawing/2014/main" id="{8BDA9E6C-F806-49A4-A649-79DA0B0B5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057400"/>
            <a:ext cx="1433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Min_sup=2</a:t>
            </a:r>
          </a:p>
        </p:txBody>
      </p:sp>
    </p:spTree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132C935-534C-4B3C-8A2F-A0013E1F6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33400"/>
          </a:xfrm>
        </p:spPr>
        <p:txBody>
          <a:bodyPr/>
          <a:lstStyle/>
          <a:p>
            <a:r>
              <a:rPr lang="en-US" altLang="en-US" sz="2800">
                <a:solidFill>
                  <a:srgbClr val="000099"/>
                </a:solidFill>
              </a:rPr>
              <a:t>CLOSET+: Mining Closed Itemsets by Pattern-Growth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330F234-33C0-4862-BBCD-FA0FB75E7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5130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200"/>
              <a:t>Itemset merging: if Y appears in every occurrence of X, then Y is merged with X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Sub-itemset pruning: if Y </a:t>
            </a:r>
            <a:r>
              <a:rPr lang="he-IL" altLang="en-US" sz="2200"/>
              <a:t>כ</a:t>
            </a:r>
            <a:r>
              <a:rPr lang="en-US" altLang="en-US" sz="2200"/>
              <a:t> X, and sup(X) = sup(Y), X and all of X’s descendants in the set enumeration tree can be pruned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Hybrid tree projection</a:t>
            </a:r>
          </a:p>
          <a:p>
            <a:pPr lvl="1">
              <a:lnSpc>
                <a:spcPct val="120000"/>
              </a:lnSpc>
            </a:pPr>
            <a:r>
              <a:rPr lang="en-US" altLang="en-US" sz="2200"/>
              <a:t>Bottom-up physical tree-projection</a:t>
            </a:r>
          </a:p>
          <a:p>
            <a:pPr lvl="1">
              <a:lnSpc>
                <a:spcPct val="120000"/>
              </a:lnSpc>
            </a:pPr>
            <a:r>
              <a:rPr lang="en-US" altLang="en-US" sz="2200"/>
              <a:t>Top-down pseudo tree-projection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Item skipping: if a local frequent item has the same support in several header tables at different levels, one can prune it from the header table at higher levels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Efficient subset checking</a:t>
            </a:r>
          </a:p>
        </p:txBody>
      </p:sp>
    </p:spTree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615F88A-6F1B-4D71-AA8B-3070D5FC0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762000"/>
          </a:xfrm>
        </p:spPr>
        <p:txBody>
          <a:bodyPr/>
          <a:lstStyle/>
          <a:p>
            <a:r>
              <a:rPr lang="en-US" altLang="en-US"/>
              <a:t>MaxMiner: Mining Max-Patterns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9CED3F7-0824-4329-9C5F-AE571FEA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97888" cy="5181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1</a:t>
            </a:r>
            <a:r>
              <a:rPr lang="en-US" altLang="en-US" sz="2400" baseline="30000"/>
              <a:t>st</a:t>
            </a:r>
            <a:r>
              <a:rPr lang="en-US" altLang="en-US" sz="2400"/>
              <a:t> scan: find frequent items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A, B, C, D, E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2</a:t>
            </a:r>
            <a:r>
              <a:rPr lang="en-US" altLang="en-US" sz="2400" baseline="30000"/>
              <a:t>nd</a:t>
            </a:r>
            <a:r>
              <a:rPr lang="en-US" altLang="en-US" sz="2400"/>
              <a:t> scan: find support for 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AB, AC, AD, AE, </a:t>
            </a:r>
            <a:r>
              <a:rPr lang="en-US" altLang="en-US" sz="2400">
                <a:solidFill>
                  <a:schemeClr val="folHlink"/>
                </a:solidFill>
              </a:rPr>
              <a:t>ABCDE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BC, BD, BE, </a:t>
            </a:r>
            <a:r>
              <a:rPr lang="en-US" altLang="en-US" sz="2400">
                <a:solidFill>
                  <a:schemeClr val="folHlink"/>
                </a:solidFill>
              </a:rPr>
              <a:t>BCDE</a:t>
            </a:r>
          </a:p>
          <a:p>
            <a:pPr lvl="1">
              <a:lnSpc>
                <a:spcPct val="120000"/>
              </a:lnSpc>
            </a:pPr>
            <a:r>
              <a:rPr lang="en-US" altLang="en-US" sz="2400"/>
              <a:t>CD, CE, </a:t>
            </a:r>
            <a:r>
              <a:rPr lang="en-US" altLang="en-US" sz="2400">
                <a:solidFill>
                  <a:schemeClr val="folHlink"/>
                </a:solidFill>
              </a:rPr>
              <a:t>CDE</a:t>
            </a:r>
            <a:r>
              <a:rPr lang="en-US" altLang="en-US" sz="2400"/>
              <a:t>, DE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Since BCDE is a max-pattern, no need to check BCD, BDE, CDE in later scan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R. Bayardo. </a:t>
            </a:r>
            <a:r>
              <a:rPr lang="en-US" altLang="en-US" sz="2400">
                <a:solidFill>
                  <a:schemeClr val="folHlink"/>
                </a:solidFill>
              </a:rPr>
              <a:t>Efficiently mining long patterns from databases</a:t>
            </a:r>
            <a:r>
              <a:rPr lang="en-US" altLang="en-US" sz="2400"/>
              <a:t>. </a:t>
            </a:r>
            <a:r>
              <a:rPr lang="en-US" altLang="en-US" sz="2400" i="1">
                <a:solidFill>
                  <a:schemeClr val="tx2"/>
                </a:solidFill>
              </a:rPr>
              <a:t>SIGMOD’98</a:t>
            </a:r>
          </a:p>
        </p:txBody>
      </p:sp>
      <p:graphicFrame>
        <p:nvGraphicFramePr>
          <p:cNvPr id="155652" name="Group 4">
            <a:extLst>
              <a:ext uri="{FF2B5EF4-FFF2-40B4-BE49-F238E27FC236}">
                <a16:creationId xmlns:a16="http://schemas.microsoft.com/office/drawing/2014/main" id="{5F667B1A-73A0-404A-8AF3-E72054EE0DA3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1371600"/>
          <a:ext cx="2286000" cy="14636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E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E,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F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45" name="Text Box 21">
            <a:extLst>
              <a:ext uri="{FF2B5EF4-FFF2-40B4-BE49-F238E27FC236}">
                <a16:creationId xmlns:a16="http://schemas.microsoft.com/office/drawing/2014/main" id="{BC27E09E-5F13-4FEC-85FD-8546A98B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581400"/>
            <a:ext cx="2425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chemeClr val="folHlink"/>
                </a:solidFill>
              </a:rPr>
              <a:t>Potential max-patterns</a:t>
            </a:r>
          </a:p>
        </p:txBody>
      </p:sp>
      <p:sp>
        <p:nvSpPr>
          <p:cNvPr id="52246" name="Line 22">
            <a:extLst>
              <a:ext uri="{FF2B5EF4-FFF2-40B4-BE49-F238E27FC236}">
                <a16:creationId xmlns:a16="http://schemas.microsoft.com/office/drawing/2014/main" id="{988CCEEE-F08E-4BB8-B799-7D2347B988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3429000"/>
            <a:ext cx="1676400" cy="3810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47" name="Line 23">
            <a:extLst>
              <a:ext uri="{FF2B5EF4-FFF2-40B4-BE49-F238E27FC236}">
                <a16:creationId xmlns:a16="http://schemas.microsoft.com/office/drawing/2014/main" id="{D9A35189-39AF-4138-BAF5-D8E257A4C5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3886200"/>
            <a:ext cx="2362200" cy="762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48" name="Line 24">
            <a:extLst>
              <a:ext uri="{FF2B5EF4-FFF2-40B4-BE49-F238E27FC236}">
                <a16:creationId xmlns:a16="http://schemas.microsoft.com/office/drawing/2014/main" id="{808D9848-B10D-4BC9-AF6E-7EBAF6A49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114800"/>
            <a:ext cx="2895600" cy="1524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B805F9C-75BA-415E-8F06-44BD40A0B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</p:spPr>
        <p:txBody>
          <a:bodyPr/>
          <a:lstStyle/>
          <a:p>
            <a:r>
              <a:rPr lang="en-US" altLang="en-US" sz="3200"/>
              <a:t>CHARM: Mining by Exploring Vertical Data Format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A719B7C-7051-41BD-BCC4-68E7F76EB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Vertical format: t(AB) = {T</a:t>
            </a:r>
            <a:r>
              <a:rPr lang="en-US" altLang="en-US" sz="2400" baseline="-25000"/>
              <a:t>11</a:t>
            </a:r>
            <a:r>
              <a:rPr lang="en-US" altLang="en-US" sz="2400"/>
              <a:t>, T</a:t>
            </a:r>
            <a:r>
              <a:rPr lang="en-US" altLang="en-US" sz="2400" baseline="-25000"/>
              <a:t>25</a:t>
            </a:r>
            <a:r>
              <a:rPr lang="en-US" altLang="en-US" sz="2400"/>
              <a:t>, …}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tid-list: list of trans.-ids containing an itemset 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Deriving closed patterns based on vertical intersections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t(X) = t(Y): X and Y always happen together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t(X) </a:t>
            </a:r>
            <a:r>
              <a:rPr lang="en-US" altLang="en-US" sz="2400">
                <a:sym typeface="Symbol" panose="05050102010706020507" pitchFamily="18" charset="2"/>
              </a:rPr>
              <a:t> t(Y): transaction having X always has Y</a:t>
            </a:r>
          </a:p>
          <a:p>
            <a:pPr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Using </a:t>
            </a:r>
            <a:r>
              <a:rPr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diffset</a:t>
            </a:r>
            <a:r>
              <a:rPr lang="en-US" altLang="en-US" sz="2400">
                <a:sym typeface="Symbol" panose="05050102010706020507" pitchFamily="18" charset="2"/>
              </a:rPr>
              <a:t> to accelerate mining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Only keep track of differences of tids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t(X) = {T</a:t>
            </a:r>
            <a:r>
              <a:rPr lang="en-US" altLang="en-US" sz="2400" baseline="-25000"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, T</a:t>
            </a:r>
            <a:r>
              <a:rPr lang="en-US" altLang="en-US" sz="2400" baseline="-25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, T</a:t>
            </a:r>
            <a:r>
              <a:rPr lang="en-US" altLang="en-US" sz="2400" baseline="-25000">
                <a:sym typeface="Symbol" panose="05050102010706020507" pitchFamily="18" charset="2"/>
              </a:rPr>
              <a:t>3</a:t>
            </a:r>
            <a:r>
              <a:rPr lang="en-US" altLang="en-US" sz="2400">
                <a:sym typeface="Symbol" panose="05050102010706020507" pitchFamily="18" charset="2"/>
              </a:rPr>
              <a:t>},  t(XY) = {T</a:t>
            </a:r>
            <a:r>
              <a:rPr lang="en-US" altLang="en-US" sz="2400" baseline="-25000"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, T</a:t>
            </a:r>
            <a:r>
              <a:rPr lang="en-US" altLang="en-US" sz="2400" baseline="-25000">
                <a:sym typeface="Symbol" panose="05050102010706020507" pitchFamily="18" charset="2"/>
              </a:rPr>
              <a:t>3</a:t>
            </a:r>
            <a:r>
              <a:rPr lang="en-US" altLang="en-US" sz="2400">
                <a:sym typeface="Symbol" panose="05050102010706020507" pitchFamily="18" charset="2"/>
              </a:rPr>
              <a:t>} </a:t>
            </a:r>
          </a:p>
          <a:p>
            <a:pPr lvl="1"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Diffset (XY, X) = {T</a:t>
            </a:r>
            <a:r>
              <a:rPr lang="en-US" altLang="en-US" sz="2400" baseline="-25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Eclat/MaxEclat (Zaki et al. @KDD’97), VIPER(P. Shenoy et al.@SIGMOD’00), CHARM (Zaki &amp; Hsiao@SDM’02)</a:t>
            </a:r>
          </a:p>
        </p:txBody>
      </p:sp>
    </p:spTree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>
            <a:extLst>
              <a:ext uri="{FF2B5EF4-FFF2-40B4-BE49-F238E27FC236}">
                <a16:creationId xmlns:a16="http://schemas.microsoft.com/office/drawing/2014/main" id="{ECAE3054-3BEA-42E8-B01D-D9B31FE2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229B688-E128-4431-A5AF-8943CB3FA920}" type="slidenum">
              <a:rPr lang="en-US" altLang="en-US" sz="1200"/>
              <a:pPr eaLnBrk="1" hangingPunct="1"/>
              <a:t>51</a:t>
            </a:fld>
            <a:endParaRPr lang="en-US" altLang="en-US" sz="1200"/>
          </a:p>
        </p:txBody>
      </p:sp>
      <p:pic>
        <p:nvPicPr>
          <p:cNvPr id="54275" name="Picture 2" descr="assoc_bar">
            <a:extLst>
              <a:ext uri="{FF2B5EF4-FFF2-40B4-BE49-F238E27FC236}">
                <a16:creationId xmlns:a16="http://schemas.microsoft.com/office/drawing/2014/main" id="{7221EE5B-FB39-4E1D-B41D-D5572250E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3820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3">
            <a:extLst>
              <a:ext uri="{FF2B5EF4-FFF2-40B4-BE49-F238E27FC236}">
                <a16:creationId xmlns:a16="http://schemas.microsoft.com/office/drawing/2014/main" id="{D61E180C-0C13-4B20-889A-73EE68F49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3200">
                <a:solidFill>
                  <a:schemeClr val="tx2"/>
                </a:solidFill>
              </a:rPr>
              <a:t>Visualization of Association Rules: Plane Graph</a:t>
            </a:r>
          </a:p>
        </p:txBody>
      </p:sp>
    </p:spTree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77FC7917-DFEC-4F67-B4CB-E3868BF8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516199-836F-4F22-A039-E1DB6D2AED1D}" type="slidenum">
              <a:rPr lang="en-US" altLang="en-US" sz="1200"/>
              <a:pPr eaLnBrk="1" hangingPunct="1"/>
              <a:t>52</a:t>
            </a:fld>
            <a:endParaRPr lang="en-US" altLang="en-US" sz="1200"/>
          </a:p>
        </p:txBody>
      </p:sp>
      <p:pic>
        <p:nvPicPr>
          <p:cNvPr id="55299" name="Picture 1026" descr="assoc_ball">
            <a:extLst>
              <a:ext uri="{FF2B5EF4-FFF2-40B4-BE49-F238E27FC236}">
                <a16:creationId xmlns:a16="http://schemas.microsoft.com/office/drawing/2014/main" id="{97035F91-DD5E-4815-9F73-9007590F4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82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1027">
            <a:extLst>
              <a:ext uri="{FF2B5EF4-FFF2-40B4-BE49-F238E27FC236}">
                <a16:creationId xmlns:a16="http://schemas.microsoft.com/office/drawing/2014/main" id="{22D90C88-7A09-4B7E-879F-E6029DC2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61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3200">
                <a:solidFill>
                  <a:schemeClr val="tx2"/>
                </a:solidFill>
              </a:rPr>
              <a:t>Visualization of Association Rules: Rule Graph</a:t>
            </a:r>
          </a:p>
        </p:txBody>
      </p:sp>
    </p:spTree>
  </p:cSld>
  <p:clrMapOvr>
    <a:masterClrMapping/>
  </p:clrMapOvr>
  <p:transition spd="med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>
            <a:extLst>
              <a:ext uri="{FF2B5EF4-FFF2-40B4-BE49-F238E27FC236}">
                <a16:creationId xmlns:a16="http://schemas.microsoft.com/office/drawing/2014/main" id="{F2491FC1-E77C-48A5-8C75-881B0D6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F754B6B-5644-4FF9-B960-176D4650F9E1}" type="slidenum">
              <a:rPr lang="en-US" altLang="en-US" sz="1200"/>
              <a:pPr eaLnBrk="1" hangingPunct="1"/>
              <a:t>53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2892BF6-695C-4E3C-848E-8252985EA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391400" cy="1066800"/>
          </a:xfrm>
        </p:spPr>
        <p:txBody>
          <a:bodyPr/>
          <a:lstStyle/>
          <a:p>
            <a:pPr eaLnBrk="1" hangingPunct="1"/>
            <a:r>
              <a:rPr lang="en-US" altLang="en-US"/>
              <a:t>Visualization of Association Rules </a:t>
            </a:r>
            <a:br>
              <a:rPr lang="en-US" altLang="en-US"/>
            </a:br>
            <a:r>
              <a:rPr lang="en-US" altLang="en-US"/>
              <a:t>(SGI/MineSet 3.0)</a:t>
            </a:r>
            <a:endParaRPr lang="en-US" altLang="en-US" b="1"/>
          </a:p>
        </p:txBody>
      </p:sp>
      <p:pic>
        <p:nvPicPr>
          <p:cNvPr id="56324" name="Picture 3">
            <a:extLst>
              <a:ext uri="{FF2B5EF4-FFF2-40B4-BE49-F238E27FC236}">
                <a16:creationId xmlns:a16="http://schemas.microsoft.com/office/drawing/2014/main" id="{D9449E57-E99C-44B6-9E7E-0AC4AAD64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6">
            <a:extLst>
              <a:ext uri="{FF2B5EF4-FFF2-40B4-BE49-F238E27FC236}">
                <a16:creationId xmlns:a16="http://schemas.microsoft.com/office/drawing/2014/main" id="{2D1E0447-3341-4D6E-8A07-305A6622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2AB2C89-7084-4D7D-AEDD-F0D8D9FC2070}" type="slidenum">
              <a:rPr lang="en-US" altLang="en-US" sz="1200"/>
              <a:pPr eaLnBrk="1" hangingPunct="1"/>
              <a:t>54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8FC9345-27F3-43CE-AE6D-1B21174F8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5: Mining Frequent Patterns, Association and Correlations: Basic Concepts and Methods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57E82D8-9D34-4D36-A860-021F94F410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458200" cy="51054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Basic Concepts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Frequent Itemset Mining Methods 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Which Patterns Are Interesting?—Pattern Evaluation Methods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57349" name="AutoShape 4">
            <a:extLst>
              <a:ext uri="{FF2B5EF4-FFF2-40B4-BE49-F238E27FC236}">
                <a16:creationId xmlns:a16="http://schemas.microsoft.com/office/drawing/2014/main" id="{C2BCEB75-C974-4C7F-82FE-60504E673B6F}"/>
              </a:ext>
            </a:extLst>
          </p:cNvPr>
          <p:cNvSpPr>
            <a:spLocks noChangeArrowheads="1"/>
          </p:cNvSpPr>
          <p:nvPr/>
        </p:nvSpPr>
        <p:spPr bwMode="auto">
          <a:xfrm rot="-1053010">
            <a:off x="7894638" y="3498850"/>
            <a:ext cx="522287" cy="381000"/>
          </a:xfrm>
          <a:prstGeom prst="leftArrow">
            <a:avLst>
              <a:gd name="adj1" fmla="val 50000"/>
              <a:gd name="adj2" fmla="val 34271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7">
            <a:extLst>
              <a:ext uri="{FF2B5EF4-FFF2-40B4-BE49-F238E27FC236}">
                <a16:creationId xmlns:a16="http://schemas.microsoft.com/office/drawing/2014/main" id="{30322383-2F0A-4DEC-8B04-F98289A0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EAF503-2C22-44CA-870D-42C38713CEF2}" type="slidenum">
              <a:rPr lang="en-US" altLang="en-US" sz="1200"/>
              <a:pPr eaLnBrk="1" hangingPunct="1"/>
              <a:t>55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61E1FAF-3AC1-4898-85D7-3FA349993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Interestingness Measure: Correlations (Lift)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62861E-37FC-448B-8875-B1AC437A98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534400" cy="28956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 i="1"/>
              <a:t>play basketball</a:t>
            </a:r>
            <a:r>
              <a:rPr lang="en-US" altLang="en-US" sz="2000"/>
              <a:t>  </a:t>
            </a:r>
            <a:r>
              <a:rPr lang="en-US" altLang="en-US" sz="2000">
                <a:sym typeface="Symbol" panose="05050102010706020507" pitchFamily="18" charset="2"/>
              </a:rPr>
              <a:t> </a:t>
            </a:r>
            <a:r>
              <a:rPr lang="en-US" altLang="en-US" sz="2000" i="1">
                <a:sym typeface="Symbol" panose="05050102010706020507" pitchFamily="18" charset="2"/>
              </a:rPr>
              <a:t>eat cereal</a:t>
            </a:r>
            <a:r>
              <a:rPr lang="en-US" altLang="en-US" sz="2000">
                <a:sym typeface="Symbol" panose="05050102010706020507" pitchFamily="18" charset="2"/>
              </a:rPr>
              <a:t> [40%, 66.7%]  is misleading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>
                <a:sym typeface="Symbol" panose="05050102010706020507" pitchFamily="18" charset="2"/>
              </a:rPr>
              <a:t>The overall % of students eating cereal is 75% &gt; 66.7%.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i="1"/>
              <a:t>play basketball</a:t>
            </a:r>
            <a:r>
              <a:rPr lang="en-US" altLang="en-US" sz="2000"/>
              <a:t>  </a:t>
            </a:r>
            <a:r>
              <a:rPr lang="en-US" altLang="en-US" sz="2000">
                <a:sym typeface="Symbol" panose="05050102010706020507" pitchFamily="18" charset="2"/>
              </a:rPr>
              <a:t> </a:t>
            </a:r>
            <a:r>
              <a:rPr lang="en-US" altLang="en-US" sz="2000" i="1">
                <a:sym typeface="Symbol" panose="05050102010706020507" pitchFamily="18" charset="2"/>
              </a:rPr>
              <a:t>not eat cereal</a:t>
            </a:r>
            <a:r>
              <a:rPr lang="en-US" altLang="en-US" sz="2000">
                <a:sym typeface="Symbol" panose="05050102010706020507" pitchFamily="18" charset="2"/>
              </a:rPr>
              <a:t> [20%, 33.3%] is more accurate, although with lower support and confidence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>
                <a:sym typeface="Symbol" panose="05050102010706020507" pitchFamily="18" charset="2"/>
              </a:rPr>
              <a:t>Measure of dependent/correlated events: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lift</a:t>
            </a:r>
          </a:p>
        </p:txBody>
      </p:sp>
      <p:graphicFrame>
        <p:nvGraphicFramePr>
          <p:cNvPr id="58373" name="Object 36">
            <a:extLst>
              <a:ext uri="{FF2B5EF4-FFF2-40B4-BE49-F238E27FC236}">
                <a16:creationId xmlns:a16="http://schemas.microsoft.com/office/drawing/2014/main" id="{AAE9074B-2CF2-406B-95D5-E9AD74E44FF2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76200" y="4724400"/>
          <a:ext cx="42672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3" name="Equation" r:id="rId4" imgW="2679700" imgH="393700" progId="Equation.3">
                  <p:embed/>
                </p:oleObj>
              </mc:Choice>
              <mc:Fallback>
                <p:oleObj name="Equation" r:id="rId4" imgW="2679700" imgH="3937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724400"/>
                        <a:ext cx="42672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8050" name="Group 50">
            <a:extLst>
              <a:ext uri="{FF2B5EF4-FFF2-40B4-BE49-F238E27FC236}">
                <a16:creationId xmlns:a16="http://schemas.microsoft.com/office/drawing/2014/main" id="{43C5614B-7EDE-4211-BBC1-94719A1B48CD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3776663"/>
          <a:ext cx="4495800" cy="1557337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8401" name="Object 31">
            <a:extLst>
              <a:ext uri="{FF2B5EF4-FFF2-40B4-BE49-F238E27FC236}">
                <a16:creationId xmlns:a16="http://schemas.microsoft.com/office/drawing/2014/main" id="{9831FCBA-14DF-4AAE-B422-A4B272FC66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657600"/>
          <a:ext cx="22098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Equation" r:id="rId6" imgW="1028700" imgH="419100" progId="Equation.3">
                  <p:embed/>
                </p:oleObj>
              </mc:Choice>
              <mc:Fallback>
                <p:oleObj name="Equation" r:id="rId6" imgW="1028700" imgH="4191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657600"/>
                        <a:ext cx="22098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2" name="Object 39">
            <a:extLst>
              <a:ext uri="{FF2B5EF4-FFF2-40B4-BE49-F238E27FC236}">
                <a16:creationId xmlns:a16="http://schemas.microsoft.com/office/drawing/2014/main" id="{AE238611-2BE7-4F9D-B850-A33CC7C0C5FA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76200" y="5464175"/>
          <a:ext cx="4419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5" name="Equation" r:id="rId8" imgW="2755900" imgH="393700" progId="Equation.3">
                  <p:embed/>
                </p:oleObj>
              </mc:Choice>
              <mc:Fallback>
                <p:oleObj name="Equation" r:id="rId8" imgW="2755900" imgH="3937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464175"/>
                        <a:ext cx="44196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6">
            <a:extLst>
              <a:ext uri="{FF2B5EF4-FFF2-40B4-BE49-F238E27FC236}">
                <a16:creationId xmlns:a16="http://schemas.microsoft.com/office/drawing/2014/main" id="{014CDDDF-C46A-4956-A261-848C522E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4F99F20-6D95-4C39-BD36-DF7C02206D0E}" type="slidenum">
              <a:rPr lang="en-US" altLang="en-US" sz="1200"/>
              <a:pPr eaLnBrk="1" hangingPunct="1"/>
              <a:t>56</a:t>
            </a:fld>
            <a:endParaRPr lang="en-US" altLang="en-US" sz="1200"/>
          </a:p>
        </p:txBody>
      </p:sp>
      <p:pic>
        <p:nvPicPr>
          <p:cNvPr id="59395" name="Picture 72">
            <a:extLst>
              <a:ext uri="{FF2B5EF4-FFF2-40B4-BE49-F238E27FC236}">
                <a16:creationId xmlns:a16="http://schemas.microsoft.com/office/drawing/2014/main" id="{74FF4D36-B804-4DE5-BB1A-6B4DC2D89C1C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1295400"/>
            <a:ext cx="6400800" cy="5145088"/>
          </a:xfrm>
          <a:noFill/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0211D62F-5A25-428C-9688-476ACCFB6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04800"/>
            <a:ext cx="95250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Are </a:t>
            </a:r>
            <a:r>
              <a:rPr lang="en-US" altLang="en-US" sz="3200" i="1"/>
              <a:t>lift</a:t>
            </a:r>
            <a:r>
              <a:rPr lang="en-US" altLang="en-US" sz="3200"/>
              <a:t> and </a:t>
            </a:r>
            <a:r>
              <a:rPr lang="en-US" altLang="en-US" sz="3200">
                <a:sym typeface="Symbol" panose="05050102010706020507" pitchFamily="18" charset="2"/>
              </a:rPr>
              <a:t></a:t>
            </a:r>
            <a:r>
              <a:rPr lang="en-US" altLang="en-US" sz="3200" baseline="30000">
                <a:sym typeface="Symbol" panose="05050102010706020507" pitchFamily="18" charset="2"/>
              </a:rPr>
              <a:t>2</a:t>
            </a:r>
            <a:r>
              <a:rPr lang="en-US" altLang="en-US" sz="3200"/>
              <a:t>  Good Measures of Correlation?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43C49C87-DF96-40EB-8AC0-D2D38A4CF6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71600"/>
            <a:ext cx="2971800" cy="49530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1800" i="1"/>
              <a:t>“Buy walnuts  </a:t>
            </a:r>
            <a:r>
              <a:rPr lang="en-US" altLang="en-US" sz="1800">
                <a:sym typeface="Symbol" panose="05050102010706020507" pitchFamily="18" charset="2"/>
              </a:rPr>
              <a:t> </a:t>
            </a:r>
            <a:r>
              <a:rPr lang="en-US" altLang="en-US" sz="1800" i="1">
                <a:sym typeface="Symbol" panose="05050102010706020507" pitchFamily="18" charset="2"/>
              </a:rPr>
              <a:t>buy milk</a:t>
            </a:r>
            <a:r>
              <a:rPr lang="en-US" altLang="en-US" sz="1800">
                <a:sym typeface="Symbol" panose="05050102010706020507" pitchFamily="18" charset="2"/>
              </a:rPr>
              <a:t> [1%, 80%]”  is misleading if 85% of customers buy milk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800">
                <a:sym typeface="Symbol" panose="05050102010706020507" pitchFamily="18" charset="2"/>
              </a:rPr>
              <a:t>Support and confidence are not good to indicate correlations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800">
                <a:sym typeface="Symbol" panose="05050102010706020507" pitchFamily="18" charset="2"/>
              </a:rPr>
              <a:t>Over 20 interestingness measures have been proposed  (see Tan, Kumar, Sritastava @KDD’02)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800"/>
              <a:t>Which are good ones?</a:t>
            </a: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55FDA53A-29DF-43CE-8BD4-452BF4BC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F3E7774-8558-468F-89FB-2443E95DEFA2}" type="slidenum">
              <a:rPr lang="en-US" altLang="en-US" sz="1200"/>
              <a:pPr eaLnBrk="1" hangingPunct="1"/>
              <a:t>57</a:t>
            </a:fld>
            <a:endParaRPr lang="en-US" altLang="en-US" sz="1200"/>
          </a:p>
        </p:txBody>
      </p:sp>
      <p:grpSp>
        <p:nvGrpSpPr>
          <p:cNvPr id="60419" name="Group 12">
            <a:extLst>
              <a:ext uri="{FF2B5EF4-FFF2-40B4-BE49-F238E27FC236}">
                <a16:creationId xmlns:a16="http://schemas.microsoft.com/office/drawing/2014/main" id="{C21DA2B2-6AA1-4D52-BE7C-41BBA8687A7E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144000" cy="5813425"/>
            <a:chOff x="0" y="384"/>
            <a:chExt cx="5760" cy="3662"/>
          </a:xfrm>
        </p:grpSpPr>
        <p:pic>
          <p:nvPicPr>
            <p:cNvPr id="60421" name="Picture 3">
              <a:extLst>
                <a:ext uri="{FF2B5EF4-FFF2-40B4-BE49-F238E27FC236}">
                  <a16:creationId xmlns:a16="http://schemas.microsoft.com/office/drawing/2014/main" id="{CC7887DD-B071-4828-B829-C52FEB3E8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84"/>
              <a:ext cx="5760" cy="3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22" name="Oval 4">
              <a:extLst>
                <a:ext uri="{FF2B5EF4-FFF2-40B4-BE49-F238E27FC236}">
                  <a16:creationId xmlns:a16="http://schemas.microsoft.com/office/drawing/2014/main" id="{12512BED-4B00-4F30-8DE1-AB272903D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1680"/>
              <a:ext cx="38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3" name="Oval 5">
              <a:extLst>
                <a:ext uri="{FF2B5EF4-FFF2-40B4-BE49-F238E27FC236}">
                  <a16:creationId xmlns:a16="http://schemas.microsoft.com/office/drawing/2014/main" id="{4321F5C8-EFEA-4D1E-91D4-DEF01229C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112"/>
              <a:ext cx="38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4" name="Oval 6">
              <a:extLst>
                <a:ext uri="{FF2B5EF4-FFF2-40B4-BE49-F238E27FC236}">
                  <a16:creationId xmlns:a16="http://schemas.microsoft.com/office/drawing/2014/main" id="{F43D5F44-3E4F-4B6D-A1BA-1B5CEEE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640"/>
              <a:ext cx="38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5" name="Oval 7">
              <a:extLst>
                <a:ext uri="{FF2B5EF4-FFF2-40B4-BE49-F238E27FC236}">
                  <a16:creationId xmlns:a16="http://schemas.microsoft.com/office/drawing/2014/main" id="{1783107C-DAEE-4340-9C21-C5ED96846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00"/>
              <a:ext cx="182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6" name="Oval 8">
              <a:extLst>
                <a:ext uri="{FF2B5EF4-FFF2-40B4-BE49-F238E27FC236}">
                  <a16:creationId xmlns:a16="http://schemas.microsoft.com/office/drawing/2014/main" id="{4948C969-6072-4232-9A16-5CDF9C248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680"/>
              <a:ext cx="528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7" name="Oval 9">
              <a:extLst>
                <a:ext uri="{FF2B5EF4-FFF2-40B4-BE49-F238E27FC236}">
                  <a16:creationId xmlns:a16="http://schemas.microsoft.com/office/drawing/2014/main" id="{4D7CF42C-A9D2-49CB-9C03-712237F71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528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428" name="Oval 10">
              <a:extLst>
                <a:ext uri="{FF2B5EF4-FFF2-40B4-BE49-F238E27FC236}">
                  <a16:creationId xmlns:a16="http://schemas.microsoft.com/office/drawing/2014/main" id="{DF6F0D8C-B2AD-4662-9C1A-5F6AB7BE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640"/>
              <a:ext cx="528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0420" name="Rectangle 2">
            <a:extLst>
              <a:ext uri="{FF2B5EF4-FFF2-40B4-BE49-F238E27FC236}">
                <a16:creationId xmlns:a16="http://schemas.microsoft.com/office/drawing/2014/main" id="{177555C0-B5FF-4C05-9360-12DDA0E91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305800" cy="609600"/>
          </a:xfrm>
        </p:spPr>
        <p:txBody>
          <a:bodyPr/>
          <a:lstStyle/>
          <a:p>
            <a:pPr eaLnBrk="1" hangingPunct="1"/>
            <a:r>
              <a:rPr lang="en-US" altLang="en-US"/>
              <a:t>Null-Invariant Measures</a:t>
            </a:r>
          </a:p>
        </p:txBody>
      </p:sp>
    </p:spTree>
  </p:cSld>
  <p:clrMapOvr>
    <a:masterClrMapping/>
  </p:clrMapOvr>
  <p:transition spd="med"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Date Placeholder 3">
            <a:extLst>
              <a:ext uri="{FF2B5EF4-FFF2-40B4-BE49-F238E27FC236}">
                <a16:creationId xmlns:a16="http://schemas.microsoft.com/office/drawing/2014/main" id="{65E75179-8497-4CAC-B294-71464BBC00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AD6E0E6-7068-4785-A3F4-2D86A8043ABC}" type="datetime4">
              <a:rPr lang="en-US" altLang="en-US" sz="1200" smtClean="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61443" name="Footer Placeholder 4">
            <a:extLst>
              <a:ext uri="{FF2B5EF4-FFF2-40B4-BE49-F238E27FC236}">
                <a16:creationId xmlns:a16="http://schemas.microsoft.com/office/drawing/2014/main" id="{3B23390A-A360-4354-8F3D-5EB530E5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61444" name="Slide Number Placeholder 5">
            <a:extLst>
              <a:ext uri="{FF2B5EF4-FFF2-40B4-BE49-F238E27FC236}">
                <a16:creationId xmlns:a16="http://schemas.microsoft.com/office/drawing/2014/main" id="{358CA658-D304-430E-9617-D7F15EB1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4A4FC03-19D3-4A1F-B593-9A82D3D6E749}" type="slidenum">
              <a:rPr lang="en-US" altLang="en-US" sz="1200"/>
              <a:pPr eaLnBrk="1" hangingPunct="1"/>
              <a:t>58</a:t>
            </a:fld>
            <a:endParaRPr lang="en-US" altLang="en-US" sz="1200"/>
          </a:p>
        </p:txBody>
      </p:sp>
      <p:pic>
        <p:nvPicPr>
          <p:cNvPr id="61445" name="Picture 118">
            <a:extLst>
              <a:ext uri="{FF2B5EF4-FFF2-40B4-BE49-F238E27FC236}">
                <a16:creationId xmlns:a16="http://schemas.microsoft.com/office/drawing/2014/main" id="{D06170BD-EB80-4E16-A566-3C8359076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4876800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Oval 113">
            <a:extLst>
              <a:ext uri="{FF2B5EF4-FFF2-40B4-BE49-F238E27FC236}">
                <a16:creationId xmlns:a16="http://schemas.microsoft.com/office/drawing/2014/main" id="{EE69FDF6-F95D-48F1-9F07-B1D1FB605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088" y="2720975"/>
            <a:ext cx="722312" cy="1698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1447" name="Rectangle 2">
            <a:extLst>
              <a:ext uri="{FF2B5EF4-FFF2-40B4-BE49-F238E27FC236}">
                <a16:creationId xmlns:a16="http://schemas.microsoft.com/office/drawing/2014/main" id="{77A593A2-4087-4DCB-9869-5ACAC140E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Comparison of Interestingness Measures</a:t>
            </a:r>
          </a:p>
        </p:txBody>
      </p:sp>
      <p:graphicFrame>
        <p:nvGraphicFramePr>
          <p:cNvPr id="1557508" name="Group 4">
            <a:extLst>
              <a:ext uri="{FF2B5EF4-FFF2-40B4-BE49-F238E27FC236}">
                <a16:creationId xmlns:a16="http://schemas.microsoft.com/office/drawing/2014/main" id="{DF888C7C-33E9-44A1-8B73-C4C60EDB1FF5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2819400"/>
          <a:ext cx="3886200" cy="13716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Milk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Milk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Coffee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~m,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Coffee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m, 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~m, 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~c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~m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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475" name="Rectangle 104">
            <a:extLst>
              <a:ext uri="{FF2B5EF4-FFF2-40B4-BE49-F238E27FC236}">
                <a16:creationId xmlns:a16="http://schemas.microsoft.com/office/drawing/2014/main" id="{50707CA9-659D-4461-934C-009F82BD32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en-US" sz="2000"/>
              <a:t>Null-(transaction) invariance is crucial for correlation analysis</a:t>
            </a:r>
          </a:p>
          <a:p>
            <a:pPr eaLnBrk="1" hangingPunct="1"/>
            <a:r>
              <a:rPr lang="en-US" altLang="en-US" sz="2000"/>
              <a:t>Lift and </a:t>
            </a:r>
            <a:r>
              <a:rPr lang="en-US" altLang="en-US" sz="2000" b="1">
                <a:sym typeface="Symbol" panose="05050102010706020507" pitchFamily="18" charset="2"/>
              </a:rPr>
              <a:t></a:t>
            </a:r>
            <a:r>
              <a:rPr lang="en-US" altLang="en-US" sz="2000" b="1" baseline="30000">
                <a:sym typeface="Symbol" panose="05050102010706020507" pitchFamily="18" charset="2"/>
              </a:rPr>
              <a:t>2</a:t>
            </a:r>
            <a:r>
              <a:rPr lang="en-US" altLang="en-US" sz="2000" b="1">
                <a:sym typeface="Symbol" panose="05050102010706020507" pitchFamily="18" charset="2"/>
              </a:rPr>
              <a:t> </a:t>
            </a:r>
            <a:r>
              <a:rPr lang="en-US" altLang="en-US" sz="2000">
                <a:sym typeface="Symbol" panose="05050102010706020507" pitchFamily="18" charset="2"/>
              </a:rPr>
              <a:t>are not </a:t>
            </a:r>
            <a:r>
              <a:rPr lang="en-US" altLang="en-US" sz="2000"/>
              <a:t>null-invariant</a:t>
            </a:r>
          </a:p>
          <a:p>
            <a:pPr eaLnBrk="1" hangingPunct="1"/>
            <a:r>
              <a:rPr lang="en-US" altLang="en-US" sz="2000"/>
              <a:t>5 null-invariant measures</a:t>
            </a:r>
          </a:p>
        </p:txBody>
      </p:sp>
      <p:pic>
        <p:nvPicPr>
          <p:cNvPr id="61476" name="Picture 106">
            <a:extLst>
              <a:ext uri="{FF2B5EF4-FFF2-40B4-BE49-F238E27FC236}">
                <a16:creationId xmlns:a16="http://schemas.microsoft.com/office/drawing/2014/main" id="{46C07253-496A-421D-BF05-3B411528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10125"/>
            <a:ext cx="91440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7" name="Oval 107">
            <a:extLst>
              <a:ext uri="{FF2B5EF4-FFF2-40B4-BE49-F238E27FC236}">
                <a16:creationId xmlns:a16="http://schemas.microsoft.com/office/drawing/2014/main" id="{CD7A62A5-EBC1-4831-B5EB-225EB28AD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181600"/>
            <a:ext cx="838200" cy="4572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78" name="AutoShape 108">
            <a:extLst>
              <a:ext uri="{FF2B5EF4-FFF2-40B4-BE49-F238E27FC236}">
                <a16:creationId xmlns:a16="http://schemas.microsoft.com/office/drawing/2014/main" id="{87C693D7-EC29-4B15-A7F1-6831800BC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343400"/>
            <a:ext cx="2514600" cy="533400"/>
          </a:xfrm>
          <a:prstGeom prst="wedgeRoundRectCallout">
            <a:avLst>
              <a:gd name="adj1" fmla="val 63005"/>
              <a:gd name="adj2" fmla="val 14196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Verdana" panose="020B0604030504040204" pitchFamily="34" charset="0"/>
                <a:cs typeface="Arial" panose="020B0604020202020204" pitchFamily="34" charset="0"/>
              </a:rPr>
              <a:t>Null-transactions w.r.t. m and c</a:t>
            </a:r>
          </a:p>
        </p:txBody>
      </p:sp>
      <p:sp>
        <p:nvSpPr>
          <p:cNvPr id="61479" name="AutoShape 109">
            <a:extLst>
              <a:ext uri="{FF2B5EF4-FFF2-40B4-BE49-F238E27FC236}">
                <a16:creationId xmlns:a16="http://schemas.microsoft.com/office/drawing/2014/main" id="{8371AD65-F994-4D13-A666-08609DFC3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72000"/>
            <a:ext cx="1981200" cy="381000"/>
          </a:xfrm>
          <a:prstGeom prst="wedgeRoundRectCallout">
            <a:avLst>
              <a:gd name="adj1" fmla="val -102963"/>
              <a:gd name="adj2" fmla="val 16208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Verdana" panose="020B0604030504040204" pitchFamily="34" charset="0"/>
                <a:cs typeface="Arial" panose="020B0604020202020204" pitchFamily="34" charset="0"/>
              </a:rPr>
              <a:t>Null-invariant</a:t>
            </a:r>
          </a:p>
        </p:txBody>
      </p:sp>
      <p:sp>
        <p:nvSpPr>
          <p:cNvPr id="61480" name="Oval 110">
            <a:extLst>
              <a:ext uri="{FF2B5EF4-FFF2-40B4-BE49-F238E27FC236}">
                <a16:creationId xmlns:a16="http://schemas.microsoft.com/office/drawing/2014/main" id="{0024571C-B291-4D48-B28A-1AC510D0D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81600"/>
            <a:ext cx="838200" cy="4572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81" name="Oval 115">
            <a:extLst>
              <a:ext uri="{FF2B5EF4-FFF2-40B4-BE49-F238E27FC236}">
                <a16:creationId xmlns:a16="http://schemas.microsoft.com/office/drawing/2014/main" id="{D02B8CCE-E055-4696-873C-26EA8AE73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15000"/>
            <a:ext cx="2133600" cy="9144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82" name="Oval 116">
            <a:extLst>
              <a:ext uri="{FF2B5EF4-FFF2-40B4-BE49-F238E27FC236}">
                <a16:creationId xmlns:a16="http://schemas.microsoft.com/office/drawing/2014/main" id="{E948E8EB-58F3-4F96-BAC3-B243221D4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91200"/>
            <a:ext cx="4572000" cy="762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83" name="AutoShape 117">
            <a:extLst>
              <a:ext uri="{FF2B5EF4-FFF2-40B4-BE49-F238E27FC236}">
                <a16:creationId xmlns:a16="http://schemas.microsoft.com/office/drawing/2014/main" id="{D7A37B93-2045-4E1E-9C55-0B52F6009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6477000"/>
            <a:ext cx="2743200" cy="304800"/>
          </a:xfrm>
          <a:prstGeom prst="wedgeRoundRectCallout">
            <a:avLst>
              <a:gd name="adj1" fmla="val -32639"/>
              <a:gd name="adj2" fmla="val -156250"/>
              <a:gd name="adj3" fmla="val 16667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Subtle: They disagree</a:t>
            </a:r>
          </a:p>
        </p:txBody>
      </p:sp>
      <p:sp>
        <p:nvSpPr>
          <p:cNvPr id="61484" name="AutoShape 114">
            <a:extLst>
              <a:ext uri="{FF2B5EF4-FFF2-40B4-BE49-F238E27FC236}">
                <a16:creationId xmlns:a16="http://schemas.microsoft.com/office/drawing/2014/main" id="{C6FE5673-6FFF-4827-A228-2EDA92041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343400"/>
            <a:ext cx="2133600" cy="609600"/>
          </a:xfrm>
          <a:prstGeom prst="wedgeRoundRectCallout">
            <a:avLst>
              <a:gd name="adj1" fmla="val -370"/>
              <a:gd name="adj2" fmla="val -115106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600">
                <a:latin typeface="Verdana" panose="020B0604030504040204" pitchFamily="34" charset="0"/>
                <a:cs typeface="Arial" panose="020B0604020202020204" pitchFamily="34" charset="0"/>
              </a:rPr>
              <a:t>Kulczynski measure (1927)</a:t>
            </a:r>
          </a:p>
        </p:txBody>
      </p:sp>
    </p:spTree>
  </p:cSld>
  <p:clrMapOvr>
    <a:masterClrMapping/>
  </p:clrMapOvr>
  <p:transition spd="med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8C7FA5D1-6C8F-44EA-B117-B450F8C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0569F49-B05E-4293-A405-4A5C7139EAE6}" type="slidenum">
              <a:rPr lang="en-US" altLang="en-US" sz="1200"/>
              <a:pPr eaLnBrk="1" hangingPunct="1"/>
              <a:t>59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1C36638-2B27-4DC0-A5F1-23F88A192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Analysis of DBLP Coauthor Relationships</a:t>
            </a:r>
          </a:p>
        </p:txBody>
      </p:sp>
      <p:pic>
        <p:nvPicPr>
          <p:cNvPr id="62468" name="Picture 3">
            <a:extLst>
              <a:ext uri="{FF2B5EF4-FFF2-40B4-BE49-F238E27FC236}">
                <a16:creationId xmlns:a16="http://schemas.microsoft.com/office/drawing/2014/main" id="{1273321D-7CD8-49A4-B34F-2303A7966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98625"/>
            <a:ext cx="899160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Oval 4">
            <a:extLst>
              <a:ext uri="{FF2B5EF4-FFF2-40B4-BE49-F238E27FC236}">
                <a16:creationId xmlns:a16="http://schemas.microsoft.com/office/drawing/2014/main" id="{AC6638F2-D485-4E7E-938B-3C3390EA4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971800"/>
            <a:ext cx="29718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0" name="Oval 5">
            <a:extLst>
              <a:ext uri="{FF2B5EF4-FFF2-40B4-BE49-F238E27FC236}">
                <a16:creationId xmlns:a16="http://schemas.microsoft.com/office/drawing/2014/main" id="{2123F8ED-9A2C-43FE-A131-13DCA572F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429000"/>
            <a:ext cx="30480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1" name="Oval 6">
            <a:extLst>
              <a:ext uri="{FF2B5EF4-FFF2-40B4-BE49-F238E27FC236}">
                <a16:creationId xmlns:a16="http://schemas.microsoft.com/office/drawing/2014/main" id="{2F790B2F-E7EE-48C1-9AAB-64B713C72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886200"/>
            <a:ext cx="28956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2" name="AutoShape 7">
            <a:extLst>
              <a:ext uri="{FF2B5EF4-FFF2-40B4-BE49-F238E27FC236}">
                <a16:creationId xmlns:a16="http://schemas.microsoft.com/office/drawing/2014/main" id="{AED5962A-28AF-413F-9FC2-809FDFCDF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648200"/>
            <a:ext cx="4876800" cy="609600"/>
          </a:xfrm>
          <a:prstGeom prst="wedgeRoundRectCallout">
            <a:avLst>
              <a:gd name="adj1" fmla="val 34019"/>
              <a:gd name="adj2" fmla="val -121356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Verdana" panose="020B0604030504040204" pitchFamily="34" charset="0"/>
                <a:cs typeface="Arial" panose="020B0604020202020204" pitchFamily="34" charset="0"/>
              </a:rPr>
              <a:t>Advisor-advisee relation: Kulc: high, coherence: low, cosine: middle</a:t>
            </a:r>
          </a:p>
        </p:txBody>
      </p:sp>
      <p:sp>
        <p:nvSpPr>
          <p:cNvPr id="62473" name="Oval 8">
            <a:extLst>
              <a:ext uri="{FF2B5EF4-FFF2-40B4-BE49-F238E27FC236}">
                <a16:creationId xmlns:a16="http://schemas.microsoft.com/office/drawing/2014/main" id="{FD218A43-41E2-4034-B6BD-6085BF0BF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828800" cy="2286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4" name="Oval 9">
            <a:extLst>
              <a:ext uri="{FF2B5EF4-FFF2-40B4-BE49-F238E27FC236}">
                <a16:creationId xmlns:a16="http://schemas.microsoft.com/office/drawing/2014/main" id="{275A2988-915B-443F-9367-7F0B43EF2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17526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5" name="Oval 10">
            <a:extLst>
              <a:ext uri="{FF2B5EF4-FFF2-40B4-BE49-F238E27FC236}">
                <a16:creationId xmlns:a16="http://schemas.microsoft.com/office/drawing/2014/main" id="{63D68B5D-1AF0-464F-9DE6-35591CD35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971800"/>
            <a:ext cx="16002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6" name="Rectangle 11">
            <a:extLst>
              <a:ext uri="{FF2B5EF4-FFF2-40B4-BE49-F238E27FC236}">
                <a16:creationId xmlns:a16="http://schemas.microsoft.com/office/drawing/2014/main" id="{A6267645-C501-40CE-8F5E-A25B9A3FA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1600"/>
            <a:ext cx="822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Verdana" panose="020B0604030504040204" pitchFamily="34" charset="0"/>
                <a:cs typeface="Arial" panose="020B0604020202020204" pitchFamily="34" charset="0"/>
              </a:rPr>
              <a:t>Recent DB conferences, removing balanced associations, low sup, etc.</a:t>
            </a:r>
          </a:p>
        </p:txBody>
      </p:sp>
      <p:sp>
        <p:nvSpPr>
          <p:cNvPr id="62477" name="Rectangle 12">
            <a:extLst>
              <a:ext uri="{FF2B5EF4-FFF2-40B4-BE49-F238E27FC236}">
                <a16:creationId xmlns:a16="http://schemas.microsoft.com/office/drawing/2014/main" id="{A2BF295D-BEEB-4D32-8411-40C3BD639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5334000"/>
            <a:ext cx="86106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Tianyi Wu, Yuguo Chen and Jiawei Han, “</a:t>
            </a:r>
            <a:r>
              <a:rPr lang="en-US" altLang="en-US" sz="2000">
                <a:hlinkClick r:id="rId4"/>
              </a:rPr>
              <a:t>Association Mining in Large Databases: A Re-Examination of Its Measures</a:t>
            </a:r>
            <a:r>
              <a:rPr lang="en-US" altLang="en-US" sz="2000"/>
              <a:t>”, Proc. 2007 Int. Conf. Principles and Practice of Knowledge Discovery in Databases (PKDD'07), Sept. 2007</a:t>
            </a:r>
          </a:p>
        </p:txBody>
      </p:sp>
    </p:spTree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7">
            <a:extLst>
              <a:ext uri="{FF2B5EF4-FFF2-40B4-BE49-F238E27FC236}">
                <a16:creationId xmlns:a16="http://schemas.microsoft.com/office/drawing/2014/main" id="{5CB0FF8C-AAAB-49C9-805A-EFCB147A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7788"/>
            <a:ext cx="9080500" cy="139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1" name="Rectangle 2">
            <a:extLst>
              <a:ext uri="{FF2B5EF4-FFF2-40B4-BE49-F238E27FC236}">
                <a16:creationId xmlns:a16="http://schemas.microsoft.com/office/drawing/2014/main" id="{A45E9071-8BD6-4B4D-BCC4-9C9727E3D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Which Null-Invariant Measure Is Better? 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2BB19A24-1097-4A6E-815F-CA3455566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3733800"/>
          </a:xfrm>
        </p:spPr>
        <p:txBody>
          <a:bodyPr/>
          <a:lstStyle/>
          <a:p>
            <a:r>
              <a:rPr lang="en-US" altLang="en-US" sz="2400"/>
              <a:t>IR (Imbalance Ratio): measure the imbalance of two itemsets A and B in rule implications</a:t>
            </a:r>
          </a:p>
          <a:p>
            <a:endParaRPr lang="en-US" altLang="en-US" sz="2400"/>
          </a:p>
          <a:p>
            <a:pPr>
              <a:buFont typeface="Wingdings" panose="05000000000000000000" pitchFamily="2" charset="2"/>
              <a:buNone/>
            </a:pPr>
            <a:endParaRPr lang="en-US" altLang="en-US" sz="2400"/>
          </a:p>
          <a:p>
            <a:r>
              <a:rPr lang="en-US" altLang="en-US" sz="2400"/>
              <a:t>Kulczynski and Imbalance Ratio (IR) together present a clear picture for all the three datasets D</a:t>
            </a:r>
            <a:r>
              <a:rPr lang="en-US" altLang="en-US" sz="2400" baseline="-25000"/>
              <a:t>4</a:t>
            </a:r>
            <a:r>
              <a:rPr lang="en-US" altLang="en-US" sz="2400"/>
              <a:t> through D</a:t>
            </a:r>
            <a:r>
              <a:rPr lang="en-US" altLang="en-US" sz="2400" baseline="-25000"/>
              <a:t>6</a:t>
            </a:r>
          </a:p>
          <a:p>
            <a:pPr lvl="1"/>
            <a:r>
              <a:rPr lang="en-US" altLang="en-US" sz="2400"/>
              <a:t>D</a:t>
            </a:r>
            <a:r>
              <a:rPr lang="en-US" altLang="en-US" sz="2400" baseline="-25000"/>
              <a:t>4  </a:t>
            </a:r>
            <a:r>
              <a:rPr lang="en-US" altLang="en-US" sz="2400"/>
              <a:t>is balanced &amp; neutral</a:t>
            </a:r>
          </a:p>
          <a:p>
            <a:pPr lvl="1"/>
            <a:r>
              <a:rPr lang="en-US" altLang="en-US" sz="2400"/>
              <a:t>D</a:t>
            </a:r>
            <a:r>
              <a:rPr lang="en-US" altLang="en-US" sz="2400" baseline="-25000"/>
              <a:t>5  </a:t>
            </a:r>
            <a:r>
              <a:rPr lang="en-US" altLang="en-US" sz="2400"/>
              <a:t>is imbalanced &amp; neutral</a:t>
            </a:r>
            <a:endParaRPr lang="en-US" altLang="en-US" sz="2400" baseline="-25000"/>
          </a:p>
          <a:p>
            <a:pPr lvl="1"/>
            <a:r>
              <a:rPr lang="en-US" altLang="en-US" sz="2400"/>
              <a:t>D</a:t>
            </a:r>
            <a:r>
              <a:rPr lang="en-US" altLang="en-US" sz="2400" baseline="-25000"/>
              <a:t>6  </a:t>
            </a:r>
            <a:r>
              <a:rPr lang="en-US" altLang="en-US" sz="2400"/>
              <a:t>is very imbalanced &amp; neutral</a:t>
            </a:r>
          </a:p>
        </p:txBody>
      </p:sp>
      <p:pic>
        <p:nvPicPr>
          <p:cNvPr id="63493" name="Picture 5">
            <a:extLst>
              <a:ext uri="{FF2B5EF4-FFF2-40B4-BE49-F238E27FC236}">
                <a16:creationId xmlns:a16="http://schemas.microsoft.com/office/drawing/2014/main" id="{4848F40B-C68C-4CCE-9CDC-07011032A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51050"/>
            <a:ext cx="57150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97F82675-A90C-4796-9907-E3FF17E3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4412C6F-8BA6-486B-8290-337FD223B06F}" type="slidenum">
              <a:rPr lang="en-US" altLang="en-US" sz="1200"/>
              <a:pPr eaLnBrk="1" hangingPunct="1"/>
              <a:t>61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D46ED7B-AF86-4D77-A775-75EF36987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5: Mining Frequent Patterns, Association and Correlations: Basic Concepts and Methods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D19674D-90DD-4219-B398-9101EA8DF3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458200" cy="51054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Basic Concepts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Frequent Itemset Mining Methods 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Which Patterns Are Interesting?—Pattern Evaluation Methods</a:t>
            </a:r>
          </a:p>
          <a:p>
            <a:pPr marL="457200" indent="-457200" eaLnBrk="1" hangingPunct="1">
              <a:lnSpc>
                <a:spcPct val="200000"/>
              </a:lnSpc>
              <a:buSzTx/>
            </a:pPr>
            <a:r>
              <a:rPr lang="en-US" altLang="en-US"/>
              <a:t>Summary</a:t>
            </a:r>
          </a:p>
        </p:txBody>
      </p:sp>
      <p:sp>
        <p:nvSpPr>
          <p:cNvPr id="64517" name="AutoShape 4">
            <a:extLst>
              <a:ext uri="{FF2B5EF4-FFF2-40B4-BE49-F238E27FC236}">
                <a16:creationId xmlns:a16="http://schemas.microsoft.com/office/drawing/2014/main" id="{520DEDB9-254A-4753-85B2-CDE9E3067E32}"/>
              </a:ext>
            </a:extLst>
          </p:cNvPr>
          <p:cNvSpPr>
            <a:spLocks noChangeArrowheads="1"/>
          </p:cNvSpPr>
          <p:nvPr/>
        </p:nvSpPr>
        <p:spPr bwMode="auto">
          <a:xfrm rot="-1053010">
            <a:off x="3017838" y="5327650"/>
            <a:ext cx="522287" cy="381000"/>
          </a:xfrm>
          <a:prstGeom prst="leftArrow">
            <a:avLst>
              <a:gd name="adj1" fmla="val 50000"/>
              <a:gd name="adj2" fmla="val 34271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>
            <a:extLst>
              <a:ext uri="{FF2B5EF4-FFF2-40B4-BE49-F238E27FC236}">
                <a16:creationId xmlns:a16="http://schemas.microsoft.com/office/drawing/2014/main" id="{7DF3AAA0-10FF-4613-8503-2CDFDAED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EE7328-2ABA-4A02-8C21-395652987090}" type="slidenum">
              <a:rPr lang="en-US" altLang="en-US" sz="1200"/>
              <a:pPr eaLnBrk="1" hangingPunct="1"/>
              <a:t>62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95FDF0B-5C59-4A3F-8B38-6C6D96ADF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762000"/>
          </a:xfrm>
          <a:noFill/>
        </p:spPr>
        <p:txBody>
          <a:bodyPr lIns="92075" tIns="46038" rIns="92075" bIns="46038" anchor="ctr"/>
          <a:lstStyle/>
          <a:p>
            <a:pPr marL="1117600" indent="-1117600" eaLnBrk="1" hangingPunct="1"/>
            <a:r>
              <a:rPr lang="en-US" altLang="en-US"/>
              <a:t>Summary</a:t>
            </a:r>
          </a:p>
        </p:txBody>
      </p:sp>
      <p:sp>
        <p:nvSpPr>
          <p:cNvPr id="61446" name="Rectangle 3">
            <a:extLst>
              <a:ext uri="{FF2B5EF4-FFF2-40B4-BE49-F238E27FC236}">
                <a16:creationId xmlns:a16="http://schemas.microsoft.com/office/drawing/2014/main" id="{D701C5E7-914E-44E9-AA5D-5FF38CE2F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029200"/>
          </a:xfrm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20000"/>
              </a:lnSpc>
              <a:defRPr/>
            </a:pPr>
            <a:r>
              <a:rPr lang="en-US" dirty="0"/>
              <a:t>Basic concepts: association rules, support-confident framework, closed and max-patterns</a:t>
            </a:r>
          </a:p>
          <a:p>
            <a:pPr marL="457200" indent="-457200" eaLnBrk="1" hangingPunct="1">
              <a:lnSpc>
                <a:spcPct val="120000"/>
              </a:lnSpc>
              <a:defRPr/>
            </a:pPr>
            <a:r>
              <a:rPr lang="en-US" dirty="0"/>
              <a:t>Scalable frequent pattern mining methods</a:t>
            </a:r>
          </a:p>
          <a:p>
            <a:pPr marL="914400" lvl="1" indent="-457200" eaLnBrk="1" hangingPunct="1">
              <a:lnSpc>
                <a:spcPct val="120000"/>
              </a:lnSpc>
              <a:defRPr/>
            </a:pPr>
            <a:r>
              <a:rPr lang="en-US" dirty="0" err="1">
                <a:solidFill>
                  <a:schemeClr val="folHlink"/>
                </a:solidFill>
              </a:rPr>
              <a:t>Apriori</a:t>
            </a:r>
            <a:r>
              <a:rPr lang="en-US" dirty="0">
                <a:solidFill>
                  <a:schemeClr val="folHlink"/>
                </a:solidFill>
              </a:rPr>
              <a:t> (Candidate generation &amp; test)</a:t>
            </a:r>
          </a:p>
          <a:p>
            <a:pPr marL="914400" lvl="1" indent="-457200" eaLnBrk="1" hangingPunct="1">
              <a:lnSpc>
                <a:spcPct val="120000"/>
              </a:lnSpc>
              <a:defRPr/>
            </a:pPr>
            <a:r>
              <a:rPr lang="en-US" dirty="0">
                <a:solidFill>
                  <a:schemeClr val="folHlink"/>
                </a:solidFill>
              </a:rPr>
              <a:t>Projection-based (</a:t>
            </a:r>
            <a:r>
              <a:rPr lang="en-US" dirty="0" err="1">
                <a:solidFill>
                  <a:schemeClr val="folHlink"/>
                </a:solidFill>
              </a:rPr>
              <a:t>FPgrowth</a:t>
            </a:r>
            <a:r>
              <a:rPr lang="en-US" dirty="0">
                <a:solidFill>
                  <a:schemeClr val="folHlink"/>
                </a:solidFill>
              </a:rPr>
              <a:t>, CLOSET+, ...)</a:t>
            </a:r>
          </a:p>
          <a:p>
            <a:pPr marL="914400" lvl="1" indent="-457200" eaLnBrk="1" hangingPunct="1">
              <a:lnSpc>
                <a:spcPct val="120000"/>
              </a:lnSpc>
              <a:defRPr/>
            </a:pPr>
            <a:r>
              <a:rPr lang="en-US" dirty="0">
                <a:solidFill>
                  <a:schemeClr val="folHlink"/>
                </a:solidFill>
              </a:rPr>
              <a:t>Vertical format approach (ECLAT, CHARM, ...)</a:t>
            </a:r>
          </a:p>
          <a:p>
            <a:pPr marL="457200" indent="-457200" eaLnBrk="1" hangingPunct="1">
              <a:lnSpc>
                <a:spcPct val="120000"/>
              </a:lnSpc>
              <a:buSzTx/>
              <a:buFont typeface="Wingdings" panose="05000000000000000000" pitchFamily="2" charset="2"/>
              <a:buChar char="§"/>
              <a:defRPr/>
            </a:pPr>
            <a:r>
              <a:rPr lang="en-US" dirty="0"/>
              <a:t>Which patterns are interesting? </a:t>
            </a:r>
          </a:p>
          <a:p>
            <a:pPr marL="857250" lvl="1" indent="-457200" eaLnBrk="1" hangingPunct="1">
              <a:lnSpc>
                <a:spcPct val="120000"/>
              </a:lnSpc>
              <a:buSzTx/>
              <a:buFont typeface="Wingdings" panose="05000000000000000000" pitchFamily="2" charset="2"/>
              <a:buChar char="§"/>
              <a:defRPr/>
            </a:pPr>
            <a:r>
              <a:rPr lang="en-US" dirty="0"/>
              <a:t>Pattern evaluation methods</a:t>
            </a:r>
          </a:p>
        </p:txBody>
      </p:sp>
    </p:spTree>
  </p:cSld>
  <p:clrMapOvr>
    <a:masterClrMapping/>
  </p:clrMapOvr>
  <p:transition spd="med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15483604-5D6C-4D35-A750-72151C4B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60222D1-4F27-4606-AB53-C35867C92092}" type="slidenum">
              <a:rPr lang="en-US" altLang="en-US" sz="1200"/>
              <a:pPr eaLnBrk="1" hangingPunct="1"/>
              <a:t>63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159BDF2-4E24-4635-9004-3A432810B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Ref: Basic Concepts of Frequent Pattern Mining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DF1FBB48-B93F-4B30-A934-E9AAEF12B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Association Rules</a:t>
            </a:r>
            <a:r>
              <a:rPr lang="en-US" altLang="en-US" sz="2000"/>
              <a:t>) R. Agrawal, T. Imielinski, and A. Swami.  Mining association rules between sets of items in large databases.  SIGMOD'93.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Max-pattern</a:t>
            </a:r>
            <a:r>
              <a:rPr lang="en-US" altLang="en-US" sz="2000"/>
              <a:t>) R. J. Bayardo. Efficiently mining long patterns from databases. SIGMOD'98.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Closed-pattern</a:t>
            </a:r>
            <a:r>
              <a:rPr lang="en-US" altLang="en-US" sz="2000"/>
              <a:t>) N. Pasquier, Y. Bastide, R. Taouil, and L. Lakhal. Discovering frequent closed itemsets for association rules. ICDT'99.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(</a:t>
            </a:r>
            <a:r>
              <a:rPr lang="en-US" altLang="en-US" sz="2000">
                <a:solidFill>
                  <a:schemeClr val="hlink"/>
                </a:solidFill>
              </a:rPr>
              <a:t>Sequential pattern</a:t>
            </a:r>
            <a:r>
              <a:rPr lang="en-US" altLang="en-US" sz="2000"/>
              <a:t>) R. Agrawal and R. Srikant. Mining sequential patterns. ICDE'95</a:t>
            </a:r>
          </a:p>
        </p:txBody>
      </p:sp>
    </p:spTree>
  </p:cSld>
  <p:clrMapOvr>
    <a:masterClrMapping/>
  </p:clrMapOvr>
  <p:transition spd="med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>
            <a:extLst>
              <a:ext uri="{FF2B5EF4-FFF2-40B4-BE49-F238E27FC236}">
                <a16:creationId xmlns:a16="http://schemas.microsoft.com/office/drawing/2014/main" id="{D8C1C6F2-7FEF-4818-A556-02D37D03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0AAFD1C-6D8F-4CCD-9F22-0AF426808D02}" type="slidenum">
              <a:rPr lang="en-US" altLang="en-US" sz="1200"/>
              <a:pPr eaLnBrk="1" hangingPunct="1"/>
              <a:t>64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5A0D864-FB52-4F35-A71A-2A0E4DC25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Ref: Apriori and Its Improvements</a:t>
            </a:r>
            <a:endParaRPr lang="en-US" altLang="en-US" sz="3200">
              <a:solidFill>
                <a:schemeClr val="tx1"/>
              </a:solidFill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C90E8849-EF10-4DE8-90DA-E3B845EFA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R. Agrawal and R. Srikant. Fast algorithms for mining association rules. VLDB'94.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H. Mannila, H. Toivonen, and A. I. Verkamo. Efficient algorithms for discovering association rules. KDD'94.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A. Savasere, E. Omiecinski, and S. Navathe. An efficient algorithm for mining association rules in large databases. VLDB'95.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J. S. Park, M. S. Chen, and P. S. Yu. An effective hash-based algorithm for mining association rules.  SIGMOD'95.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H. Toivonen.  Sampling large databases for association rules.  VLDB'96.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S. Brin, R. Motwani, J. D. Ullman, and S. Tsur. Dynamic itemset counting and implication rules for market basket analysis. SIGMOD'97.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S. Sarawagi, S. Thomas, and R. Agrawal.  Integrating association rule mining with relational database systems: Alternatives and implications.  SIGMOD'98.</a:t>
            </a:r>
          </a:p>
        </p:txBody>
      </p:sp>
    </p:spTree>
  </p:cSld>
  <p:clrMapOvr>
    <a:masterClrMapping/>
  </p:clrMapOvr>
  <p:transition spd="med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83E9FE95-3FDE-4942-9978-B3FBF8AF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2027F8D-8E45-4417-8F87-C7556F51FF89}" type="slidenum">
              <a:rPr lang="en-US" altLang="en-US" sz="1200"/>
              <a:pPr eaLnBrk="1" hangingPunct="1"/>
              <a:t>65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640E2DE7-476C-4B83-9BD3-6E72075CF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Ref: Depth-First, Projection-Based FP Mining</a:t>
            </a:r>
            <a:endParaRPr lang="en-US" altLang="en-US" sz="3200">
              <a:solidFill>
                <a:schemeClr val="tx1"/>
              </a:solidFill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570F6A7-2A59-49F2-832E-F406A6AD5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R. Agarwal, C. Aggarwal, and V. V. V. Prasad. A tree projection algorithm for generation of frequent itemsets. J. Parallel and Distributed Computing:02.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J. Han, J. Pei, and Y. Yin. Mining frequent patterns without candidate generation</a:t>
            </a:r>
            <a:r>
              <a:rPr lang="en-US" altLang="en-US" sz="1800" i="1"/>
              <a:t>.</a:t>
            </a:r>
            <a:r>
              <a:rPr lang="en-US" altLang="en-US" sz="1800"/>
              <a:t>  SIGMOD’ 00.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>
                <a:cs typeface="Times New Roman" panose="02020603050405020304" pitchFamily="18" charset="0"/>
              </a:rPr>
              <a:t>J. Liu, Y. Pan, K. Wang, and J. Han.  Mining Frequent Item Sets by Opportunistic Projection.  KDD'02.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>
                <a:cs typeface="Times New Roman" panose="02020603050405020304" pitchFamily="18" charset="0"/>
              </a:rPr>
              <a:t>J. Han, J. Wang, Y. Lu, and P. Tzvetkov. Mining Top-K Frequent Closed Patterns without Minimum Support.  ICDM'02.</a:t>
            </a: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J. Wang, J. Han, and J. Pei.  CLOSET+: Searching for the Best Strategies for Mining Frequent Closed Itemsets.  KDD'03.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G. Liu, H. Lu, W. Lou, J. X. Yu.  On Computing, Storing and Querying Frequent Patterns.  KDD'03.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G. Grahne and J. Zhu, Efficiently Using Prefix-Trees in Mining Frequent Itemsets, Proc. ICDM'03 Int. Workshop on Frequent Itemset Mining Implementations (FIMI'03), Melbourne, FL, Nov. 2003</a:t>
            </a:r>
          </a:p>
        </p:txBody>
      </p:sp>
    </p:spTree>
  </p:cSld>
  <p:clrMapOvr>
    <a:masterClrMapping/>
  </p:clrMapOvr>
  <p:transition spd="med"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EE007454-8868-4C59-821E-8FE84637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AA7B69C-CAA5-4E72-A3EC-23823FFD23D9}" type="slidenum">
              <a:rPr lang="en-US" altLang="en-US" sz="1200"/>
              <a:pPr eaLnBrk="1" hangingPunct="1"/>
              <a:t>66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59057DC-1F01-4009-BF69-14BF2E6CF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Vertical Format and Row Enumeration Methods</a:t>
            </a:r>
            <a:endParaRPr lang="en-US" altLang="en-US" sz="2800">
              <a:solidFill>
                <a:schemeClr val="tx1"/>
              </a:solidFill>
            </a:endParaRP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AD67A25-F790-49F7-BA50-D1EF20D5A2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en-US" sz="2000"/>
              <a:t>M. J. Zaki, S. Parthasarathy, M. Ogihara, and W. Li. Parallel algorithm for discovery of association rules. DAMI:97.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2000"/>
              <a:t>Zaki and Hsiao. CHARM: An Efficient Algorithm for Closed Itemset Mining, SDM'02.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2000"/>
              <a:t>C. Bucila, J. Gehrke, D. Kifer, and W. White. DualMiner: A Dual-Pruning Algorithm for Itemsets with Constraints. KDD’02.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2000"/>
              <a:t>F. Pan, G. Cong, A. K. H. Tung, J. Yang, and M. Zaki , CARPENTER: Finding Closed Patterns in Long Biological Datasets. KDD'03.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2000"/>
              <a:t>H. Liu, J. Han, D. Xin, and Z. Shao, Mining Interesting Patterns from Very High Dimensional Data: A Top-Down Row Enumeration Approach, SDM'06.</a:t>
            </a:r>
          </a:p>
        </p:txBody>
      </p:sp>
    </p:spTree>
  </p:cSld>
  <p:clrMapOvr>
    <a:masterClrMapping/>
  </p:clrMapOvr>
  <p:transition spd="med"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>
            <a:extLst>
              <a:ext uri="{FF2B5EF4-FFF2-40B4-BE49-F238E27FC236}">
                <a16:creationId xmlns:a16="http://schemas.microsoft.com/office/drawing/2014/main" id="{9906E74F-19FA-40D8-9FC4-6CE6D33C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87B5CF0-65EF-48B2-979F-453715276EF6}" type="slidenum">
              <a:rPr lang="en-US" altLang="en-US" sz="1200"/>
              <a:pPr eaLnBrk="1" hangingPunct="1"/>
              <a:t>67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2B94DC3E-17E5-426D-B868-C0AF638CF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Ref: Mining Correlations and Interesting Rules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B360F335-0FDF-47AB-BB8E-5F08D9402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81600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M. Klemettinen, H. Mannila, P. Ronkainen, H. Toivonen, and A. I. Verkamo.   Finding interesting rules from large sets of discovered association rules.  CIKM'94.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S. Brin, R. Motwani, and C. Silverstein.   Beyond market basket: Generalizing association rules to correlations.  SIGMOD'97.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C. Silverstein, S. Brin, R. Motwani, and J. Ullman.  Scalable techniques for mining causal structures.   VLDB'98.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P.-N. Tan, V. Kumar, and J. Srivastava.   Selecting the Right Interestingness Measure for Association Patterns.  KDD'02.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E. Omiecinski.   Alternative Interest Measures for Mining Associations.  TKDE’03.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en-US" sz="2000"/>
              <a:t>T. Wu, Y. Chen and J. Han, “Association Mining in Large Databases: A Re-Examination of Its Measures”, PKDD'07</a:t>
            </a:r>
          </a:p>
        </p:txBody>
      </p:sp>
    </p:spTree>
  </p:cSld>
  <p:clrMapOvr>
    <a:masterClrMapping/>
  </p:clrMapOvr>
  <p:transition spd="med"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>
            <a:extLst>
              <a:ext uri="{FF2B5EF4-FFF2-40B4-BE49-F238E27FC236}">
                <a16:creationId xmlns:a16="http://schemas.microsoft.com/office/drawing/2014/main" id="{2E15D499-9BC7-4137-A353-812F165B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0AB26F3-B4E0-4944-828A-5BBC19D5204F}" type="slidenum">
              <a:rPr lang="en-US" altLang="en-US" sz="1200"/>
              <a:pPr eaLnBrk="1" hangingPunct="1"/>
              <a:t>68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913D9991-5F1F-4849-B557-DB516534C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Ref: Freq. Pattern Mining Applications</a:t>
            </a:r>
            <a:endParaRPr lang="en-US" altLang="en-US"/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6FA6F185-997F-4EC5-A5C5-6D8A8F974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2578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Y. Huhtala, J. Kärkkäinen, P. Porkka, H. Toivonen. Efficient Discovery of Functional and Approximate Dependencies Using Partitions. ICDE’98. </a:t>
            </a:r>
          </a:p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H. V. Jagadish, J. Madar, and R. Ng. Semantic Compression and Pattern Extraction with Fascicles.  VLDB'99.</a:t>
            </a:r>
          </a:p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T. Dasu, T. Johnson, S. Muthukrishnan, and V. Shkapenyuk. Mining Database Structure; or How to Build a Data Quality Browser. SIGMOD'02.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K. Wang, S. Zhou, J. Han.  Profit Mining: From Patterns to Actions. EDBT’02.</a:t>
            </a:r>
          </a:p>
        </p:txBody>
      </p:sp>
    </p:spTree>
  </p:cSld>
  <p:clrMapOvr>
    <a:masterClrMapping/>
  </p:clrMapOvr>
  <p:transition spd="med"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3">
            <a:extLst>
              <a:ext uri="{FF2B5EF4-FFF2-40B4-BE49-F238E27FC236}">
                <a16:creationId xmlns:a16="http://schemas.microsoft.com/office/drawing/2014/main" id="{C57CF4B2-CBC3-40F0-8039-C17D507B83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37CF7D5-647E-477B-9520-ED77D7C2AE08}" type="datetime4">
              <a:rPr lang="en-US" altLang="en-US" sz="1200" smtClean="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72707" name="Footer Placeholder 4">
            <a:extLst>
              <a:ext uri="{FF2B5EF4-FFF2-40B4-BE49-F238E27FC236}">
                <a16:creationId xmlns:a16="http://schemas.microsoft.com/office/drawing/2014/main" id="{330F28E0-B9A6-439C-8E90-ABEA4837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72708" name="Slide Number Placeholder 5">
            <a:extLst>
              <a:ext uri="{FF2B5EF4-FFF2-40B4-BE49-F238E27FC236}">
                <a16:creationId xmlns:a16="http://schemas.microsoft.com/office/drawing/2014/main" id="{CBFDA991-7451-4B87-94A8-7CEDE0AB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4155D9B-037B-4440-B234-033D650C702E}" type="slidenum">
              <a:rPr lang="en-US" altLang="en-US" sz="1200"/>
              <a:pPr eaLnBrk="1" hangingPunct="1"/>
              <a:t>69</a:t>
            </a:fld>
            <a:endParaRPr lang="en-US" altLang="en-US" sz="1200"/>
          </a:p>
        </p:txBody>
      </p:sp>
      <p:sp>
        <p:nvSpPr>
          <p:cNvPr id="72709" name="Rectangle 9">
            <a:extLst>
              <a:ext uri="{FF2B5EF4-FFF2-40B4-BE49-F238E27FC236}">
                <a16:creationId xmlns:a16="http://schemas.microsoft.com/office/drawing/2014/main" id="{B0738474-9CC4-40C4-99F4-AAD2B9C94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72710" name="Picture 8" descr="104-0432_IMG">
            <a:extLst>
              <a:ext uri="{FF2B5EF4-FFF2-40B4-BE49-F238E27FC236}">
                <a16:creationId xmlns:a16="http://schemas.microsoft.com/office/drawing/2014/main" id="{C9BD81C7-B43E-4EB0-A07C-643FAB24AEF9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noFill/>
        </p:spPr>
      </p:pic>
    </p:spTree>
  </p:cSld>
  <p:clrMapOvr>
    <a:masterClrMapping/>
  </p:clrMapOvr>
  <p:transition spd="med"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6">
            <a:extLst>
              <a:ext uri="{FF2B5EF4-FFF2-40B4-BE49-F238E27FC236}">
                <a16:creationId xmlns:a16="http://schemas.microsoft.com/office/drawing/2014/main" id="{C8453CB9-A330-4470-8E0E-D35BD885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63536C7-0663-462E-9E77-951DEFB743E0}" type="slidenum">
              <a:rPr lang="en-US" altLang="en-US" sz="1200"/>
              <a:pPr eaLnBrk="1" hangingPunct="1"/>
              <a:t>70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6F4C64D-B05D-4245-A373-41099C004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5: Mining Frequent Patterns, Association and Correlations: Basic Concepts and Methods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63927CE7-AFC4-4B7A-8EB8-E4D47411EF7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458200" cy="51054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800"/>
              <a:t>Basic Concepts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Market Basket Analysis: A Motivating Example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Frequent Itemsets and Association Rules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800"/>
              <a:t>Efficient and Scalable Frequent Itemset Mining Methods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The Apriori Algorithm: Finding Frequent Itemsets Using Candidate Generation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Generating Association Rules from Frequent Itemsets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Improving the Efficiency of Apriori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Mining Frequent Itemsets without Candidate Generation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Mining Frequent Itemsets Using Vertical Data Format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800"/>
              <a:t>Are All the Pattern Interesting?</a:t>
            </a:r>
            <a:r>
              <a:rPr lang="en-US" altLang="en-US" sz="1800">
                <a:cs typeface="Tahoma" panose="020B0604030504040204" pitchFamily="34" charset="0"/>
              </a:rPr>
              <a:t>—</a:t>
            </a:r>
            <a:r>
              <a:rPr lang="en-US" altLang="en-US" sz="1800"/>
              <a:t>Pattern Evaluation Methods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Strong Rules Are Not Necessarily Interesting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From Association Analysis to Correlation Analysis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Selection of Good Measures for Pattern Evaluation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800"/>
              <a:t>Applications of frequent pattern and associations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Weblog mining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Collaborative Filtering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800"/>
              <a:t>Bioinformatics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800"/>
              <a:t>Summary</a:t>
            </a: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8347</TotalTime>
  <Words>6176</Words>
  <Application>Microsoft Office PowerPoint</Application>
  <PresentationFormat>On-screen Show (4:3)</PresentationFormat>
  <Paragraphs>1015</Paragraphs>
  <Slides>70</Slides>
  <Notes>69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Tahoma</vt:lpstr>
      <vt:lpstr>Arial</vt:lpstr>
      <vt:lpstr>Berlin Sans FB Demi</vt:lpstr>
      <vt:lpstr>Wingdings</vt:lpstr>
      <vt:lpstr>Times New Roman</vt:lpstr>
      <vt:lpstr>SimSun</vt:lpstr>
      <vt:lpstr>Symbol</vt:lpstr>
      <vt:lpstr>Wingdings 3</vt:lpstr>
      <vt:lpstr>Verdana</vt:lpstr>
      <vt:lpstr>Blends</vt:lpstr>
      <vt:lpstr>Microsoft Excel Chart</vt:lpstr>
      <vt:lpstr>Microsoft Equation 3.0</vt:lpstr>
      <vt:lpstr>Data Mining:   Concepts and Techniques  (3rd ed.)  — Chapter 6 —</vt:lpstr>
      <vt:lpstr>PowerPoint Presentation</vt:lpstr>
      <vt:lpstr>Chapter 5: Mining Frequent Patterns, Association and Correlations: Basic Concepts and Methods</vt:lpstr>
      <vt:lpstr>What Is Frequent Pattern Analysis?</vt:lpstr>
      <vt:lpstr>Why Is Freq. Pattern Mining Important?</vt:lpstr>
      <vt:lpstr>Basic Concepts: Frequent Patterns</vt:lpstr>
      <vt:lpstr>Basic Concepts: Association Rules</vt:lpstr>
      <vt:lpstr>Closed Patterns and Max-Patterns</vt:lpstr>
      <vt:lpstr>Closed Patterns and Max-Patterns</vt:lpstr>
      <vt:lpstr>Computational Complexity of Frequent Itemset Mining</vt:lpstr>
      <vt:lpstr>Chapter 5: Mining Frequent Patterns, Association and Correlations: Basic Concepts and Methods</vt:lpstr>
      <vt:lpstr>Scalable Frequent Itemset Mining Methods</vt:lpstr>
      <vt:lpstr>The Downward Closure Property and Scalable Mining Methods</vt:lpstr>
      <vt:lpstr>Apriori: A Candidate Generation &amp; Test Approach</vt:lpstr>
      <vt:lpstr>The Apriori Algorithm—An Example </vt:lpstr>
      <vt:lpstr>The Apriori Algorithm (Pseudo-Code)</vt:lpstr>
      <vt:lpstr>Implementation of Apriori</vt:lpstr>
      <vt:lpstr>How to Count Supports of Candidates?</vt:lpstr>
      <vt:lpstr>Counting Supports of Candidates Using Hash Tree</vt:lpstr>
      <vt:lpstr>Candidate Generation: An SQL Implementation</vt:lpstr>
      <vt:lpstr>Scalable Frequent Itemset Mining Methods</vt:lpstr>
      <vt:lpstr>Further Improvement of the Apriori Method</vt:lpstr>
      <vt:lpstr>Partition: Scan Database Only Twice</vt:lpstr>
      <vt:lpstr>DHP: Reduce the Number of Candidates</vt:lpstr>
      <vt:lpstr>Sampling for Frequent Patterns</vt:lpstr>
      <vt:lpstr>DIC: Reduce Number of Scans</vt:lpstr>
      <vt:lpstr>Scalable Frequent Itemset Mining Methods</vt:lpstr>
      <vt:lpstr>Pattern-Growth Approach: Mining Frequent Patterns Without Candidate Generation</vt:lpstr>
      <vt:lpstr>Construct FP-tree from a Transaction Database</vt:lpstr>
      <vt:lpstr>Partition Patterns and Databases</vt:lpstr>
      <vt:lpstr>Find Patterns Having P From P-conditional Database</vt:lpstr>
      <vt:lpstr>From Conditional Pattern-bases to Conditional FP-trees </vt:lpstr>
      <vt:lpstr>Recursion: Mining Each Conditional FP-tree</vt:lpstr>
      <vt:lpstr>A Special Case: Single Prefix Path in FP-tree</vt:lpstr>
      <vt:lpstr>Benefits of the FP-tree Structure</vt:lpstr>
      <vt:lpstr>The Frequent Pattern Growth Mining Method</vt:lpstr>
      <vt:lpstr>Scaling FP-growth by Database Projection</vt:lpstr>
      <vt:lpstr>Partition-Based Projection</vt:lpstr>
      <vt:lpstr>FP-Growth vs. Apriori: Scalability With the Support Threshold</vt:lpstr>
      <vt:lpstr>FP-Growth vs. Tree-Projection: Scalability with the Support Threshold</vt:lpstr>
      <vt:lpstr>Advantages of the Pattern Growth Approach</vt:lpstr>
      <vt:lpstr>Further Improvements of Mining Methods</vt:lpstr>
      <vt:lpstr>Extension of Pattern Growth Mining Methodology </vt:lpstr>
      <vt:lpstr>Scalable Frequent Itemset Mining Methods</vt:lpstr>
      <vt:lpstr>ECLAT: Mining by Exploring Vertical Data Format</vt:lpstr>
      <vt:lpstr>Scalable Frequent Itemset Mining Methods</vt:lpstr>
      <vt:lpstr>Mining Frequent Closed Patterns: CLOSET</vt:lpstr>
      <vt:lpstr>CLOSET+: Mining Closed Itemsets by Pattern-Growth</vt:lpstr>
      <vt:lpstr>MaxMiner: Mining Max-Patterns</vt:lpstr>
      <vt:lpstr>CHARM: Mining by Exploring Vertical Data Format</vt:lpstr>
      <vt:lpstr>PowerPoint Presentation</vt:lpstr>
      <vt:lpstr>PowerPoint Presentation</vt:lpstr>
      <vt:lpstr>Visualization of Association Rules  (SGI/MineSet 3.0)</vt:lpstr>
      <vt:lpstr>Chapter 5: Mining Frequent Patterns, Association and Correlations: Basic Concepts and Methods</vt:lpstr>
      <vt:lpstr>Interestingness Measure: Correlations (Lift)</vt:lpstr>
      <vt:lpstr>Are lift and 2  Good Measures of Correlation?</vt:lpstr>
      <vt:lpstr>Null-Invariant Measures</vt:lpstr>
      <vt:lpstr>Comparison of Interestingness Measures</vt:lpstr>
      <vt:lpstr>Analysis of DBLP Coauthor Relationships</vt:lpstr>
      <vt:lpstr>Which Null-Invariant Measure Is Better? </vt:lpstr>
      <vt:lpstr>Chapter 5: Mining Frequent Patterns, Association and Correlations: Basic Concepts and Methods</vt:lpstr>
      <vt:lpstr>Summary</vt:lpstr>
      <vt:lpstr>Ref: Basic Concepts of Frequent Pattern Mining</vt:lpstr>
      <vt:lpstr>Ref: Apriori and Its Improvements</vt:lpstr>
      <vt:lpstr>Ref: Depth-First, Projection-Based FP Mining</vt:lpstr>
      <vt:lpstr>Ref: Vertical Format and Row Enumeration Methods</vt:lpstr>
      <vt:lpstr>Ref: Mining Correlations and Interesting Rules</vt:lpstr>
      <vt:lpstr>Ref: Freq. Pattern Mining Applications</vt:lpstr>
      <vt:lpstr>PowerPoint Presentation</vt:lpstr>
      <vt:lpstr>Chapter 5: Mining Frequent Patterns, Association and Correlations: Basic Concepts and Methods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cloudconvert_9</cp:lastModifiedBy>
  <cp:revision>493</cp:revision>
  <cp:lastPrinted>2010-10-01T20:10:01Z</cp:lastPrinted>
  <dcterms:created xsi:type="dcterms:W3CDTF">1998-06-19T04:38:52Z</dcterms:created>
  <dcterms:modified xsi:type="dcterms:W3CDTF">2026-04-27T16:41:10Z</dcterms:modified>
</cp:coreProperties>
</file>